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8"/>
  </p:notesMasterIdLst>
  <p:sldIdLst>
    <p:sldId id="256" r:id="rId2"/>
    <p:sldId id="257" r:id="rId3"/>
    <p:sldId id="264" r:id="rId4"/>
    <p:sldId id="266" r:id="rId5"/>
    <p:sldId id="271" r:id="rId6"/>
    <p:sldId id="273" r:id="rId7"/>
    <p:sldId id="274" r:id="rId8"/>
    <p:sldId id="267" r:id="rId9"/>
    <p:sldId id="278" r:id="rId10"/>
    <p:sldId id="277" r:id="rId11"/>
    <p:sldId id="296" r:id="rId12"/>
    <p:sldId id="280" r:id="rId13"/>
    <p:sldId id="284" r:id="rId14"/>
    <p:sldId id="287" r:id="rId15"/>
    <p:sldId id="289" r:id="rId16"/>
    <p:sldId id="286" r:id="rId17"/>
    <p:sldId id="290" r:id="rId18"/>
    <p:sldId id="293" r:id="rId19"/>
    <p:sldId id="294" r:id="rId20"/>
    <p:sldId id="292" r:id="rId21"/>
    <p:sldId id="303" r:id="rId22"/>
    <p:sldId id="302" r:id="rId23"/>
    <p:sldId id="299" r:id="rId24"/>
    <p:sldId id="301" r:id="rId25"/>
    <p:sldId id="300" r:id="rId26"/>
    <p:sldId id="282" r:id="rId27"/>
    <p:sldId id="309" r:id="rId28"/>
    <p:sldId id="311" r:id="rId29"/>
    <p:sldId id="312" r:id="rId30"/>
    <p:sldId id="313" r:id="rId31"/>
    <p:sldId id="314" r:id="rId32"/>
    <p:sldId id="315" r:id="rId33"/>
    <p:sldId id="316" r:id="rId34"/>
    <p:sldId id="317" r:id="rId35"/>
    <p:sldId id="318" r:id="rId36"/>
    <p:sldId id="319" r:id="rId37"/>
    <p:sldId id="320" r:id="rId38"/>
    <p:sldId id="325" r:id="rId39"/>
    <p:sldId id="326" r:id="rId40"/>
    <p:sldId id="322" r:id="rId41"/>
    <p:sldId id="323" r:id="rId42"/>
    <p:sldId id="324" r:id="rId43"/>
    <p:sldId id="321" r:id="rId44"/>
    <p:sldId id="265" r:id="rId45"/>
    <p:sldId id="297" r:id="rId46"/>
    <p:sldId id="263" r:id="rId4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856"/>
    <p:restoredTop sz="94598"/>
  </p:normalViewPr>
  <p:slideViewPr>
    <p:cSldViewPr snapToGrid="0" snapToObjects="1">
      <p:cViewPr varScale="1">
        <p:scale>
          <a:sx n="151" d="100"/>
          <a:sy n="151" d="100"/>
        </p:scale>
        <p:origin x="52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3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1198F-3080-83F6-A15E-AF08A8AD2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B9447-10FE-9609-762A-8B054CD94B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13767-219A-3043-0049-9DC2F4C03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763FE-23B3-E185-B875-D3C5EC24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2281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9901A-180A-ACB4-09F7-08C090620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CAE727-57FD-D210-21C9-5F524B9F569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E90EDC-B0E2-B48C-8209-E02C688412E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3BB7B-BD2D-EDA6-1DAA-7BA6BE526E1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8227840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40A29F-E564-15F0-0597-AAE3F9895D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90FA0F6-32C9-949B-1C1B-B102F725E0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FA00C4-5706-3584-E507-E994724AD6F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E140A2-6D9B-E76D-8A13-1ACA000F36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0204966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D4854-91DA-7103-6903-C6AA82CBB0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20C4C1-D077-F2FD-73AD-1B3A7B7892C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666DF0B-954C-A586-1166-E843060052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AEF20AF-9001-F634-8FD4-541458E91AE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96434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D64B2C-A9E9-F5C8-B012-A3C844128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8A4203-7EA9-F772-E71B-3D488F7AE15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32501B0-80BB-322A-894E-E5816029E5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5319ED-1D95-C273-5809-549480CAF1C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381163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3B2945-8416-606E-D094-18F4C06DE1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DC56A-04A8-7360-90D2-35F1AD4EE39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FBA8D57-DBB9-34C6-25A8-011091D87CF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9D2E0E-6652-8CA7-00A1-7BB08DBB0B8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6342830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99594-2FEE-85CE-0D91-266E927224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6F23C7F-7A95-61BB-BFEB-4C10F3D6C0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40677E-8145-16BB-0CB0-88886CADD2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A7081A-547F-02FE-6C78-8CBDDC5589E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27041412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DA2134-7258-8DC0-D00E-92EFCDC54A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6DBA886-663F-D69F-B714-944C1CF47D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6BBF00-A202-878E-6D7D-717B21447A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5CFFE0-3949-0944-C542-4530858DF3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1829645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71321A-988F-DDB6-6DA0-48C5641659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9B2D43-1D2D-85BD-E832-61471542B8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6647558-C082-6B9B-D911-5DECC8146F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8DFF2-6575-A8E4-B379-7DBFB5F81F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89645877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AECB4B-62A1-BB9E-1640-E8D92CA13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8D38B1-3E6A-E9F9-0812-901AD8D284F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2F735A-CF1F-EF44-3164-17FADE7F12F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A9B090-AF2A-48F0-6137-FE66E0B75E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08886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720FCC-2EFB-F7D7-C201-92203A27E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768FA66-D36A-A82B-2B98-AB23AF70BC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0AD8A1-FCA6-43A2-B97A-08D28150942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694D11-9EEE-8A45-DBB4-9A6E7391CD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348818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DE795A-540B-3770-B1C9-22D9E7CCD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2188FB-A4B6-6D63-504A-E8966CBE888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4EEC134-CDEB-A955-FA89-467854EE1B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2B99AD-99B9-9D10-2C3B-384DEE3F5F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0710009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6AAA1F-5258-FD6E-529F-FE9420C7A1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DD70BC-F8D8-5EFD-63B6-F27650890E1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7DB7900-C46B-A23E-CAB4-519CD822A2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AF863B-147C-4F88-C549-8D952E5FC2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12557503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837968-7E43-7241-E81C-6161A7EFC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E3277F-BE7C-D498-3DF0-0EA85C0CBC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4C4AED-7926-2D18-161B-DC7C301622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CCD9F9-D12C-4C5C-6F05-E3B7F28C6E7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999661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73112E-A98A-0440-0DEB-7E5CBEF482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D9982C4-6F04-A249-DBA4-61C03688EEC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66153-4B7B-3184-FFE0-1416512661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2919FA-83C4-9E03-39E3-31E6144769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56136775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6A9A57-6AF2-7210-4A2F-C40A5A5ABB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2B2760-184D-4E38-7471-4D4884D37C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9BC4C6-5FB7-C84B-EA1E-D26DF580E49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450AD-F162-0E99-87A8-906BFD1AA59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284185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4C492-2C5A-8EBE-A7EE-0D49968EC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4FBB51-1F89-6566-936F-925FB4232E1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200188-B928-551C-C2BC-BE643A0E03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81C8C4-0146-B181-95C0-68BB66419EA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75131549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DBB91F-402B-BC16-FCE6-E0D89132A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2C5C9E-0FD9-9287-6408-DD607BA0D67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94153B-00FC-9CF8-1CA7-9C46C5D77C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4AD088C-0C90-73FC-DF55-20413B388D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38767864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90466-C8BB-4A73-39E8-2F7E95FDDC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8AC2552-3188-7453-26B7-A752770D668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96FAC1-730A-6A52-F7E2-79CAC452FF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C3AEA8-D86F-4139-897C-E6DE2E5A77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9891849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C1713D-4217-BA4F-20EB-4154F6CF0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5EC2B8-AA75-A460-4768-C3A8FA50A7D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8AADEC-AF00-9079-07D5-53C8764BFA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66E154-1981-0000-B477-83FD20DA9C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932001436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C2C35-A368-628B-F812-D3D8A1D1CA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0D0BE0-FAC6-40EB-52F0-4BB01E7E263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9369E3-A2BA-3E7B-EA5C-9CA5181B7C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0D1C41-CBD9-F764-EC32-5254E5B59C1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851480893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EC2BF-F054-54A4-4047-FAB80CCE43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27CE90-7FAB-A829-5BB3-BFB32916448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09D885-1BA6-9EC2-38AA-DDE70346BE6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C1E117-C40C-8237-7C0D-537E60A93A7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1194855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7F95F5-93FB-59A5-3F70-C014F3157A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D4B5BD7-6D9B-FDBF-555D-EC994FA6412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DFE2676-0B2D-1D99-E321-260D1F0EF6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A7F923-D760-FC5E-8EDA-2DA5DB6DB4B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5227342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BB8BD-EBFD-BDF0-D50A-392DA5B0C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4DF9CD-EF1E-096B-4417-5F5595FB18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1D8F21F-3328-9E63-7C13-D7249D66FA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757B8C4-C638-8818-A063-CB743E6D50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78854289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AA3783-D7D9-37B3-68C9-A7845C4FA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68E0A0-2A8A-E754-A0B2-575B47BD56A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E21395-3BDB-577A-3759-500F2D6CED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AAB95A-30F0-3C2A-0E99-87F46F82F5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44484301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1EFCD-71E4-EE8A-2E21-50719B874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A77CBE7-DF67-01F1-07E3-592540157C5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967204F-98D3-44ED-B757-C8D741D1B76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87A173-76CC-9991-4F12-9B13B2F1DF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927522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C3C45-A0A1-0AB9-3C57-9C8AE16DB9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A3A78F-C597-EBED-3C16-03977D062DF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D56682-768B-FC3D-BFBE-353A5E8C28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E8540-4720-C515-8EDE-ED0766F4C26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04989835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74862-8DC8-86C4-B49A-8EAB93B4D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A0AE774-7831-1624-80EA-95E74753040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15E671-8180-DE37-A19C-8B9548989DE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88F27-7B67-F6A2-57F2-240E04C272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5137278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5FFB02-5014-0B4A-1FA1-797EF6E676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4D8900-3F09-D838-FC9E-FEDB53A198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88B59EE-6C2C-A321-747C-805A747699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7F881D-8FEA-563A-493E-45D243E54FB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7354804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F9DA1C-B2E4-6478-1FFF-21E5BF0EF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22902A2-3D56-0F4E-6518-68C21A0C19C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311EE25-0748-8918-EF4A-ADF7F8838A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E33CD7B-F8BE-54C5-82F3-DA0AF7CF03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558433187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75303-10E8-5854-7ED9-C97004E9CA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859F22-93E4-D4B2-C097-8394DA284F5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03F8A5-F55C-6579-D4C0-A282B247F02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CA148B-155C-7215-C851-BC2B076512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777038498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D77733-B0A4-07AE-6B5E-F803DD6CF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4871FBE-E406-BEB2-2B0A-732EBBD270B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7F86C83-1AB5-AAB0-44D8-95E224C41B5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7C226F-8261-1DA5-8AE3-B5EB909BCD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4688714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12217-4135-1C86-5020-AA618560C8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57A05E2-01AE-CB95-3603-E43DE4CD67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050A68-2E00-DC7D-8BDF-7F27E046D5E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2335A0D-4C28-62DA-44EB-AD929589CE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013035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719F81-F6C1-79CC-A7FF-8F56F306B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10A78E-688B-F36F-BB6A-CC0C810200C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4DCD72-FEC7-4EE4-92DA-2BAC1E693FB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C5A0BB-2CA6-05D1-8BA8-B9DF40473A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120113857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70A894-5E53-19DE-90AA-6C5C53E8EF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6658F4C-3F8B-BF67-C2D0-EF7FC68E96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5A0F0C-03BA-FA93-3754-76D7A7EC11F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2F4631-C6F9-F594-A00A-21C49F1D5B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395177219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00CCA7-D249-B614-1DF6-9E6CACF6FA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0A81BE-4272-6660-99EF-F1BAB7F98F4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B0E155A-9F8D-F198-5E5F-6E7482510D2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7F8F16-8DE7-BBF9-A96A-875FD3972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656032843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A8DDD5-F1EB-B041-ACC3-02EB1A173B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63A5188-314E-F720-7C79-9A3B7D45D0F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BE430E9-2ED1-0A3E-F054-282CE48874A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419FF9-6C8A-6D29-FAF9-1215AAC8975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87848207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F726EB-BD2B-94FA-E89E-ECDFD94E5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59368E8-A9CB-5621-14E2-1D5C833AC35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8580118-535A-7A99-30A8-78428B25998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382B2B-94BE-479B-1C9F-AA68C20D4C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98972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2D1A11-AD46-4E28-3C97-66EADEFF5B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3A4B2CE-A8F2-B6FB-C7B1-574CF806608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7FE34FF-938E-3336-60CB-0A30AAFD6E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E569AB-855B-7492-EC38-8649B107D3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28940145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8B7924-001F-87BB-0A9D-BF2231897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4FFC19-EF75-AD36-1502-0A7F1A2E577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8ADC208-ECE3-8066-E83B-3BE84C9218C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A7DE8C-10CB-152A-F75A-C78D0CFC48A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244824373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858BDB-B717-B07B-9F30-F1B7F875B2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54EB172-D6AF-AE63-2B7A-7A4B3DB248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1436E6-9867-07F6-CCEA-36377AE9D2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372AD40-D807-006F-98FD-6A6F3EFEA7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803186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225F-C976-576D-0EE6-1176D53D5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19D221-FD29-3B1A-87CE-D743152BF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A18D41-857A-0BBD-DB7F-B24BD2132C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71A58-3B46-A160-4410-BD16CA009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993856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18A7CC-6F9D-4BEA-5550-6E5B22427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FFC4E7C-5BBA-500B-60C6-71C1BD23F6A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4E15DB-55E4-33CD-3095-3A342C9390C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56A85E7-61A4-B6A2-400D-8416988CCD8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65705945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dirty="0" err="1"/>
              <a:t>Câu</a:t>
            </a:r>
            <a:r>
              <a:rPr dirty="0"/>
              <a:t>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thể</a:t>
            </a:r>
            <a:r>
              <a:rPr dirty="0"/>
              <a:t> </a:t>
            </a:r>
            <a:r>
              <a:rPr dirty="0" err="1"/>
              <a:t>gặp</a:t>
            </a:r>
            <a:r>
              <a:rPr dirty="0"/>
              <a:t>:</a:t>
            </a:r>
          </a:p>
          <a:p>
            <a:r>
              <a:rPr dirty="0"/>
              <a:t>- '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phải</a:t>
            </a:r>
            <a:r>
              <a:rPr dirty="0"/>
              <a:t> LLM </a:t>
            </a:r>
            <a:r>
              <a:rPr dirty="0" err="1"/>
              <a:t>không</a:t>
            </a:r>
            <a:r>
              <a:rPr dirty="0"/>
              <a:t>?' → </a:t>
            </a:r>
            <a:r>
              <a:rPr dirty="0" err="1"/>
              <a:t>Không</a:t>
            </a:r>
            <a:r>
              <a:rPr dirty="0"/>
              <a:t>; </a:t>
            </a:r>
            <a:r>
              <a:rPr dirty="0" err="1"/>
              <a:t>hỏi</a:t>
            </a:r>
            <a:r>
              <a:rPr dirty="0"/>
              <a:t> </a:t>
            </a:r>
            <a:r>
              <a:rPr dirty="0" err="1"/>
              <a:t>đáp</a:t>
            </a:r>
            <a:r>
              <a:rPr dirty="0"/>
              <a:t> </a:t>
            </a:r>
            <a:r>
              <a:rPr dirty="0" err="1"/>
              <a:t>hiện</a:t>
            </a:r>
            <a:r>
              <a:rPr dirty="0"/>
              <a:t> </a:t>
            </a:r>
            <a:r>
              <a:rPr dirty="0" err="1"/>
              <a:t>là</a:t>
            </a:r>
            <a:r>
              <a:rPr dirty="0"/>
              <a:t> rule-based </a:t>
            </a:r>
            <a:r>
              <a:rPr dirty="0" err="1"/>
              <a:t>có</a:t>
            </a:r>
            <a:r>
              <a:rPr dirty="0"/>
              <a:t> </a:t>
            </a:r>
            <a:r>
              <a:rPr dirty="0" err="1"/>
              <a:t>ràng</a:t>
            </a:r>
            <a:r>
              <a:rPr dirty="0"/>
              <a:t> </a:t>
            </a:r>
            <a:r>
              <a:rPr dirty="0" err="1"/>
              <a:t>buộc</a:t>
            </a:r>
            <a:r>
              <a:rPr dirty="0"/>
              <a:t> an </a:t>
            </a:r>
            <a:r>
              <a:rPr dirty="0" err="1"/>
              <a:t>toàn</a:t>
            </a:r>
            <a:r>
              <a:rPr dirty="0"/>
              <a:t>; LLM/RAG </a:t>
            </a:r>
            <a:r>
              <a:rPr dirty="0" err="1"/>
              <a:t>là</a:t>
            </a:r>
            <a:r>
              <a:rPr dirty="0"/>
              <a:t> </a:t>
            </a:r>
            <a:r>
              <a:rPr dirty="0" err="1"/>
              <a:t>hướng</a:t>
            </a:r>
            <a:r>
              <a:rPr dirty="0"/>
              <a:t> </a:t>
            </a:r>
            <a:r>
              <a:rPr dirty="0" err="1"/>
              <a:t>phát</a:t>
            </a:r>
            <a:r>
              <a:rPr dirty="0"/>
              <a:t> </a:t>
            </a:r>
            <a:r>
              <a:rPr dirty="0" err="1"/>
              <a:t>triển</a:t>
            </a:r>
            <a:r>
              <a:rPr dirty="0"/>
              <a:t>.</a:t>
            </a:r>
          </a:p>
          <a:p>
            <a:r>
              <a:rPr dirty="0"/>
              <a:t>- '</a:t>
            </a:r>
            <a:r>
              <a:rPr dirty="0" err="1"/>
              <a:t>Độ</a:t>
            </a:r>
            <a:r>
              <a:rPr dirty="0"/>
              <a:t> </a:t>
            </a:r>
            <a:r>
              <a:rPr dirty="0" err="1"/>
              <a:t>chính</a:t>
            </a:r>
            <a:r>
              <a:rPr dirty="0"/>
              <a:t> </a:t>
            </a:r>
            <a:r>
              <a:rPr dirty="0" err="1"/>
              <a:t>xác</a:t>
            </a:r>
            <a:r>
              <a:rPr dirty="0"/>
              <a:t> </a:t>
            </a:r>
            <a:r>
              <a:rPr dirty="0" err="1"/>
              <a:t>mô</a:t>
            </a:r>
            <a:r>
              <a:rPr dirty="0"/>
              <a:t> </a:t>
            </a:r>
            <a:r>
              <a:rPr dirty="0" err="1"/>
              <a:t>hình</a:t>
            </a:r>
            <a:r>
              <a:rPr dirty="0"/>
              <a:t>?' → </a:t>
            </a:r>
            <a:r>
              <a:rPr dirty="0" err="1"/>
              <a:t>nêu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từ</a:t>
            </a:r>
            <a:r>
              <a:rPr dirty="0"/>
              <a:t> </a:t>
            </a:r>
            <a:r>
              <a:rPr dirty="0" err="1"/>
              <a:t>src</a:t>
            </a:r>
            <a:r>
              <a:rPr dirty="0"/>
              <a:t>/models/*_</a:t>
            </a:r>
            <a:r>
              <a:rPr dirty="0" err="1"/>
              <a:t>evaluation.py</a:t>
            </a:r>
            <a:r>
              <a:rPr dirty="0"/>
              <a:t> (</a:t>
            </a:r>
            <a:r>
              <a:rPr dirty="0" err="1"/>
              <a:t>điền</a:t>
            </a:r>
            <a:r>
              <a:rPr dirty="0"/>
              <a:t> </a:t>
            </a:r>
            <a:r>
              <a:rPr dirty="0" err="1"/>
              <a:t>số</a:t>
            </a:r>
            <a:r>
              <a:rPr dirty="0"/>
              <a:t> </a:t>
            </a:r>
            <a:r>
              <a:rPr dirty="0" err="1"/>
              <a:t>thật</a:t>
            </a:r>
            <a:r>
              <a:rPr dirty="0"/>
              <a:t> </a:t>
            </a:r>
            <a:r>
              <a:rPr dirty="0" err="1"/>
              <a:t>trước</a:t>
            </a:r>
            <a:r>
              <a:rPr dirty="0"/>
              <a:t> </a:t>
            </a:r>
            <a:r>
              <a:rPr dirty="0" err="1"/>
              <a:t>khi</a:t>
            </a:r>
            <a:r>
              <a:rPr dirty="0"/>
              <a:t> </a:t>
            </a:r>
            <a:r>
              <a:rPr dirty="0" err="1"/>
              <a:t>trình</a:t>
            </a:r>
            <a:r>
              <a:rPr dirty="0"/>
              <a:t> </a:t>
            </a:r>
            <a:r>
              <a:rPr dirty="0" err="1"/>
              <a:t>bày</a:t>
            </a:r>
            <a:r>
              <a:rPr dirty="0"/>
              <a:t>).</a:t>
            </a:r>
          </a:p>
          <a:p>
            <a:r>
              <a:rPr dirty="0"/>
              <a:t>- '</a:t>
            </a:r>
            <a:r>
              <a:rPr dirty="0" err="1"/>
              <a:t>Vì</a:t>
            </a:r>
            <a:r>
              <a:rPr dirty="0"/>
              <a:t> </a:t>
            </a:r>
            <a:r>
              <a:rPr dirty="0" err="1"/>
              <a:t>sao</a:t>
            </a:r>
            <a:r>
              <a:rPr dirty="0"/>
              <a:t> </a:t>
            </a:r>
            <a:r>
              <a:rPr dirty="0" err="1"/>
              <a:t>chọn</a:t>
            </a:r>
            <a:r>
              <a:rPr dirty="0"/>
              <a:t> </a:t>
            </a:r>
            <a:r>
              <a:rPr dirty="0" err="1"/>
              <a:t>RandomForest</a:t>
            </a:r>
            <a:r>
              <a:rPr dirty="0"/>
              <a:t>?' → </a:t>
            </a:r>
            <a:r>
              <a:rPr dirty="0" err="1"/>
              <a:t>mạnh</a:t>
            </a:r>
            <a:r>
              <a:rPr dirty="0"/>
              <a:t> </a:t>
            </a:r>
            <a:r>
              <a:rPr dirty="0" err="1"/>
              <a:t>với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 </a:t>
            </a:r>
            <a:r>
              <a:rPr dirty="0" err="1"/>
              <a:t>bảng</a:t>
            </a:r>
            <a:r>
              <a:rPr dirty="0"/>
              <a:t>, </a:t>
            </a:r>
            <a:r>
              <a:rPr dirty="0" err="1"/>
              <a:t>ít</a:t>
            </a:r>
            <a:r>
              <a:rPr dirty="0"/>
              <a:t> overfit </a:t>
            </a:r>
            <a:r>
              <a:rPr dirty="0" err="1"/>
              <a:t>hơn</a:t>
            </a:r>
            <a:r>
              <a:rPr dirty="0"/>
              <a:t> 1 </a:t>
            </a:r>
            <a:r>
              <a:rPr dirty="0" err="1"/>
              <a:t>cây</a:t>
            </a:r>
            <a:r>
              <a:rPr dirty="0"/>
              <a:t>, </a:t>
            </a:r>
            <a:r>
              <a:rPr dirty="0" err="1"/>
              <a:t>hỗ</a:t>
            </a:r>
            <a:r>
              <a:rPr dirty="0"/>
              <a:t> </a:t>
            </a:r>
            <a:r>
              <a:rPr dirty="0" err="1"/>
              <a:t>trợ</a:t>
            </a:r>
            <a:r>
              <a:rPr dirty="0"/>
              <a:t> feature importance/SHAP.</a:t>
            </a:r>
          </a:p>
          <a:p>
            <a:r>
              <a:rPr dirty="0"/>
              <a:t>- '</a:t>
            </a:r>
            <a:r>
              <a:rPr dirty="0" err="1"/>
              <a:t>Xử</a:t>
            </a:r>
            <a:r>
              <a:rPr dirty="0"/>
              <a:t> </a:t>
            </a:r>
            <a:r>
              <a:rPr dirty="0" err="1"/>
              <a:t>lý</a:t>
            </a:r>
            <a:r>
              <a:rPr dirty="0"/>
              <a:t> </a:t>
            </a:r>
            <a:r>
              <a:rPr dirty="0" err="1"/>
              <a:t>mất</a:t>
            </a:r>
            <a:r>
              <a:rPr dirty="0"/>
              <a:t> </a:t>
            </a:r>
            <a:r>
              <a:rPr dirty="0" err="1"/>
              <a:t>cân</a:t>
            </a:r>
            <a:r>
              <a:rPr dirty="0"/>
              <a:t> </a:t>
            </a:r>
            <a:r>
              <a:rPr dirty="0" err="1"/>
              <a:t>bằng</a:t>
            </a:r>
            <a:r>
              <a:rPr dirty="0"/>
              <a:t> </a:t>
            </a:r>
            <a:r>
              <a:rPr dirty="0" err="1"/>
              <a:t>dữ</a:t>
            </a:r>
            <a:r>
              <a:rPr dirty="0"/>
              <a:t> </a:t>
            </a:r>
            <a:r>
              <a:rPr dirty="0" err="1"/>
              <a:t>liệu</a:t>
            </a:r>
            <a:r>
              <a:rPr dirty="0"/>
              <a:t>?' → </a:t>
            </a:r>
            <a:r>
              <a:rPr dirty="0" err="1"/>
              <a:t>tinh</a:t>
            </a:r>
            <a:r>
              <a:rPr dirty="0"/>
              <a:t> </a:t>
            </a:r>
            <a:r>
              <a:rPr dirty="0" err="1"/>
              <a:t>chỉnh</a:t>
            </a:r>
            <a:r>
              <a:rPr dirty="0"/>
              <a:t> threshold </a:t>
            </a:r>
            <a:r>
              <a:rPr dirty="0" err="1"/>
              <a:t>theo</a:t>
            </a:r>
            <a:r>
              <a:rPr dirty="0"/>
              <a:t> </a:t>
            </a:r>
            <a:r>
              <a:rPr dirty="0" err="1"/>
              <a:t>bệnh</a:t>
            </a:r>
            <a:r>
              <a:rPr dirty="0"/>
              <a:t> (0.40/0.35/0.35) </a:t>
            </a:r>
            <a:r>
              <a:rPr dirty="0" err="1"/>
              <a:t>thay</a:t>
            </a:r>
            <a:r>
              <a:rPr dirty="0"/>
              <a:t> </a:t>
            </a:r>
            <a:r>
              <a:rPr dirty="0" err="1"/>
              <a:t>vì</a:t>
            </a:r>
            <a:r>
              <a:rPr dirty="0"/>
              <a:t> 0.5.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10/5/26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dinhdatthong1809.github.io/gaussian-mixture-model-interactive-visualisation/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80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8.png"/><Relationship Id="rId9" Type="http://schemas.openxmlformats.org/officeDocument/2006/relationships/image" Target="../media/image14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3" Type="http://schemas.openxmlformats.org/officeDocument/2006/relationships/image" Target="../media/image15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4.png"/><Relationship Id="rId10" Type="http://schemas.openxmlformats.org/officeDocument/2006/relationships/image" Target="../media/image20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2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image" Target="../media/image29.png"/><Relationship Id="rId4" Type="http://schemas.openxmlformats.org/officeDocument/2006/relationships/image" Target="../media/image26.png"/><Relationship Id="rId9" Type="http://schemas.openxmlformats.org/officeDocument/2006/relationships/image" Target="../media/image25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image" Target="../media/image22.png"/><Relationship Id="rId7" Type="http://schemas.openxmlformats.org/officeDocument/2006/relationships/image" Target="../media/image2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3.png"/><Relationship Id="rId10" Type="http://schemas.openxmlformats.org/officeDocument/2006/relationships/image" Target="../media/image25.png"/><Relationship Id="rId4" Type="http://schemas.openxmlformats.org/officeDocument/2006/relationships/image" Target="../media/image26.png"/><Relationship Id="rId9" Type="http://schemas.openxmlformats.org/officeDocument/2006/relationships/image" Target="../media/image2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1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1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3.png"/><Relationship Id="rId5" Type="http://schemas.openxmlformats.org/officeDocument/2006/relationships/image" Target="../media/image34.pn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1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4.png"/><Relationship Id="rId5" Type="http://schemas.openxmlformats.org/officeDocument/2006/relationships/image" Target="../media/image33.png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8.png"/><Relationship Id="rId3" Type="http://schemas.openxmlformats.org/officeDocument/2006/relationships/image" Target="../media/image37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4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7" Type="http://schemas.openxmlformats.org/officeDocument/2006/relationships/image" Target="../media/image49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2.png"/><Relationship Id="rId4" Type="http://schemas.openxmlformats.org/officeDocument/2006/relationships/image" Target="../media/image5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6.png"/><Relationship Id="rId5" Type="http://schemas.openxmlformats.org/officeDocument/2006/relationships/image" Target="../media/image55.png"/><Relationship Id="rId4" Type="http://schemas.openxmlformats.org/officeDocument/2006/relationships/image" Target="../media/image5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7" Type="http://schemas.openxmlformats.org/officeDocument/2006/relationships/image" Target="../media/image61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4.png"/><Relationship Id="rId4" Type="http://schemas.openxmlformats.org/officeDocument/2006/relationships/image" Target="../media/image6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5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6.png"/><Relationship Id="rId7" Type="http://schemas.openxmlformats.org/officeDocument/2006/relationships/image" Target="../media/image70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9.png"/><Relationship Id="rId5" Type="http://schemas.openxmlformats.org/officeDocument/2006/relationships/image" Target="../media/image68.png"/><Relationship Id="rId4" Type="http://schemas.openxmlformats.org/officeDocument/2006/relationships/image" Target="../media/image6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2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hyperlink" Target="https://colab.research.google.com/drive/1mdINSVY2X29GtQj1N6tcE2YFGUPZ7Wuc?usp=sharing" TargetMode="External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hyperlink" Target="https://scikit-learn.org/stable/auto_examples/mixture/plot_gmm_init.html" TargetMode="External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phamdinhkhanh.github.io/deepai-book/ch_ml/GMM.html" TargetMode="External"/><Relationship Id="rId4" Type="http://schemas.openxmlformats.org/officeDocument/2006/relationships/hyperlink" Target="https://elearning.citd.edu.vn/pluginfile.php/108366/mod_resource/content/1/Unsupervised-learning.pdf" TargetMode="Externa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109728"/>
          </a:xfrm>
          <a:prstGeom prst="rect">
            <a:avLst/>
          </a:prstGeom>
          <a:solidFill>
            <a:srgbClr val="1B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Gaussian Mixture Model (GMM)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và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Expectation-Maximization (EM) method</a:t>
            </a:r>
            <a:endParaRPr lang="en-VN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22959" y="4702126"/>
            <a:ext cx="10545775" cy="15542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Môn học: Toán cho Khoa học máy tính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(</a:t>
            </a:r>
            <a:r>
              <a:rPr lang="en-US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CS115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)</a:t>
            </a:r>
          </a:p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Giảng viên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: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Cô Dương Việt Hằng</a:t>
            </a:r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Nhóm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14:</a:t>
            </a:r>
            <a:b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</a:b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Đinh Đạt Thông — 26410294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Đông Triều — 26410309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Phạm Thái </a:t>
            </a:r>
            <a:r>
              <a:rPr sz="1300" b="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Thuận</a:t>
            </a:r>
            <a:r>
              <a:rPr lang="en-VN"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— 26410297</a:t>
            </a:r>
            <a:endParaRPr lang="vi-VN"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</p:txBody>
      </p:sp>
      <p:pic>
        <p:nvPicPr>
          <p:cNvPr id="9" name="Picture 8" descr="Công bố ba công khai">
            <a:extLst>
              <a:ext uri="{FF2B5EF4-FFF2-40B4-BE49-F238E27FC236}">
                <a16:creationId xmlns:a16="http://schemas.microsoft.com/office/drawing/2014/main" id="{7A87B24D-ABB3-22F8-21DA-8274A507D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49180"/>
            <a:ext cx="1885046" cy="70484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Nội dung</a:t>
            </a:r>
            <a:endParaRPr sz="1300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19" y="1374479"/>
            <a:ext cx="11185855" cy="50783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1. Ngữ cảnh, vấn đề, giải pháp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2. Giải thích giải pháp</a:t>
            </a:r>
            <a:endParaRPr lang="vi-VN" sz="16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2.1. Gaussian Mixture Model (GMM) - </a:t>
            </a:r>
            <a:r>
              <a:rPr lang="vi-VN" sz="105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	</a:t>
            </a:r>
            <a:r>
              <a:rPr lang="vi-VN" sz="16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2.2. Expectation-Maximization (EM) - </a:t>
            </a:r>
            <a:r>
              <a:rPr lang="vi-VN" sz="105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  <a:endParaRPr lang="vi-VN" sz="1600" b="1" dirty="0">
              <a:solidFill>
                <a:schemeClr val="accent5">
                  <a:lumMod val="60000"/>
                  <a:lumOff val="4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1B8A7A"/>
                </a:solidFill>
                <a:latin typeface="Arial"/>
              </a:rPr>
              <a:t>	2.3. Siêu tham số mô hình GMM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3. Demo code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4. Chủ đề liên quan</a:t>
            </a:r>
            <a:endParaRPr sz="2000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986E-2709-2B50-821D-B87068F1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46530-300E-DBDD-7C6B-304B0B933D3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Ngữ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cảnh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vấn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đề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,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0ED03-DFCB-5AF3-DCB1-9F857B814DF3}"/>
              </a:ext>
            </a:extLst>
          </p:cNvPr>
          <p:cNvSpPr txBox="1"/>
          <p:nvPr/>
        </p:nvSpPr>
        <p:spPr>
          <a:xfrm>
            <a:off x="364068" y="1267772"/>
            <a:ext cx="8796865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Ngữ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cảnh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Em có Web nghe nhạc, user càng nghe, mình càng có tiền quảng cáo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Để có thêm tiền quảng cáo thì thêm phần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gợi ý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, dụ user nghe hoài</a:t>
            </a:r>
          </a:p>
          <a:p>
            <a:pPr>
              <a:spcAft>
                <a:spcPts val="600"/>
              </a:spcAft>
            </a:pPr>
            <a:r>
              <a:rPr sz="14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vi-VN" sz="1400" b="1" dirty="0">
                <a:solidFill>
                  <a:srgbClr val="1B8A7A"/>
                </a:solidFill>
                <a:latin typeface="Arial"/>
              </a:rPr>
              <a:t>Vấn đề</a:t>
            </a:r>
            <a:r>
              <a:rPr sz="14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Tìm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như nào ?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•  Giải pháp: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Phân cụm list bài hát, sử dụng Gaussian Mixture Model (GMM)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List bài hát tương tự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là mấy bài “chung” hoặc “gần chung” nhóm với bài user đang nghe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1EA80EB-D313-7BCA-A7F1-8E9DCECB48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85481" y="3776695"/>
            <a:ext cx="5020732" cy="2887407"/>
          </a:xfrm>
          <a:prstGeom prst="rect">
            <a:avLst/>
          </a:prstGeom>
          <a:ln>
            <a:solidFill>
              <a:schemeClr val="accent1">
                <a:alpha val="53644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285685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29F567-3816-EEE3-0313-A2337AF5CA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A4F00BD-25CB-1F9E-A14A-B26DAABBE1BB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1. Ngữ cảnh, vấn đề, giải pháp</a:t>
            </a:r>
          </a:p>
          <a:p>
            <a:r>
              <a:rPr lang="vi-VN" sz="1300" i="1" dirty="0">
                <a:solidFill>
                  <a:srgbClr val="CFE3EC"/>
                </a:solidFill>
                <a:latin typeface="Arial"/>
              </a:rPr>
              <a:t>Trình bày: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F1073A-A67A-29A4-28BF-5EAB414D142D}"/>
              </a:ext>
            </a:extLst>
          </p:cNvPr>
          <p:cNvSpPr txBox="1"/>
          <p:nvPr/>
        </p:nvSpPr>
        <p:spPr>
          <a:xfrm>
            <a:off x="364067" y="1267772"/>
            <a:ext cx="9787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•  Dữ liệu có sẵn (list bài hát):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5A35FE2-0858-0752-9084-F0A14BAD6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44532013"/>
              </p:ext>
            </p:extLst>
          </p:nvPr>
        </p:nvGraphicFramePr>
        <p:xfrm>
          <a:off x="364067" y="1791761"/>
          <a:ext cx="3767666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3833">
                  <a:extLst>
                    <a:ext uri="{9D8B030D-6E8A-4147-A177-3AD203B41FA5}">
                      <a16:colId xmlns:a16="http://schemas.microsoft.com/office/drawing/2014/main" val="4104114755"/>
                    </a:ext>
                  </a:extLst>
                </a:gridCol>
                <a:gridCol w="1883833">
                  <a:extLst>
                    <a:ext uri="{9D8B030D-6E8A-4147-A177-3AD203B41FA5}">
                      <a16:colId xmlns:a16="http://schemas.microsoft.com/office/drawing/2014/main" val="335149724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VN" dirty="0"/>
                        <a:t>Tên bài hát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Điểm sôi động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416448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Kim Phút Kim </a:t>
                      </a:r>
                      <a:r>
                        <a:rPr lang="en-US" dirty="0" err="1"/>
                        <a:t>Giờ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3.8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00386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Chân</a:t>
                      </a:r>
                      <a:r>
                        <a:rPr lang="en-US" dirty="0"/>
                        <a:t> Thành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3.4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954084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Secret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/>
                        <a:t>4.1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32583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Die With A Smile</a:t>
                      </a:r>
                      <a:endParaRPr lang="en-V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4.4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2658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VN" dirty="0"/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VN" dirty="0"/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37912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515391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D7BDC6-EA3D-2E59-08F4-7D97AB0639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A0EAC26-A6A3-DD88-71CD-A6D4C5ACD4B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4468A90-1324-C5AA-F206-0982A93764CE}"/>
              </a:ext>
            </a:extLst>
          </p:cNvPr>
          <p:cNvSpPr txBox="1"/>
          <p:nvPr/>
        </p:nvSpPr>
        <p:spPr>
          <a:xfrm>
            <a:off x="364066" y="1267772"/>
            <a:ext cx="10354733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549AAD-3EDD-3874-51AE-D3EBF03390BA}"/>
              </a:ext>
            </a:extLst>
          </p:cNvPr>
          <p:cNvSpPr txBox="1"/>
          <p:nvPr/>
        </p:nvSpPr>
        <p:spPr>
          <a:xfrm>
            <a:off x="681888" y="6491067"/>
            <a:ext cx="413359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Dữ liệu 2 chiều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792D4BC-D65C-3F2A-8634-D3A74DB3C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66" y="1791761"/>
            <a:ext cx="4769236" cy="464445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6DBAF21-4B44-C9AE-123E-FE99F304FDF2}"/>
              </a:ext>
            </a:extLst>
          </p:cNvPr>
          <p:cNvSpPr txBox="1"/>
          <p:nvPr/>
        </p:nvSpPr>
        <p:spPr>
          <a:xfrm>
            <a:off x="5003801" y="3775436"/>
            <a:ext cx="813616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sz="1600" dirty="0">
                <a:hlinkClick r:id="rId4"/>
              </a:rPr>
              <a:t>https://dinhdatthong1809.github.io/gaussian-mixture-model-interactive-visualisation</a:t>
            </a:r>
            <a:endParaRPr lang="en-VN" sz="1600" dirty="0"/>
          </a:p>
        </p:txBody>
      </p:sp>
    </p:spTree>
    <p:extLst>
      <p:ext uri="{BB962C8B-B14F-4D97-AF65-F5344CB8AC3E}">
        <p14:creationId xmlns:p14="http://schemas.microsoft.com/office/powerpoint/2010/main" val="152616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D9EB9-B385-1786-9C54-F4B79E6E75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CCAC7D0-FB91-EFAF-01C6-BC992DE1FF3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9F21F6-0914-9214-D344-D3A4B9BC21D9}"/>
              </a:ext>
            </a:extLst>
          </p:cNvPr>
          <p:cNvSpPr txBox="1"/>
          <p:nvPr/>
        </p:nvSpPr>
        <p:spPr>
          <a:xfrm>
            <a:off x="364066" y="1267772"/>
            <a:ext cx="10354733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C53D564-1ACE-1327-E775-C5E6E71701BB}"/>
              </a:ext>
            </a:extLst>
          </p:cNvPr>
          <p:cNvSpPr txBox="1"/>
          <p:nvPr/>
        </p:nvSpPr>
        <p:spPr>
          <a:xfrm>
            <a:off x="681888" y="6491067"/>
            <a:ext cx="4133591" cy="20005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C0C1DC-4229-3D54-459A-1C79CA252C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066" y="1791761"/>
            <a:ext cx="4769236" cy="46444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00BB806-C1CB-6B88-266B-4A89CFD46E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4065" y="1800228"/>
            <a:ext cx="4732868" cy="4671882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33A842F-6EEB-EEEE-BCB7-FEBD247F32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67400" y="1946635"/>
            <a:ext cx="5554680" cy="4644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60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1B24D0-0889-A54D-4BDF-870530F72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2A9894C-8BF4-4948-17A6-7417BDDF875D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D45D776-7D98-7C1D-DD56-15D11665F94B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AC47716-27D2-B873-DFD3-462BA82185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D412BE6-EFCB-C454-9DC4-960D634C5BD8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30197507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CA214B-49A8-E03E-AAA5-D66F1F8D0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38429B-9051-8F94-1ED4-19880CB0ED4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5DE7C0-0BB5-333F-1D64-7BEA7B6FC960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176272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55DE7C0-0BB5-333F-1D64-7BEA7B6FC9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1762727"/>
              </a:xfrm>
              <a:prstGeom prst="rect">
                <a:avLst/>
              </a:prstGeom>
              <a:blipFill>
                <a:blip r:embed="rId3"/>
                <a:stretch>
                  <a:fillRect l="-386" t="-71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CCEFD7D-5F45-70DE-C239-86E9EAB0C42D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5C790A9-EAB8-5251-0330-7B14E1B2CB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8A2E98F-8E68-26C6-3D72-CB11E6F410F8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</p:spTree>
    <p:extLst>
      <p:ext uri="{BB962C8B-B14F-4D97-AF65-F5344CB8AC3E}">
        <p14:creationId xmlns:p14="http://schemas.microsoft.com/office/powerpoint/2010/main" val="176401674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CC917E-00FF-7962-358D-4A5D2FFC83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BF2320A-EC5D-05A3-8B8C-7934D1B0A24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2987EC-037D-D993-8F99-1DF2DD887D53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một chiều:</a:t>
                </a: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đa chiều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th</m:t>
                    </m:r>
                    <m: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nh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):</a:t>
                </a: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72987EC-037D-D993-8F99-1DF2DD887D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blipFill>
                <a:blip r:embed="rId3"/>
                <a:stretch>
                  <a:fillRect l="-386" t="-33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311620-169D-4847-915C-757D7226CE08}"/>
                  </a:ext>
                </a:extLst>
              </p:cNvPr>
              <p:cNvSpPr txBox="1"/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i="1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311620-169D-4847-915C-757D7226CE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blipFill>
                <a:blip r:embed="rId4"/>
                <a:stretch>
                  <a:fillRect l="-510" t="-110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6E601-3E99-24F5-9064-26C343FB0930}"/>
                  </a:ext>
                </a:extLst>
              </p:cNvPr>
              <p:cNvSpPr txBox="1"/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b="0" i="1" smtClean="0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0B26E601-3E99-24F5-9064-26C343FB093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blipFill>
                <a:blip r:embed="rId5"/>
                <a:stretch>
                  <a:fillRect l="-1531" t="-108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41933893-AE83-FC00-E012-BED7625BCEDA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C1ACFCA-4862-4660-AD97-5A7BF94CE0AD}"/>
                  </a:ext>
                </a:extLst>
              </p:cNvPr>
              <p:cNvSpPr txBox="1"/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C1ACFCA-4862-4660-AD97-5A7BF94CE0A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blipFill>
                <a:blip r:embed="rId6"/>
                <a:stretch>
                  <a:fillRect l="-73913" t="-112245" r="-4348" b="-17551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D92AFD56-2B0A-6C14-A821-ECDE5001701D}"/>
              </a:ext>
            </a:extLst>
          </p:cNvPr>
          <p:cNvSpPr txBox="1"/>
          <p:nvPr/>
        </p:nvSpPr>
        <p:spPr>
          <a:xfrm>
            <a:off x="8970787" y="4180372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sz="1400" dirty="0"/>
              <a:t>Điều kiện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1AFD1F-9820-4A87-18E3-771AB6C0A065}"/>
                  </a:ext>
                </a:extLst>
              </p:cNvPr>
              <p:cNvSpPr txBox="1"/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0≤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41AFD1F-9820-4A87-18E3-771AB6C0A0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blipFill>
                <a:blip r:embed="rId7"/>
                <a:stretch>
                  <a:fillRect l="-2740" r="-4110" b="-10526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D519DBED-CA8B-34AE-69F5-45E7F837CFDB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E09E358-DD7C-786D-705F-402E9237CFD5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76ABF98-F558-2C63-3CA3-15C3065B3C7C}"/>
              </a:ext>
            </a:extLst>
          </p:cNvPr>
          <p:cNvSpPr txBox="1"/>
          <p:nvPr/>
        </p:nvSpPr>
        <p:spPr>
          <a:xfrm>
            <a:off x="5625737" y="6018647"/>
            <a:ext cx="61383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Áp dụng định lý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Phân phối toàn phần</a:t>
            </a:r>
          </a:p>
        </p:txBody>
      </p:sp>
    </p:spTree>
    <p:extLst>
      <p:ext uri="{BB962C8B-B14F-4D97-AF65-F5344CB8AC3E}">
        <p14:creationId xmlns:p14="http://schemas.microsoft.com/office/powerpoint/2010/main" val="1945562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E23CC9-4ECB-3F7B-677A-BA91E70DD0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670C0BA-0538-44F4-E18B-05267506D4FE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F84740-F2CB-8E00-6C35-7BB5041B0461}"/>
                  </a:ext>
                </a:extLst>
              </p:cNvPr>
              <p:cNvSpPr txBox="1"/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Hàm số mô hình GMM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GMM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1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2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… + 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trọngSố</a:t>
                </a:r>
                <a:r>
                  <a:rPr lang="vi-VN" sz="14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 </a:t>
                </a:r>
                <a:r>
                  <a:rPr lang="vi-VN" sz="1400" dirty="0">
                    <a:highlight>
                      <a:srgbClr val="FFFF00"/>
                    </a:highlight>
                    <a:latin typeface="Arial"/>
                  </a:rPr>
                  <a:t>x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chuông</a:t>
                </a:r>
                <a:r>
                  <a:rPr lang="vi-VN" sz="1400" baseline="-25000" dirty="0">
                    <a:solidFill>
                      <a:schemeClr val="accent6">
                        <a:lumMod val="75000"/>
                      </a:schemeClr>
                    </a:solidFill>
                    <a:highlight>
                      <a:srgbClr val="FFFF00"/>
                    </a:highlight>
                    <a:latin typeface="Arial"/>
                  </a:rPr>
                  <a:t>k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		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trọngSố</a:t>
                </a:r>
                <a:r>
                  <a:rPr lang="vi-VN" sz="1200" baseline="-250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Pi:</a:t>
                </a:r>
                <a:r>
                  <a:rPr lang="vi-VN" sz="12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200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P</a:t>
                </a:r>
                <a:r>
                  <a:rPr lang="vi-VN" sz="1200" dirty="0">
                    <a:latin typeface="Arial"/>
                  </a:rPr>
                  <a:t>robability)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		chuông</a:t>
                </a:r>
                <a:r>
                  <a:rPr lang="vi-VN" sz="1200" baseline="-250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k</a:t>
                </a:r>
                <a:r>
                  <a:rPr lang="vi-VN" sz="1200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kí hiệu là N: </a:t>
                </a:r>
                <a14:m>
                  <m:oMath xmlns:m="http://schemas.openxmlformats.org/officeDocument/2006/math">
                    <m:r>
                      <a:rPr lang="en-US" sz="12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𝒩</m:t>
                    </m:r>
                    <m:d>
                      <m:dPr>
                        <m:ctrlP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∣</m:t>
                        </m:r>
                        <m:sSub>
                          <m:sSub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sz="12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𝜎</m:t>
                            </m:r>
                          </m:e>
                          <m:sub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sz="1200" i="1">
                                <a:solidFill>
                                  <a:schemeClr val="accent6">
                                    <a:lumMod val="75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bSup>
                      </m:e>
                    </m:d>
                  </m:oMath>
                </a14:m>
                <a:r>
                  <a:rPr lang="vi-VN" sz="1200" b="1" dirty="0">
                    <a:solidFill>
                      <a:schemeClr val="accent6">
                        <a:lumMod val="75000"/>
                      </a:schemeClr>
                    </a:solidFill>
                    <a:latin typeface="Arial"/>
                  </a:rPr>
                  <a:t> </a:t>
                </a:r>
                <a:r>
                  <a:rPr lang="vi-VN" sz="1200" dirty="0">
                    <a:latin typeface="Arial"/>
                  </a:rPr>
                  <a:t>(</a:t>
                </a:r>
                <a:r>
                  <a:rPr lang="vi-VN" sz="1200" b="1" dirty="0">
                    <a:latin typeface="Arial"/>
                  </a:rPr>
                  <a:t>N</a:t>
                </a:r>
                <a:r>
                  <a:rPr lang="vi-VN" sz="1200" dirty="0">
                    <a:latin typeface="Arial"/>
                  </a:rPr>
                  <a:t>ormal Distribution)</a:t>
                </a:r>
                <a:endParaRPr lang="vi-VN" sz="12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một chiều:</a:t>
                </a: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Dạng đa chiều (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th</m:t>
                    </m:r>
                    <m: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à</m:t>
                    </m:r>
                    <m:r>
                      <m:rPr>
                        <m:sty m:val="p"/>
                      </m:rPr>
                      <a:rPr lang="vi-VN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nh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Σ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):</a:t>
                </a: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 marL="285750" indent="-285750">
                  <a:spcAft>
                    <a:spcPts val="600"/>
                  </a:spcAft>
                  <a:buFontTx/>
                  <a:buChar char="-"/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94F84740-F2CB-8E00-6C35-7BB5041B046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25737" y="2263665"/>
                <a:ext cx="6565958" cy="3817905"/>
              </a:xfrm>
              <a:prstGeom prst="rect">
                <a:avLst/>
              </a:prstGeom>
              <a:blipFill>
                <a:blip r:embed="rId3"/>
                <a:stretch>
                  <a:fillRect l="-386" t="-33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E8D11FF-B284-069B-5333-A9A4834A8F67}"/>
              </a:ext>
            </a:extLst>
          </p:cNvPr>
          <p:cNvSpPr txBox="1"/>
          <p:nvPr/>
        </p:nvSpPr>
        <p:spPr>
          <a:xfrm>
            <a:off x="746072" y="6406735"/>
            <a:ext cx="4133591" cy="3847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Mô hình GMM với dữ liệu 1 chiều</a:t>
            </a:r>
          </a:p>
          <a:p>
            <a:pPr algn="ctr">
              <a:spcAft>
                <a:spcPts val="600"/>
              </a:spcAft>
            </a:pPr>
            <a:r>
              <a:rPr lang="vi-VN" sz="700" b="1" dirty="0">
                <a:latin typeface="Arial"/>
              </a:rPr>
              <a:t>Các điểm dữ liệu nằm trải trên trục ngang</a:t>
            </a:r>
            <a:endParaRPr lang="vi-VN" sz="700" dirty="0"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89FB68B-B7C0-5E06-1FBC-2CAE937BAFDF}"/>
                  </a:ext>
                </a:extLst>
              </p:cNvPr>
              <p:cNvSpPr txBox="1"/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>
                          <a:latin typeface="Cambria Math" panose="02040503050406030204" pitchFamily="18" charset="0"/>
                        </a:rPr>
                        <m:t>=1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389FB68B-B7C0-5E06-1FBC-2CAE937BAF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80277" y="4845523"/>
                <a:ext cx="851772" cy="605807"/>
              </a:xfrm>
              <a:prstGeom prst="rect">
                <a:avLst/>
              </a:prstGeom>
              <a:blipFill>
                <a:blip r:embed="rId4"/>
                <a:stretch>
                  <a:fillRect l="-73913" t="-112245" r="-4348" b="-17551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TextBox 7">
            <a:extLst>
              <a:ext uri="{FF2B5EF4-FFF2-40B4-BE49-F238E27FC236}">
                <a16:creationId xmlns:a16="http://schemas.microsoft.com/office/drawing/2014/main" id="{0039329B-B3FE-D8D0-692D-977A2539E088}"/>
              </a:ext>
            </a:extLst>
          </p:cNvPr>
          <p:cNvSpPr txBox="1"/>
          <p:nvPr/>
        </p:nvSpPr>
        <p:spPr>
          <a:xfrm>
            <a:off x="8970787" y="4180372"/>
            <a:ext cx="8707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sz="1400" dirty="0"/>
              <a:t>Điều kiện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BFD8A47-23DE-C849-9376-1317FFBF470B}"/>
                  </a:ext>
                </a:extLst>
              </p:cNvPr>
              <p:cNvSpPr txBox="1"/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latin typeface="Cambria Math" panose="02040503050406030204" pitchFamily="18" charset="0"/>
                        </a:rPr>
                        <m:t>0≤</m:t>
                      </m:r>
                      <m:sSub>
                        <m:sSubPr>
                          <m:ctrlP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sz="1400" i="1">
                          <a:latin typeface="Cambria Math" panose="02040503050406030204" pitchFamily="18" charset="0"/>
                        </a:rPr>
                        <m:t>≤1</m:t>
                      </m:r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7BFD8A47-23DE-C849-9376-1317FFBF470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54501" y="4559114"/>
                <a:ext cx="903324" cy="215444"/>
              </a:xfrm>
              <a:prstGeom prst="rect">
                <a:avLst/>
              </a:prstGeom>
              <a:blipFill>
                <a:blip r:embed="rId5"/>
                <a:stretch>
                  <a:fillRect l="-2740" r="-4110" b="-10526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C6A98D39-9CC9-5F18-5B74-119DE9D5A40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-1" y="2263665"/>
            <a:ext cx="5625738" cy="4181165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052CE4C-7BC3-D215-E82E-676A2DFE2A3F}"/>
              </a:ext>
            </a:extLst>
          </p:cNvPr>
          <p:cNvSpPr txBox="1"/>
          <p:nvPr/>
        </p:nvSpPr>
        <p:spPr>
          <a:xfrm>
            <a:off x="9327816" y="6341378"/>
            <a:ext cx="212429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Hàm số màu cam là gì?</a:t>
            </a:r>
            <a:endParaRPr lang="el-GR" sz="1400" dirty="0"/>
          </a:p>
        </p:txBody>
      </p:sp>
      <p:sp>
        <p:nvSpPr>
          <p:cNvPr id="10" name="Right Arrow 9">
            <a:extLst>
              <a:ext uri="{FF2B5EF4-FFF2-40B4-BE49-F238E27FC236}">
                <a16:creationId xmlns:a16="http://schemas.microsoft.com/office/drawing/2014/main" id="{7FAFBEEA-D89D-2AB5-C972-0BD1EA29B2C4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004100B-4043-2FC3-982F-E02AC2458B4D}"/>
                  </a:ext>
                </a:extLst>
              </p:cNvPr>
              <p:cNvSpPr txBox="1"/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b="0" i="1" smtClean="0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004100B-4043-2FC3-982F-E02AC2458B4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4031356"/>
                <a:ext cx="2470706" cy="605807"/>
              </a:xfrm>
              <a:prstGeom prst="rect">
                <a:avLst/>
              </a:prstGeom>
              <a:blipFill>
                <a:blip r:embed="rId7"/>
                <a:stretch>
                  <a:fillRect l="-1531" t="-108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5AFA480-9790-F614-7DB0-B8E75A379E5E}"/>
                  </a:ext>
                </a:extLst>
              </p:cNvPr>
              <p:cNvSpPr txBox="1"/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vi-VN" sz="1400" i="1">
                          <a:latin typeface="Cambria Math" panose="02040503050406030204" pitchFamily="18" charset="0"/>
                        </a:rPr>
                        <m:t>GMM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𝐾</m:t>
                          </m:r>
                        </m:sup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Σ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D5AFA480-9790-F614-7DB0-B8E75A379E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26286" y="5243461"/>
                <a:ext cx="2470706" cy="605807"/>
              </a:xfrm>
              <a:prstGeom prst="rect">
                <a:avLst/>
              </a:prstGeom>
              <a:blipFill>
                <a:blip r:embed="rId8"/>
                <a:stretch>
                  <a:fillRect l="-510" t="-110000" b="-172000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TextBox 16">
            <a:extLst>
              <a:ext uri="{FF2B5EF4-FFF2-40B4-BE49-F238E27FC236}">
                <a16:creationId xmlns:a16="http://schemas.microsoft.com/office/drawing/2014/main" id="{5686C780-095D-2AD3-2D3C-EF0DFF62ECED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2.1.1. Tìm hàm số mô hình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Là một mô hình (đường màu tím như đèo núi) kết hợp từ nhiều mô hình phân phối chuẩn (2 đường đỏ và xanh như cái chuông)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7E5D3B-7C5E-81E7-74A3-3D44C3C7A20D}"/>
              </a:ext>
            </a:extLst>
          </p:cNvPr>
          <p:cNvSpPr txBox="1"/>
          <p:nvPr/>
        </p:nvSpPr>
        <p:spPr>
          <a:xfrm>
            <a:off x="5625737" y="6018647"/>
            <a:ext cx="61383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Áp dụng định lý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Phân phối toàn phần</a:t>
            </a:r>
          </a:p>
        </p:txBody>
      </p:sp>
    </p:spTree>
    <p:extLst>
      <p:ext uri="{BB962C8B-B14F-4D97-AF65-F5344CB8AC3E}">
        <p14:creationId xmlns:p14="http://schemas.microsoft.com/office/powerpoint/2010/main" val="8005268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F6AC5-9372-43A9-FED1-331DF3854A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6D36041-E1B3-9271-CA2B-6CBB974243D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A3FAD9F-76DC-523E-3999-8EBF5954F3EA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7AF6EB6-E406-5A97-2F63-AEE209F0A0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118068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CDE0C8-6160-D7C8-B98A-C8FA79792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E701F6-5661-56E5-FFEA-250DBE3ED99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C167874-8172-C86D-0C13-D532967F7FB6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28F402C-5F72-0411-DF12-6E4CD8517358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36C639D-F046-39AF-8163-2F3ADBC022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FA6A85-889C-23FE-216E-CFFB61F5FC4E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5CFA6A85-889C-23FE-216E-CFFB61F5FC4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4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B1ABB9-CFB4-618E-686E-93F218DB54A5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5B1ABB9-CFB4-618E-686E-93F218DB54A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9842FB-8DCB-85D6-B3EC-3469DFD1B3AE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759842FB-8DCB-85D6-B3EC-3469DFD1B3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D09F2C3-9FB2-59A7-0602-849BC0B323AA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DD09F2C3-9FB2-59A7-0602-849BC0B323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86265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CD9FEC-7E89-AB01-B5FF-3FF11DAB94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E6C2476-3D69-8354-992B-780F3A6EA2D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BFB9CC0-61BB-7CC9-013A-53639874168C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8368C02-8FCC-1ED7-AEAD-FE7415963C26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92025C4-7621-BBF8-C381-0B9BFA7C886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725A6F1-5194-7800-DD74-FA026A8F3464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725A6F1-5194-7800-DD74-FA026A8F34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4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D299981-9217-D6D8-097C-8D67DEF890E2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FB1A7B-DE33-5B08-CFF6-64E963C660F0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BFFB1A7B-DE33-5B08-CFF6-64E963C660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5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549F7D-3C2D-7400-53B8-DBFE047C9521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5C549F7D-3C2D-7400-53B8-DBFE047C95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8A36E9B-F655-3CC7-DCC3-F70750FE0ADF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8A36E9B-F655-3CC7-DCC3-F70750FE0A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0CE893C-3D7C-BEA2-AC34-DD0B8A166378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20CE893C-3D7C-BEA2-AC34-DD0B8A16637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F9DB64-6E2C-A2EA-6F66-536CB9D24B1C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F7F9DB64-6E2C-A2EA-6F66-536CB9D24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9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98526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641B5B-5E81-7270-DC0C-CF18EB5D6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E8DD33-DB30-8F39-1701-471338EFADA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BB86E2-F8DF-BC10-23EB-B1C3EC849880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3187D5-70C3-E988-88B5-9A188CBBA436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A73187D5-70C3-E988-88B5-9A188CBBA4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3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162D1F9B-3D30-47DF-F4F9-4B5DB5319F2D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7F829F4-CE56-33DF-7A53-8D6F83DF8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A48315-CA61-9DB9-E748-CCC5DA1D4D47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32A48315-CA61-9DB9-E748-CCC5DA1D4D4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5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4D37DA-C53A-B8D4-14E3-4CEE1F593A89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E74D37DA-C53A-B8D4-14E3-4CEE1F593A8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4E10FD-006A-474D-EDF7-E4FABD962C49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C4E10FD-006A-474D-EDF7-E4FABD962C4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794E4C-6177-DAF8-1CD1-608C89EA7C57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5794E4C-6177-DAF8-1CD1-608C89EA7C5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25F0EA-EA6F-603C-D3DB-9B3AEEBBB077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2B25F0EA-EA6F-603C-D3DB-9B3AEEBBB0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9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8DCCB-E1C1-AECA-987C-E2E03AF9BBDD}"/>
                  </a:ext>
                </a:extLst>
              </p:cNvPr>
              <p:cNvSpPr txBox="1"/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hợp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lý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  <a:b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</a:br>
                <a:r>
                  <a:rPr lang="vi-VN" sz="1100" dirty="0">
                    <a:highlight>
                      <a:srgbClr val="00FFFF"/>
                    </a:highlight>
                    <a:latin typeface="Arial"/>
                    <a:sym typeface="Wingdings" pitchFamily="2" charset="2"/>
                  </a:rPr>
                  <a:t>(tích các đường cao chiếu từ mỗi điểm x lên hình chuông)</a:t>
                </a:r>
                <a:endParaRPr lang="en-VN" dirty="0">
                  <a:highlight>
                    <a:srgbClr val="00FFFF"/>
                  </a:highlight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F8E8DCCB-E1C1-AECA-987C-E2E03AF9BB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blipFill>
                <a:blip r:embed="rId10"/>
                <a:stretch>
                  <a:fillRect l="-289" t="-2500" b="-25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43A57E73-D02D-A335-3018-81628915E609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663407-7E27-9B4C-9DBF-F47B72829E20}"/>
                  </a:ext>
                </a:extLst>
              </p:cNvPr>
              <p:cNvSpPr txBox="1"/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2663407-7E27-9B4C-9DBF-F47B72829E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blipFill>
                <a:blip r:embed="rId11"/>
                <a:stretch>
                  <a:fillRect t="-91549" b="-146479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778526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3D3E0-0F59-6538-6225-5145AF589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F924FF2-63D1-BAB6-5E99-27D4803AE89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39980E3-C75F-CDD2-74D3-E38FD0A75F96}"/>
              </a:ext>
            </a:extLst>
          </p:cNvPr>
          <p:cNvSpPr txBox="1"/>
          <p:nvPr/>
        </p:nvSpPr>
        <p:spPr>
          <a:xfrm>
            <a:off x="364067" y="1267772"/>
            <a:ext cx="6158653" cy="7232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Kiến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nền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phối chuẩn (hình cái chuông)</a:t>
            </a:r>
            <a:br>
              <a:rPr lang="vi-VN" sz="1400" dirty="0">
                <a:solidFill>
                  <a:srgbClr val="444B52"/>
                </a:solidFill>
                <a:latin typeface="Arial"/>
              </a:rPr>
            </a:br>
            <a:r>
              <a:rPr lang="vi-VN" sz="800" dirty="0">
                <a:solidFill>
                  <a:srgbClr val="444B52"/>
                </a:solidFill>
                <a:latin typeface="Arial"/>
              </a:rPr>
              <a:t>(nhiều tên gọi hàn lâm như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Hàm Phân phối chuẩn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Guassian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Normal Distribution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, </a:t>
            </a:r>
            <a:r>
              <a:rPr lang="vi-VN" sz="800" b="1" dirty="0">
                <a:solidFill>
                  <a:srgbClr val="444B52"/>
                </a:solidFill>
                <a:latin typeface="Arial"/>
              </a:rPr>
              <a:t>Bell Curve</a:t>
            </a:r>
            <a:r>
              <a:rPr lang="vi-VN" sz="800" dirty="0">
                <a:solidFill>
                  <a:srgbClr val="444B52"/>
                </a:solidFill>
                <a:latin typeface="Arial"/>
              </a:rPr>
              <a:t>)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37092F0-BD4A-B7C7-6750-6CB391B57995}"/>
                  </a:ext>
                </a:extLst>
              </p:cNvPr>
              <p:cNvSpPr txBox="1"/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noFill/>
              <a:ln w="12700">
                <a:solidFill>
                  <a:schemeClr val="tx2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b="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vi-VN" b="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b="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b="0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  <m:r>
                        <a:rPr lang="en-VN" b="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b="0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VN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  <m:rad>
                            <m:radPr>
                              <m:deg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en-VN" b="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</m:rad>
                        </m:den>
                      </m:f>
                      <m:sSup>
                        <m:sSupPr>
                          <m:ctrlPr>
                            <a:rPr lang="en-VN" b="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VN" b="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r>
                            <a:rPr lang="en-VN" b="0" i="0">
                              <a:latin typeface="Cambria Math" panose="02040503050406030204" pitchFamily="18" charset="0"/>
                            </a:rPr>
                            <m:t>−</m:t>
                          </m:r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b="0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en-VN" b="0" i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VN" b="0" i="1" smtClean="0">
                                          <a:solidFill>
                                            <a:schemeClr val="tx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VN" b="0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en-VN" b="0" i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sSup>
                                <m:sSupPr>
                                  <m:ctrlP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VN" b="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p>
                                  <m:r>
                                    <a:rPr lang="en-VN" b="0" i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den>
                          </m:f>
                        </m:sup>
                      </m:sSup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37092F0-BD4A-B7C7-6750-6CB391B5799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055439"/>
                <a:ext cx="3352953" cy="635687"/>
              </a:xfrm>
              <a:prstGeom prst="rect">
                <a:avLst/>
              </a:prstGeom>
              <a:blipFill>
                <a:blip r:embed="rId3"/>
                <a:stretch>
                  <a:fillRect b="-5769"/>
                </a:stretch>
              </a:blipFill>
              <a:ln w="12700">
                <a:solidFill>
                  <a:schemeClr val="tx2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4" name="TextBox 33">
            <a:extLst>
              <a:ext uri="{FF2B5EF4-FFF2-40B4-BE49-F238E27FC236}">
                <a16:creationId xmlns:a16="http://schemas.microsoft.com/office/drawing/2014/main" id="{2ED49519-0756-871B-9290-FC75E8FB160C}"/>
              </a:ext>
            </a:extLst>
          </p:cNvPr>
          <p:cNvSpPr txBox="1"/>
          <p:nvPr/>
        </p:nvSpPr>
        <p:spPr>
          <a:xfrm>
            <a:off x="6096000" y="1296106"/>
            <a:ext cx="19976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Công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thức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436DF9DE-335F-2093-E35E-8D7851ADEB0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7781" y="2207259"/>
            <a:ext cx="5593644" cy="432403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6B7882-6AB1-7B23-938A-E8D1ED26D273}"/>
                  </a:ext>
                </a:extLst>
              </p:cNvPr>
              <p:cNvSpPr txBox="1"/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phân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phối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chuẩn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7F6B7882-6AB1-7B23-938A-E8D1ED26D27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1697423"/>
                <a:ext cx="4343148" cy="307777"/>
              </a:xfrm>
              <a:prstGeom prst="rect">
                <a:avLst/>
              </a:prstGeom>
              <a:blipFill>
                <a:blip r:embed="rId5"/>
                <a:stretch>
                  <a:fillRect l="-292"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607BAC-E4C9-40E4-D198-2FFDDEC5AD15}"/>
                  </a:ext>
                </a:extLst>
              </p:cNvPr>
              <p:cNvSpPr txBox="1"/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VN" sz="1400" b="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Giá trị trung bình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(</a:t>
                </a: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Tâm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0A607BAC-E4C9-40E4-D198-2FFDDEC5AD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2759662"/>
                <a:ext cx="3603057" cy="307777"/>
              </a:xfrm>
              <a:prstGeom prst="rect">
                <a:avLst/>
              </a:prstGeom>
              <a:blipFill>
                <a:blip r:embed="rId6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7C3527-287B-32E8-2152-9BB77EA41655}"/>
                  </a:ext>
                </a:extLst>
              </p:cNvPr>
              <p:cNvSpPr txBox="1"/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0" i="1" dirty="0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Độ lệch chuẩn (</a:t>
                </a:r>
                <a:r>
                  <a:rPr lang="vi-VN" sz="1400" dirty="0">
                    <a:solidFill>
                      <a:srgbClr val="00B050"/>
                    </a:solidFill>
                    <a:latin typeface="Arial"/>
                  </a:rPr>
                  <a:t>Độ gầy/mập chuông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)</a:t>
                </a:r>
                <a:endParaRPr lang="en-VN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27C3527-287B-32E8-2152-9BB77EA416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3067439"/>
                <a:ext cx="3603057" cy="307777"/>
              </a:xfrm>
              <a:prstGeom prst="rect">
                <a:avLst/>
              </a:prstGeom>
              <a:blipFill>
                <a:blip r:embed="rId7"/>
                <a:stretch>
                  <a:fillRect t="-8000" b="-1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E8368-04C0-3F6E-DDB2-203FF758AA04}"/>
                  </a:ext>
                </a:extLst>
              </p:cNvPr>
              <p:cNvSpPr txBox="1"/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Vấn đề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Cho sẵn tập 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Làm sao “vẽ cái chuông cho khớp” với tập </a:t>
                </a: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?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 Tìm</a:t>
                </a:r>
                <a14:m>
                  <m:oMath xmlns:m="http://schemas.openxmlformats.org/officeDocument/2006/math">
                    <m:r>
                      <a:rPr lang="vi-VN" sz="1400" b="1" i="0" smtClean="0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FF1E8368-04C0-3F6E-DDB2-203FF758AA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00" y="3767518"/>
                <a:ext cx="5820076" cy="1107996"/>
              </a:xfrm>
              <a:prstGeom prst="rect">
                <a:avLst/>
              </a:prstGeom>
              <a:blipFill>
                <a:blip r:embed="rId8"/>
                <a:stretch>
                  <a:fillRect l="-436" t="-1136" b="-454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2E5051E-D4FB-AD23-F803-18D441D2B4BD}"/>
                  </a:ext>
                </a:extLst>
              </p:cNvPr>
              <p:cNvSpPr txBox="1"/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,…,</m:t>
                          </m:r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b>
                          </m:sSub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∈</m:t>
                      </m:r>
                      <m:sSup>
                        <m:sSup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</m:sSup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32E5051E-D4FB-AD23-F803-18D441D2B4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2182" y="4108549"/>
                <a:ext cx="1899751" cy="215444"/>
              </a:xfrm>
              <a:prstGeom prst="rect">
                <a:avLst/>
              </a:prstGeom>
              <a:blipFill>
                <a:blip r:embed="rId9"/>
                <a:stretch>
                  <a:fillRect l="-662" b="-11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62A5F0-5CD6-E03E-1E19-F1045B065541}"/>
                  </a:ext>
                </a:extLst>
              </p:cNvPr>
              <p:cNvSpPr txBox="1"/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Hàm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hợp</a:t>
                </a:r>
                <a:r>
                  <a:rPr lang="en-US" sz="1400" b="1" dirty="0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highlight>
                      <a:srgbClr val="FFFF00"/>
                    </a:highlight>
                    <a:latin typeface="Arial"/>
                  </a:rPr>
                  <a:t>lý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(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cố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định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𝜇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và </a:t>
                </a:r>
                <a14:m>
                  <m:oMath xmlns:m="http://schemas.openxmlformats.org/officeDocument/2006/math">
                    <m:r>
                      <a:rPr lang="en-VN" sz="1400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𝜎</m:t>
                    </m:r>
                  </m:oMath>
                </a14:m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là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 </a:t>
                </a:r>
                <a:r>
                  <a:rPr lang="en-US" sz="1400" b="1" dirty="0" err="1">
                    <a:solidFill>
                      <a:srgbClr val="1B8A7A"/>
                    </a:solidFill>
                    <a:latin typeface="Arial"/>
                  </a:rPr>
                  <a:t>ẩn</a:t>
                </a:r>
                <a:r>
                  <a:rPr lang="en-US" sz="1400" b="1" dirty="0">
                    <a:solidFill>
                      <a:srgbClr val="1B8A7A"/>
                    </a:solidFill>
                    <a:latin typeface="Arial"/>
                  </a:rPr>
                  <a:t>)</a:t>
                </a:r>
                <a:br>
                  <a:rPr lang="vi-VN" sz="1400" b="1" dirty="0"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</a:br>
                <a:r>
                  <a:rPr lang="vi-VN" sz="1100" dirty="0">
                    <a:highlight>
                      <a:srgbClr val="00FFFF"/>
                    </a:highlight>
                    <a:latin typeface="Arial"/>
                    <a:sym typeface="Wingdings" pitchFamily="2" charset="2"/>
                  </a:rPr>
                  <a:t>(tích các đường cao chiếu từ mỗi điểm x lên hình chuông)</a:t>
                </a:r>
                <a:endParaRPr lang="en-VN" dirty="0">
                  <a:highlight>
                    <a:srgbClr val="00FFFF"/>
                  </a:highlight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62A5F0-5CD6-E03E-1E19-F1045B06554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6587" y="4944088"/>
                <a:ext cx="4377332" cy="492443"/>
              </a:xfrm>
              <a:prstGeom prst="rect">
                <a:avLst/>
              </a:prstGeom>
              <a:blipFill>
                <a:blip r:embed="rId10"/>
                <a:stretch>
                  <a:fillRect l="-289" t="-2500" b="-25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58D8FAB9-22B4-8118-6278-B65783B73297}"/>
              </a:ext>
            </a:extLst>
          </p:cNvPr>
          <p:cNvSpPr txBox="1"/>
          <p:nvPr/>
        </p:nvSpPr>
        <p:spPr>
          <a:xfrm>
            <a:off x="7911966" y="5977288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7317C7-8C67-B6D2-A17D-D7ED8DAA9136}"/>
                  </a:ext>
                </a:extLst>
              </p:cNvPr>
              <p:cNvSpPr txBox="1"/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en-VN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i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dirty="0"/>
              </a:p>
            </p:txBody>
          </p:sp>
        </mc:Choice>
        <mc:Fallback xmlns="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CB7317C7-8C67-B6D2-A17D-D7ED8DAA91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8730" y="5540887"/>
                <a:ext cx="3470177" cy="871201"/>
              </a:xfrm>
              <a:prstGeom prst="rect">
                <a:avLst/>
              </a:prstGeom>
              <a:blipFill>
                <a:blip r:embed="rId11"/>
                <a:stretch>
                  <a:fillRect t="-91549" b="-146479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DBAD6A66-2968-810A-A839-DC311EB036D8}"/>
              </a:ext>
            </a:extLst>
          </p:cNvPr>
          <p:cNvSpPr txBox="1"/>
          <p:nvPr/>
        </p:nvSpPr>
        <p:spPr>
          <a:xfrm>
            <a:off x="10303497" y="6344208"/>
            <a:ext cx="13185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vi-VN" sz="1400" dirty="0"/>
              <a:t>Quay lại GMM</a:t>
            </a:r>
            <a:endParaRPr lang="el-GR" sz="1400" dirty="0"/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F08EFFB2-788A-0C68-9457-C5197A4C6FA1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838077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1ABB19-03BD-33C8-07F3-06EDE28C4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36065A-3063-A1D5-F33E-ACDF1193F35E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846C090-C329-5AE6-6CB7-FF865F13CF03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406786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B4EB70-62AB-3299-D9C3-E91D4F4C7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03F9245-AF6D-9957-8AE4-9EBF98EB94F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20603A-EBD7-00D6-467C-7470425C8427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A820603A-EBD7-00D6-467C-7470425C842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E3152A-AA2E-8107-3DE2-A50AE4FC4DA0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77E3152A-AA2E-8107-3DE2-A50AE4FC4D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4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CDEA5C84-35CB-2043-F47A-F2D9641AF839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903BF20-9CE3-FA38-78AE-C6E31CCA1FEB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39B394-6E16-A77C-19F2-0F17CF6807BF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93F67F6-4B9B-1D82-375F-56230094C1AC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93F67F6-4B9B-1D82-375F-56230094C1A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5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ED46B2B-A179-D69D-B1CB-B45FB3344924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6ED46B2B-A179-D69D-B1CB-B45FB33449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6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7201624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C17AB-29DB-5529-5C62-38990D318C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4390C18-0DE5-A4A2-CE8B-8D3D9AE8330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888731-74B7-FE4A-034D-0DD33E2C58D7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59888731-74B7-FE4A-034D-0DD33E2C58D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A99B1E57-7511-91C9-E342-CCC4D7C531E0}"/>
              </a:ext>
            </a:extLst>
          </p:cNvPr>
          <p:cNvCxnSpPr>
            <a:cxnSpLocks/>
          </p:cNvCxnSpPr>
          <p:nvPr/>
        </p:nvCxnSpPr>
        <p:spPr>
          <a:xfrm>
            <a:off x="6061434" y="2632105"/>
            <a:ext cx="0" cy="40439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C98057-D007-683C-9D2C-9E591F7B831F}"/>
                  </a:ext>
                </a:extLst>
              </p:cNvPr>
              <p:cNvSpPr txBox="1"/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hỗn hợp gồm </a:t>
                </a:r>
                <a14:m>
                  <m:oMath xmlns:m="http://schemas.openxmlformats.org/officeDocument/2006/math">
                    <m:r>
                      <a:rPr lang="en-VN" sz="1400" b="1" i="1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các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4CC98057-D007-683C-9D2C-9E591F7B831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blipFill>
                <a:blip r:embed="rId4"/>
                <a:stretch>
                  <a:fillRect l="-240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D2E531-44C8-9066-1C2E-E6C91F42443B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9CD2E531-44C8-9066-1C2E-E6C91F4244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5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4DE057-155A-9070-F67B-F3187F546C9A}"/>
                  </a:ext>
                </a:extLst>
              </p:cNvPr>
              <p:cNvSpPr txBox="1"/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vi-VN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GMM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nor/>
                            </m:rPr>
                            <a:rPr lang="en-VN" sz="1400" i="0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914DE057-155A-9070-F67B-F3187F546C9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blipFill>
                <a:blip r:embed="rId6"/>
                <a:stretch>
                  <a:fillRect t="-92857" b="-146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EA66726D-2D35-5EA7-41D1-2408C009395B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F70F646-3585-D73E-E5FF-AD7FBEF87718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1DBD90-1072-395A-ED0E-85FDA674355D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B4D8E35-8497-A549-6084-EB2BBE651624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FB4D8E35-8497-A549-6084-EB2BBE65162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7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3AE62C-1B5D-9127-7617-DBD23A6C11C1}"/>
                  </a:ext>
                </a:extLst>
              </p:cNvPr>
              <p:cNvSpPr txBox="1"/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bộ 3 tham số:</a:t>
                </a:r>
                <a14:m>
                  <m:oMath xmlns:m="http://schemas.openxmlformats.org/officeDocument/2006/math">
                    <m:r>
                      <a:rPr lang="vi-VN" sz="140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863AE62C-1B5D-9127-7617-DBD23A6C11C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blipFill>
                <a:blip r:embed="rId8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FA881D-CBDF-6719-457C-A720B2127E91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FEFA881D-CBDF-6719-457C-A720B2127E9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9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E339A8-D774-15C1-148D-DFDF58CDA2E5}"/>
                  </a:ext>
                </a:extLst>
              </p:cNvPr>
              <p:cNvSpPr txBox="1"/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EE339A8-D774-15C1-148D-DFDF58CDA2E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blipFill>
                <a:blip r:embed="rId10"/>
                <a:stretch>
                  <a:fillRect l="-20690" t="-108000" r="-5172" b="-17200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541650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5F900E-536C-252B-66E0-0E61CE105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6A071BE-9CF4-F2FC-8F76-F5EA06BE481F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A1C734-D262-E75E-1F4A-963D5809540C}"/>
                  </a:ext>
                </a:extLst>
              </p:cNvPr>
              <p:cNvSpPr txBox="1"/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một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(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1A1C734-D262-E75E-1F4A-963D5809540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2914317"/>
                <a:ext cx="4712346" cy="1538883"/>
              </a:xfrm>
              <a:prstGeom prst="rect">
                <a:avLst/>
              </a:prstGeom>
              <a:blipFill>
                <a:blip r:embed="rId3"/>
                <a:stretch>
                  <a:fillRect l="-269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0AA1F1E-626D-5696-4FDD-A3470B6705E7}"/>
              </a:ext>
            </a:extLst>
          </p:cNvPr>
          <p:cNvCxnSpPr>
            <a:cxnSpLocks/>
          </p:cNvCxnSpPr>
          <p:nvPr/>
        </p:nvCxnSpPr>
        <p:spPr>
          <a:xfrm>
            <a:off x="6061434" y="2632105"/>
            <a:ext cx="0" cy="40439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75F1DC-F2D0-C8A4-6ACC-F234B2CBC993}"/>
                  </a:ext>
                </a:extLst>
              </p:cNvPr>
              <p:cNvSpPr txBox="1"/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Mục tiêu: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Nếu muốn vẽ </a:t>
                </a:r>
                <a:r>
                  <a:rPr lang="vi-VN" sz="1400" b="1" dirty="0">
                    <a:solidFill>
                      <a:srgbClr val="FF0000"/>
                    </a:solidFill>
                    <a:highlight>
                      <a:srgbClr val="FFFF00"/>
                    </a:highlight>
                    <a:latin typeface="Arial"/>
                  </a:rPr>
                  <a:t>hỗn hợp gồm </a:t>
                </a:r>
                <a14:m>
                  <m:oMath xmlns:m="http://schemas.openxmlformats.org/officeDocument/2006/math">
                    <m:r>
                      <a:rPr lang="en-VN" sz="1400" b="1" i="1" smtClean="0">
                        <a:solidFill>
                          <a:srgbClr val="FF0000"/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phân phối chuẩn khớp với tập </a:t>
                </a:r>
                <a14:m>
                  <m:oMath xmlns:m="http://schemas.openxmlformats.org/officeDocument/2006/math">
                    <m:r>
                      <a:rPr lang="en-VN" sz="1400" i="1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br>
                  <a:rPr lang="vi-VN" sz="1400" dirty="0">
                    <a:latin typeface="Arial"/>
                  </a:rPr>
                </a:b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Thì tìm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các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 và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 smtClean="0">
                            <a:solidFill>
                              <a:srgbClr val="00B050"/>
                            </a:solidFill>
                            <a:highlight>
                              <a:srgbClr val="FFFF00"/>
                            </a:highlight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  <a:sym typeface="Wingdings" pitchFamily="2" charset="2"/>
                  </a:rPr>
                  <a:t>)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để </a:t>
                </a:r>
                <a:r>
                  <a:rPr lang="vi-VN" sz="1400" b="1" u="sng" dirty="0">
                    <a:latin typeface="Arial"/>
                    <a:sym typeface="Wingdings" pitchFamily="2" charset="2"/>
                  </a:rPr>
                  <a:t>hàm hợp lý</a:t>
                </a:r>
                <a:r>
                  <a:rPr lang="vi-VN" sz="1400" b="1" dirty="0">
                    <a:latin typeface="Arial"/>
                    <a:sym typeface="Wingdings" pitchFamily="2" charset="2"/>
                  </a:rPr>
                  <a:t> đạt cực đại</a:t>
                </a:r>
                <a:br>
                  <a:rPr lang="vi-VN" sz="1400" b="1" dirty="0">
                    <a:solidFill>
                      <a:srgbClr val="1B8A7A"/>
                    </a:solidFill>
                    <a:latin typeface="Arial"/>
                  </a:rPr>
                </a:br>
                <a:endParaRPr lang="vi-VN" sz="1400" b="1" dirty="0">
                  <a:solidFill>
                    <a:srgbClr val="1B8A7A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D75F1DC-F2D0-C8A4-6ACC-F234B2CBC99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2914317"/>
                <a:ext cx="5272661" cy="1538883"/>
              </a:xfrm>
              <a:prstGeom prst="rect">
                <a:avLst/>
              </a:prstGeom>
              <a:blipFill>
                <a:blip r:embed="rId4"/>
                <a:stretch>
                  <a:fillRect l="-240" t="-8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1C381AE-7CB1-1D9A-7070-9A3CC6C58D51}"/>
                  </a:ext>
                </a:extLst>
              </p:cNvPr>
              <p:cNvSpPr txBox="1"/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01C381AE-7CB1-1D9A-7070-9A3CC6C58D5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3469" y="3807772"/>
                <a:ext cx="3470177" cy="698140"/>
              </a:xfrm>
              <a:prstGeom prst="rect">
                <a:avLst/>
              </a:prstGeom>
              <a:blipFill>
                <a:blip r:embed="rId5"/>
                <a:stretch>
                  <a:fillRect t="-94545" b="-150909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4393D6-70E0-972E-DBBC-BB82A985795F}"/>
                  </a:ext>
                </a:extLst>
              </p:cNvPr>
              <p:cNvSpPr txBox="1"/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b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a:rPr lang="vi-VN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GMM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𝜃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  <m:r>
                            <m:rPr>
                              <m:nor/>
                            </m:rPr>
                            <a:rPr lang="en-VN" sz="1400" i="0" dirty="0"/>
                            <m:t> </m:t>
                          </m:r>
                        </m:e>
                      </m:nary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D34393D6-70E0-972E-DBBC-BB82A98579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7306" y="3809908"/>
                <a:ext cx="3103836" cy="698140"/>
              </a:xfrm>
              <a:prstGeom prst="rect">
                <a:avLst/>
              </a:prstGeom>
              <a:blipFill>
                <a:blip r:embed="rId6"/>
                <a:stretch>
                  <a:fillRect t="-92857" b="-146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BEF5ECB-F9C1-8970-013C-11407763F3A0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2.1.2. Tìm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và </a:t>
            </a:r>
            <a:r>
              <a:rPr lang="vi-VN" sz="1400" dirty="0">
                <a:solidFill>
                  <a:srgbClr val="444B52"/>
                </a:solidFill>
                <a:highlight>
                  <a:srgbClr val="00FFFF"/>
                </a:highlight>
                <a:latin typeface="Arial"/>
              </a:rPr>
              <a:t>Hỗn hợp phân phối chuẩn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đều là hàm mật độ xác suất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3C4FD7E-1E7D-53AE-38A4-52534A9988DA}"/>
              </a:ext>
            </a:extLst>
          </p:cNvPr>
          <p:cNvSpPr txBox="1"/>
          <p:nvPr/>
        </p:nvSpPr>
        <p:spPr>
          <a:xfrm>
            <a:off x="2085174" y="5819686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VN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7FA3E7-859B-84CB-B0FA-A098BF6547E8}"/>
                  </a:ext>
                </a:extLst>
              </p:cNvPr>
              <p:cNvSpPr txBox="1"/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noFill/>
              <a:ln w="12700">
                <a:solidFill>
                  <a:schemeClr val="accent1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277FA3E7-859B-84CB-B0FA-A098BF6547E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98410" y="4654056"/>
                <a:ext cx="2183803" cy="605807"/>
              </a:xfrm>
              <a:prstGeom prst="rect">
                <a:avLst/>
              </a:prstGeom>
              <a:blipFill>
                <a:blip r:embed="rId7"/>
                <a:stretch>
                  <a:fillRect l="-20690" t="-108000" r="-5172" b="-172000"/>
                </a:stretch>
              </a:blipFill>
              <a:ln w="12700">
                <a:solidFill>
                  <a:schemeClr val="accent1"/>
                </a:solidFill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1" name="TextBox 40">
            <a:extLst>
              <a:ext uri="{FF2B5EF4-FFF2-40B4-BE49-F238E27FC236}">
                <a16:creationId xmlns:a16="http://schemas.microsoft.com/office/drawing/2014/main" id="{03B238A1-2A43-E433-B549-3761EBE1BE35}"/>
              </a:ext>
            </a:extLst>
          </p:cNvPr>
          <p:cNvSpPr txBox="1"/>
          <p:nvPr/>
        </p:nvSpPr>
        <p:spPr>
          <a:xfrm>
            <a:off x="2572284" y="5392396"/>
            <a:ext cx="23756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VN" dirty="0"/>
              <a:t>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B578129-7352-4CAD-24CE-3189FEC841B2}"/>
                  </a:ext>
                </a:extLst>
              </p:cNvPr>
              <p:cNvSpPr txBox="1"/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2 tham số: </a:t>
                </a:r>
                <a14:m>
                  <m:oMath xmlns:m="http://schemas.openxmlformats.org/officeDocument/2006/math">
                    <m:r>
                      <a:rPr lang="en-VN" sz="1400" b="1" i="1">
                        <a:solidFill>
                          <a:schemeClr val="tx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𝝁</m:t>
                    </m:r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r>
                      <a:rPr lang="en-US" sz="1400" b="1" i="1" dirty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𝝈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3B578129-7352-4CAD-24CE-3189FEC841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8743" y="5392396"/>
                <a:ext cx="4321041" cy="307777"/>
              </a:xfrm>
              <a:prstGeom prst="rect">
                <a:avLst/>
              </a:prstGeom>
              <a:blipFill>
                <a:blip r:embed="rId8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72B27-E841-89AC-2CC6-B7858D6F2250}"/>
                  </a:ext>
                </a:extLst>
              </p:cNvPr>
              <p:cNvSpPr txBox="1"/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US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bộ 3 tham số:</a:t>
                </a:r>
                <a14:m>
                  <m:oMath xmlns:m="http://schemas.openxmlformats.org/officeDocument/2006/math">
                    <m:r>
                      <a:rPr lang="vi-VN" sz="1400" b="0" i="0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  <m:r>
                      <a:rPr lang="vi-VN" sz="1400" b="0" i="1" smtClean="0">
                        <a:solidFill>
                          <a:schemeClr val="accent6">
                            <a:lumMod val="75000"/>
                          </a:schemeClr>
                        </a:solidFill>
                        <a:highlight>
                          <a:srgbClr val="FFFF00"/>
                        </a:highlight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và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77A72B27-E841-89AC-2CC6-B7858D6F22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22" y="5392395"/>
                <a:ext cx="4321041" cy="307777"/>
              </a:xfrm>
              <a:prstGeom prst="rect">
                <a:avLst/>
              </a:prstGeom>
              <a:blipFill>
                <a:blip r:embed="rId9"/>
                <a:stretch>
                  <a:fillRect t="-4000" b="-24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5302251-2C52-A169-2677-81087F3054CF}"/>
                  </a:ext>
                </a:extLst>
              </p:cNvPr>
              <p:cNvSpPr txBox="1"/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noFill/>
              <a:ln w="12700">
                <a:noFill/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r>
                            <a:rPr lang="en-VN" sz="1400" i="0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</m:e>
                      </m:nary>
                      <m:d>
                        <m:dPr>
                          <m:ctrlP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sz="1400" i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𝜇</m:t>
                          </m:r>
                          <m:r>
                            <a:rPr lang="en-VN" sz="140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VN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p>
                              <m:r>
                                <a:rPr lang="en-VN" sz="140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47" name="TextBox 46">
                <a:extLst>
                  <a:ext uri="{FF2B5EF4-FFF2-40B4-BE49-F238E27FC236}">
                    <a16:creationId xmlns:a16="http://schemas.microsoft.com/office/drawing/2014/main" id="{D5302251-2C52-A169-2677-81087F3054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0461" y="4610619"/>
                <a:ext cx="3470177" cy="698140"/>
              </a:xfrm>
              <a:prstGeom prst="rect">
                <a:avLst/>
              </a:prstGeom>
              <a:blipFill>
                <a:blip r:embed="rId10"/>
                <a:stretch>
                  <a:fillRect t="-89474" b="-145614"/>
                </a:stretch>
              </a:blipFill>
              <a:ln w="12700">
                <a:noFill/>
              </a:ln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F52ACDFB-C295-A84D-98F4-96FF126A2440}"/>
              </a:ext>
            </a:extLst>
          </p:cNvPr>
          <p:cNvSpPr txBox="1"/>
          <p:nvPr/>
        </p:nvSpPr>
        <p:spPr>
          <a:xfrm>
            <a:off x="9138662" y="6319626"/>
            <a:ext cx="248337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Đạo hàm tìm cực trị là xong?</a:t>
            </a:r>
            <a:endParaRPr lang="el-GR" sz="1400" dirty="0"/>
          </a:p>
        </p:txBody>
      </p:sp>
      <p:sp>
        <p:nvSpPr>
          <p:cNvPr id="5" name="Right Arrow 4">
            <a:extLst>
              <a:ext uri="{FF2B5EF4-FFF2-40B4-BE49-F238E27FC236}">
                <a16:creationId xmlns:a16="http://schemas.microsoft.com/office/drawing/2014/main" id="{90CF9D84-6759-46DA-E2C9-D8A0A505CE9B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300759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991E3A-E18A-9DC6-F290-33468EFA88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F66B9AB-5D03-D07A-8FCA-20863ECCEF8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D463B6A-30C2-4FB3-6F68-44F88A188786}"/>
              </a:ext>
            </a:extLst>
          </p:cNvPr>
          <p:cNvSpPr txBox="1"/>
          <p:nvPr/>
        </p:nvSpPr>
        <p:spPr>
          <a:xfrm>
            <a:off x="364066" y="1267771"/>
            <a:ext cx="11283437" cy="1769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Từ hàm mục tiêu ở 2.1.2, ta thực hiện: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DCF906-BACB-D8DD-6601-AFB1E276D2ED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FDCF906-BACB-D8DD-6601-AFB1E276D2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3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5883726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659171-BE3B-E5FA-694D-AB29C76BF2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E98B3B-3C94-2727-6EE7-6E151822E3A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06A1E2-2E59-5CF9-6571-0B8657C4229A}"/>
              </a:ext>
            </a:extLst>
          </p:cNvPr>
          <p:cNvSpPr txBox="1"/>
          <p:nvPr/>
        </p:nvSpPr>
        <p:spPr>
          <a:xfrm>
            <a:off x="364066" y="1267771"/>
            <a:ext cx="11283437" cy="235449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2.1. Gaussian Mixture Model (GMM)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Mô hình hỗn hợp phân phối chuẩn</a:t>
            </a:r>
            <a:endParaRPr lang="vi-VN" sz="1400" b="1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chemeClr val="bg2">
                    <a:lumMod val="50000"/>
                  </a:schemeClr>
                </a:solidFill>
                <a:latin typeface="Arial"/>
              </a:rPr>
              <a:t>2.1.3. Tìm cực trị hàm mục tiêu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- Từ hàm mục tiêu ở 2.1.2, ta thực hiện: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		+ Lấy logarit 2 vế (cho dễ đạo hàm và tránh tràn số underflow)</a:t>
            </a:r>
          </a:p>
          <a:p>
            <a:pPr>
              <a:spcAft>
                <a:spcPts val="6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56CB31B-4580-F8D1-DAEA-35402BE14371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56CB31B-4580-F8D1-DAEA-35402BE143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3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319BBC-7071-3CBE-B55F-5BCF8B7020B8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319BBC-7071-3CBE-B55F-5BCF8B7020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4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ight Arrow 3">
            <a:extLst>
              <a:ext uri="{FF2B5EF4-FFF2-40B4-BE49-F238E27FC236}">
                <a16:creationId xmlns:a16="http://schemas.microsoft.com/office/drawing/2014/main" id="{7F56EDA7-1EDA-B7C7-BFBF-0BD7081C84C6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521438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CE0F5-D5A8-3F1F-195B-8F26BAB57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5D1DE76-20DF-15DF-76B6-A0915D3FACC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01BDB84-4B25-0D5B-0644-9D481EA45577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01BDB84-4B25-0D5B-0644-9D481EA455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39C2E13-F2A1-30C5-6BD7-4FB1260CD6D0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39C2E13-F2A1-30C5-6BD7-4FB1260CD6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5E6705-57CF-0FB8-0D41-84B9CACEA711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B5E6705-57CF-0FB8-0D41-84B9CACEA7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5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Arrow 7">
            <a:extLst>
              <a:ext uri="{FF2B5EF4-FFF2-40B4-BE49-F238E27FC236}">
                <a16:creationId xmlns:a16="http://schemas.microsoft.com/office/drawing/2014/main" id="{844B3DCE-D1AA-2686-B659-6855BB51B3AE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859372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B92A76-62AD-BAFF-2EAC-1497B50D0D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9F679FE-BF18-1CFA-988F-14FD369017E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91DEA1-FCE7-55A0-81FC-A8B5BACF3EEF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E391DEA1-FCE7-55A0-81FC-A8B5BACF3E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1AAE868-5894-1A1F-3999-EEE15DDD2DD6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A1AAE868-5894-1A1F-3999-EEE15DDD2D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7A4E4C0-D401-9A22-8E45-D221F65A8246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3E625D-B0A8-0AF6-D552-89145854C08D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F03E625D-B0A8-0AF6-D552-89145854C0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5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6DB519-E051-6F01-13EF-D3DFDFB473B2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256DB519-E051-6F01-13EF-D3DFDFB473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6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ight Arrow 14">
            <a:extLst>
              <a:ext uri="{FF2B5EF4-FFF2-40B4-BE49-F238E27FC236}">
                <a16:creationId xmlns:a16="http://schemas.microsoft.com/office/drawing/2014/main" id="{0AACCFDD-83D0-5B19-1468-F0D7C0569858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315380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C32DC1-A8C6-543D-211C-9E37E9A3A7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2724B5B-5A0C-67B3-C111-0F2E31EFA0E7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0E3127-A874-840D-3439-0651F02760B1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4E0E3127-A874-840D-3439-0651F02760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8A8C116-CF02-0B56-C5A0-AA2977026245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D8A8C116-CF02-0B56-C5A0-AA29770262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03895B-1301-6392-8C5D-43E85CAF0BBE}"/>
                  </a:ext>
                </a:extLst>
              </p:cNvPr>
              <p:cNvSpPr txBox="1"/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b="1" dirty="0">
                    <a:solidFill>
                      <a:srgbClr val="FF0000"/>
                    </a:solidFill>
                    <a:latin typeface="Arial"/>
                  </a:rPr>
                  <a:t>=&gt; Bế tắc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Các đạo hàm riêng theo mỗi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không thể rút từng biến sang một vế để tìm nghiệm đóng</a:t>
                </a:r>
              </a:p>
              <a:p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D03895B-1301-6392-8C5D-43E85CAF0BB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blipFill>
                <a:blip r:embed="rId5"/>
                <a:stretch>
                  <a:fillRect l="-913" t="-8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B69EBADD-6524-8194-2A86-D9DD670C6FD9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69C9A8-0076-CA18-40A8-1CA5B958AA3C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B69C9A8-0076-CA18-40A8-1CA5B958AA3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6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6FD596-7CDB-ED27-AA5B-066067084CE2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B86FD596-7CDB-ED27-AA5B-066067084C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7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5" name="Right Arrow 14">
            <a:extLst>
              <a:ext uri="{FF2B5EF4-FFF2-40B4-BE49-F238E27FC236}">
                <a16:creationId xmlns:a16="http://schemas.microsoft.com/office/drawing/2014/main" id="{F20DACB8-E1D6-2037-1D0A-EA6239EEC5FC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319907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11AFED-9652-00C4-BAE4-04E41551FA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C07F8CA-AF8B-5D1E-482D-2AF2D5EFB878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FC7060-D933-596D-631C-5375D615A6DD}"/>
                  </a:ext>
                </a:extLst>
              </p:cNvPr>
              <p:cNvSpPr txBox="1"/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2.1. Gaussian Mixture Model (GMM)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Mô hình hỗn hợp phân phối chuẩn</a:t>
                </a:r>
                <a:endParaRPr lang="vi-VN" sz="1400" b="1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chemeClr val="bg2">
                        <a:lumMod val="50000"/>
                      </a:schemeClr>
                    </a:solidFill>
                    <a:latin typeface="Arial"/>
                  </a:rPr>
                  <a:t>2.1.3. Tìm cực trị hàm mục tiêu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- Từ hàm mục tiêu ở 2.1.2, ta thực hiện: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Lấy logarit 2 vế (cho dễ đạo hàm và tránh tràn số underflow)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+ Tìm đạo hàm riêng theo từng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, rồi cho đạo hàm bằng 0 tìm cực trị</a:t>
                </a: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2DFC7060-D933-596D-631C-5375D615A6D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1"/>
                <a:ext cx="11283437" cy="2354491"/>
              </a:xfrm>
              <a:prstGeom prst="rect">
                <a:avLst/>
              </a:prstGeom>
              <a:blipFill>
                <a:blip r:embed="rId3"/>
                <a:stretch>
                  <a:fillRect l="-112" t="-535" b="-10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2E1C093-A174-ACCA-2F46-DDDBD3B55E28}"/>
                  </a:ext>
                </a:extLst>
              </p:cNvPr>
              <p:cNvSpPr txBox="1"/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sz="1400" i="1">
                          <a:latin typeface="Cambria Math" panose="02040503050406030204" pitchFamily="18" charset="0"/>
                        </a:rPr>
                        <m:t>𝐿</m:t>
                      </m:r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vi-VN" sz="1400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∏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nary>
                            <m:naryPr>
                              <m:chr m:val="∑"/>
                              <m:limLoc m:val="undOvr"/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</m:e>
                      </m:nary>
                      <m:r>
                        <a:rPr lang="en-US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  <a:latin typeface="Cambria Math" panose="02040503050406030204" pitchFamily="18" charset="0"/>
                        </a:rPr>
                        <m:t>𝒩</m:t>
                      </m:r>
                      <m:d>
                        <m:dPr>
                          <m:ctrlP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US" sz="1400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vi-VN" sz="1400" b="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sz="1400" b="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e>
                      </m:d>
                    </m:oMath>
                  </m:oMathPara>
                </a14:m>
                <a:endParaRPr dirty="0"/>
              </a:p>
            </p:txBody>
          </p:sp>
        </mc:Choice>
        <mc:Fallback xmlns="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52E1C093-A174-ACCA-2F46-DDDBD3B55E2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6625" y="1966578"/>
                <a:ext cx="2869375" cy="605807"/>
              </a:xfrm>
              <a:prstGeom prst="rect">
                <a:avLst/>
              </a:prstGeom>
              <a:blipFill>
                <a:blip r:embed="rId4"/>
                <a:stretch>
                  <a:fillRect t="-116667" r="-3524" b="-17916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1ADFF8B-FBBB-304F-DE4A-81FF396C375D}"/>
              </a:ext>
            </a:extLst>
          </p:cNvPr>
          <p:cNvSpPr txBox="1"/>
          <p:nvPr/>
        </p:nvSpPr>
        <p:spPr>
          <a:xfrm>
            <a:off x="10015504" y="6358097"/>
            <a:ext cx="160653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vi-VN" sz="1400" dirty="0"/>
              <a:t>Phương pháp EM</a:t>
            </a:r>
            <a:endParaRPr lang="el-GR" sz="1400" dirty="0"/>
          </a:p>
        </p:txBody>
      </p:sp>
      <p:sp>
        <p:nvSpPr>
          <p:cNvPr id="4" name="Right Arrow 3">
            <a:extLst>
              <a:ext uri="{FF2B5EF4-FFF2-40B4-BE49-F238E27FC236}">
                <a16:creationId xmlns:a16="http://schemas.microsoft.com/office/drawing/2014/main" id="{5EE693B1-ADB6-0737-4D5E-3540B72A32BC}"/>
              </a:ext>
            </a:extLst>
          </p:cNvPr>
          <p:cNvSpPr/>
          <p:nvPr/>
        </p:nvSpPr>
        <p:spPr>
          <a:xfrm>
            <a:off x="11622034" y="6319626"/>
            <a:ext cx="350891" cy="384721"/>
          </a:xfrm>
          <a:prstGeom prst="rightArrow">
            <a:avLst/>
          </a:prstGeom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E79E60-ABF8-9DDD-7657-CDE93FF0DF40}"/>
                  </a:ext>
                </a:extLst>
              </p:cNvPr>
              <p:cNvSpPr txBox="1"/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sz="1400" b="1" i="1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𝒋</m:t>
                          </m:r>
                        </m:sub>
                      </m:sSub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  <m:sSub>
                            <m:sSubPr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sz="1400" b="0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VN" sz="1400" b="0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sz="1400" b="0" i="1"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sup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sz="1400" b="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f>
                                    <m:fPr>
                                      <m:ctrlPr>
                                        <a:rPr lang="en-VN" sz="1400" b="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b>
                                        <m:sSubPr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</m:sSub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1" i="1" smtClean="0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𝝁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1" i="1">
                                                                  <a:solidFill>
                                                                    <a:srgbClr val="0070C0"/>
                                                                  </a:solidFill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𝒋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num>
                                    <m:den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b="0" i="1"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  <m:f>
                                        <m:f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num>
                                        <m:den>
                                          <m:rad>
                                            <m:radPr>
                                              <m:degHide m:val="on"/>
                                              <m:ctrlP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radPr>
                                            <m:deg/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  <m:r>
                                                <a:rPr lang="en-VN" sz="1400" b="0" i="1">
                                                  <a:latin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</m:sup>
                                              </m:sSubSup>
                                            </m:e>
                                          </m:rad>
                                        </m:den>
                                      </m:f>
                                      <m:func>
                                        <m:funcPr>
                                          <m:ctrl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uncPr>
                                        <m:fName>
                                          <m:r>
                                            <m:rPr>
                                              <m:sty m:val="p"/>
                                            </m:rPr>
                                            <a:rPr lang="en-VN" sz="1400" b="0" i="0">
                                              <a:latin typeface="Cambria Math" panose="02040503050406030204" pitchFamily="18" charset="0"/>
                                            </a:rPr>
                                            <m:t>exp</m:t>
                                          </m:r>
                                        </m:fName>
                                        <m:e>
                                          <m:d>
                                            <m:dPr>
                                              <m:ctrlP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sz="1400" b="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f>
                                                <m:fPr>
                                                  <m:ctrlPr>
                                                    <a:rPr lang="en-VN" sz="1400" b="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fPr>
                                                <m:num>
                                                  <m:sSup>
                                                    <m:s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pPr>
                                                    <m:e>
                                                      <m:d>
                                                        <m:dPr>
                                                          <m:ctrlPr>
                                                            <a:rPr lang="en-VN" sz="1400" b="0" i="1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</m:ctrlPr>
                                                        </m:dPr>
                                                        <m:e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𝑥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𝑖</m:t>
                                                              </m:r>
                                                            </m:sub>
                                                          </m:sSub>
                                                          <m:r>
                                                            <a:rPr lang="en-VN" sz="1400" b="0" i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−</m:t>
                                                          </m:r>
                                                          <m:sSub>
                                                            <m:sSubPr>
                                                              <m:ctrlP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</m:ctrlPr>
                                                            </m:sSubPr>
                                                            <m:e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𝜇</m:t>
                                                              </m:r>
                                                            </m:e>
                                                            <m:sub>
                                                              <m:r>
                                                                <a:rPr lang="en-VN" sz="1400" b="0" i="1">
                                                                  <a:latin typeface="Cambria Math" panose="02040503050406030204" pitchFamily="18" charset="0"/>
                                                                </a:rPr>
                                                                <m:t>𝑘</m:t>
                                                              </m:r>
                                                            </m:sub>
                                                          </m:sSub>
                                                        </m:e>
                                                      </m:d>
                                                    </m:e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p>
                                                </m:num>
                                                <m:den>
                                                  <m:r>
                                                    <a:rPr lang="en-VN" sz="1400" b="0" i="0">
                                                      <a:latin typeface="Cambria Math" panose="02040503050406030204" pitchFamily="18" charset="0"/>
                                                    </a:rPr>
                                                    <m:t>2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b="0" i="1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b="0" i="0"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den>
                                              </m:f>
                                            </m:e>
                                          </m:d>
                                        </m:e>
                                      </m:func>
                                    </m:den>
                                  </m:f>
                                </m:e>
                              </m:d>
                            </m:e>
                          </m:nary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BE79E60-ABF8-9DDD-7657-CDE93FF0DF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11788" y="3806026"/>
                <a:ext cx="3962620" cy="3050194"/>
              </a:xfrm>
              <a:prstGeom prst="rect">
                <a:avLst/>
              </a:prstGeom>
              <a:blipFill>
                <a:blip r:embed="rId5"/>
                <a:stretch>
                  <a:fillRect b="-49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554131-A7A7-39DA-7308-D78B2AD787D1}"/>
                  </a:ext>
                </a:extLst>
              </p:cNvPr>
              <p:cNvSpPr txBox="1"/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b="1" dirty="0">
                    <a:solidFill>
                      <a:srgbClr val="FF0000"/>
                    </a:solidFill>
                    <a:latin typeface="Arial"/>
                  </a:rPr>
                  <a:t>=&gt; Bế tắc</a:t>
                </a:r>
                <a:br>
                  <a:rPr lang="vi-VN" sz="1400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- Các đạo hàm riêng theo mỗi biến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,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  <a:sym typeface="Wingdings" pitchFamily="2" charset="2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không thể rút từng biến sang một vế để tìm nghiệm đóng</a:t>
                </a:r>
              </a:p>
              <a:p>
                <a:endParaRPr lang="en-VN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41554131-A7A7-39DA-7308-D78B2AD787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8506" y="4714818"/>
                <a:ext cx="2769833" cy="1446550"/>
              </a:xfrm>
              <a:prstGeom prst="rect">
                <a:avLst/>
              </a:prstGeom>
              <a:blipFill>
                <a:blip r:embed="rId6"/>
                <a:stretch>
                  <a:fillRect l="-913" t="-87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>
            <a:extLst>
              <a:ext uri="{FF2B5EF4-FFF2-40B4-BE49-F238E27FC236}">
                <a16:creationId xmlns:a16="http://schemas.microsoft.com/office/drawing/2014/main" id="{F2031957-3BA2-423E-AD58-32954355D8AC}"/>
              </a:ext>
            </a:extLst>
          </p:cNvPr>
          <p:cNvSpPr txBox="1"/>
          <p:nvPr/>
        </p:nvSpPr>
        <p:spPr>
          <a:xfrm>
            <a:off x="841955" y="3652137"/>
            <a:ext cx="27698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dirty="0">
                <a:solidFill>
                  <a:srgbClr val="444B52"/>
                </a:solidFill>
                <a:latin typeface="Arial"/>
              </a:rPr>
              <a:t>- Ví dụ lấy đạo hàm riêng biến </a:t>
            </a:r>
            <a:r>
              <a:rPr lang="vi-VN" sz="1400" dirty="0">
                <a:solidFill>
                  <a:srgbClr val="0070C0"/>
                </a:solidFill>
                <a:latin typeface="Arial"/>
              </a:rPr>
              <a:t>𝝁</a:t>
            </a:r>
            <a:endParaRPr lang="en-VN" sz="1800" dirty="0">
              <a:solidFill>
                <a:srgbClr val="0070C0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5853602-1F50-D6C0-9858-43465628AADE}"/>
                  </a:ext>
                </a:extLst>
              </p:cNvPr>
              <p:cNvSpPr txBox="1"/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1400" i="1" smtClean="0">
                              <a:solidFill>
                                <a:srgbClr val="0070C0"/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limLoc m:val="undOvr"/>
                          <m:ctrlPr>
                            <a:rPr lang="en-US" sz="14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func>
                            <m:funcPr>
                              <m:ctrl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US" sz="1400" i="1" smtClean="0">
                                  <a:solidFill>
                                    <a:srgbClr val="0070C0"/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𝐾</m:t>
                                      </m:r>
                                    </m:sup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𝜋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</m:e>
                                  </m:nary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𝒩</m:t>
                                  </m:r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∣</m:t>
                                      </m:r>
                                      <m:sSub>
                                        <m:sSub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</m:s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d>
                                </m:e>
                              </m:d>
                            </m:e>
                          </m:func>
                        </m:e>
                      </m:nary>
                    </m:oMath>
                  </m:oMathPara>
                </a14:m>
                <a:endParaRPr/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25853602-1F50-D6C0-9858-43465628AA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4003" y="1922687"/>
                <a:ext cx="3459986" cy="693588"/>
              </a:xfrm>
              <a:prstGeom prst="rect">
                <a:avLst/>
              </a:prstGeom>
              <a:blipFill>
                <a:blip r:embed="rId7"/>
                <a:stretch>
                  <a:fillRect l="-730" t="-94545" r="-2920" b="-15090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ight Arrow 19">
            <a:extLst>
              <a:ext uri="{FF2B5EF4-FFF2-40B4-BE49-F238E27FC236}">
                <a16:creationId xmlns:a16="http://schemas.microsoft.com/office/drawing/2014/main" id="{8C049384-6DFC-613C-DC69-D6F245C92CB1}"/>
              </a:ext>
            </a:extLst>
          </p:cNvPr>
          <p:cNvSpPr/>
          <p:nvPr/>
        </p:nvSpPr>
        <p:spPr>
          <a:xfrm rot="19550922">
            <a:off x="5302157" y="2575174"/>
            <a:ext cx="581883" cy="384721"/>
          </a:xfrm>
          <a:prstGeom prst="rightArrow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VN">
              <a:solidFill>
                <a:schemeClr val="tx2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243998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C4E671-5D4C-9F55-BE69-80B9B00838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C9F6AE7-0D30-C450-3534-23D8D520C00A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CEF9CD-25B2-534A-BAB7-6103B72EF176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  <a:endParaRPr lang="vi-VN" sz="1400" dirty="0">
              <a:solidFill>
                <a:schemeClr val="bg2">
                  <a:lumMod val="50000"/>
                </a:schemeClr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Giữ nguyên mục tiêu là “cực đại hoá hàm hợp lý” (Maximize Log-likelihood),</a:t>
            </a:r>
          </a:p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444B52"/>
                </a:solidFill>
                <a:latin typeface="Arial"/>
              </a:rPr>
              <a:t>Nhưng với hướng tiếp cận “xác suất thống kê”:</a:t>
            </a:r>
          </a:p>
        </p:txBody>
      </p:sp>
    </p:spTree>
    <p:extLst>
      <p:ext uri="{BB962C8B-B14F-4D97-AF65-F5344CB8AC3E}">
        <p14:creationId xmlns:p14="http://schemas.microsoft.com/office/powerpoint/2010/main" val="140184096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210404-E99B-51E1-47E6-DDCFDA951B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219DB0C9-249C-392D-6F83-51BC9745C81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62107B-ED25-D4D0-2230-FE8E4FB095B8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147732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362107B-ED25-D4D0-2230-FE8E4FB095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1477328"/>
              </a:xfrm>
              <a:prstGeom prst="rect">
                <a:avLst/>
              </a:prstGeom>
              <a:blipFill>
                <a:blip r:embed="rId3"/>
                <a:stretch>
                  <a:fillRect l="-116" t="-847" b="-339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146915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93E78D-DD12-86AB-270A-707665DFF2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66B31B5-A84C-724D-54C8-B17C790CF384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3EEA61-8CFA-7847-573A-ADDAC8FC0306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0621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803EEA61-8CFA-7847-573A-ADDAC8FC030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062103"/>
              </a:xfrm>
              <a:prstGeom prst="rect">
                <a:avLst/>
              </a:prstGeom>
              <a:blipFill>
                <a:blip r:embed="rId3"/>
                <a:stretch>
                  <a:fillRect l="-116" t="-610" b="-122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9578375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F3C6BB-EB6D-77DC-7CF8-E73CF15A15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7CBCD10-9CED-E17E-614E-F8706E90AB2A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A50792-8828-92E8-53E8-3D656C009C42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=&gt; Dùng định lý Bayes cho xác suất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hậu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nghiệm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3A50792-8828-92E8-53E8-3D656C009C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blipFill>
                <a:blip r:embed="rId3"/>
                <a:stretch>
                  <a:fillRect l="-116" t="-476" b="-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3F8637-1255-EC59-855A-3ABBD563DCAF}"/>
                  </a:ext>
                </a:extLst>
              </p:cNvPr>
              <p:cNvSpPr txBox="1"/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1B3F8637-1255-EC59-855A-3ABBD563DC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blipFill>
                <a:blip r:embed="rId4"/>
                <a:stretch>
                  <a:fillRect l="-971" t="-2703" b="-810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59720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B17EAB-0697-FD60-EBEC-BBCAC383F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172289B-5AA9-B854-814C-EE89483F80B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3B49BE-0DAC-4D85-C211-E8102A0BBA68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  <a:endParaRPr lang="vi-VN" sz="1400" dirty="0">
                  <a:solidFill>
                    <a:schemeClr val="bg2">
                      <a:lumMod val="50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Giữ nguyên mục tiêu là “cực đại hoá hàm hợp lý” (Maximize Log-likelihood),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Nhưng với hướng tiếp cận “xác suất thống kê”: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“Datapoint</a:t>
                </a:r>
                <a14:m>
                  <m:oMath xmlns:m="http://schemas.openxmlformats.org/officeDocument/2006/math">
                    <m:r>
                      <a:rPr lang="vi-VN" sz="140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nào?”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Biến ẩn (latent variable): Ký hiệu là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𝒛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“Xác suất Datapoint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được sinh từ Phân phối chuẩn thứ </a:t>
                </a:r>
                <a14:m>
                  <m:oMath xmlns:m="http://schemas.openxmlformats.org/officeDocument/2006/math">
                    <m:r>
                      <a:rPr lang="en-US" sz="1400" b="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bao nhiêu?”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&lt;=&gt; Tìm xác suất nguyên nhân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sau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khi biết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kết quả</a:t>
                </a:r>
                <a:endParaRPr lang="vi-VN" sz="1400" b="1" dirty="0">
                  <a:solidFill>
                    <a:srgbClr val="FF0000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=&gt; Dùng định lý Bayes cho xác suất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FFFF00"/>
                    </a:highlight>
                    <a:latin typeface="Arial"/>
                  </a:rPr>
                  <a:t>hậu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 </a:t>
                </a:r>
                <a:r>
                  <a:rPr lang="vi-VN" sz="1400" b="1" dirty="0">
                    <a:solidFill>
                      <a:srgbClr val="444B52"/>
                    </a:solidFill>
                    <a:highlight>
                      <a:srgbClr val="00FF00"/>
                    </a:highlight>
                    <a:latin typeface="Arial"/>
                  </a:rPr>
                  <a:t>nghiệm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C03B49BE-0DAC-4D85-C211-E8102A0BBA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2646878"/>
              </a:xfrm>
              <a:prstGeom prst="rect">
                <a:avLst/>
              </a:prstGeom>
              <a:blipFill>
                <a:blip r:embed="rId3"/>
                <a:stretch>
                  <a:fillRect l="-116" t="-476" b="-142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155DD26-5A43-A23E-02D0-9FB587BF785F}"/>
                  </a:ext>
                </a:extLst>
              </p:cNvPr>
              <p:cNvSpPr txBox="1"/>
              <p:nvPr/>
            </p:nvSpPr>
            <p:spPr>
              <a:xfrm>
                <a:off x="8503483" y="3636521"/>
                <a:ext cx="2326599" cy="630878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𝒏𝒌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4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r>
                                <a:rPr lang="en-US" sz="140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  <m:r>
                                <a:rPr lang="en-US" sz="140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𝒩</m:t>
                              </m:r>
                              <m:d>
                                <m:d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∣</m:t>
                                  </m:r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bSup>
                                    <m:sSubSup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  <m:sup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</m:e>
                              </m:d>
                            </m:den>
                          </m:f>
                        </m:e>
                      </m:borderBox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155DD26-5A43-A23E-02D0-9FB587BF78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483" y="3636521"/>
                <a:ext cx="2326599" cy="630878"/>
              </a:xfrm>
              <a:prstGeom prst="rect">
                <a:avLst/>
              </a:prstGeom>
              <a:blipFill>
                <a:blip r:embed="rId4"/>
                <a:stretch>
                  <a:fillRect t="-8000" b="-7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0E13CFF-9067-FE6C-EB4F-A3E87BAAA9F9}"/>
                  </a:ext>
                </a:extLst>
              </p:cNvPr>
              <p:cNvSpPr txBox="1"/>
              <p:nvPr/>
            </p:nvSpPr>
            <p:spPr>
              <a:xfrm>
                <a:off x="8503483" y="4568898"/>
                <a:ext cx="3282117" cy="154895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US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𝜸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𝒏𝒌</m:t>
                              </m:r>
                            </m:sub>
                          </m:sSub>
                          <m:r>
                            <a:rPr lang="en-US" sz="1400" i="1">
                              <a:latin typeface="Cambria Math" panose="02040503050406030204" pitchFamily="18" charset="0"/>
                            </a:rPr>
                            <m:t>=</m:t>
                          </m:r>
                          <m:f>
                            <m:fPr>
                              <m:ctrlPr>
                                <a:rPr lang="en-US" sz="1400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  <m:f>
                                <m:f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400" i="1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400" i="1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𝑘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naryPr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=1</m:t>
                                  </m:r>
                                </m:sub>
                                <m:sup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𝐾</m:t>
                                  </m:r>
                                </m:sup>
                                <m:e>
                                  <m:sSub>
                                    <m:sSub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𝑗</m:t>
                                      </m:r>
                                    </m:sub>
                                  </m:sSub>
                                </m:e>
                              </m:nary>
                              <m:f>
                                <m:f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num>
                                <m:den>
                                  <m:rad>
                                    <m:radPr>
                                      <m:degHide m:val="on"/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𝜋</m:t>
                                      </m:r>
                                      <m:sSubSup>
                                        <m:sSubSupPr>
                                          <m:ctrlP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𝜎</m:t>
                                          </m:r>
                                        </m:e>
                                        <m:sub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𝑗</m:t>
                                          </m:r>
                                        </m:sub>
                                        <m:sup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bSup>
                                    </m:e>
                                  </m:rad>
                                </m:den>
                              </m:f>
                              <m:func>
                                <m:func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exp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sz="1400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p>
                                            <m:s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pPr>
                                            <m:e>
                                              <m:d>
                                                <m:dPr>
                                                  <m:ctrlPr>
                                                    <a:rPr lang="en-US" sz="1400" i="1">
                                                      <a:solidFill>
                                                        <a:schemeClr val="accent5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US" sz="1400" i="1">
                                                      <a:solidFill>
                                                        <a:schemeClr val="accent5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−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US" sz="1400" i="1">
                                                          <a:solidFill>
                                                            <a:schemeClr val="accent5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𝑗</m:t>
                                                      </m:r>
                                                    </m:sub>
                                                  </m:sSub>
                                                </m:e>
                                              </m:d>
                                            </m:e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p>
                                        </m:num>
                                        <m:den>
                                          <m:r>
                                            <a:rPr lang="en-US" sz="1400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𝜎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𝑗</m:t>
                                              </m:r>
                                            </m:sub>
                                            <m:sup>
                                              <m:r>
                                                <a:rPr lang="en-US" sz="1400" i="1">
                                                  <a:solidFill>
                                                    <a:schemeClr val="accent5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2</m:t>
                                              </m:r>
                                            </m:sup>
                                          </m:sSubSup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0E13CFF-9067-FE6C-EB4F-A3E87BAAA9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03483" y="4568898"/>
                <a:ext cx="3282117" cy="1548950"/>
              </a:xfrm>
              <a:prstGeom prst="rect">
                <a:avLst/>
              </a:prstGeom>
              <a:blipFill>
                <a:blip r:embed="rId5"/>
                <a:stretch>
                  <a:fillRect b="-1138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AC036D-C8C2-8CDC-E846-3E466A045A5F}"/>
                  </a:ext>
                </a:extLst>
              </p:cNvPr>
              <p:cNvSpPr txBox="1"/>
              <p:nvPr/>
            </p:nvSpPr>
            <p:spPr>
              <a:xfrm>
                <a:off x="5774266" y="6257836"/>
                <a:ext cx="6417734" cy="60016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còn được gọi là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điểm trách nhiệm (Responsibility)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Nghĩa là Phân phối </a:t>
                </a:r>
                <a14:m>
                  <m:oMath xmlns:m="http://schemas.openxmlformats.org/officeDocument/2006/math">
                    <m:r>
                      <a:rPr lang="en-US" sz="1400" i="1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chịu bao nhiêu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trách nhiệm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sinh ra điểm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sz="1400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27AC036D-C8C2-8CDC-E846-3E466A045A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74266" y="6257836"/>
                <a:ext cx="6417734" cy="600164"/>
              </a:xfrm>
              <a:prstGeom prst="rect">
                <a:avLst/>
              </a:prstGeom>
              <a:blipFill>
                <a:blip r:embed="rId6"/>
                <a:stretch>
                  <a:fillRect l="-197" b="-10417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63CC9E-74B6-2591-98A0-B02EA9FF7EF1}"/>
                  </a:ext>
                </a:extLst>
              </p:cNvPr>
              <p:cNvSpPr txBox="1"/>
              <p:nvPr/>
            </p:nvSpPr>
            <p:spPr>
              <a:xfrm>
                <a:off x="8440626" y="2807423"/>
                <a:ext cx="3387308" cy="54284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>
                        <m:sSubPr>
                          <m:ctrlP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𝜸</m:t>
                          </m:r>
                        </m:e>
                        <m:sub>
                          <m:r>
                            <a:rPr lang="en-VN" sz="1400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𝒏𝒌</m:t>
                          </m:r>
                        </m:sub>
                      </m:sSub>
                      <m:r>
                        <a:rPr lang="en-VN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sz="1400" b="0" i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khả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năng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Gaussian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sinh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ra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khả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năng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tất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cả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Gaussian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sinh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nor/>
                            </m:rPr>
                            <a:rPr lang="en-VN" sz="1400" b="0" i="0" smtClean="0">
                              <a:latin typeface="Cambria Math" panose="02040503050406030204" pitchFamily="18" charset="0"/>
                            </a:rPr>
                            <m:t>ra</m:t>
                          </m:r>
                          <m:r>
                            <a:rPr lang="en-VN" sz="14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sz="1400" b="0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AB63CC9E-74B6-2591-98A0-B02EA9FF7E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40626" y="2807423"/>
                <a:ext cx="3387308" cy="542841"/>
              </a:xfrm>
              <a:prstGeom prst="rect">
                <a:avLst/>
              </a:prstGeom>
              <a:blipFill>
                <a:blip r:embed="rId7"/>
                <a:stretch>
                  <a:fillRect b="-930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B6B1539-2E97-8C58-83D6-9B57EEF9AB82}"/>
                  </a:ext>
                </a:extLst>
              </p:cNvPr>
              <p:cNvSpPr txBox="1"/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r>
                        <a:rPr lang="en-US" sz="1400" b="1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𝑷</m:t>
                      </m:r>
                      <m:d>
                        <m:dPr>
                          <m:ctrlP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𝒛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sSub>
                            <m:sSubPr>
                              <m:ctrlP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</m:e>
                            <m:sub>
                              <m:r>
                                <a:rPr lang="en-US" sz="1400" b="1" i="1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𝒏</m:t>
                              </m:r>
                            </m:sub>
                          </m:sSub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1" i="1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</m:d>
                      <m:r>
                        <a:rPr lang="en-US" sz="1400" i="1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sz="140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rgbClr val="7030A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  <m:r>
                            <a:rPr lang="en-US" sz="1400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𝑧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1400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num>
                        <m:den>
                          <m:r>
                            <a:rPr lang="en-US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sz="1400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US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den>
                      </m:f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9B6B1539-2E97-8C58-83D6-9B57EEF9AB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01866" y="2136728"/>
                <a:ext cx="3902735" cy="454483"/>
              </a:xfrm>
              <a:prstGeom prst="rect">
                <a:avLst/>
              </a:prstGeom>
              <a:blipFill>
                <a:blip r:embed="rId8"/>
                <a:stretch>
                  <a:fillRect l="-971" t="-2703" b="-810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6695539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E6B0D3-D1A7-B4F4-B62E-6FE519AFE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06714CC-77D1-195B-6B2B-1159AC3395D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79CD9FB-E33F-BF28-12A5-35E58B536097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DA9B7C8-78B1-1622-508B-B40B3DB3063F}"/>
                  </a:ext>
                </a:extLst>
              </p:cNvPr>
              <p:cNvSpPr txBox="1"/>
              <p:nvPr/>
            </p:nvSpPr>
            <p:spPr>
              <a:xfrm>
                <a:off x="364065" y="2350561"/>
                <a:ext cx="6206067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rgbClr val="444B52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Quay lại bước 2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DA9B7C8-78B1-1622-508B-B40B3DB306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5" y="2350561"/>
                <a:ext cx="6206067" cy="2939266"/>
              </a:xfrm>
              <a:prstGeom prst="rect">
                <a:avLst/>
              </a:prstGeom>
              <a:blipFill>
                <a:blip r:embed="rId3"/>
                <a:stretch>
                  <a:fillRect l="-20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38FEBEA9-FA0F-779E-054E-EB67FEF01B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00333" y="2084148"/>
            <a:ext cx="5003799" cy="39256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97069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8ECB5-4183-3038-4ED8-E394CA0033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46D4291-10BC-35B3-BEF6-B757D33D0A8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33602D4-0165-002A-4699-137E22F611F9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4022E9-B8B0-F78D-F6F9-901B7580CCBA}"/>
                  </a:ext>
                </a:extLst>
              </p:cNvPr>
              <p:cNvSpPr txBox="1"/>
              <p:nvPr/>
            </p:nvSpPr>
            <p:spPr>
              <a:xfrm>
                <a:off x="364065" y="2350561"/>
                <a:ext cx="6237817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0B4022E9-B8B0-F78D-F6F9-901B7580CCB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5" y="2350561"/>
                <a:ext cx="6237817" cy="2939266"/>
              </a:xfrm>
              <a:prstGeom prst="rect">
                <a:avLst/>
              </a:prstGeom>
              <a:blipFill>
                <a:blip r:embed="rId3"/>
                <a:stretch>
                  <a:fillRect l="-203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41893F-1237-57E5-008C-FF2912939CCA}"/>
                  </a:ext>
                </a:extLst>
              </p:cNvPr>
              <p:cNvSpPr txBox="1"/>
              <p:nvPr/>
            </p:nvSpPr>
            <p:spPr>
              <a:xfrm>
                <a:off x="6601883" y="2212062"/>
                <a:ext cx="4591050" cy="95410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Dùng K-means (hoặc K-means++)</a:t>
                </a:r>
              </a:p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ra được các cụm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VN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VN" sz="140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en-VN" sz="1400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VN" sz="1400" dirty="0"/>
                  <a:t> và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VN" sz="1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VN" sz="1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VN" sz="1400" i="1">
                                <a:latin typeface="Cambria Math" panose="02040503050406030204" pitchFamily="18" charset="0"/>
                              </a:rPr>
                              <m:t>𝐶</m:t>
                            </m:r>
                          </m:e>
                          <m:sub>
                            <m:r>
                              <a:rPr lang="en-VN" sz="14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r>
                  <a:rPr lang="en-VN" sz="1400" dirty="0"/>
                  <a:t> số lượng phần tử của cụm</a:t>
                </a:r>
                <a:br>
                  <a:rPr lang="en-VN" sz="1400" dirty="0"/>
                </a:br>
                <a:br>
                  <a:rPr lang="en-VN" sz="1400" dirty="0"/>
                </a:br>
                <a:r>
                  <a:rPr lang="en-VN" sz="1400" dirty="0"/>
                  <a:t>Ta khởi tạo:</a:t>
                </a:r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BC41893F-1237-57E5-008C-FF2912939CC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1883" y="2212062"/>
                <a:ext cx="4591050" cy="954107"/>
              </a:xfrm>
              <a:prstGeom prst="rect">
                <a:avLst/>
              </a:prstGeom>
              <a:blipFill>
                <a:blip r:embed="rId4"/>
                <a:stretch>
                  <a:fillRect l="-275" t="-1316" b="-65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D659CD-661F-3F05-F00C-293A9268673B}"/>
                  </a:ext>
                </a:extLst>
              </p:cNvPr>
              <p:cNvSpPr txBox="1"/>
              <p:nvPr/>
            </p:nvSpPr>
            <p:spPr>
              <a:xfrm>
                <a:off x="6716025" y="5423454"/>
                <a:ext cx="1322734" cy="62600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VN" i="1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VN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r>
                        <a:rPr lang="en-VN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d>
                            <m:dPr>
                              <m:begChr m:val="|"/>
                              <m:endChr m:val="|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num>
                        <m:den>
                          <m:r>
                            <a:rPr lang="en-VN" i="1">
                              <a:latin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9AD659CD-661F-3F05-F00C-293A9268673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6025" y="5423454"/>
                <a:ext cx="1322734" cy="626005"/>
              </a:xfrm>
              <a:prstGeom prst="rect">
                <a:avLst/>
              </a:prstGeom>
              <a:blipFill>
                <a:blip r:embed="rId5"/>
                <a:stretch>
                  <a:fillRect b="-600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94BC6F-F46D-E6B8-3C28-A6AE0E2D3F34}"/>
                  </a:ext>
                </a:extLst>
              </p:cNvPr>
              <p:cNvSpPr txBox="1"/>
              <p:nvPr/>
            </p:nvSpPr>
            <p:spPr>
              <a:xfrm>
                <a:off x="6538225" y="4252157"/>
                <a:ext cx="3587908" cy="910699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VN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d>
                            <m:dPr>
                              <m:ctrlPr>
                                <a:rPr lang="en-VN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sup>
                      </m:sSubSup>
                      <m:r>
                        <a:rPr lang="en-VN" i="0">
                          <a:latin typeface="Cambria Math" panose="02040503050406030204" pitchFamily="18" charset="0"/>
                        </a:rPr>
                        <m:t>=</m:t>
                      </m:r>
                      <m:rad>
                        <m:radPr>
                          <m:degHide m:val="on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f>
                            <m:fPr>
                              <m:ctrlPr>
                                <a:rPr lang="en-VN" i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  <m:t>𝐶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den>
                          </m:f>
                          <m:nary>
                            <m:naryPr>
                              <m:chr m:val="∑"/>
                              <m:limLoc m:val="undOvr"/>
                              <m:supHide m:val="on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0">
                                  <a:latin typeface="Cambria Math" panose="02040503050406030204" pitchFamily="18" charset="0"/>
                                </a:rPr>
                                <m:t>∈</m:t>
                              </m:r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sub>
                            <m:sup/>
                            <m:e>
                              <m:sSup>
                                <m:sSup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en-VN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  <m:t>𝑥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latin typeface="Cambria Math" panose="02040503050406030204" pitchFamily="18" charset="0"/>
                                            </a:rPr>
                                            <m:t>𝑛</m:t>
                                          </m:r>
                                        </m:sub>
                                      </m:sSub>
                                      <m:r>
                                        <a:rPr lang="en-VN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𝜇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chemeClr val="tx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0">
                                                  <a:solidFill>
                                                    <a:schemeClr val="tx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0">
                                                  <a:solidFill>
                                                    <a:schemeClr val="tx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d>
                                </m:e>
                                <m:sup>
                                  <m:r>
                                    <a:rPr lang="en-VN" i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e>
                          </m:nary>
                        </m:e>
                      </m:rad>
                    </m:oMath>
                  </m:oMathPara>
                </a14:m>
                <a:endParaRPr lang="en-VN" sz="2400" dirty="0"/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EE94BC6F-F46D-E6B8-3C28-A6AE0E2D3F3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8225" y="4252157"/>
                <a:ext cx="3587908" cy="910699"/>
              </a:xfrm>
              <a:prstGeom prst="rect">
                <a:avLst/>
              </a:prstGeom>
              <a:blipFill>
                <a:blip r:embed="rId6"/>
                <a:stretch>
                  <a:fillRect t="-95833" b="-13611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83C190-3A29-47A6-3F21-C977D855C166}"/>
                  </a:ext>
                </a:extLst>
              </p:cNvPr>
              <p:cNvSpPr txBox="1"/>
              <p:nvPr/>
            </p:nvSpPr>
            <p:spPr>
              <a:xfrm>
                <a:off x="6305550" y="3292011"/>
                <a:ext cx="2897717" cy="79964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𝝁</m:t>
                          </m:r>
                        </m:e>
                        <m:sub>
                          <m:r>
                            <a:rPr lang="en-VN" b="1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𝒌</m:t>
                          </m:r>
                        </m:sub>
                        <m:sup>
                          <m:d>
                            <m:dPr>
                              <m:ctrlPr>
                                <a:rPr lang="en-VN" b="1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b="1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𝟎</m:t>
                              </m:r>
                            </m:e>
                          </m:d>
                        </m:sup>
                      </m:sSubSup>
                      <m:r>
                        <a:rPr lang="en-VN" i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VN" i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d>
                            <m:dPr>
                              <m:begChr m:val="|"/>
                              <m:endChr m:val="|"/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VN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den>
                      </m:f>
                      <m:nary>
                        <m:naryPr>
                          <m:chr m:val="∑"/>
                          <m:limLoc m:val="undOvr"/>
                          <m:supHide m:val="on"/>
                          <m:ctrlPr>
                            <a:rPr lang="en-VN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en-VN" i="0">
                              <a:latin typeface="Cambria Math" panose="02040503050406030204" pitchFamily="18" charset="0"/>
                            </a:rPr>
                            <m:t>∈</m:t>
                          </m:r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</m:sub>
                        <m:sup/>
                        <m:e>
                          <m:sSub>
                            <m:sSubPr>
                              <m:ctrlPr>
                                <a:rPr lang="en-VN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VN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6E83C190-3A29-47A6-3F21-C977D855C16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05550" y="3292011"/>
                <a:ext cx="2897717" cy="799642"/>
              </a:xfrm>
              <a:prstGeom prst="rect">
                <a:avLst/>
              </a:prstGeom>
              <a:blipFill>
                <a:blip r:embed="rId7"/>
                <a:stretch>
                  <a:fillRect t="-117188" b="-156250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792865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BAA7CC-19D8-0362-753F-14E3622539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9337FD-F39A-7AA9-BBFD-43637E61DF5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46AA284-DE32-5A19-349C-F9B7CB0A819B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77F0C3-6EDD-3493-5041-E72E18264CC7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6172201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277F0C3-6EDD-3493-5041-E72E18264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6172201" cy="2939266"/>
              </a:xfrm>
              <a:prstGeom prst="rect">
                <a:avLst/>
              </a:prstGeom>
              <a:blipFill>
                <a:blip r:embed="rId3"/>
                <a:stretch>
                  <a:fillRect l="-205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29E7F-918D-DE02-CE4C-5E682A991AEF}"/>
                  </a:ext>
                </a:extLst>
              </p:cNvPr>
              <p:cNvSpPr txBox="1"/>
              <p:nvPr/>
            </p:nvSpPr>
            <p:spPr>
              <a:xfrm>
                <a:off x="6536267" y="2284152"/>
                <a:ext cx="3568699" cy="96122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𝜸</m:t>
                          </m:r>
                        </m:e>
                        <m:sub>
                          <m:r>
                            <a:rPr lang="en-VN" b="1" i="1" smtClean="0">
                              <a:solidFill>
                                <a:srgbClr val="FF0000"/>
                              </a:solidFill>
                              <a:latin typeface="Cambria Math" panose="02040503050406030204" pitchFamily="18" charset="0"/>
                            </a:rPr>
                            <m:t>𝒏𝒌</m:t>
                          </m:r>
                        </m:sub>
                        <m:sup>
                          <m:d>
                            <m:dPr>
                              <m:ctrlPr>
                                <a:rPr lang="en-VN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b="1" i="1" smtClean="0">
                                  <a:solidFill>
                                    <a:srgbClr val="FF0000"/>
                                  </a:solidFill>
                                  <a:latin typeface="Cambria Math" panose="02040503050406030204" pitchFamily="18" charset="0"/>
                                </a:rPr>
                                <m:t>𝒕</m:t>
                              </m:r>
                            </m:e>
                          </m:d>
                        </m:sup>
                      </m:sSubSup>
                      <m:r>
                        <a:rPr lang="en-VN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nary>
                          <m:r>
                            <a:rPr lang="en-VN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𝒩</m:t>
                          </m:r>
                          <m:d>
                            <m:d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d>
                        </m:den>
                      </m:f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6C329E7F-918D-DE02-CE4C-5E682A991A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6267" y="2284152"/>
                <a:ext cx="3568699" cy="961225"/>
              </a:xfrm>
              <a:prstGeom prst="rect">
                <a:avLst/>
              </a:prstGeom>
              <a:blipFill>
                <a:blip r:embed="rId4"/>
                <a:stretch>
                  <a:fillRect b="-57895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6918B3-2029-AA79-8F67-7F57342D4EE0}"/>
                  </a:ext>
                </a:extLst>
              </p:cNvPr>
              <p:cNvSpPr txBox="1"/>
              <p:nvPr/>
            </p:nvSpPr>
            <p:spPr>
              <a:xfrm>
                <a:off x="6773334" y="4043372"/>
                <a:ext cx="4635499" cy="23085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a:rPr lang="en-VN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VN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Sup>
                            <m:sSubSupPr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sup>
                          </m:sSubSup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den>
                          </m:f>
                          <m:func>
                            <m:func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ctrlPr>
                                <a:rPr lang="en-VN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𝑗</m:t>
                              </m:r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en-VN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Sup>
                                <m:sSubSupPr>
                                  <m:ctrlP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e>
                          </m:nary>
                          <m:f>
                            <m:f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</m:rad>
                              <m:sSubSup>
                                <m:sSubSupPr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𝜎</m:t>
                                  </m:r>
                                </m:e>
                                <m:sub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𝑗</m:t>
                                  </m:r>
                                </m:sub>
                                <m:sup>
                                  <m:d>
                                    <m:d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sup>
                              </m:sSubSup>
                            </m:den>
                          </m:f>
                          <m:func>
                            <m:funcPr>
                              <m:ctrl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i="1" smtClean="0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exp</m:t>
                              </m:r>
                            </m:fName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VN" i="1" smtClean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f>
                                    <m:fPr>
                                      <m:ctrlP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>
                                                <m:sSub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𝑥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𝜇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num>
                                    <m:den>
                                      <m:r>
                                        <a:rPr lang="en-VN" i="1" smtClean="0">
                                          <a:solidFill>
                                            <a:schemeClr val="accent6">
                                              <a:lumMod val="75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  <m:sSup>
                                        <m:sSupPr>
                                          <m:ctrlP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VN" i="1" smtClean="0">
                                                  <a:solidFill>
                                                    <a:schemeClr val="accent6">
                                                      <a:lumMod val="75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sSubSup>
                                                <m:sSubSupPr>
                                                  <m:ctrlP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SupPr>
                                                <m:e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𝜎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i="1" smtClean="0">
                                                      <a:solidFill>
                                                        <a:schemeClr val="accent6">
                                                          <a:lumMod val="75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𝑗</m:t>
                                                  </m:r>
                                                </m:sub>
                                                <m:sup>
                                                  <m:d>
                                                    <m:dPr>
                                                      <m:ctrlP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dPr>
                                                    <m:e>
                                                      <m:r>
                                                        <a:rPr lang="en-VN" i="1" smtClean="0">
                                                          <a:solidFill>
                                                            <a:schemeClr val="accent6">
                                                              <a:lumMod val="75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𝑡</m:t>
                                                      </m:r>
                                                    </m:e>
                                                  </m:d>
                                                </m:sup>
                                              </m:sSubSup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VN" i="1" smtClean="0">
                                              <a:solidFill>
                                                <a:schemeClr val="accent6">
                                                  <a:lumMod val="75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den>
                                  </m:f>
                                </m:e>
                              </m:d>
                            </m:e>
                          </m:func>
                        </m:den>
                      </m:f>
                    </m:oMath>
                  </m:oMathPara>
                </a14:m>
                <a:endParaRPr lang="vi-VN" dirty="0"/>
              </a:p>
              <a:p>
                <a:pPr/>
                <a:endParaRPr lang="en-VN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116918B3-2029-AA79-8F67-7F57342D4E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73334" y="4043372"/>
                <a:ext cx="4635499" cy="2308517"/>
              </a:xfrm>
              <a:prstGeom prst="rect">
                <a:avLst/>
              </a:prstGeom>
              <a:blipFill>
                <a:blip r:embed="rId5"/>
                <a:stretch>
                  <a:fillRect b="-54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7" name="Down Arrow 16">
            <a:extLst>
              <a:ext uri="{FF2B5EF4-FFF2-40B4-BE49-F238E27FC236}">
                <a16:creationId xmlns:a16="http://schemas.microsoft.com/office/drawing/2014/main" id="{35F20114-18AC-853D-4C4E-3F21F362F08D}"/>
              </a:ext>
            </a:extLst>
          </p:cNvPr>
          <p:cNvSpPr/>
          <p:nvPr/>
        </p:nvSpPr>
        <p:spPr>
          <a:xfrm>
            <a:off x="7823199" y="3556000"/>
            <a:ext cx="313266" cy="487372"/>
          </a:xfrm>
          <a:prstGeom prst="downArrow">
            <a:avLst/>
          </a:prstGeom>
          <a:solidFill>
            <a:schemeClr val="accent6">
              <a:lumMod val="7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58955059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429A6C-61CC-D6A1-956A-A6FDAEFAA8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7F38A29-AA1E-32BD-3461-D5B81955810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758FFD-2F4E-C0FC-05DF-58B15838652E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2C9DF5-C500-BC22-91CC-914F9DAF0F3F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6214534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rgbClr val="444B52"/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tx2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accent6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accent6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chemeClr val="bg1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			Quay lại bước 2</a:t>
                </a:r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6E2C9DF5-C500-BC22-91CC-914F9DAF0F3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6214534" cy="2939266"/>
              </a:xfrm>
              <a:prstGeom prst="rect">
                <a:avLst/>
              </a:prstGeom>
              <a:blipFill>
                <a:blip r:embed="rId3"/>
                <a:stretch>
                  <a:fillRect l="-20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8AF870-C4E1-1077-8476-1E2196A2AD8E}"/>
                  </a:ext>
                </a:extLst>
              </p:cNvPr>
              <p:cNvSpPr txBox="1"/>
              <p:nvPr/>
            </p:nvSpPr>
            <p:spPr>
              <a:xfrm>
                <a:off x="6824134" y="2696215"/>
                <a:ext cx="2230811" cy="96154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  <m:t>𝝁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chemeClr val="tx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f>
                            <m:fPr>
                              <m:ctrlPr>
                                <a:rPr lang="en-VN" i="1"/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  <m:sSub>
                                <m:sSubPr>
                                  <m:ctrlPr>
                                    <a:rPr lang="en-VN" i="1"/>
                                  </m:ctrlPr>
                                </m:sSubPr>
                                <m:e>
                                  <m:r>
                                    <a:rPr lang="en-VN" i="1"/>
                                    <m:t>𝑥</m:t>
                                  </m:r>
                                </m:e>
                                <m:sub>
                                  <m:r>
                                    <a:rPr lang="en-VN" i="1"/>
                                    <m:t>𝑛</m:t>
                                  </m:r>
                                </m:sub>
                              </m:sSub>
                            </m:num>
                            <m:den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088AF870-C4E1-1077-8476-1E2196A2AD8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4134" y="2696215"/>
                <a:ext cx="2230811" cy="961545"/>
              </a:xfrm>
              <a:prstGeom prst="rect">
                <a:avLst/>
              </a:prstGeom>
              <a:blipFill>
                <a:blip r:embed="rId4"/>
                <a:stretch>
                  <a:fillRect t="-32895" b="-56579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0E4F75-6E13-95E6-04A3-6D32107CF385}"/>
                  </a:ext>
                </a:extLst>
              </p:cNvPr>
              <p:cNvSpPr txBox="1"/>
              <p:nvPr/>
            </p:nvSpPr>
            <p:spPr>
              <a:xfrm>
                <a:off x="6798733" y="3697383"/>
                <a:ext cx="3721099" cy="129266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rgbClr val="00B050"/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  <m:t>𝝈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rgbClr val="00B050"/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rgbClr val="00B050"/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rgbClr val="00B050"/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rgbClr val="00B050"/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rgbClr val="00B050"/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rad>
                            <m:radPr>
                              <m:degHide m:val="on"/>
                              <m:ctrlPr>
                                <a:rPr lang="en-VN" i="1"/>
                              </m:ctrlPr>
                            </m:radPr>
                            <m:deg/>
                            <m:e>
                              <m:f>
                                <m:fPr>
                                  <m:ctrlPr>
                                    <a:rPr lang="en-VN" i="1"/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i="1"/>
                                      </m:ctrlPr>
                                    </m:naryPr>
                                    <m:sub>
                                      <m:r>
                                        <a:rPr lang="en-VN" i="1"/>
                                        <m:t>𝑛</m:t>
                                      </m:r>
                                      <m:r>
                                        <a:rPr lang="en-VN" i="0"/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i="1"/>
                                        <m:t>𝑁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𝑛𝑘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nary>
                                  <m:sSup>
                                    <m:sSupPr>
                                      <m:ctrlPr>
                                        <a:rPr lang="en-VN" i="1"/>
                                      </m:ctrlPr>
                                    </m:sSupPr>
                                    <m:e>
                                      <m:d>
                                        <m:dPr>
                                          <m:ctrlPr>
                                            <a:rPr lang="en-VN" i="1"/>
                                          </m:ctrlPr>
                                        </m:dPr>
                                        <m:e>
                                          <m:sSub>
                                            <m:sSubPr>
                                              <m:ctrlPr>
                                                <a:rPr lang="en-VN" i="1"/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i="1"/>
                                                <m:t>𝑥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i="1"/>
                                                <m:t>𝑛</m:t>
                                              </m:r>
                                            </m:sub>
                                          </m:sSub>
                                          <m:r>
                                            <a:rPr lang="en-VN" i="0"/>
                                            <m:t>−</m:t>
                                          </m:r>
                                          <m:sSubSup>
                                            <m:sSubSupPr>
                                              <m:ctrlP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</m:ctrlPr>
                                            </m:sSubSup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  <m:t>𝜇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i="1">
                                                  <a:solidFill>
                                                    <a:srgbClr val="0070C0"/>
                                                  </a:solidFill>
                                                </a:rPr>
                                                <m:t>𝑘</m:t>
                                              </m:r>
                                            </m:sub>
                                            <m:sup>
                                              <m:d>
                                                <m:dPr>
                                                  <m:ctrlPr>
                                                    <a:rPr lang="en-VN" i="1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VN" i="1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  <m:t>𝑡</m:t>
                                                  </m:r>
                                                  <m:r>
                                                    <a:rPr lang="en-VN" i="0">
                                                      <a:solidFill>
                                                        <a:srgbClr val="0070C0"/>
                                                      </a:solidFill>
                                                    </a:rPr>
                                                    <m:t>+1</m:t>
                                                  </m:r>
                                                </m:e>
                                              </m:d>
                                            </m:sup>
                                          </m:sSubSup>
                                        </m:e>
                                      </m:d>
                                    </m:e>
                                    <m:sup>
                                      <m:r>
                                        <a:rPr lang="en-VN" i="0"/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i="1"/>
                                      </m:ctrlPr>
                                    </m:naryPr>
                                    <m:sub>
                                      <m:r>
                                        <a:rPr lang="en-VN" i="1"/>
                                        <m:t>𝑛</m:t>
                                      </m:r>
                                      <m:r>
                                        <a:rPr lang="en-VN" i="0"/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i="1"/>
                                        <m:t>𝑁</m:t>
                                      </m:r>
                                    </m:sup>
                                    <m:e>
                                      <m:sSubSup>
                                        <m:sSubSup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sSubSup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𝛾</m:t>
                                          </m:r>
                                        </m:e>
                                        <m:sub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𝑛𝑘</m:t>
                                          </m:r>
                                        </m:sub>
                                        <m:sup>
                                          <m:d>
                                            <m:dPr>
                                              <m:ctrlP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VN" i="1">
                                                  <a:solidFill>
                                                    <a:srgbClr val="FF0000"/>
                                                  </a:solidFill>
                                                </a:rPr>
                                                <m:t>𝑡</m:t>
                                              </m:r>
                                            </m:e>
                                          </m:d>
                                        </m:sup>
                                      </m:sSubSup>
                                    </m:e>
                                  </m:nary>
                                </m:den>
                              </m:f>
                            </m:e>
                          </m:rad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590E4F75-6E13-95E6-04A3-6D32107CF3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98733" y="3697383"/>
                <a:ext cx="3721099" cy="1292662"/>
              </a:xfrm>
              <a:prstGeom prst="rect">
                <a:avLst/>
              </a:prstGeom>
              <a:blipFill>
                <a:blip r:embed="rId5"/>
                <a:stretch>
                  <a:fillRect t="-8738" b="-3398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F5CB22-B5A3-F2BD-4AC8-F9E43A69BD64}"/>
                  </a:ext>
                </a:extLst>
              </p:cNvPr>
              <p:cNvSpPr txBox="1"/>
              <p:nvPr/>
            </p:nvSpPr>
            <p:spPr>
              <a:xfrm>
                <a:off x="6375322" y="5084824"/>
                <a:ext cx="2992966" cy="82170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b="1" i="1" smtClean="0">
                              <a:solidFill>
                                <a:schemeClr val="accent6">
                                  <a:lumMod val="75000"/>
                                </a:schemeClr>
                              </a:solidFill>
                            </a:rPr>
                          </m:ctrlPr>
                        </m:borderBoxPr>
                        <m:e>
                          <m:sSubSup>
                            <m:sSubSupPr>
                              <m:ctrlP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</m:ctrlPr>
                            </m:sSubSupPr>
                            <m:e>
                              <m: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  <m:t>𝝅</m:t>
                              </m:r>
                            </m:e>
                            <m:sub>
                              <m:r>
                                <a:rPr lang="en-VN" b="1" i="1">
                                  <a:solidFill>
                                    <a:schemeClr val="accent6">
                                      <a:lumMod val="75000"/>
                                    </a:schemeClr>
                                  </a:solidFill>
                                </a:rPr>
                                <m:t>𝒌</m:t>
                              </m:r>
                            </m:sub>
                            <m:sup>
                              <m:d>
                                <m:dPr>
                                  <m:ctrlPr>
                                    <a:rPr lang="en-VN" b="1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</m:ctrlPr>
                                </m:dPr>
                                <m:e>
                                  <m:r>
                                    <a:rPr lang="en-VN" b="1" i="1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𝒕</m:t>
                                  </m:r>
                                  <m:r>
                                    <a:rPr lang="en-VN" b="1" i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+</m:t>
                                  </m:r>
                                  <m:r>
                                    <a:rPr lang="en-VN" b="1" i="0">
                                      <a:solidFill>
                                        <a:schemeClr val="accent6">
                                          <a:lumMod val="75000"/>
                                        </a:schemeClr>
                                      </a:solidFill>
                                    </a:rPr>
                                    <m:t>𝟏</m:t>
                                  </m:r>
                                </m:e>
                              </m:d>
                            </m:sup>
                          </m:sSubSup>
                          <m:r>
                            <a:rPr lang="en-VN" i="0"/>
                            <m:t>=</m:t>
                          </m:r>
                          <m:f>
                            <m:fPr>
                              <m:ctrlPr>
                                <a:rPr lang="en-VN" i="1"/>
                              </m:ctrlPr>
                            </m:fPr>
                            <m:num>
                              <m:nary>
                                <m:naryPr>
                                  <m:chr m:val="∑"/>
                                  <m:limLoc m:val="undOvr"/>
                                  <m:ctrlPr>
                                    <a:rPr lang="en-VN" i="1"/>
                                  </m:ctrlPr>
                                </m:naryPr>
                                <m:sub>
                                  <m:r>
                                    <a:rPr lang="en-VN" i="1"/>
                                    <m:t>𝑛</m:t>
                                  </m:r>
                                  <m:r>
                                    <a:rPr lang="en-VN" i="0"/>
                                    <m:t>=1</m:t>
                                  </m:r>
                                </m:sub>
                                <m:sup>
                                  <m:r>
                                    <a:rPr lang="en-VN" i="1"/>
                                    <m:t>𝑁</m:t>
                                  </m:r>
                                </m:sup>
                                <m:e>
                                  <m:sSubSup>
                                    <m:sSubSupPr>
                                      <m:ctrlP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𝛾</m:t>
                                      </m:r>
                                    </m:e>
                                    <m:sub>
                                      <m:r>
                                        <a:rPr lang="en-VN" i="1">
                                          <a:solidFill>
                                            <a:srgbClr val="FF0000"/>
                                          </a:solidFill>
                                        </a:rPr>
                                        <m:t>𝑛𝑘</m:t>
                                      </m:r>
                                    </m:sub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rgbClr val="FF0000"/>
                                              </a:solidFill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bSup>
                                </m:e>
                              </m:nary>
                            </m:num>
                            <m:den>
                              <m:r>
                                <a:rPr lang="en-VN" i="1"/>
                                <m:t>𝑁</m:t>
                              </m:r>
                            </m:den>
                          </m:f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FF5CB22-B5A3-F2BD-4AC8-F9E43A69BD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5322" y="5084824"/>
                <a:ext cx="2992966" cy="821700"/>
              </a:xfrm>
              <a:prstGeom prst="rect">
                <a:avLst/>
              </a:prstGeom>
              <a:blipFill>
                <a:blip r:embed="rId6"/>
                <a:stretch>
                  <a:fillRect t="-37879" b="-3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E2D7AC6C-99CF-5154-EFA4-0AF17152FAE7}"/>
              </a:ext>
            </a:extLst>
          </p:cNvPr>
          <p:cNvSpPr txBox="1"/>
          <p:nvPr/>
        </p:nvSpPr>
        <p:spPr>
          <a:xfrm>
            <a:off x="6824134" y="2368626"/>
            <a:ext cx="189507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Cập nhật bộ tham số: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1742189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671803-DA8D-CD35-E2BF-361965FD1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83CCC8F-DCD0-370E-E68A-F24E2C57B3B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B75FA47-33E1-14C7-14EE-B8332EB320F8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 bước của phương pháp 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Expectation-Maximization (EM)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:</a:t>
            </a:r>
            <a:endParaRPr lang="vi-VN" sz="1400" b="1" dirty="0">
              <a:solidFill>
                <a:srgbClr val="444B52"/>
              </a:solidFill>
              <a:latin typeface="Arial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F2F81C-8F74-F677-64B6-AD3232623D6B}"/>
                  </a:ext>
                </a:extLst>
              </p:cNvPr>
              <p:cNvSpPr txBox="1"/>
              <p:nvPr/>
            </p:nvSpPr>
            <p:spPr>
              <a:xfrm>
                <a:off x="364066" y="2350561"/>
                <a:ext cx="5655734" cy="293926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1. Khởi tạo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2.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Expectation (E)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Tính xác suất hậu nghiệm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endParaRPr lang="vi-VN" sz="1400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3. Bước </a:t>
                </a:r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Maximization (M)</a:t>
                </a:r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: Dùng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𝜸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𝒏𝒌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 để cập nhật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 dirty="0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𝝈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r>
                  <a:rPr lang="vi-VN" sz="1400" b="1" dirty="0">
                    <a:solidFill>
                      <a:schemeClr val="bg1">
                        <a:lumMod val="75000"/>
                      </a:schemeClr>
                    </a:solidFill>
                    <a:latin typeface="Arial"/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𝝅</m:t>
                        </m:r>
                      </m:e>
                      <m:sub>
                        <m:r>
                          <a:rPr lang="en-US" sz="1400" b="1" i="1">
                            <a:solidFill>
                              <a:schemeClr val="bg1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𝒌</m:t>
                        </m:r>
                      </m:sub>
                    </m:sSub>
                  </m:oMath>
                </a14:m>
                <a:endParaRPr lang="vi-VN" sz="1400" b="1" dirty="0">
                  <a:solidFill>
                    <a:schemeClr val="bg1">
                      <a:lumMod val="75000"/>
                    </a:schemeClr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4. Kiểm tra hội tụ: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Tính lại giá trị hàm mục tiêu Log-likelihood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So với giá trị hàm mục tiêu ở lần lặp trước đó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mức tăng nhỏ hơn ngưỡng cực nhỏ </a:t>
                </a:r>
                <a14:m>
                  <m:oMath xmlns:m="http://schemas.openxmlformats.org/officeDocument/2006/math">
                    <m:r>
                      <a:rPr lang="vi-VN" sz="1400" i="1" dirty="0">
                        <a:solidFill>
                          <a:srgbClr val="444B52"/>
                        </a:solidFill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endParaRPr lang="vi-VN" sz="1400" dirty="0">
                  <a:solidFill>
                    <a:srgbClr val="444B52"/>
                  </a:solidFill>
                  <a:latin typeface="Arial"/>
                </a:endParaRP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Thì dừng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Nếu không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			Quay lại bước 2</a:t>
                </a:r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2CF2F81C-8F74-F677-64B6-AD3232623D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2350561"/>
                <a:ext cx="5655734" cy="2939266"/>
              </a:xfrm>
              <a:prstGeom prst="rect">
                <a:avLst/>
              </a:prstGeom>
              <a:blipFill>
                <a:blip r:embed="rId3"/>
                <a:stretch>
                  <a:fillRect l="-224" t="-431" b="-129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576A63-FAA3-2BB7-CB68-26A20A0C4215}"/>
                  </a:ext>
                </a:extLst>
              </p:cNvPr>
              <p:cNvSpPr txBox="1"/>
              <p:nvPr/>
            </p:nvSpPr>
            <p:spPr>
              <a:xfrm>
                <a:off x="6604003" y="3791952"/>
                <a:ext cx="4495800" cy="53290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en-VN" i="0">
                              <a:latin typeface="+mn-lt"/>
                            </a:rPr>
                            <m:t>=</m:t>
                          </m:r>
                          <m:d>
                            <m:dPr>
                              <m:begChr m:val="|"/>
                              <m:endChr m:val="|"/>
                              <m:ctrlPr>
                                <a:rPr lang="en-VN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  <a:latin typeface="+mn-lt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𝐿</m:t>
                                  </m:r>
                                </m:e>
                              </m:func>
                              <m:d>
                                <m:dPr>
                                  <m:ctrlP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VN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VN" i="1">
                                          <a:solidFill>
                                            <a:schemeClr val="accent5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  <m:t>𝜃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𝑡</m:t>
                                          </m:r>
                                          <m:r>
                                            <a:rPr lang="en-VN" i="0">
                                              <a:solidFill>
                                                <a:schemeClr val="accent5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+1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VN" i="0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∣</m:t>
                                  </m:r>
                                  <m:r>
                                    <a:rPr lang="en-VN" i="1">
                                      <a:solidFill>
                                        <a:schemeClr val="accent5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𝑥</m:t>
                                  </m:r>
                                </m:e>
                              </m:d>
                              <m:r>
                                <a:rPr lang="en-VN" i="0">
                                  <a:latin typeface="+mn-lt"/>
                                </a:rPr>
                                <m:t>−</m:t>
                              </m:r>
                              <m:func>
                                <m:funcPr>
                                  <m:ctrlP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ln</m:t>
                                  </m:r>
                                </m:fName>
                                <m:e>
                                  <m: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𝐿</m:t>
                                  </m:r>
                                </m:e>
                              </m:func>
                              <m:d>
                                <m:dPr>
                                  <m:ctrlP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VN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VN" i="1">
                                          <a:solidFill>
                                            <a:schemeClr val="accent2">
                                              <a:lumMod val="75000"/>
                                            </a:schemeClr>
                                          </a:solidFill>
                                          <a:latin typeface="+mn-lt"/>
                                        </a:rPr>
                                        <m:t>𝜃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VN" i="1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VN" i="1">
                                              <a:solidFill>
                                                <a:schemeClr val="accent2">
                                                  <a:lumMod val="75000"/>
                                                </a:schemeClr>
                                              </a:solidFill>
                                              <a:latin typeface="+mn-lt"/>
                                            </a:rPr>
                                            <m:t>𝑡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VN" i="0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∣</m:t>
                                  </m:r>
                                  <m:r>
                                    <a:rPr lang="en-VN" i="1">
                                      <a:solidFill>
                                        <a:schemeClr val="accent2">
                                          <a:lumMod val="75000"/>
                                        </a:schemeClr>
                                      </a:solidFill>
                                      <a:latin typeface="+mn-lt"/>
                                    </a:rPr>
                                    <m:t>𝑥</m:t>
                                  </m:r>
                                </m:e>
                              </m:d>
                            </m:e>
                          </m:d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3576A63-FAA3-2BB7-CB68-26A20A0C421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604003" y="3791952"/>
                <a:ext cx="4495800" cy="532903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5AD0EF4-91E4-01D8-D0ED-40D6B009CE53}"/>
                  </a:ext>
                </a:extLst>
              </p:cNvPr>
              <p:cNvSpPr txBox="1"/>
              <p:nvPr/>
            </p:nvSpPr>
            <p:spPr>
              <a:xfrm>
                <a:off x="6841068" y="4892184"/>
                <a:ext cx="2412999" cy="45948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en-VN" i="0">
                              <a:latin typeface="+mn-lt"/>
                            </a:rPr>
                            <m:t>≥</m:t>
                          </m:r>
                          <m:r>
                            <a:rPr lang="en-VN" i="1">
                              <a:latin typeface="+mn-lt"/>
                            </a:rPr>
                            <m:t>𝜀</m:t>
                          </m:r>
                          <m:r>
                            <a:rPr lang="en-VN" i="0">
                              <a:latin typeface="+mn-lt"/>
                            </a:rPr>
                            <m:t>⇒</m:t>
                          </m:r>
                          <m:r>
                            <m:rPr>
                              <m:nor/>
                            </m:rPr>
                            <a:rPr lang="vi-VN" b="0" i="0" smtClean="0">
                              <a:latin typeface="+mn-lt"/>
                            </a:rPr>
                            <m:t>Q</m:t>
                          </m:r>
                          <m:r>
                            <m:rPr>
                              <m:nor/>
                            </m:rPr>
                            <a:rPr lang="en-VN" i="0">
                              <a:latin typeface="+mn-lt"/>
                            </a:rPr>
                            <m:t>uay lại 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Cambria Math" panose="02040503050406030204" pitchFamily="18" charset="0"/>
                            </a:rPr>
                            <m:t>b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ướ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Cambria Math" panose="02040503050406030204" pitchFamily="18" charset="0"/>
                            </a:rPr>
                            <m:t>c</m:t>
                          </m:r>
                          <m:r>
                            <a:rPr lang="vi-VN" b="0" i="1" smtClean="0">
                              <a:latin typeface="Cambria Math" panose="02040503050406030204" pitchFamily="18" charset="0"/>
                            </a:rPr>
                            <m:t> 2</m:t>
                          </m:r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5AD0EF4-91E4-01D8-D0ED-40D6B009CE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068" y="4892184"/>
                <a:ext cx="2412999" cy="459485"/>
              </a:xfrm>
              <a:prstGeom prst="rect">
                <a:avLst/>
              </a:prstGeom>
              <a:blipFill>
                <a:blip r:embed="rId5"/>
                <a:stretch>
                  <a:fillRect r="-12565" b="-270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D7382DD-4FB3-93B9-A6F2-94E3BEDE82B5}"/>
                  </a:ext>
                </a:extLst>
              </p:cNvPr>
              <p:cNvSpPr txBox="1"/>
              <p:nvPr/>
            </p:nvSpPr>
            <p:spPr>
              <a:xfrm>
                <a:off x="6172202" y="4378585"/>
                <a:ext cx="3141133" cy="46179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</m:ctrlPr>
                        </m:borderBoxPr>
                        <m:e>
                          <m:r>
                            <m:rPr>
                              <m:sty m:val="p"/>
                            </m:rPr>
                            <a:rPr lang="en-VN" smtClean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Δ</m:t>
                          </m:r>
                          <m:r>
                            <m:rPr>
                              <m:sty m:val="p"/>
                            </m:rPr>
                            <a:rPr lang="en-VN" i="0">
                              <a:solidFill>
                                <a:srgbClr val="00B050"/>
                              </a:solidFill>
                              <a:latin typeface="+mn-lt"/>
                            </a:rPr>
                            <m:t>ℓ</m:t>
                          </m:r>
                          <m:r>
                            <a:rPr lang="vi-VN" b="0" i="0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en-VN" i="1">
                              <a:latin typeface="+mn-lt"/>
                            </a:rPr>
                            <m:t>𝜀</m:t>
                          </m:r>
                          <m:r>
                            <a:rPr lang="en-VN" i="0">
                              <a:latin typeface="+mn-lt"/>
                            </a:rPr>
                            <m:t>⇒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+mn-lt"/>
                            </a:rPr>
                            <m:t>D</m:t>
                          </m:r>
                          <m:r>
                            <a:rPr lang="vi-VN" b="0" i="1" smtClean="0">
                              <a:latin typeface="+mn-lt"/>
                            </a:rPr>
                            <m:t>ừ</m:t>
                          </m:r>
                          <m:r>
                            <m:rPr>
                              <m:sty m:val="p"/>
                            </m:rPr>
                            <a:rPr lang="vi-VN" b="0" i="1" smtClean="0">
                              <a:latin typeface="+mn-lt"/>
                            </a:rPr>
                            <m:t>ng</m:t>
                          </m:r>
                        </m:e>
                      </m:borderBox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4D7382DD-4FB3-93B9-A6F2-94E3BEDE82B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202" y="4378585"/>
                <a:ext cx="3141133" cy="46179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EB5A3D-3BE8-FC81-287D-25343E95E5CE}"/>
                  </a:ext>
                </a:extLst>
              </p:cNvPr>
              <p:cNvSpPr txBox="1"/>
              <p:nvPr/>
            </p:nvSpPr>
            <p:spPr>
              <a:xfrm>
                <a:off x="6841068" y="3082982"/>
                <a:ext cx="4418197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Ngưỡng hội tụ là siêu tham số định trước: (tolerance)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r>
                        <a:rPr lang="vi-VN" sz="1400" b="1" i="1" dirty="0">
                          <a:solidFill>
                            <a:srgbClr val="444B52"/>
                          </a:solidFill>
                          <a:latin typeface="Cambria Math" panose="02040503050406030204" pitchFamily="18" charset="0"/>
                        </a:rPr>
                        <m:t>𝜀</m:t>
                      </m:r>
                      <m:r>
                        <a:rPr lang="vi-VN" sz="1400" b="1" i="0" dirty="0">
                          <a:solidFill>
                            <a:srgbClr val="444B52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  <m:t>10</m:t>
                          </m:r>
                        </m:e>
                        <m:sup>
                          <m:r>
                            <a:rPr lang="vi-VN" sz="1400" b="1" i="0" dirty="0">
                              <a:solidFill>
                                <a:srgbClr val="444B52"/>
                              </a:solidFill>
                              <a:latin typeface="Cambria Math" panose="02040503050406030204" pitchFamily="18" charset="0"/>
                            </a:rPr>
                            <m:t>−6</m:t>
                          </m:r>
                        </m:sup>
                      </m:sSup>
                    </m:oMath>
                  </m:oMathPara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F1EB5A3D-3BE8-FC81-287D-25343E95E5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41068" y="3082982"/>
                <a:ext cx="4418197" cy="523220"/>
              </a:xfrm>
              <a:prstGeom prst="rect">
                <a:avLst/>
              </a:prstGeom>
              <a:blipFill>
                <a:blip r:embed="rId7"/>
                <a:stretch>
                  <a:fillRect l="-287" t="-2326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399984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1C1BF-E023-FBC4-3034-2C684E91A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FCB140E-98DF-9B51-8588-821955C00D5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4BAA30E-8767-B460-8C12-AC8FC7A299A4}"/>
                  </a:ext>
                </a:extLst>
              </p:cNvPr>
              <p:cNvSpPr txBox="1"/>
              <p:nvPr/>
            </p:nvSpPr>
            <p:spPr>
              <a:xfrm>
                <a:off x="364066" y="1267772"/>
                <a:ext cx="10961159" cy="140038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:r>
                  <a:rPr lang="vi-VN" sz="1400" b="1" dirty="0">
                    <a:solidFill>
                      <a:srgbClr val="1B8A7A"/>
                    </a:solidFill>
                    <a:latin typeface="Arial"/>
                  </a:rPr>
                  <a:t>2.2. Expectation-Maximization (EM) - </a:t>
                </a:r>
                <a:r>
                  <a:rPr lang="vi-VN" sz="1000" b="1" dirty="0">
                    <a:solidFill>
                      <a:schemeClr val="accent5">
                        <a:lumMod val="60000"/>
                        <a:lumOff val="40000"/>
                      </a:schemeClr>
                    </a:solidFill>
                    <a:latin typeface="Arial"/>
                  </a:rPr>
                  <a:t>Phương pháp cực đại hoá kỳ vọng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Vì sao việc tính xác suất hậu nghiệm và cập nhật lại 3 tham số lại giúp tăng log-likelihood qua từng vòng lặp?</a:t>
                </a:r>
              </a:p>
              <a:p>
                <a:pPr>
                  <a:spcAft>
                    <a:spcPts val="600"/>
                  </a:spcAft>
                </a:pPr>
                <a:br>
                  <a:rPr lang="vi-VN" sz="1400" b="1" dirty="0">
                    <a:solidFill>
                      <a:srgbClr val="444B52"/>
                    </a:solidFill>
                    <a:latin typeface="Arial"/>
                  </a:rPr>
                </a:b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Hàm mục tiêu log-likelihood được cấu thành từ 2 thành phần: </a:t>
                </a:r>
              </a:p>
              <a:p>
                <a:pPr>
                  <a:spcAft>
                    <a:spcPts val="600"/>
                  </a:spcAft>
                </a:pPr>
                <a:r>
                  <a:rPr lang="vi-VN" sz="1400" dirty="0">
                    <a:solidFill>
                      <a:schemeClr val="tx2">
                        <a:lumMod val="60000"/>
                        <a:lumOff val="40000"/>
                      </a:schemeClr>
                    </a:solidFill>
                    <a:latin typeface="Arial"/>
                  </a:rPr>
                  <a:t>Log-likelihood</a:t>
                </a:r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=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VN" sz="1400" smtClean="0">
                        <a:solidFill>
                          <a:schemeClr val="accent2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ELBO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VN" sz="1400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</m:oMath>
                </a14:m>
                <a:endParaRPr lang="vi-VN" sz="1400" b="1" dirty="0">
                  <a:solidFill>
                    <a:srgbClr val="444B52"/>
                  </a:solidFill>
                  <a:latin typeface="Arial"/>
                </a:endParaRPr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44BAA30E-8767-B460-8C12-AC8FC7A299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066" y="1267772"/>
                <a:ext cx="10961159" cy="1400383"/>
              </a:xfrm>
              <a:prstGeom prst="rect">
                <a:avLst/>
              </a:prstGeom>
              <a:blipFill>
                <a:blip r:embed="rId3"/>
                <a:stretch>
                  <a:fillRect l="-116" t="-893" b="-3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1FCA69-526D-B23D-FE13-82E609A1CD4A}"/>
                  </a:ext>
                </a:extLst>
              </p:cNvPr>
              <p:cNvSpPr txBox="1"/>
              <p:nvPr/>
            </p:nvSpPr>
            <p:spPr>
              <a:xfrm>
                <a:off x="430967" y="3179064"/>
                <a:ext cx="6901390" cy="98533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borderBox>
                        <m:borderBoxPr>
                          <m:ctrlPr>
                            <a:rPr lang="en-VN" sz="1400" i="1" smtClean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borderBoxPr>
                        <m:e>
                          <m:func>
                            <m:funcPr>
                              <m:ctrlP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ln</m:t>
                              </m:r>
                            </m:fName>
                            <m:e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func>
                          <m:d>
                            <m:dPr>
                              <m:ctrlP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  <m:r>
                                <a:rPr lang="en-VN" sz="1400" i="0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chemeClr val="tx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=</m:t>
                          </m:r>
                          <m:limLow>
                            <m:limLowPr>
                              <m:ctrlPr>
                                <a:rPr lang="en-VN" sz="1400" i="1">
                                  <a:solidFill>
                                    <a:schemeClr val="accent2">
                                      <a:lumMod val="60000"/>
                                      <a:lumOff val="4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en-VN" sz="1400" i="1" smtClean="0">
                                      <a:solidFill>
                                        <a:schemeClr val="accent2">
                                          <a:lumMod val="60000"/>
                                          <a:lumOff val="40000"/>
                                        </a:schemeClr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sz="1400" i="1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i="0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𝑛𝑘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nary>
                                  <m:func>
                                    <m:funcPr>
                                      <m:ctrlP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VN" sz="1400" i="0">
                                          <a:solidFill>
                                            <a:schemeClr val="accent2">
                                              <a:lumMod val="60000"/>
                                              <a:lumOff val="40000"/>
                                            </a:schemeClr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VN" sz="1400" i="1">
                                              <a:solidFill>
                                                <a:schemeClr val="accent2">
                                                  <a:lumMod val="60000"/>
                                                  <a:lumOff val="40000"/>
                                                </a:schemeClr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VN" sz="1400" i="1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𝜋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sub>
                                              </m:sSub>
                                              <m:r>
                                                <a:rPr lang="en-VN" sz="1400" i="0">
                                                  <a:solidFill>
                                                    <a:schemeClr val="accent2">
                                                      <a:lumMod val="60000"/>
                                                      <a:lumOff val="40000"/>
                                                    </a:schemeClr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𝒩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∣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𝜇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sSubSup>
                                                    <m:sSubSup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Sup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𝜎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𝑘</m:t>
                                                      </m:r>
                                                    </m:sub>
                                                    <m:sup>
                                                      <m:r>
                                                        <a:rPr lang="en-VN" sz="1400" i="0">
                                                          <a:solidFill>
                                                            <a:schemeClr val="accent2">
                                                              <a:lumMod val="60000"/>
                                                              <a:lumOff val="40000"/>
                                                            </a:schemeClr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2</m:t>
                                                      </m:r>
                                                    </m:sup>
                                                  </m:sSubSup>
                                                </m:e>
                                              </m:d>
                                            </m:num>
                                            <m:den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chemeClr val="accent2">
                                                          <a:lumMod val="60000"/>
                                                          <a:lumOff val="40000"/>
                                                        </a:schemeClr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𝑛𝑘</m:t>
                                                  </m:r>
                                                </m:sub>
                                              </m:sSub>
                                            </m:den>
                                          </m:f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/>
                          </m:limLow>
                          <m:r>
                            <a:rPr lang="en-VN" sz="1400" i="0">
                              <a:latin typeface="Cambria Math" panose="02040503050406030204" pitchFamily="18" charset="0"/>
                            </a:rPr>
                            <m:t>+</m:t>
                          </m:r>
                          <m:limLow>
                            <m:limLowPr>
                              <m:ctrlPr>
                                <a:rPr lang="en-VN" sz="1400" i="1" smtClean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pos m:val="bot"/>
                                  <m:vertJc m:val="top"/>
                                  <m:ctrlPr>
                                    <a:rPr lang="en-VN" sz="1400" i="1" smtClean="0">
                                      <a:solidFill>
                                        <a:srgbClr val="00B05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nary>
                                    <m:naryPr>
                                      <m:chr m:val="∑"/>
                                      <m:limLoc m:val="undOvr"/>
                                      <m:ctrlP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=1</m:t>
                                      </m:r>
                                    </m:sub>
                                    <m:sup>
                                      <m:r>
                                        <a:rPr lang="en-VN" sz="1400" i="1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</m:sup>
                                    <m:e>
                                      <m:nary>
                                        <m:naryPr>
                                          <m:chr m:val="∑"/>
                                          <m:limLoc m:val="undOvr"/>
                                          <m:ctrlP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naryPr>
                                        <m:sub>
                                          <m: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𝑘</m:t>
                                          </m:r>
                                          <m:r>
                                            <a:rPr lang="en-VN" sz="1400" i="0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=1</m:t>
                                          </m:r>
                                        </m:sub>
                                        <m:sup>
                                          <m: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𝐾</m:t>
                                          </m:r>
                                        </m:sup>
                                        <m:e>
                                          <m:sSub>
                                            <m:sSubPr>
                                              <m:ctrlP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𝑞</m:t>
                                              </m:r>
                                            </m:e>
                                            <m:sub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𝑛𝑘</m:t>
                                              </m:r>
                                            </m:sub>
                                          </m:sSub>
                                        </m:e>
                                      </m:nary>
                                    </m:e>
                                  </m:nary>
                                  <m:func>
                                    <m:funcPr>
                                      <m:ctrlP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uncPr>
                                    <m:fName>
                                      <m:r>
                                        <m:rPr>
                                          <m:sty m:val="p"/>
                                        </m:rPr>
                                        <a:rPr lang="en-VN" sz="1400" i="0">
                                          <a:solidFill>
                                            <a:srgbClr val="00B05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ln</m:t>
                                      </m:r>
                                    </m:fName>
                                    <m:e>
                                      <m:d>
                                        <m:dPr>
                                          <m:ctrlPr>
                                            <a:rPr lang="en-VN" sz="1400" i="1">
                                              <a:solidFill>
                                                <a:srgbClr val="00B050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f>
                                            <m:fPr>
                                              <m:ctrlP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fPr>
                                            <m:num>
                                              <m:sSub>
                                                <m:sSub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sSubPr>
                                                <m:e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𝑞</m:t>
                                                  </m:r>
                                                </m:e>
                                                <m:sub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𝑛𝑘</m:t>
                                                  </m:r>
                                                </m:sub>
                                              </m:sSub>
                                            </m:num>
                                            <m:den>
                                              <m:r>
                                                <a:rPr lang="en-VN" sz="1400" i="1">
                                                  <a:solidFill>
                                                    <a:srgbClr val="00B050"/>
                                                  </a:solidFill>
                                                  <a:latin typeface="Cambria Math" panose="02040503050406030204" pitchFamily="18" charset="0"/>
                                                </a:rPr>
                                                <m:t>𝑃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𝑧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=</m:t>
                                                  </m:r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∣</m:t>
                                                  </m:r>
                                                  <m:sSub>
                                                    <m:sSubPr>
                                                      <m:ctrlP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</m:ctrlPr>
                                                    </m:sSubPr>
                                                    <m:e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𝑥</m:t>
                                                      </m:r>
                                                    </m:e>
                                                    <m:sub>
                                                      <m:r>
                                                        <a:rPr lang="en-VN" sz="1400" i="1">
                                                          <a:solidFill>
                                                            <a:srgbClr val="00B050"/>
                                                          </a:solidFill>
                                                          <a:latin typeface="Cambria Math" panose="02040503050406030204" pitchFamily="18" charset="0"/>
                                                        </a:rPr>
                                                        <m:t>𝑛</m:t>
                                                      </m:r>
                                                    </m:sub>
                                                  </m:sSub>
                                                  <m:r>
                                                    <a:rPr lang="en-VN" sz="1400" i="0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,</m:t>
                                                  </m:r>
                                                  <m:r>
                                                    <a:rPr lang="en-VN" sz="1400" i="1">
                                                      <a:solidFill>
                                                        <a:srgbClr val="00B050"/>
                                                      </a:solidFill>
                                                      <a:latin typeface="Cambria Math" panose="02040503050406030204" pitchFamily="18" charset="0"/>
                                                    </a:rPr>
                                                    <m:t>𝜃</m:t>
                                                  </m:r>
                                                </m:e>
                                              </m:d>
                                            </m:den>
                                          </m:f>
                                        </m:e>
                                      </m:d>
                                    </m:e>
                                  </m:func>
                                </m:e>
                              </m:groupChr>
                            </m:e>
                            <m:lim/>
                          </m:limLow>
                        </m:e>
                      </m:borderBox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171FCA69-526D-B23D-FE13-82E609A1CD4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0967" y="3179064"/>
                <a:ext cx="6901390" cy="985334"/>
              </a:xfrm>
              <a:prstGeom prst="rect">
                <a:avLst/>
              </a:prstGeom>
              <a:blipFill>
                <a:blip r:embed="rId4"/>
                <a:stretch>
                  <a:fillRect t="-61538" b="-83333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4788EEA-B24C-FEC0-D0FA-17BDFFD737FE}"/>
                  </a:ext>
                </a:extLst>
              </p:cNvPr>
              <p:cNvSpPr txBox="1"/>
              <p:nvPr/>
            </p:nvSpPr>
            <p:spPr>
              <a:xfrm>
                <a:off x="406399" y="2725096"/>
                <a:ext cx="4518023" cy="33547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func>
                        <m:funcPr>
                          <m:ctrlP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ln</m:t>
                          </m:r>
                        </m:fName>
                        <m:e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  <m:r>
                            <a:rPr lang="en-VN" sz="1400" i="0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∣</m:t>
                          </m:r>
                          <m:r>
                            <a:rPr lang="en-VN" sz="1400" i="1">
                              <a:solidFill>
                                <a:schemeClr val="tx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en-VN" sz="1400" i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VN" sz="1400" i="0" smtClean="0">
                          <a:solidFill>
                            <a:schemeClr val="accent2">
                              <a:lumMod val="60000"/>
                              <a:lumOff val="40000"/>
                            </a:schemeClr>
                          </a:solidFill>
                          <a:latin typeface="Cambria Math" panose="02040503050406030204" pitchFamily="18" charset="0"/>
                        </a:rPr>
                        <m:t>ℒ</m:t>
                      </m:r>
                      <m:d>
                        <m:dPr>
                          <m:ctrlP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r>
                            <a:rPr lang="en-VN" sz="1400" i="0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VN" sz="1400" i="1">
                              <a:solidFill>
                                <a:schemeClr val="accent2">
                                  <a:lumMod val="60000"/>
                                  <a:lumOff val="4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d>
                      <m:r>
                        <a:rPr lang="en-VN" sz="1400" i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d>
                        <m:dPr>
                          <m:ctrlP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𝑞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</m:e>
                          </m:d>
                          <m:r>
                            <a:rPr lang="en-VN" sz="1400" i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∥</m:t>
                          </m:r>
                          <m:r>
                            <a:rPr lang="en-VN" sz="1400" i="1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𝑍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∣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en-VN" sz="1400" i="0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VN" sz="1400" i="1">
                                  <a:solidFill>
                                    <a:srgbClr val="00B050"/>
                                  </a:solidFill>
                                  <a:latin typeface="Cambria Math" panose="02040503050406030204" pitchFamily="18" charset="0"/>
                                </a:rPr>
                                <m:t>𝜃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VN" sz="1400" dirty="0">
                  <a:solidFill>
                    <a:srgbClr val="00B050"/>
                  </a:solidFill>
                </a:endParaRPr>
              </a:p>
            </p:txBody>
          </p:sp>
        </mc:Choice>
        <mc:Fallback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54788EEA-B24C-FEC0-D0FA-17BDFFD737F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399" y="2725096"/>
                <a:ext cx="4518023" cy="335476"/>
              </a:xfrm>
              <a:prstGeom prst="rect">
                <a:avLst/>
              </a:prstGeom>
              <a:blipFill>
                <a:blip r:embed="rId5"/>
                <a:stretch>
                  <a:fillRect b="-370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545193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FA55EF-E117-C896-72AD-216D9EB569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A09F76D-C086-5B5C-EA47-5088780846B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20DE5B-5622-6B8E-2959-B4A6F23DF1AF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Vì sao việc tính xác suất hậu nghiệm và cập nhật lại 3 tham số lại giúp tăng log-likelihood qua từng vòng lặp?</a:t>
            </a:r>
          </a:p>
        </p:txBody>
      </p:sp>
      <p:pic>
        <p:nvPicPr>
          <p:cNvPr id="27" name="Picture 26">
            <a:extLst>
              <a:ext uri="{FF2B5EF4-FFF2-40B4-BE49-F238E27FC236}">
                <a16:creationId xmlns:a16="http://schemas.microsoft.com/office/drawing/2014/main" id="{B2E0D67B-9748-C6C3-8125-94495D2939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46047" y="1867936"/>
            <a:ext cx="9499600" cy="4744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2442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89793B-8759-77D2-9313-B222115FE9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8A14FB3-116D-B615-AE57-EB720EC88C63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D6EAD69-B6B2-D67E-9743-379D5E5386DA}"/>
              </a:ext>
            </a:extLst>
          </p:cNvPr>
          <p:cNvSpPr txBox="1"/>
          <p:nvPr/>
        </p:nvSpPr>
        <p:spPr>
          <a:xfrm>
            <a:off x="364066" y="1267772"/>
            <a:ext cx="10961159" cy="6001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Cách chọn k cụm sao cho tốt?</a:t>
            </a:r>
          </a:p>
        </p:txBody>
      </p:sp>
    </p:spTree>
    <p:extLst>
      <p:ext uri="{BB962C8B-B14F-4D97-AF65-F5344CB8AC3E}">
        <p14:creationId xmlns:p14="http://schemas.microsoft.com/office/powerpoint/2010/main" val="25223241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AC4FDF-DCEE-ABAA-9CC8-177BDB506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46FE89F5-01DB-5F93-3F06-C56822212227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392DC23-8084-A0E8-399D-F362C4825BF3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Cách chọn k cụm sao cho tốt?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=&gt; Thử train GMM với nhiều k khác nhau, rồi chọn theo tiêu chí như BIC/AIC</a:t>
            </a:r>
          </a:p>
        </p:txBody>
      </p:sp>
    </p:spTree>
    <p:extLst>
      <p:ext uri="{BB962C8B-B14F-4D97-AF65-F5344CB8AC3E}">
        <p14:creationId xmlns:p14="http://schemas.microsoft.com/office/powerpoint/2010/main" val="249482739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9A7B44-A0D3-8C74-6D45-A5D6A141D5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60AFA5E-8BC0-9C19-FD21-5EE193747BA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3928A9A-E096-0DD5-2B0D-084F1709AACD}"/>
              </a:ext>
            </a:extLst>
          </p:cNvPr>
          <p:cNvSpPr txBox="1"/>
          <p:nvPr/>
        </p:nvSpPr>
        <p:spPr>
          <a:xfrm>
            <a:off x="364066" y="1267772"/>
            <a:ext cx="10961159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2.2. Expectation-Maximization (EM) - </a:t>
            </a:r>
            <a:r>
              <a:rPr lang="vi-VN" sz="1000" b="1" dirty="0">
                <a:solidFill>
                  <a:schemeClr val="accent5">
                    <a:lumMod val="60000"/>
                    <a:lumOff val="40000"/>
                  </a:schemeClr>
                </a:solidFill>
                <a:latin typeface="Arial"/>
              </a:rPr>
              <a:t>Phương pháp cực đại hoá kỳ vọng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Cách chọn k cụm sao cho tốt?</a:t>
            </a:r>
          </a:p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=&gt; Thử train GMM với nhiều k khác nhau, rồi chọn theo tiêu chí như BIC/AIC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88E3CE-F83A-6930-59A7-4ADAAEFEE27C}"/>
              </a:ext>
            </a:extLst>
          </p:cNvPr>
          <p:cNvSpPr txBox="1"/>
          <p:nvPr/>
        </p:nvSpPr>
        <p:spPr>
          <a:xfrm>
            <a:off x="364066" y="2593986"/>
            <a:ext cx="613833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VN" sz="1400" b="1" dirty="0"/>
              <a:t>Tiêu chí Bayesian - BIC (Bayesian Information Criterion)</a:t>
            </a:r>
            <a:r>
              <a:rPr lang="en-VN" sz="1400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E79DAA2-DFA7-DCE1-E87A-FF81679F5421}"/>
                  </a:ext>
                </a:extLst>
              </p:cNvPr>
              <p:cNvSpPr txBox="1"/>
              <p:nvPr/>
            </p:nvSpPr>
            <p:spPr>
              <a:xfrm>
                <a:off x="4506383" y="2294593"/>
                <a:ext cx="2247898" cy="3395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VN" sz="1400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</a:rPr>
                        <m:t>A</m:t>
                      </m:r>
                      <m:r>
                        <m:rPr>
                          <m:sty m:val="p"/>
                        </m:rPr>
                        <a:rPr lang="en-VN" sz="1400" i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</a:rPr>
                        <m:t>IC</m:t>
                      </m:r>
                      <m:r>
                        <a:rPr lang="en-VN" sz="1400" i="0"/>
                        <m:t>=−2</m:t>
                      </m:r>
                      <m:func>
                        <m:funcPr>
                          <m:ctrlPr>
                            <a:rPr lang="en-VN" sz="1400" i="0"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/>
                            <m:t>ln</m:t>
                          </m:r>
                        </m:fName>
                        <m:e>
                          <m:r>
                            <a:rPr lang="en-VN" sz="1400" i="1"/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VN" sz="1400" i="1" smtClean="0">
                              <a:solidFill>
                                <a:schemeClr val="accent5">
                                  <a:lumMod val="75000"/>
                                </a:schemeClr>
                              </a:solidFill>
                            </a:rPr>
                          </m:ctrlPr>
                        </m:dPr>
                        <m:e>
                          <m:acc>
                            <m:accPr>
                              <m:chr m:val="ˆ"/>
                              <m:ctrlPr>
                                <a:rPr lang="en-VN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</a:rPr>
                              </m:ctrlPr>
                            </m:accPr>
                            <m:e>
                              <m:r>
                                <a:rPr lang="en-VN" sz="1400" i="1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</a:rPr>
                                <m:t>𝜃</m:t>
                              </m:r>
                            </m:e>
                          </m:acc>
                          <m:r>
                            <a:rPr lang="en-VN" sz="1400" i="0"/>
                            <m:t>∣</m:t>
                          </m:r>
                          <m:r>
                            <a:rPr lang="en-VN" sz="1400" i="1"/>
                            <m:t>𝑋</m:t>
                          </m:r>
                        </m:e>
                      </m:d>
                      <m:r>
                        <a:rPr lang="en-VN" sz="1400" i="0"/>
                        <m:t>+2</m:t>
                      </m:r>
                      <m:r>
                        <a:rPr lang="en-VN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m:t>𝑝</m:t>
                      </m:r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3E79DAA2-DFA7-DCE1-E87A-FF81679F542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06383" y="2294593"/>
                <a:ext cx="2247898" cy="339517"/>
              </a:xfrm>
              <a:prstGeom prst="rect">
                <a:avLst/>
              </a:prstGeom>
              <a:blipFill>
                <a:blip r:embed="rId3"/>
                <a:stretch>
                  <a:fillRect t="-3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0F61AD78-2BC8-CCEB-1E0E-B8A5923CFE9F}"/>
              </a:ext>
            </a:extLst>
          </p:cNvPr>
          <p:cNvSpPr txBox="1"/>
          <p:nvPr/>
        </p:nvSpPr>
        <p:spPr>
          <a:xfrm>
            <a:off x="364066" y="2303721"/>
            <a:ext cx="397933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VN" sz="1400" b="1" dirty="0"/>
              <a:t>Tiêu chí Akaike - AIC (Akaike Information Criterion)</a:t>
            </a:r>
            <a:r>
              <a:rPr lang="en-VN" sz="1400" dirty="0"/>
              <a:t>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F3321FC-231B-F561-AAC5-BBA50F7AB7A4}"/>
                  </a:ext>
                </a:extLst>
              </p:cNvPr>
              <p:cNvSpPr txBox="1"/>
              <p:nvPr/>
            </p:nvSpPr>
            <p:spPr>
              <a:xfrm>
                <a:off x="4131581" y="2585136"/>
                <a:ext cx="3255434" cy="3395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r>
                        <m:rPr>
                          <m:sty m:val="p"/>
                        </m:rPr>
                        <a:rPr lang="en-VN" sz="1400" smtClean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</a:rPr>
                        <m:t>B</m:t>
                      </m:r>
                      <m:r>
                        <m:rPr>
                          <m:sty m:val="p"/>
                        </m:rPr>
                        <a:rPr lang="en-VN" sz="1400" i="0">
                          <a:solidFill>
                            <a:schemeClr val="tx2">
                              <a:lumMod val="60000"/>
                              <a:lumOff val="40000"/>
                            </a:schemeClr>
                          </a:solidFill>
                        </a:rPr>
                        <m:t>IC</m:t>
                      </m:r>
                      <m:r>
                        <a:rPr lang="en-VN" sz="1400" i="0"/>
                        <m:t>=−2</m:t>
                      </m:r>
                      <m:func>
                        <m:funcPr>
                          <m:ctrlPr>
                            <a:rPr lang="en-VN" sz="1400" i="0"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/>
                            <m:t>ln</m:t>
                          </m:r>
                        </m:fName>
                        <m:e>
                          <m:r>
                            <a:rPr lang="en-VN" sz="1400" i="1"/>
                            <m:t>𝐿</m:t>
                          </m:r>
                        </m:e>
                      </m:func>
                      <m:d>
                        <m:dPr>
                          <m:ctrlPr>
                            <a:rPr lang="en-VN" sz="1400" i="1"/>
                          </m:ctrlPr>
                        </m:dPr>
                        <m:e>
                          <m:acc>
                            <m:accPr>
                              <m:chr m:val="ˆ"/>
                              <m:ctrlPr>
                                <a:rPr lang="en-VN" sz="140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</a:rPr>
                              </m:ctrlPr>
                            </m:accPr>
                            <m:e>
                              <m:r>
                                <a:rPr lang="en-VN" sz="1400" i="1" smtClean="0">
                                  <a:solidFill>
                                    <a:schemeClr val="accent5">
                                      <a:lumMod val="75000"/>
                                    </a:schemeClr>
                                  </a:solidFill>
                                </a:rPr>
                                <m:t>𝜃</m:t>
                              </m:r>
                            </m:e>
                          </m:acc>
                          <m:r>
                            <a:rPr lang="en-VN" sz="1400" i="0"/>
                            <m:t>∣</m:t>
                          </m:r>
                          <m:r>
                            <a:rPr lang="en-VN" sz="1400" i="1"/>
                            <m:t>𝑋</m:t>
                          </m:r>
                        </m:e>
                      </m:d>
                      <m:r>
                        <a:rPr lang="en-VN" sz="1400" i="0"/>
                        <m:t>+</m:t>
                      </m:r>
                      <m:r>
                        <a:rPr lang="en-VN" sz="1400" i="1" smtClean="0">
                          <a:solidFill>
                            <a:schemeClr val="accent6">
                              <a:lumMod val="75000"/>
                            </a:schemeClr>
                          </a:solidFill>
                        </a:rPr>
                        <m:t>𝑝</m:t>
                      </m:r>
                      <m:func>
                        <m:funcPr>
                          <m:ctrlPr>
                            <a:rPr lang="en-VN" sz="1400" i="0"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/>
                            <m:t>ln</m:t>
                          </m:r>
                        </m:fName>
                        <m:e>
                          <m:r>
                            <a:rPr lang="en-VN" sz="1400" i="1"/>
                            <m:t>𝑁</m:t>
                          </m:r>
                        </m:e>
                      </m:func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F3321FC-231B-F561-AAC5-BBA50F7AB7A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1581" y="2585136"/>
                <a:ext cx="3255434" cy="339517"/>
              </a:xfrm>
              <a:prstGeom prst="rect">
                <a:avLst/>
              </a:prstGeom>
              <a:blipFill>
                <a:blip r:embed="rId4"/>
                <a:stretch>
                  <a:fillRect t="-3571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9A7E84E-79E2-72A0-1BE2-D6A0B1F11B7B}"/>
                  </a:ext>
                </a:extLst>
              </p:cNvPr>
              <p:cNvSpPr txBox="1"/>
              <p:nvPr/>
            </p:nvSpPr>
            <p:spPr>
              <a:xfrm>
                <a:off x="436034" y="3218765"/>
                <a:ext cx="4237566" cy="6146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acc>
                      <m:accPr>
                        <m:chr m:val="ˆ"/>
                        <m:ctrlPr>
                          <a:rPr lang="en-VN" sz="140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VN" sz="1400" i="1" smtClean="0">
                            <a:solidFill>
                              <a:schemeClr val="accent5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𝜃</m:t>
                        </m:r>
                      </m:e>
                    </m:acc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số lượng tham số tự do</a:t>
                </a:r>
              </a:p>
              <a:p>
                <a:pPr>
                  <a:spcAft>
                    <a:spcPts val="600"/>
                  </a:spcAft>
                </a:pPr>
                <a14:m>
                  <m:oMath xmlns:m="http://schemas.openxmlformats.org/officeDocument/2006/math">
                    <m:r>
                      <a:rPr lang="en-VN" sz="1400" i="1" smtClean="0">
                        <a:solidFill>
                          <a:schemeClr val="accent6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vi-VN" sz="1400" dirty="0">
                    <a:solidFill>
                      <a:srgbClr val="444B52"/>
                    </a:solidFill>
                    <a:latin typeface="Arial"/>
                  </a:rPr>
                  <a:t> là bộ tham số cuối cùng sau khi train mô hình</a:t>
                </a:r>
              </a:p>
            </p:txBody>
          </p:sp>
        </mc:Choice>
        <mc:Fallback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59A7E84E-79E2-72A0-1BE2-D6A0B1F11B7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6034" y="3218765"/>
                <a:ext cx="4237566" cy="614655"/>
              </a:xfrm>
              <a:prstGeom prst="rect">
                <a:avLst/>
              </a:prstGeom>
              <a:blipFill>
                <a:blip r:embed="rId5"/>
                <a:stretch>
                  <a:fillRect t="-2041" b="-10204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11D46BE-2F80-2034-F923-95F9691C0E2D}"/>
                  </a:ext>
                </a:extLst>
              </p:cNvPr>
              <p:cNvSpPr txBox="1"/>
              <p:nvPr/>
            </p:nvSpPr>
            <p:spPr>
              <a:xfrm>
                <a:off x="693966" y="4642210"/>
                <a:ext cx="1934633" cy="371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sz="1400" i="1"/>
                          </m:ctrlPr>
                        </m:sSubSupPr>
                        <m:e>
                          <m:r>
                            <a:rPr lang="en-VN" sz="1400" i="1"/>
                            <m:t>𝐾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VN" sz="1400" i="0"/>
                            <m:t>AIC</m:t>
                          </m:r>
                        </m:sub>
                        <m:sup>
                          <m:r>
                            <a:rPr lang="en-VN" sz="1400" i="0"/>
                            <m:t>∗</m:t>
                          </m:r>
                        </m:sup>
                      </m:sSubSup>
                      <m:r>
                        <a:rPr lang="en-VN" sz="1400" i="0"/>
                        <m:t>=</m:t>
                      </m:r>
                      <m:func>
                        <m:funcPr>
                          <m:ctrlPr>
                            <a:rPr lang="en-VN" sz="1400" i="0"/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/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VN" sz="1400" i="1"/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VN" sz="1400" i="0"/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VN" sz="1400" i="0"/>
                                    <m:t>min</m:t>
                                  </m:r>
                                </m:e>
                                <m:lim>
                                  <m:r>
                                    <a:rPr lang="en-VN" sz="1400" i="1"/>
                                    <m:t>𝐾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VN" sz="1400" i="0"/>
                                <m:t>AIC</m:t>
                              </m:r>
                              <m:d>
                                <m:dPr>
                                  <m:ctrlPr>
                                    <a:rPr lang="en-VN" sz="1400" i="1"/>
                                  </m:ctrlPr>
                                </m:dPr>
                                <m:e>
                                  <m:r>
                                    <a:rPr lang="en-VN" sz="1400" i="1"/>
                                    <m:t>𝐾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VN" sz="1400" dirty="0"/>
              </a:p>
            </p:txBody>
          </p:sp>
        </mc:Choice>
        <mc:Fallback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F11D46BE-2F80-2034-F923-95F9691C0E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3966" y="4642210"/>
                <a:ext cx="1934633" cy="371640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2" name="TextBox 41">
            <a:extLst>
              <a:ext uri="{FF2B5EF4-FFF2-40B4-BE49-F238E27FC236}">
                <a16:creationId xmlns:a16="http://schemas.microsoft.com/office/drawing/2014/main" id="{59F3A933-CF2F-EF84-8C3F-42A948AD3F9A}"/>
              </a:ext>
            </a:extLst>
          </p:cNvPr>
          <p:cNvSpPr txBox="1"/>
          <p:nvPr/>
        </p:nvSpPr>
        <p:spPr>
          <a:xfrm>
            <a:off x="436034" y="4334433"/>
            <a:ext cx="20404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Thử nhiều K và chọn: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F60DE6F-9AD4-8F9B-7C86-376E4D76174B}"/>
                  </a:ext>
                </a:extLst>
              </p:cNvPr>
              <p:cNvSpPr txBox="1"/>
              <p:nvPr/>
            </p:nvSpPr>
            <p:spPr>
              <a:xfrm>
                <a:off x="641049" y="5013850"/>
                <a:ext cx="2040466" cy="37164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>
                      <m:sSubSup>
                        <m:sSubSupPr>
                          <m:ctrlPr>
                            <a:rPr lang="en-VN" sz="1400" i="1">
                              <a:latin typeface="+mn-lt"/>
                            </a:rPr>
                          </m:ctrlPr>
                        </m:sSubSupPr>
                        <m:e>
                          <m:r>
                            <a:rPr lang="en-VN" sz="1400" i="1">
                              <a:latin typeface="+mn-lt"/>
                            </a:rPr>
                            <m:t>𝐾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VN" sz="1400" i="0">
                              <a:latin typeface="+mn-lt"/>
                            </a:rPr>
                            <m:t>BIC</m:t>
                          </m:r>
                        </m:sub>
                        <m:sup>
                          <m:r>
                            <a:rPr lang="en-VN" sz="1400" i="0">
                              <a:latin typeface="+mn-lt"/>
                            </a:rPr>
                            <m:t>∗</m:t>
                          </m:r>
                        </m:sup>
                      </m:sSubSup>
                      <m:r>
                        <a:rPr lang="en-VN" sz="1400" i="0">
                          <a:latin typeface="+mn-lt"/>
                        </a:rPr>
                        <m:t>=</m:t>
                      </m:r>
                      <m:func>
                        <m:funcPr>
                          <m:ctrlPr>
                            <a:rPr lang="en-VN" sz="1400" i="0">
                              <a:latin typeface="+mn-lt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VN" sz="1400" i="0">
                              <a:latin typeface="+mn-lt"/>
                            </a:rPr>
                            <m:t>arg</m:t>
                          </m:r>
                        </m:fName>
                        <m:e>
                          <m:func>
                            <m:funcPr>
                              <m:ctrlPr>
                                <a:rPr lang="en-VN" sz="1400" i="1">
                                  <a:latin typeface="+mn-lt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VN" sz="1400" i="0">
                                      <a:latin typeface="+mn-lt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VN" sz="1400" i="0">
                                      <a:latin typeface="+mn-lt"/>
                                    </a:rPr>
                                    <m:t>min</m:t>
                                  </m:r>
                                </m:e>
                                <m:lim>
                                  <m:r>
                                    <a:rPr lang="en-VN" sz="1400" i="1">
                                      <a:latin typeface="+mn-lt"/>
                                    </a:rPr>
                                    <m:t>𝐾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VN" sz="1400" i="0">
                                  <a:latin typeface="+mn-lt"/>
                                </a:rPr>
                                <m:t>BIC</m:t>
                              </m:r>
                              <m:d>
                                <m:dPr>
                                  <m:ctrlPr>
                                    <a:rPr lang="en-VN" sz="1400" i="1">
                                      <a:latin typeface="+mn-lt"/>
                                    </a:rPr>
                                  </m:ctrlPr>
                                </m:dPr>
                                <m:e>
                                  <m:r>
                                    <a:rPr lang="en-VN" sz="1400" i="1">
                                      <a:latin typeface="+mn-lt"/>
                                    </a:rPr>
                                    <m:t>𝐾</m:t>
                                  </m:r>
                                </m:e>
                              </m:d>
                            </m:e>
                          </m:func>
                        </m:e>
                      </m:func>
                    </m:oMath>
                  </m:oMathPara>
                </a14:m>
                <a:endParaRPr lang="en-VN" dirty="0"/>
              </a:p>
            </p:txBody>
          </p:sp>
        </mc:Choice>
        <mc:Fallback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F60DE6F-9AD4-8F9B-7C86-376E4D76174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1049" y="5013850"/>
                <a:ext cx="2040466" cy="371640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078532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5D707-C5CE-2CB1-A077-FA8DD5B3E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D5AAA05-4E56-7E94-8276-E3AEF528DDF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E5F861-9B78-5FF9-0264-7FB9F1ECEACD}"/>
              </a:ext>
            </a:extLst>
          </p:cNvPr>
          <p:cNvSpPr txBox="1"/>
          <p:nvPr/>
        </p:nvSpPr>
        <p:spPr>
          <a:xfrm>
            <a:off x="364066" y="1267772"/>
            <a:ext cx="10961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2.3. Siêu tham số mô hình GMM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2EDBC8B-5DC2-8BBA-147A-6404E0DAFAF9}"/>
                  </a:ext>
                </a:extLst>
              </p:cNvPr>
              <p:cNvSpPr txBox="1"/>
              <p:nvPr/>
            </p:nvSpPr>
            <p:spPr>
              <a:xfrm>
                <a:off x="609601" y="1791761"/>
                <a:ext cx="7342075" cy="24622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vi-VN" sz="1400" dirty="0"/>
                  <a:t>1. </a:t>
                </a:r>
                <a14:m>
                  <m:oMath xmlns:m="http://schemas.openxmlformats.org/officeDocument/2006/math">
                    <m:r>
                      <a:rPr lang="vi-VN" sz="1400" b="1" i="1" dirty="0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/>
                  <a:t>: số Gaussian / số mixture components.</a:t>
                </a:r>
              </a:p>
              <a:p>
                <a:pPr lvl="0"/>
                <a:r>
                  <a:rPr lang="vi-VN" sz="1400" dirty="0"/>
                  <a:t>2.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covariance_type</a:t>
                </a:r>
                <a:r>
                  <a:rPr lang="vi-VN" sz="1400" dirty="0"/>
                  <a:t>: dạng ma trận hiệp phương sai: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full</a:t>
                </a:r>
                <a:r>
                  <a:rPr lang="vi-VN" sz="1400" dirty="0"/>
                  <a:t>: mỗi Gaussian có \(\Sigma_k\) đầy đủ.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diag</a:t>
                </a:r>
                <a:r>
                  <a:rPr lang="vi-VN" sz="1400" dirty="0"/>
                  <a:t>: chỉ giữ phương sai từng chiều.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spherical</a:t>
                </a:r>
                <a:r>
                  <a:rPr lang="vi-VN" sz="1400" dirty="0"/>
                  <a:t>: mỗi Gaussian dùng một phương sai chung cho mọi chiều.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tied</a:t>
                </a:r>
                <a:r>
                  <a:rPr lang="vi-VN" sz="1400" dirty="0"/>
                  <a:t>: tất cả Gaussian dùng chung một ma trận covariance.</a:t>
                </a:r>
              </a:p>
              <a:p>
                <a:pPr lvl="0"/>
                <a:r>
                  <a:rPr lang="vi-VN" sz="1400" dirty="0"/>
                  <a:t>3. </a:t>
                </a:r>
                <a14:m>
                  <m:oMath xmlns:m="http://schemas.openxmlformats.org/officeDocument/2006/math">
                    <m:r>
                      <a:rPr lang="vi-VN" sz="1400" b="1" i="1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vi-VN" sz="1400" b="1" dirty="0">
                    <a:solidFill>
                      <a:schemeClr val="accent3">
                        <a:lumMod val="75000"/>
                      </a:schemeClr>
                    </a:solidFill>
                  </a:rPr>
                  <a:t> /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tol</a:t>
                </a:r>
                <a:r>
                  <a:rPr lang="vi-VN" sz="1400" dirty="0"/>
                  <a:t>: ngưỡng hội tụ của EM.</a:t>
                </a:r>
              </a:p>
              <a:p>
                <a:pPr lvl="0"/>
                <a:r>
                  <a:rPr lang="vi-VN" sz="1400" dirty="0"/>
                  <a:t>4.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max_iter</a:t>
                </a:r>
                <a:r>
                  <a:rPr lang="vi-VN" sz="1400" dirty="0"/>
                  <a:t>: số vòng EM tối đa.</a:t>
                </a:r>
              </a:p>
              <a:p>
                <a:pPr lvl="0"/>
                <a:r>
                  <a:rPr lang="vi-VN" sz="1400" dirty="0"/>
                  <a:t>5.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n_init</a:t>
                </a:r>
                <a:r>
                  <a:rPr lang="vi-VN" sz="1400" dirty="0"/>
                  <a:t>: số lần khởi tạo khác nhau rồi chọn nghiệm tốt nhất.</a:t>
                </a:r>
              </a:p>
              <a:p>
                <a:pPr lvl="0"/>
                <a:r>
                  <a:rPr lang="vi-VN" sz="1400" dirty="0"/>
                  <a:t>6.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init_params</a:t>
                </a:r>
                <a:r>
                  <a:rPr lang="vi-VN" sz="1400" dirty="0"/>
                  <a:t>: cách khởi tạo, ví dụ K-Means hoặc random.</a:t>
                </a:r>
              </a:p>
              <a:p>
                <a:pPr lvl="0"/>
                <a:r>
                  <a:rPr lang="vi-VN" sz="1400" dirty="0"/>
                  <a:t>7.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reg_covar</a:t>
                </a:r>
                <a:r>
                  <a:rPr lang="vi-VN" sz="1400" dirty="0"/>
                  <a:t>: một số nhỏ cộng vào đường chéo của covariance để tránh ma trận suy biến.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2EDBC8B-5DC2-8BBA-147A-6404E0DAFA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1" y="1791761"/>
                <a:ext cx="7342075" cy="2462213"/>
              </a:xfrm>
              <a:prstGeom prst="rect">
                <a:avLst/>
              </a:prstGeom>
              <a:blipFill>
                <a:blip r:embed="rId3"/>
                <a:stretch>
                  <a:fillRect l="-346" t="-513" r="-173" b="-153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0417646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AC095-C383-DEA5-F58F-64F576BEF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980B0569-2D1F-2F6B-0479-4B7FF7512CF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thích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6DE2F6E-A705-60EA-1794-F170DBB05D29}"/>
              </a:ext>
            </a:extLst>
          </p:cNvPr>
          <p:cNvSpPr txBox="1"/>
          <p:nvPr/>
        </p:nvSpPr>
        <p:spPr>
          <a:xfrm>
            <a:off x="364066" y="1267772"/>
            <a:ext cx="1096115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1400" b="1" dirty="0">
                <a:solidFill>
                  <a:srgbClr val="1B8A7A"/>
                </a:solidFill>
                <a:latin typeface="Arial"/>
              </a:rPr>
              <a:t>2.3. Siêu tham số mô hình GMM 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8508172-EBD8-CFB1-E4BC-C8C36B7D6054}"/>
                  </a:ext>
                </a:extLst>
              </p:cNvPr>
              <p:cNvSpPr txBox="1"/>
              <p:nvPr/>
            </p:nvSpPr>
            <p:spPr>
              <a:xfrm>
                <a:off x="609601" y="1791761"/>
                <a:ext cx="7342075" cy="2462213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lvl="0"/>
                <a:r>
                  <a:rPr lang="vi-VN" sz="1400" dirty="0"/>
                  <a:t>1. </a:t>
                </a:r>
                <a14:m>
                  <m:oMath xmlns:m="http://schemas.openxmlformats.org/officeDocument/2006/math">
                    <m:r>
                      <a:rPr lang="vi-VN" sz="1400" b="1" i="1" dirty="0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/>
                  <a:t>: số Gaussian / số mixture components.</a:t>
                </a:r>
              </a:p>
              <a:p>
                <a:pPr lvl="0"/>
                <a:r>
                  <a:rPr lang="vi-VN" sz="1400" dirty="0"/>
                  <a:t>2.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covariance_type</a:t>
                </a:r>
                <a:r>
                  <a:rPr lang="vi-VN" sz="1400" dirty="0"/>
                  <a:t>: dạng ma trận hiệp phương sai: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full</a:t>
                </a:r>
                <a:r>
                  <a:rPr lang="vi-VN" sz="1400" dirty="0"/>
                  <a:t>: mỗi Gaussian có \(\Sigma_k\) đầy đủ.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diag</a:t>
                </a:r>
                <a:r>
                  <a:rPr lang="vi-VN" sz="1400" dirty="0"/>
                  <a:t>: chỉ giữ phương sai từng chiều.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spherical</a:t>
                </a:r>
                <a:r>
                  <a:rPr lang="vi-VN" sz="1400" dirty="0"/>
                  <a:t>: mỗi Gaussian dùng một phương sai chung cho mọi chiều.</a:t>
                </a:r>
              </a:p>
              <a:p>
                <a:pPr lvl="0"/>
                <a:r>
                  <a:rPr lang="vi-VN" sz="1400" dirty="0"/>
                  <a:t>	</a:t>
                </a:r>
                <a:r>
                  <a:rPr lang="vi-VN" sz="1400" dirty="0">
                    <a:solidFill>
                      <a:schemeClr val="accent6">
                        <a:lumMod val="75000"/>
                      </a:schemeClr>
                    </a:solidFill>
                  </a:rPr>
                  <a:t>tied</a:t>
                </a:r>
                <a:r>
                  <a:rPr lang="vi-VN" sz="1400" dirty="0"/>
                  <a:t>: tất cả Gaussian dùng chung một ma trận covariance.</a:t>
                </a:r>
              </a:p>
              <a:p>
                <a:pPr lvl="0"/>
                <a:r>
                  <a:rPr lang="vi-VN" sz="1400" dirty="0"/>
                  <a:t>3. </a:t>
                </a:r>
                <a14:m>
                  <m:oMath xmlns:m="http://schemas.openxmlformats.org/officeDocument/2006/math">
                    <m:r>
                      <a:rPr lang="vi-VN" sz="1400" b="1" i="1" smtClean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vi-VN" sz="1400" b="1" dirty="0">
                    <a:solidFill>
                      <a:schemeClr val="accent3">
                        <a:lumMod val="75000"/>
                      </a:schemeClr>
                    </a:solidFill>
                  </a:rPr>
                  <a:t> /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tol</a:t>
                </a:r>
                <a:r>
                  <a:rPr lang="vi-VN" sz="1400" dirty="0"/>
                  <a:t>: ngưỡng hội tụ của EM.</a:t>
                </a:r>
              </a:p>
              <a:p>
                <a:pPr lvl="0"/>
                <a:r>
                  <a:rPr lang="vi-VN" sz="1400" dirty="0"/>
                  <a:t>4.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max_iter</a:t>
                </a:r>
                <a:r>
                  <a:rPr lang="vi-VN" sz="1400" dirty="0"/>
                  <a:t>: số vòng EM tối đa.</a:t>
                </a:r>
              </a:p>
              <a:p>
                <a:pPr lvl="0"/>
                <a:r>
                  <a:rPr lang="vi-VN" sz="1400" dirty="0"/>
                  <a:t>5.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n_init</a:t>
                </a:r>
                <a:r>
                  <a:rPr lang="vi-VN" sz="1400" dirty="0"/>
                  <a:t>: số lần khởi tạo khác nhau rồi chọn nghiệm tốt nhất.</a:t>
                </a:r>
              </a:p>
              <a:p>
                <a:pPr lvl="0"/>
                <a:r>
                  <a:rPr lang="vi-VN" sz="1400" dirty="0"/>
                  <a:t>6.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init_params</a:t>
                </a:r>
                <a:r>
                  <a:rPr lang="vi-VN" sz="1400" dirty="0"/>
                  <a:t>: cách khởi tạo, ví dụ K-Means hoặc random.</a:t>
                </a:r>
              </a:p>
              <a:p>
                <a:pPr lvl="0"/>
                <a:r>
                  <a:rPr lang="vi-VN" sz="1400" dirty="0"/>
                  <a:t>7.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reg_covar</a:t>
                </a:r>
                <a:r>
                  <a:rPr lang="vi-VN" sz="1400" dirty="0"/>
                  <a:t>: một số nhỏ cộng vào đường chéo của covariance để tránh ma trận suy biến.</a:t>
                </a:r>
              </a:p>
            </p:txBody>
          </p:sp>
        </mc:Choice>
        <mc:Fallback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E8508172-EBD8-CFB1-E4BC-C8C36B7D60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1" y="1791761"/>
                <a:ext cx="7342075" cy="2462213"/>
              </a:xfrm>
              <a:prstGeom prst="rect">
                <a:avLst/>
              </a:prstGeom>
              <a:blipFill>
                <a:blip r:embed="rId3"/>
                <a:stretch>
                  <a:fillRect l="-346" t="-513" r="-173" b="-1538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501B276-6A1F-6C7D-890A-E877F977F0C8}"/>
                  </a:ext>
                </a:extLst>
              </p:cNvPr>
              <p:cNvSpPr txBox="1"/>
              <p:nvPr/>
            </p:nvSpPr>
            <p:spPr>
              <a:xfrm>
                <a:off x="609601" y="5067008"/>
                <a:ext cx="6138332" cy="52322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lvl="0"/>
                <a:r>
                  <a:rPr lang="vi-VN" sz="1400" dirty="0"/>
                  <a:t>Trong đó, để mắt đến </a:t>
                </a:r>
                <a14:m>
                  <m:oMath xmlns:m="http://schemas.openxmlformats.org/officeDocument/2006/math">
                    <m:r>
                      <a:rPr lang="vi-VN" sz="1400" b="1" i="1" dirty="0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𝑲</m:t>
                    </m:r>
                  </m:oMath>
                </a14:m>
                <a:r>
                  <a:rPr lang="vi-VN" sz="1400" dirty="0"/>
                  <a:t> và </a:t>
                </a:r>
                <a:r>
                  <a:rPr lang="vi-VN" sz="1400" b="1" i="1" dirty="0">
                    <a:solidFill>
                      <a:schemeClr val="accent3">
                        <a:lumMod val="75000"/>
                      </a:schemeClr>
                    </a:solidFill>
                  </a:rPr>
                  <a:t>covariance_type</a:t>
                </a:r>
                <a:r>
                  <a:rPr lang="vi-VN" sz="1400" dirty="0"/>
                  <a:t> và </a:t>
                </a:r>
                <a14:m>
                  <m:oMath xmlns:m="http://schemas.openxmlformats.org/officeDocument/2006/math">
                    <m:r>
                      <a:rPr lang="vi-VN" sz="1400" b="1" i="1">
                        <a:solidFill>
                          <a:schemeClr val="accent3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vi-VN" sz="1400" dirty="0"/>
                  <a:t> vì chúng ảnh hưởng trực tiếp đến kết quả cuối của mô hình và điều kiện hội tụ</a:t>
                </a:r>
              </a:p>
            </p:txBody>
          </p:sp>
        </mc:Choice>
        <mc:Fallback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5501B276-6A1F-6C7D-890A-E877F977F0C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601" y="5067008"/>
                <a:ext cx="6138332" cy="523220"/>
              </a:xfrm>
              <a:prstGeom prst="rect">
                <a:avLst/>
              </a:prstGeom>
              <a:blipFill>
                <a:blip r:embed="rId4"/>
                <a:stretch>
                  <a:fillRect l="-413" t="-2326" r="-620" b="-9302"/>
                </a:stretch>
              </a:blipFill>
            </p:spPr>
            <p:txBody>
              <a:bodyPr/>
              <a:lstStyle/>
              <a:p>
                <a:r>
                  <a:rPr lang="en-VN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67278448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C83B4D-EFD5-690B-DC48-699F287D4C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C77FD6C9-9264-5105-A856-F917CE00D2B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3. Demo code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E9D8D09-8199-76AD-251A-1ECEE29BD535}"/>
              </a:ext>
            </a:extLst>
          </p:cNvPr>
          <p:cNvSpPr txBox="1"/>
          <p:nvPr/>
        </p:nvSpPr>
        <p:spPr>
          <a:xfrm>
            <a:off x="1384147" y="3244334"/>
            <a:ext cx="942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VN" dirty="0">
                <a:hlinkClick r:id="rId3"/>
              </a:rPr>
              <a:t>https://colab.research.google.com/drive/1mdINSVY2X29GtQj1N6tcE2YFGUPZ7Wuc?usp=sharing</a:t>
            </a:r>
            <a:endParaRPr lang="en-VN" dirty="0"/>
          </a:p>
        </p:txBody>
      </p:sp>
    </p:spTree>
    <p:extLst>
      <p:ext uri="{BB962C8B-B14F-4D97-AF65-F5344CB8AC3E}">
        <p14:creationId xmlns:p14="http://schemas.microsoft.com/office/powerpoint/2010/main" val="105651727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081D-638C-0277-4805-7B7571F7D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62F65B-1F29-97CE-708B-DEDEFD47506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4. Chủ đề liên quan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3680C46-82C4-AF84-3003-F39F142BCD3E}"/>
              </a:ext>
            </a:extLst>
          </p:cNvPr>
          <p:cNvSpPr txBox="1"/>
          <p:nvPr/>
        </p:nvSpPr>
        <p:spPr>
          <a:xfrm>
            <a:off x="364068" y="1267772"/>
            <a:ext cx="8796865" cy="49859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2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cơ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chế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gán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nhãn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phân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cụm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cứng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(một datapoint thuộc đúng 1 cụm)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mềm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(một datapoint thuộc 40% cụm này, 30% cụm kia, 30% cụm nọ)</a:t>
            </a:r>
          </a:p>
          <a:p>
            <a:pPr>
              <a:spcAft>
                <a:spcPts val="600"/>
              </a:spcAft>
            </a:pP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5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nhóm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thuật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toán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phân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cụm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b="1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b="1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dựa trên phân phối</a:t>
            </a:r>
            <a:r>
              <a:rPr lang="vi-VN" sz="1400" b="1" dirty="0">
                <a:solidFill>
                  <a:srgbClr val="444B52"/>
                </a:solidFill>
                <a:latin typeface="Arial"/>
              </a:rPr>
              <a:t> (Distribution-based) =&gt; GMM thuộc loại này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dựa trên mật độ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(Density-based)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phân hoạch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(Partitioning / Centroid-based)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phân cấp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(Hierarchical / Connectivity-based)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cụm </a:t>
            </a:r>
            <a:r>
              <a:rPr lang="vi-VN" sz="1400" dirty="0">
                <a:solidFill>
                  <a:srgbClr val="444B52"/>
                </a:solidFill>
                <a:highlight>
                  <a:srgbClr val="FFFF00"/>
                </a:highlight>
                <a:latin typeface="Arial"/>
              </a:rPr>
              <a:t>phổ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(Spectral Clustering)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•  Các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bài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toán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GMM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sẽ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giải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quyết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Phát hiện bất thường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Hệ thống Recommendation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Phân đoạn hình ảnh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Tách nền video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</a:rPr>
              <a:t>Nhận diện giọng nói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87780586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215FC1-D232-DBE9-B81B-B607DB3592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329BB16F-9A61-7E20-FE02-34AC77C46E7C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4. Chủ đề liên quan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Trình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 </a:t>
            </a:r>
            <a:r>
              <a:rPr lang="en-US" sz="1300" i="1" dirty="0" err="1">
                <a:solidFill>
                  <a:srgbClr val="CFE3EC"/>
                </a:solidFill>
                <a:latin typeface="Arial"/>
              </a:rPr>
              <a:t>bày</a:t>
            </a:r>
            <a:r>
              <a:rPr lang="en-US" sz="1300" i="1" dirty="0">
                <a:solidFill>
                  <a:srgbClr val="CFE3EC"/>
                </a:solidFill>
                <a:latin typeface="Arial"/>
              </a:rPr>
              <a:t>: Thông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E2DF19-A51B-23CC-BAB1-0FE1F0C56C8D}"/>
              </a:ext>
            </a:extLst>
          </p:cNvPr>
          <p:cNvSpPr txBox="1"/>
          <p:nvPr/>
        </p:nvSpPr>
        <p:spPr>
          <a:xfrm>
            <a:off x="364068" y="1267772"/>
            <a:ext cx="8796865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400" b="1" dirty="0">
                <a:solidFill>
                  <a:srgbClr val="1B8A7A"/>
                </a:solidFill>
                <a:latin typeface="Arial"/>
              </a:rPr>
              <a:t>Tài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liệu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tham</a:t>
            </a:r>
            <a:r>
              <a:rPr lang="en-US" sz="14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400" b="1" dirty="0" err="1">
                <a:solidFill>
                  <a:srgbClr val="1B8A7A"/>
                </a:solidFill>
                <a:latin typeface="Arial"/>
              </a:rPr>
              <a:t>khảo</a:t>
            </a: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3"/>
              </a:rPr>
              <a:t>https://scikit-learn.org/stable/auto_examples/mixture/plot_gmm_init.html</a:t>
            </a:r>
            <a:r>
              <a:rPr lang="vi-VN" sz="1400" dirty="0">
                <a:solidFill>
                  <a:srgbClr val="444B52"/>
                </a:solidFill>
                <a:latin typeface="Arial"/>
              </a:rPr>
              <a:t> </a:t>
            </a: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4"/>
              </a:rPr>
              <a:t>https://elearning.citd.edu.vn/pluginfile.php/108366/mod_resource/content/1/Unsupervised-learning.pdf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r>
              <a:rPr lang="vi-VN" sz="1400" dirty="0">
                <a:solidFill>
                  <a:srgbClr val="444B52"/>
                </a:solidFill>
                <a:latin typeface="Arial"/>
                <a:hlinkClick r:id="rId5"/>
              </a:rPr>
              <a:t>https://phamdinhkhanh.github.io/deepai-book/ch_ml/GMM.html</a:t>
            </a: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endParaRPr lang="en-US" sz="1400" b="1" dirty="0">
              <a:solidFill>
                <a:srgbClr val="1B8A7A"/>
              </a:solidFill>
              <a:latin typeface="Arial"/>
            </a:endParaRPr>
          </a:p>
          <a:p>
            <a:pPr marL="285750" indent="-285750">
              <a:spcAft>
                <a:spcPts val="600"/>
              </a:spcAft>
              <a:buFontTx/>
              <a:buChar char="-"/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81059567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dirty="0" err="1">
                <a:solidFill>
                  <a:srgbClr val="FFFFFF"/>
                </a:solidFill>
                <a:latin typeface="Arial"/>
              </a:rPr>
              <a:t>Kết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thúc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&amp;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Hỏi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đáp</a:t>
            </a:r>
            <a:endParaRPr sz="3400" b="1" dirty="0">
              <a:solidFill>
                <a:srgbClr val="FFFFFF"/>
              </a:solidFill>
              <a:latin typeface="Arial"/>
            </a:endParaRPr>
          </a:p>
          <a:p>
            <a:endParaRPr sz="1600" b="0" dirty="0">
              <a:solidFill>
                <a:srgbClr val="CFE3EC"/>
              </a:solidFill>
              <a:latin typeface="Arial"/>
            </a:endParaRPr>
          </a:p>
          <a:p>
            <a:r>
              <a:rPr sz="1800" b="1" dirty="0" err="1">
                <a:solidFill>
                  <a:srgbClr val="FFFFFF"/>
                </a:solidFill>
                <a:latin typeface="Arial"/>
              </a:rPr>
              <a:t>Cảm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ơn</a:t>
            </a:r>
            <a:r>
              <a:rPr lang="vi-VN" sz="1800" b="1" dirty="0">
                <a:solidFill>
                  <a:srgbClr val="FFFFFF"/>
                </a:solidFill>
                <a:latin typeface="Arial"/>
              </a:rPr>
              <a:t> mọi người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đã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lắng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nghe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17067</TotalTime>
  <Words>4954</Words>
  <Application>Microsoft Macintosh PowerPoint</Application>
  <PresentationFormat>Widescreen</PresentationFormat>
  <Paragraphs>541</Paragraphs>
  <Slides>46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46</vt:i4>
      </vt:variant>
    </vt:vector>
  </HeadingPairs>
  <TitlesOfParts>
    <vt:vector size="50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Dinh, Thong</cp:lastModifiedBy>
  <cp:revision>472</cp:revision>
  <cp:lastPrinted>2026-09-20T15:26:35Z</cp:lastPrinted>
  <dcterms:created xsi:type="dcterms:W3CDTF">2013-01-27T09:14:16Z</dcterms:created>
  <dcterms:modified xsi:type="dcterms:W3CDTF">2026-10-05T15:31:30Z</dcterms:modified>
  <cp:category/>
</cp:coreProperties>
</file>