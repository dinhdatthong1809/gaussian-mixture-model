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64" r:id="rId4"/>
    <p:sldId id="266" r:id="rId5"/>
    <p:sldId id="267" r:id="rId6"/>
    <p:sldId id="258" r:id="rId7"/>
    <p:sldId id="259" r:id="rId8"/>
    <p:sldId id="265" r:id="rId9"/>
    <p:sldId id="260" r:id="rId10"/>
    <p:sldId id="261" r:id="rId11"/>
    <p:sldId id="262" r:id="rId12"/>
    <p:sldId id="263"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24"/>
    <p:restoredTop sz="94598"/>
  </p:normalViewPr>
  <p:slideViewPr>
    <p:cSldViewPr snapToGrid="0" snapToObjects="1">
      <p:cViewPr varScale="1">
        <p:scale>
          <a:sx n="151" d="100"/>
          <a:sy n="151" d="100"/>
        </p:scale>
        <p:origin x="352"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9901A-180A-ACB4-09F7-08C090620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AE727-57FD-D210-21C9-5F524B9F56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E90EDC-B0E2-B48C-8209-E02C688412E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B23BB7B-BD2D-EDA6-1DAA-7BA6BE526E14}"/>
              </a:ext>
            </a:extLst>
          </p:cNvPr>
          <p:cNvSpPr>
            <a:spLocks noGrp="1"/>
          </p:cNvSpPr>
          <p:nvPr>
            <p:ph type="sldNum" sz="quarter" idx="5"/>
          </p:nvPr>
        </p:nvSpPr>
        <p:spPr/>
      </p:sp>
    </p:spTree>
    <p:extLst>
      <p:ext uri="{BB962C8B-B14F-4D97-AF65-F5344CB8AC3E}">
        <p14:creationId xmlns:p14="http://schemas.microsoft.com/office/powerpoint/2010/main" val="1182278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2945-8416-606E-D094-18F4C06DE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FDC56A-04A8-7360-90D2-35F1AD4EE39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FBA8D57-DBB9-34C6-25A8-011091D87CF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E9D2E0E-6652-8CA7-00A1-7BB08DBB0B83}"/>
              </a:ext>
            </a:extLst>
          </p:cNvPr>
          <p:cNvSpPr>
            <a:spLocks noGrp="1"/>
          </p:cNvSpPr>
          <p:nvPr>
            <p:ph type="sldNum" sz="quarter" idx="5"/>
          </p:nvPr>
        </p:nvSpPr>
        <p:spPr/>
      </p:sp>
    </p:spTree>
    <p:extLst>
      <p:ext uri="{BB962C8B-B14F-4D97-AF65-F5344CB8AC3E}">
        <p14:creationId xmlns:p14="http://schemas.microsoft.com/office/powerpoint/2010/main" val="35634283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r>
              <a:rPr dirty="0" err="1"/>
              <a:t>Giải</a:t>
            </a:r>
            <a:r>
              <a:rPr dirty="0"/>
              <a:t> </a:t>
            </a:r>
            <a:r>
              <a:rPr dirty="0" err="1"/>
              <a:t>thích</a:t>
            </a:r>
            <a:r>
              <a:rPr dirty="0"/>
              <a:t> </a:t>
            </a:r>
            <a:r>
              <a:rPr dirty="0" err="1"/>
              <a:t>vì</a:t>
            </a:r>
            <a:r>
              <a:rPr dirty="0"/>
              <a:t> </a:t>
            </a:r>
            <a:r>
              <a:rPr dirty="0" err="1"/>
              <a:t>sao</a:t>
            </a:r>
            <a:r>
              <a:rPr dirty="0"/>
              <a:t> </a:t>
            </a:r>
            <a:r>
              <a:rPr dirty="0" err="1"/>
              <a:t>khuyến</a:t>
            </a:r>
            <a:r>
              <a:rPr dirty="0"/>
              <a:t> </a:t>
            </a:r>
            <a:r>
              <a:rPr dirty="0" err="1"/>
              <a:t>nghị</a:t>
            </a:r>
            <a:r>
              <a:rPr dirty="0"/>
              <a:t> </a:t>
            </a:r>
            <a:r>
              <a:rPr dirty="0" err="1"/>
              <a:t>cố</a:t>
            </a:r>
            <a:r>
              <a:rPr dirty="0"/>
              <a:t> </a:t>
            </a:r>
            <a:r>
              <a:rPr dirty="0" err="1"/>
              <a:t>tình</a:t>
            </a:r>
            <a:r>
              <a:rPr dirty="0"/>
              <a:t> </a:t>
            </a:r>
            <a:r>
              <a:rPr dirty="0" err="1"/>
              <a:t>dùng</a:t>
            </a:r>
            <a:r>
              <a:rPr dirty="0"/>
              <a:t> rule </a:t>
            </a:r>
            <a:r>
              <a:rPr dirty="0" err="1"/>
              <a:t>chứ</a:t>
            </a:r>
            <a:r>
              <a:rPr dirty="0"/>
              <a:t> </a:t>
            </a:r>
            <a:r>
              <a:rPr dirty="0" err="1"/>
              <a:t>không</a:t>
            </a:r>
            <a:r>
              <a:rPr dirty="0"/>
              <a:t> ML — </a:t>
            </a:r>
            <a:r>
              <a:rPr dirty="0" err="1"/>
              <a:t>tránh</a:t>
            </a:r>
            <a:r>
              <a:rPr dirty="0"/>
              <a:t> </a:t>
            </a:r>
            <a:r>
              <a:rPr dirty="0" err="1"/>
              <a:t>sinh</a:t>
            </a:r>
            <a:r>
              <a:rPr dirty="0"/>
              <a:t> </a:t>
            </a:r>
            <a:r>
              <a:rPr dirty="0" err="1"/>
              <a:t>lời</a:t>
            </a:r>
            <a:r>
              <a:rPr dirty="0"/>
              <a:t> </a:t>
            </a:r>
            <a:r>
              <a:rPr dirty="0" err="1"/>
              <a:t>khuyên</a:t>
            </a:r>
            <a:r>
              <a:rPr dirty="0"/>
              <a:t> y </a:t>
            </a:r>
            <a:r>
              <a:rPr dirty="0" err="1"/>
              <a:t>tế</a:t>
            </a:r>
            <a:r>
              <a:rPr dirty="0"/>
              <a:t> </a:t>
            </a:r>
            <a:r>
              <a:rPr dirty="0" err="1"/>
              <a:t>không</a:t>
            </a:r>
            <a:r>
              <a:rPr dirty="0"/>
              <a:t> </a:t>
            </a:r>
            <a:r>
              <a:rPr dirty="0" err="1"/>
              <a:t>kiểm</a:t>
            </a:r>
            <a:r>
              <a:rPr dirty="0"/>
              <a:t> </a:t>
            </a:r>
            <a:r>
              <a:rPr dirty="0" err="1"/>
              <a:t>soát</a:t>
            </a:r>
            <a:r>
              <a:rPr dirty="0"/>
              <a:t>.</a:t>
            </a:r>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Nêu</a:t>
            </a:r>
            <a:r>
              <a:rPr dirty="0"/>
              <a:t> </a:t>
            </a:r>
            <a:r>
              <a:rPr dirty="0" err="1"/>
              <a:t>rõ</a:t>
            </a:r>
            <a:r>
              <a:rPr dirty="0"/>
              <a:t> 4 </a:t>
            </a:r>
            <a:r>
              <a:rPr dirty="0" err="1"/>
              <a:t>tầng</a:t>
            </a:r>
            <a:r>
              <a:rPr dirty="0"/>
              <a:t>: Prediction → Decision → Recommendation → UI. </a:t>
            </a:r>
            <a:r>
              <a:rPr dirty="0" err="1"/>
              <a:t>src</a:t>
            </a:r>
            <a:r>
              <a:rPr dirty="0"/>
              <a:t>/application/</a:t>
            </a:r>
            <a:r>
              <a:rPr dirty="0" err="1"/>
              <a:t>healthcare_assistant.py</a:t>
            </a:r>
            <a:r>
              <a:rPr dirty="0"/>
              <a:t> </a:t>
            </a:r>
            <a:r>
              <a:rPr dirty="0" err="1"/>
              <a:t>là</a:t>
            </a:r>
            <a:r>
              <a:rPr dirty="0"/>
              <a:t> </a:t>
            </a:r>
            <a:r>
              <a:rPr dirty="0" err="1"/>
              <a:t>lớp</a:t>
            </a:r>
            <a:r>
              <a:rPr dirty="0"/>
              <a:t> </a:t>
            </a:r>
            <a:r>
              <a:rPr dirty="0" err="1"/>
              <a:t>điều</a:t>
            </a:r>
            <a:r>
              <a:rPr dirty="0"/>
              <a:t> </a:t>
            </a:r>
            <a:r>
              <a:rPr dirty="0" err="1"/>
              <a:t>phối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Khi demo '</a:t>
            </a:r>
            <a:r>
              <a:rPr dirty="0" err="1"/>
              <a:t>Hỏi</a:t>
            </a:r>
            <a:r>
              <a:rPr dirty="0"/>
              <a:t> AI', </a:t>
            </a:r>
            <a:r>
              <a:rPr dirty="0" err="1"/>
              <a:t>mô</a:t>
            </a:r>
            <a:r>
              <a:rPr dirty="0"/>
              <a:t> </a:t>
            </a:r>
            <a:r>
              <a:rPr dirty="0" err="1"/>
              <a:t>tả</a:t>
            </a:r>
            <a:r>
              <a:rPr dirty="0"/>
              <a:t> </a:t>
            </a:r>
            <a:r>
              <a:rPr dirty="0" err="1"/>
              <a:t>đúng</a:t>
            </a:r>
            <a:r>
              <a:rPr dirty="0"/>
              <a:t> </a:t>
            </a:r>
            <a:r>
              <a:rPr dirty="0" err="1"/>
              <a:t>là</a:t>
            </a:r>
            <a:r>
              <a:rPr dirty="0"/>
              <a:t> </a:t>
            </a:r>
            <a:r>
              <a:rPr dirty="0" err="1"/>
              <a:t>trợ</a:t>
            </a:r>
            <a:r>
              <a:rPr dirty="0"/>
              <a:t> </a:t>
            </a:r>
            <a:r>
              <a:rPr dirty="0" err="1"/>
              <a:t>lý</a:t>
            </a:r>
            <a:r>
              <a:rPr dirty="0"/>
              <a:t> </a:t>
            </a:r>
            <a:r>
              <a:rPr dirty="0" err="1"/>
              <a:t>dựa</a:t>
            </a:r>
            <a:r>
              <a:rPr dirty="0"/>
              <a:t> </a:t>
            </a:r>
            <a:r>
              <a:rPr dirty="0" err="1"/>
              <a:t>trên</a:t>
            </a:r>
            <a:r>
              <a:rPr dirty="0"/>
              <a:t> </a:t>
            </a:r>
            <a:r>
              <a:rPr dirty="0" err="1"/>
              <a:t>luật</a:t>
            </a:r>
            <a:r>
              <a:rPr dirty="0"/>
              <a:t> </a:t>
            </a:r>
            <a:r>
              <a:rPr dirty="0" err="1"/>
              <a:t>có</a:t>
            </a:r>
            <a:r>
              <a:rPr dirty="0"/>
              <a:t> </a:t>
            </a:r>
            <a:r>
              <a:rPr dirty="0" err="1"/>
              <a:t>ràng</a:t>
            </a:r>
            <a:r>
              <a:rPr dirty="0"/>
              <a:t> </a:t>
            </a:r>
            <a:r>
              <a:rPr dirty="0" err="1"/>
              <a:t>buộc</a:t>
            </a:r>
            <a:r>
              <a:rPr dirty="0"/>
              <a:t> an </a:t>
            </a:r>
            <a:r>
              <a:rPr dirty="0" err="1"/>
              <a:t>toàn</a:t>
            </a:r>
            <a:r>
              <a:rPr dirty="0"/>
              <a:t> — KHÔNG </a:t>
            </a:r>
            <a:r>
              <a:rPr dirty="0" err="1"/>
              <a:t>gọi</a:t>
            </a:r>
            <a:r>
              <a:rPr dirty="0"/>
              <a:t> </a:t>
            </a:r>
            <a:r>
              <a:rPr dirty="0" err="1"/>
              <a:t>là</a:t>
            </a:r>
            <a:r>
              <a:rPr dirty="0"/>
              <a:t> LLM. RAG+LLM </a:t>
            </a:r>
            <a:r>
              <a:rPr dirty="0" err="1"/>
              <a:t>là</a:t>
            </a:r>
            <a:r>
              <a:rPr dirty="0"/>
              <a:t> </a:t>
            </a:r>
            <a:r>
              <a:rPr dirty="0" err="1"/>
              <a:t>hướng</a:t>
            </a:r>
            <a:r>
              <a:rPr dirty="0"/>
              <a:t> </a:t>
            </a:r>
            <a:r>
              <a:rPr dirty="0" err="1"/>
              <a:t>phát</a:t>
            </a:r>
            <a:r>
              <a:rPr dirty="0"/>
              <a:t> </a:t>
            </a:r>
            <a:r>
              <a:rPr dirty="0" err="1"/>
              <a:t>triển</a:t>
            </a:r>
            <a:r>
              <a:rPr dirty="0"/>
              <a:t> (Slide 7). </a:t>
            </a:r>
            <a:r>
              <a:rPr dirty="0" err="1"/>
              <a:t>Đã</a:t>
            </a:r>
            <a:r>
              <a:rPr dirty="0"/>
              <a:t> </a:t>
            </a:r>
            <a:r>
              <a:rPr dirty="0" err="1"/>
              <a:t>chốt</a:t>
            </a:r>
            <a:r>
              <a:rPr dirty="0"/>
              <a:t>: </a:t>
            </a:r>
            <a:r>
              <a:rPr dirty="0" err="1"/>
              <a:t>ẩn</a:t>
            </a:r>
            <a:r>
              <a:rPr dirty="0"/>
              <a:t> </a:t>
            </a:r>
            <a:r>
              <a:rPr dirty="0" err="1"/>
              <a:t>phần</a:t>
            </a:r>
            <a:r>
              <a:rPr dirty="0"/>
              <a:t> '</a:t>
            </a:r>
            <a:r>
              <a:rPr dirty="0" err="1"/>
              <a:t>Hỏi</a:t>
            </a:r>
            <a:r>
              <a:rPr dirty="0"/>
              <a:t> </a:t>
            </a:r>
            <a:r>
              <a:rPr dirty="0" err="1"/>
              <a:t>đáp</a:t>
            </a:r>
            <a:r>
              <a:rPr dirty="0"/>
              <a:t> Quốc </a:t>
            </a:r>
            <a:r>
              <a:rPr dirty="0" err="1"/>
              <a:t>phòng</a:t>
            </a:r>
            <a:r>
              <a:rPr dirty="0"/>
              <a:t>' </a:t>
            </a:r>
            <a:r>
              <a:rPr dirty="0" err="1"/>
              <a:t>trước</a:t>
            </a:r>
            <a:r>
              <a:rPr dirty="0"/>
              <a:t> </a:t>
            </a:r>
            <a:r>
              <a:rPr dirty="0" err="1"/>
              <a:t>khi</a:t>
            </a:r>
            <a:r>
              <a:rPr dirty="0"/>
              <a:t> demo; GIỮ dashboard Trustworthy AI.</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Đóng</a:t>
            </a:r>
            <a:r>
              <a:rPr dirty="0"/>
              <a:t> </a:t>
            </a:r>
            <a:r>
              <a:rPr dirty="0" err="1"/>
              <a:t>khung</a:t>
            </a:r>
            <a:r>
              <a:rPr dirty="0"/>
              <a:t> '</a:t>
            </a:r>
            <a:r>
              <a:rPr dirty="0" err="1"/>
              <a:t>cái</a:t>
            </a:r>
            <a:r>
              <a:rPr dirty="0"/>
              <a:t> </a:t>
            </a:r>
            <a:r>
              <a:rPr dirty="0" err="1"/>
              <a:t>đã</a:t>
            </a:r>
            <a:r>
              <a:rPr dirty="0"/>
              <a:t> </a:t>
            </a:r>
            <a:r>
              <a:rPr dirty="0" err="1"/>
              <a:t>có</a:t>
            </a:r>
            <a:r>
              <a:rPr dirty="0"/>
              <a:t>' vs '</a:t>
            </a:r>
            <a:r>
              <a:rPr dirty="0" err="1"/>
              <a:t>cái</a:t>
            </a:r>
            <a:r>
              <a:rPr dirty="0"/>
              <a:t> </a:t>
            </a:r>
            <a:r>
              <a:rPr dirty="0" err="1"/>
              <a:t>sẽ</a:t>
            </a:r>
            <a:r>
              <a:rPr dirty="0"/>
              <a:t> </a:t>
            </a:r>
            <a:r>
              <a:rPr dirty="0" err="1"/>
              <a:t>làm</a:t>
            </a:r>
            <a:r>
              <a:rPr dirty="0"/>
              <a:t>' </a:t>
            </a:r>
            <a:r>
              <a:rPr dirty="0" err="1"/>
              <a:t>một</a:t>
            </a:r>
            <a:r>
              <a:rPr dirty="0"/>
              <a:t> </a:t>
            </a:r>
            <a:r>
              <a:rPr dirty="0" err="1"/>
              <a:t>cách</a:t>
            </a:r>
            <a:r>
              <a:rPr dirty="0"/>
              <a:t> </a:t>
            </a:r>
            <a:r>
              <a:rPr dirty="0" err="1"/>
              <a:t>trung</a:t>
            </a:r>
            <a:r>
              <a:rPr dirty="0"/>
              <a:t> </a:t>
            </a:r>
            <a:r>
              <a:rPr dirty="0" err="1"/>
              <a:t>thực</a:t>
            </a:r>
            <a:r>
              <a:rPr dirty="0"/>
              <a:t> — </a:t>
            </a:r>
            <a:r>
              <a:rPr dirty="0" err="1"/>
              <a:t>điểm</a:t>
            </a:r>
            <a:r>
              <a:rPr dirty="0"/>
              <a:t> </a:t>
            </a:r>
            <a:r>
              <a:rPr dirty="0" err="1"/>
              <a:t>cộng</a:t>
            </a:r>
            <a:r>
              <a:rPr dirty="0"/>
              <a:t> </a:t>
            </a:r>
            <a:r>
              <a:rPr dirty="0" err="1"/>
              <a:t>về</a:t>
            </a:r>
            <a:r>
              <a:rPr dirty="0"/>
              <a:t> </a:t>
            </a:r>
            <a:r>
              <a:rPr dirty="0" err="1"/>
              <a:t>tư</a:t>
            </a:r>
            <a:r>
              <a:rPr dirty="0"/>
              <a:t> </a:t>
            </a:r>
            <a:r>
              <a:rPr dirty="0" err="1"/>
              <a:t>duy</a:t>
            </a:r>
            <a:r>
              <a:rPr dirty="0"/>
              <a:t> </a:t>
            </a:r>
            <a:r>
              <a:rPr dirty="0" err="1"/>
              <a:t>phản</a:t>
            </a:r>
            <a:r>
              <a:rPr dirty="0"/>
              <a:t> </a:t>
            </a:r>
            <a:r>
              <a:rPr dirty="0" err="1"/>
              <a:t>biện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Câu</a:t>
            </a:r>
            <a:r>
              <a:rPr dirty="0"/>
              <a:t> </a:t>
            </a:r>
            <a:r>
              <a:rPr dirty="0" err="1"/>
              <a:t>hỏi</a:t>
            </a:r>
            <a:r>
              <a:rPr dirty="0"/>
              <a:t> </a:t>
            </a:r>
            <a:r>
              <a:rPr dirty="0" err="1"/>
              <a:t>có</a:t>
            </a:r>
            <a:r>
              <a:rPr dirty="0"/>
              <a:t> </a:t>
            </a:r>
            <a:r>
              <a:rPr dirty="0" err="1"/>
              <a:t>thể</a:t>
            </a:r>
            <a:r>
              <a:rPr dirty="0"/>
              <a:t> </a:t>
            </a:r>
            <a:r>
              <a:rPr dirty="0" err="1"/>
              <a:t>gặp</a:t>
            </a:r>
            <a:r>
              <a:rPr dirty="0"/>
              <a:t>:</a:t>
            </a:r>
          </a:p>
          <a:p>
            <a:r>
              <a:rPr dirty="0"/>
              <a:t>- '</a:t>
            </a:r>
            <a:r>
              <a:rPr dirty="0" err="1"/>
              <a:t>Có</a:t>
            </a:r>
            <a:r>
              <a:rPr dirty="0"/>
              <a:t> </a:t>
            </a:r>
            <a:r>
              <a:rPr dirty="0" err="1"/>
              <a:t>phải</a:t>
            </a:r>
            <a:r>
              <a:rPr dirty="0"/>
              <a:t> LLM </a:t>
            </a:r>
            <a:r>
              <a:rPr dirty="0" err="1"/>
              <a:t>không</a:t>
            </a:r>
            <a:r>
              <a:rPr dirty="0"/>
              <a:t>?' → </a:t>
            </a:r>
            <a:r>
              <a:rPr dirty="0" err="1"/>
              <a:t>Không</a:t>
            </a:r>
            <a:r>
              <a:rPr dirty="0"/>
              <a:t>; </a:t>
            </a:r>
            <a:r>
              <a:rPr dirty="0" err="1"/>
              <a:t>hỏi</a:t>
            </a:r>
            <a:r>
              <a:rPr dirty="0"/>
              <a:t> </a:t>
            </a:r>
            <a:r>
              <a:rPr dirty="0" err="1"/>
              <a:t>đáp</a:t>
            </a:r>
            <a:r>
              <a:rPr dirty="0"/>
              <a:t> </a:t>
            </a:r>
            <a:r>
              <a:rPr dirty="0" err="1"/>
              <a:t>hiện</a:t>
            </a:r>
            <a:r>
              <a:rPr dirty="0"/>
              <a:t> </a:t>
            </a:r>
            <a:r>
              <a:rPr dirty="0" err="1"/>
              <a:t>là</a:t>
            </a:r>
            <a:r>
              <a:rPr dirty="0"/>
              <a:t> rule-based </a:t>
            </a:r>
            <a:r>
              <a:rPr dirty="0" err="1"/>
              <a:t>có</a:t>
            </a:r>
            <a:r>
              <a:rPr dirty="0"/>
              <a:t> </a:t>
            </a:r>
            <a:r>
              <a:rPr dirty="0" err="1"/>
              <a:t>ràng</a:t>
            </a:r>
            <a:r>
              <a:rPr dirty="0"/>
              <a:t> </a:t>
            </a:r>
            <a:r>
              <a:rPr dirty="0" err="1"/>
              <a:t>buộc</a:t>
            </a:r>
            <a:r>
              <a:rPr dirty="0"/>
              <a:t> an </a:t>
            </a:r>
            <a:r>
              <a:rPr dirty="0" err="1"/>
              <a:t>toàn</a:t>
            </a:r>
            <a:r>
              <a:rPr dirty="0"/>
              <a:t>; LLM/RAG </a:t>
            </a:r>
            <a:r>
              <a:rPr dirty="0" err="1"/>
              <a:t>là</a:t>
            </a:r>
            <a:r>
              <a:rPr dirty="0"/>
              <a:t> </a:t>
            </a:r>
            <a:r>
              <a:rPr dirty="0" err="1"/>
              <a:t>hướng</a:t>
            </a:r>
            <a:r>
              <a:rPr dirty="0"/>
              <a:t> </a:t>
            </a:r>
            <a:r>
              <a:rPr dirty="0" err="1"/>
              <a:t>phát</a:t>
            </a:r>
            <a:r>
              <a:rPr dirty="0"/>
              <a:t> </a:t>
            </a:r>
            <a:r>
              <a:rPr dirty="0" err="1"/>
              <a:t>triển</a:t>
            </a:r>
            <a:r>
              <a:rPr dirty="0"/>
              <a:t>.</a:t>
            </a:r>
          </a:p>
          <a:p>
            <a:r>
              <a:rPr dirty="0"/>
              <a:t>- '</a:t>
            </a:r>
            <a:r>
              <a:rPr dirty="0" err="1"/>
              <a:t>Độ</a:t>
            </a:r>
            <a:r>
              <a:rPr dirty="0"/>
              <a:t> </a:t>
            </a:r>
            <a:r>
              <a:rPr dirty="0" err="1"/>
              <a:t>chính</a:t>
            </a:r>
            <a:r>
              <a:rPr dirty="0"/>
              <a:t> </a:t>
            </a:r>
            <a:r>
              <a:rPr dirty="0" err="1"/>
              <a:t>xác</a:t>
            </a:r>
            <a:r>
              <a:rPr dirty="0"/>
              <a:t> </a:t>
            </a:r>
            <a:r>
              <a:rPr dirty="0" err="1"/>
              <a:t>mô</a:t>
            </a:r>
            <a:r>
              <a:rPr dirty="0"/>
              <a:t> </a:t>
            </a:r>
            <a:r>
              <a:rPr dirty="0" err="1"/>
              <a:t>hình</a:t>
            </a:r>
            <a:r>
              <a:rPr dirty="0"/>
              <a:t>?' → </a:t>
            </a:r>
            <a:r>
              <a:rPr dirty="0" err="1"/>
              <a:t>nêu</a:t>
            </a:r>
            <a:r>
              <a:rPr dirty="0"/>
              <a:t> </a:t>
            </a:r>
            <a:r>
              <a:rPr dirty="0" err="1"/>
              <a:t>số</a:t>
            </a:r>
            <a:r>
              <a:rPr dirty="0"/>
              <a:t> </a:t>
            </a:r>
            <a:r>
              <a:rPr dirty="0" err="1"/>
              <a:t>từ</a:t>
            </a:r>
            <a:r>
              <a:rPr dirty="0"/>
              <a:t> </a:t>
            </a:r>
            <a:r>
              <a:rPr dirty="0" err="1"/>
              <a:t>src</a:t>
            </a:r>
            <a:r>
              <a:rPr dirty="0"/>
              <a:t>/models/*_</a:t>
            </a:r>
            <a:r>
              <a:rPr dirty="0" err="1"/>
              <a:t>evaluation.py</a:t>
            </a:r>
            <a:r>
              <a:rPr dirty="0"/>
              <a:t> (</a:t>
            </a:r>
            <a:r>
              <a:rPr dirty="0" err="1"/>
              <a:t>điền</a:t>
            </a:r>
            <a:r>
              <a:rPr dirty="0"/>
              <a:t> </a:t>
            </a:r>
            <a:r>
              <a:rPr dirty="0" err="1"/>
              <a:t>số</a:t>
            </a:r>
            <a:r>
              <a:rPr dirty="0"/>
              <a:t> </a:t>
            </a:r>
            <a:r>
              <a:rPr dirty="0" err="1"/>
              <a:t>thật</a:t>
            </a:r>
            <a:r>
              <a:rPr dirty="0"/>
              <a:t> </a:t>
            </a:r>
            <a:r>
              <a:rPr dirty="0" err="1"/>
              <a:t>trước</a:t>
            </a:r>
            <a:r>
              <a:rPr dirty="0"/>
              <a:t> </a:t>
            </a:r>
            <a:r>
              <a:rPr dirty="0" err="1"/>
              <a:t>khi</a:t>
            </a:r>
            <a:r>
              <a:rPr dirty="0"/>
              <a:t> </a:t>
            </a:r>
            <a:r>
              <a:rPr dirty="0" err="1"/>
              <a:t>trình</a:t>
            </a:r>
            <a:r>
              <a:rPr dirty="0"/>
              <a:t> </a:t>
            </a:r>
            <a:r>
              <a:rPr dirty="0" err="1"/>
              <a:t>bày</a:t>
            </a:r>
            <a:r>
              <a:rPr dirty="0"/>
              <a:t>).</a:t>
            </a:r>
          </a:p>
          <a:p>
            <a:r>
              <a:rPr dirty="0"/>
              <a:t>- '</a:t>
            </a:r>
            <a:r>
              <a:rPr dirty="0" err="1"/>
              <a:t>Vì</a:t>
            </a:r>
            <a:r>
              <a:rPr dirty="0"/>
              <a:t> </a:t>
            </a:r>
            <a:r>
              <a:rPr dirty="0" err="1"/>
              <a:t>sao</a:t>
            </a:r>
            <a:r>
              <a:rPr dirty="0"/>
              <a:t> </a:t>
            </a:r>
            <a:r>
              <a:rPr dirty="0" err="1"/>
              <a:t>chọn</a:t>
            </a:r>
            <a:r>
              <a:rPr dirty="0"/>
              <a:t> </a:t>
            </a:r>
            <a:r>
              <a:rPr dirty="0" err="1"/>
              <a:t>RandomForest</a:t>
            </a:r>
            <a:r>
              <a:rPr dirty="0"/>
              <a:t>?' → </a:t>
            </a:r>
            <a:r>
              <a:rPr dirty="0" err="1"/>
              <a:t>mạnh</a:t>
            </a:r>
            <a:r>
              <a:rPr dirty="0"/>
              <a:t> </a:t>
            </a:r>
            <a:r>
              <a:rPr dirty="0" err="1"/>
              <a:t>với</a:t>
            </a:r>
            <a:r>
              <a:rPr dirty="0"/>
              <a:t> </a:t>
            </a:r>
            <a:r>
              <a:rPr dirty="0" err="1"/>
              <a:t>dữ</a:t>
            </a:r>
            <a:r>
              <a:rPr dirty="0"/>
              <a:t> </a:t>
            </a:r>
            <a:r>
              <a:rPr dirty="0" err="1"/>
              <a:t>liệu</a:t>
            </a:r>
            <a:r>
              <a:rPr dirty="0"/>
              <a:t> </a:t>
            </a:r>
            <a:r>
              <a:rPr dirty="0" err="1"/>
              <a:t>bảng</a:t>
            </a:r>
            <a:r>
              <a:rPr dirty="0"/>
              <a:t>, </a:t>
            </a:r>
            <a:r>
              <a:rPr dirty="0" err="1"/>
              <a:t>ít</a:t>
            </a:r>
            <a:r>
              <a:rPr dirty="0"/>
              <a:t> overfit </a:t>
            </a:r>
            <a:r>
              <a:rPr dirty="0" err="1"/>
              <a:t>hơn</a:t>
            </a:r>
            <a:r>
              <a:rPr dirty="0"/>
              <a:t> 1 </a:t>
            </a:r>
            <a:r>
              <a:rPr dirty="0" err="1"/>
              <a:t>cây</a:t>
            </a:r>
            <a:r>
              <a:rPr dirty="0"/>
              <a:t>, </a:t>
            </a:r>
            <a:r>
              <a:rPr dirty="0" err="1"/>
              <a:t>hỗ</a:t>
            </a:r>
            <a:r>
              <a:rPr dirty="0"/>
              <a:t> </a:t>
            </a:r>
            <a:r>
              <a:rPr dirty="0" err="1"/>
              <a:t>trợ</a:t>
            </a:r>
            <a:r>
              <a:rPr dirty="0"/>
              <a:t> feature importance/SHAP.</a:t>
            </a:r>
          </a:p>
          <a:p>
            <a:r>
              <a:rPr dirty="0"/>
              <a:t>- '</a:t>
            </a:r>
            <a:r>
              <a:rPr dirty="0" err="1"/>
              <a:t>Xử</a:t>
            </a:r>
            <a:r>
              <a:rPr dirty="0"/>
              <a:t> </a:t>
            </a:r>
            <a:r>
              <a:rPr dirty="0" err="1"/>
              <a:t>lý</a:t>
            </a:r>
            <a:r>
              <a:rPr dirty="0"/>
              <a:t> </a:t>
            </a:r>
            <a:r>
              <a:rPr dirty="0" err="1"/>
              <a:t>mất</a:t>
            </a:r>
            <a:r>
              <a:rPr dirty="0"/>
              <a:t> </a:t>
            </a:r>
            <a:r>
              <a:rPr dirty="0" err="1"/>
              <a:t>cân</a:t>
            </a:r>
            <a:r>
              <a:rPr dirty="0"/>
              <a:t> </a:t>
            </a:r>
            <a:r>
              <a:rPr dirty="0" err="1"/>
              <a:t>bằng</a:t>
            </a:r>
            <a:r>
              <a:rPr dirty="0"/>
              <a:t> </a:t>
            </a:r>
            <a:r>
              <a:rPr dirty="0" err="1"/>
              <a:t>dữ</a:t>
            </a:r>
            <a:r>
              <a:rPr dirty="0"/>
              <a:t> </a:t>
            </a:r>
            <a:r>
              <a:rPr dirty="0" err="1"/>
              <a:t>liệu</a:t>
            </a:r>
            <a:r>
              <a:rPr dirty="0"/>
              <a:t>?' → </a:t>
            </a:r>
            <a:r>
              <a:rPr dirty="0" err="1"/>
              <a:t>tinh</a:t>
            </a:r>
            <a:r>
              <a:rPr dirty="0"/>
              <a:t> </a:t>
            </a:r>
            <a:r>
              <a:rPr dirty="0" err="1"/>
              <a:t>chỉnh</a:t>
            </a:r>
            <a:r>
              <a:rPr dirty="0"/>
              <a:t> threshold </a:t>
            </a:r>
            <a:r>
              <a:rPr dirty="0" err="1"/>
              <a:t>theo</a:t>
            </a:r>
            <a:r>
              <a:rPr dirty="0"/>
              <a:t> </a:t>
            </a:r>
            <a:r>
              <a:rPr dirty="0" err="1"/>
              <a:t>bệnh</a:t>
            </a:r>
            <a:r>
              <a:rPr dirty="0"/>
              <a:t> (0.40/0.35/0.35) </a:t>
            </a:r>
            <a:r>
              <a:rPr dirty="0" err="1"/>
              <a:t>thay</a:t>
            </a:r>
            <a:r>
              <a:rPr dirty="0"/>
              <a:t> </a:t>
            </a:r>
            <a:r>
              <a:rPr dirty="0" err="1"/>
              <a:t>vì</a:t>
            </a:r>
            <a:r>
              <a:rPr dirty="0"/>
              <a:t>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kaggle.com/datasets/jamaltariqcheema/pima-indians-diabetes-dataset"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hyperlink" Target="https://www.kaggle.com/datasets/khan1803115/hypertension-risk-model-main" TargetMode="External"/><Relationship Id="rId4" Type="http://schemas.openxmlformats.org/officeDocument/2006/relationships/hyperlink" Target="https://www.kaggle.com/datasets/sulianova/cardiovascular-disease-dataset"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1938992"/>
          </a:xfrm>
          <a:prstGeom prst="rect">
            <a:avLst/>
          </a:prstGeom>
          <a:noFill/>
        </p:spPr>
        <p:txBody>
          <a:bodyPr wrap="square">
            <a:spAutoFit/>
          </a:bodyPr>
          <a:lstStyle/>
          <a:p>
            <a:r>
              <a:rPr lang="vi-VN" sz="4000" b="1" dirty="0">
                <a:solidFill>
                  <a:srgbClr val="CFE3EC"/>
                </a:solidFill>
                <a:latin typeface="Arial"/>
              </a:rPr>
              <a:t>Gaussian Mixture Model (GMM)</a:t>
            </a:r>
          </a:p>
          <a:p>
            <a:r>
              <a:rPr lang="vi-VN" sz="4000" b="1" dirty="0">
                <a:solidFill>
                  <a:srgbClr val="CFE3EC"/>
                </a:solidFill>
                <a:latin typeface="Arial"/>
              </a:rPr>
              <a:t>và</a:t>
            </a:r>
          </a:p>
          <a:p>
            <a:r>
              <a:rPr lang="vi-VN" sz="4000" b="1" dirty="0">
                <a:solidFill>
                  <a:srgbClr val="CFE3EC"/>
                </a:solidFill>
                <a:latin typeface="Arial"/>
              </a:rPr>
              <a:t>Expectation-Maximization (EM) method</a:t>
            </a:r>
            <a:endParaRPr lang="en-VN" dirty="0">
              <a:solidFill>
                <a:srgbClr val="CFE3EC"/>
              </a:solidFill>
              <a:latin typeface="Arial"/>
            </a:endParaRPr>
          </a:p>
        </p:txBody>
      </p:sp>
      <p:sp>
        <p:nvSpPr>
          <p:cNvPr id="5" name="TextBox 4"/>
          <p:cNvSpPr txBox="1"/>
          <p:nvPr/>
        </p:nvSpPr>
        <p:spPr>
          <a:xfrm>
            <a:off x="822959" y="4702126"/>
            <a:ext cx="10545775" cy="1754326"/>
          </a:xfrm>
          <a:prstGeom prst="rect">
            <a:avLst/>
          </a:prstGeom>
          <a:noFill/>
        </p:spPr>
        <p:txBody>
          <a:bodyPr wrap="square">
            <a:spAutoFit/>
          </a:bodyPr>
          <a:lstStyle/>
          <a:p>
            <a:r>
              <a:rPr lang="vi-VN" sz="1400" b="1" dirty="0">
                <a:solidFill>
                  <a:schemeClr val="accent1">
                    <a:lumMod val="20000"/>
                    <a:lumOff val="80000"/>
                  </a:schemeClr>
                </a:solidFill>
                <a:latin typeface="Arial"/>
              </a:rPr>
              <a:t>Môn học: Toán cho Khoa học máy tính</a:t>
            </a:r>
            <a:r>
              <a:rPr sz="1400" b="1" dirty="0">
                <a:solidFill>
                  <a:schemeClr val="accent1">
                    <a:lumMod val="20000"/>
                    <a:lumOff val="80000"/>
                  </a:schemeClr>
                </a:solidFill>
                <a:latin typeface="Arial"/>
              </a:rPr>
              <a:t> (</a:t>
            </a:r>
            <a:r>
              <a:rPr lang="en-US" sz="1400" b="1" dirty="0">
                <a:solidFill>
                  <a:schemeClr val="accent1">
                    <a:lumMod val="20000"/>
                    <a:lumOff val="80000"/>
                  </a:schemeClr>
                </a:solidFill>
                <a:latin typeface="Arial"/>
              </a:rPr>
              <a:t>CS115</a:t>
            </a:r>
            <a:r>
              <a:rPr sz="1400" b="1" dirty="0">
                <a:solidFill>
                  <a:schemeClr val="accent1">
                    <a:lumMod val="20000"/>
                    <a:lumOff val="80000"/>
                  </a:schemeClr>
                </a:solidFill>
                <a:latin typeface="Arial"/>
              </a:rPr>
              <a:t>)</a:t>
            </a: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Cô Dương Việt Hằng</a:t>
            </a:r>
            <a:endParaRPr sz="1400" b="1" dirty="0">
              <a:solidFill>
                <a:schemeClr val="accent1">
                  <a:lumMod val="20000"/>
                  <a:lumOff val="80000"/>
                </a:schemeClr>
              </a:solidFill>
              <a:latin typeface="Arial"/>
            </a:endParaRP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14:</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lang="en-VN" sz="1300" b="0" dirty="0">
                <a:solidFill>
                  <a:schemeClr val="accent1">
                    <a:lumMod val="20000"/>
                    <a:lumOff val="80000"/>
                  </a:schemeClr>
                </a:solidFill>
                <a:latin typeface="Arial"/>
              </a:rPr>
              <a:t> </a:t>
            </a:r>
            <a:r>
              <a:rPr sz="1300" b="0" dirty="0">
                <a:solidFill>
                  <a:schemeClr val="accent1">
                    <a:lumMod val="20000"/>
                    <a:lumOff val="80000"/>
                  </a:schemeClr>
                </a:solidFill>
                <a:latin typeface="Arial"/>
              </a:rPr>
              <a:t>— 26410297</a:t>
            </a:r>
            <a:endParaRPr lang="vi-VN" sz="1300" b="0" dirty="0">
              <a:solidFill>
                <a:schemeClr val="accent1">
                  <a:lumMod val="20000"/>
                  <a:lumOff val="80000"/>
                </a:schemeClr>
              </a:solidFill>
              <a:latin typeface="Arial"/>
            </a:endParaRPr>
          </a:p>
          <a:p>
            <a:r>
              <a:rPr lang="vi-VN" sz="1300" b="0" dirty="0">
                <a:solidFill>
                  <a:schemeClr val="accent1">
                    <a:lumMod val="20000"/>
                    <a:lumOff val="80000"/>
                  </a:schemeClr>
                </a:solidFill>
                <a:latin typeface="Arial"/>
              </a:rPr>
              <a:t>Trần Ngọc Khánh </a:t>
            </a:r>
            <a:r>
              <a:rPr lang="en-VN" sz="1300" dirty="0">
                <a:solidFill>
                  <a:schemeClr val="accent1">
                    <a:lumMod val="20000"/>
                    <a:lumOff val="80000"/>
                  </a:schemeClr>
                </a:solidFill>
                <a:latin typeface="Arial"/>
              </a:rPr>
              <a:t>— 26410222</a:t>
            </a:r>
            <a:endParaRPr sz="1300" b="0" dirty="0">
              <a:solidFill>
                <a:schemeClr val="accent1">
                  <a:lumMod val="20000"/>
                  <a:lumOff val="80000"/>
                </a:schemeClr>
              </a:solidFill>
              <a:latin typeface="Arial"/>
            </a:endParaRPr>
          </a:p>
        </p:txBody>
      </p:sp>
      <p:pic>
        <p:nvPicPr>
          <p:cNvPr id="9" name="Picture 8" descr="Công bố ba công khai">
            <a:extLst>
              <a:ext uri="{FF2B5EF4-FFF2-40B4-BE49-F238E27FC236}">
                <a16:creationId xmlns:a16="http://schemas.microsoft.com/office/drawing/2014/main" id="{7A87B24D-ABB3-22F8-21DA-8274A507D971}"/>
              </a:ext>
            </a:extLst>
          </p:cNvPr>
          <p:cNvPicPr>
            <a:picLocks noChangeAspect="1"/>
          </p:cNvPicPr>
          <p:nvPr/>
        </p:nvPicPr>
        <p:blipFill>
          <a:blip r:embed="rId3"/>
          <a:stretch>
            <a:fillRect/>
          </a:stretch>
        </p:blipFill>
        <p:spPr>
          <a:xfrm>
            <a:off x="0" y="249180"/>
            <a:ext cx="1885046" cy="7048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2919" y="1476079"/>
            <a:ext cx="11185855" cy="5155257"/>
          </a:xfrm>
          <a:prstGeom prst="rect">
            <a:avLst/>
          </a:prstGeom>
          <a:noFill/>
        </p:spPr>
        <p:txBody>
          <a:bodyPr wrap="square">
            <a:spAutoFit/>
          </a:bodyPr>
          <a:lstStyle/>
          <a:p>
            <a:pPr marL="514350" indent="-514350">
              <a:spcAft>
                <a:spcPts val="600"/>
              </a:spcAft>
              <a:buAutoNum type="arabicPeriod"/>
            </a:pPr>
            <a:r>
              <a:rPr lang="vi-VN" sz="3200" b="1" dirty="0">
                <a:solidFill>
                  <a:srgbClr val="1B8A7A"/>
                </a:solidFill>
                <a:latin typeface="Arial"/>
              </a:rPr>
              <a:t>Ngữ cảnh, vấn đề, giải pháp</a:t>
            </a: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2. Giải thích giải pháp</a:t>
            </a:r>
            <a:endParaRPr lang="vi-VN" sz="2000" b="1" dirty="0">
              <a:solidFill>
                <a:srgbClr val="1B8A7A"/>
              </a:solidFill>
              <a:latin typeface="Arial"/>
            </a:endParaRPr>
          </a:p>
          <a:p>
            <a:pPr>
              <a:spcAft>
                <a:spcPts val="600"/>
              </a:spcAft>
            </a:pPr>
            <a:r>
              <a:rPr lang="vi-VN" sz="2000" b="1" dirty="0">
                <a:solidFill>
                  <a:srgbClr val="1B8A7A"/>
                </a:solidFill>
                <a:latin typeface="Arial"/>
              </a:rPr>
              <a:t>	2.1. Gaussian Mixture Model (GMM) - </a:t>
            </a:r>
            <a:r>
              <a:rPr lang="vi-VN" sz="1200" b="1" dirty="0">
                <a:solidFill>
                  <a:schemeClr val="accent5">
                    <a:lumMod val="60000"/>
                    <a:lumOff val="40000"/>
                  </a:schemeClr>
                </a:solidFill>
                <a:latin typeface="Arial"/>
              </a:rPr>
              <a:t>Mô hình hỗn hợp phân phối chuẩn</a:t>
            </a:r>
          </a:p>
          <a:p>
            <a:pPr>
              <a:spcAft>
                <a:spcPts val="600"/>
              </a:spcAft>
            </a:pPr>
            <a:r>
              <a:rPr lang="vi-VN" sz="2000" b="1" dirty="0">
                <a:solidFill>
                  <a:srgbClr val="1B8A7A"/>
                </a:solidFill>
                <a:latin typeface="Arial"/>
              </a:rPr>
              <a:t>	2.2. Kiến thức nền</a:t>
            </a:r>
            <a:endParaRPr lang="vi-VN" sz="2000" b="1" dirty="0">
              <a:solidFill>
                <a:schemeClr val="accent5">
                  <a:lumMod val="60000"/>
                  <a:lumOff val="40000"/>
                </a:schemeClr>
              </a:solidFill>
              <a:latin typeface="Arial"/>
            </a:endParaRPr>
          </a:p>
          <a:p>
            <a:pPr>
              <a:spcAft>
                <a:spcPts val="600"/>
              </a:spcAft>
            </a:pPr>
            <a:r>
              <a:rPr lang="vi-VN" sz="2000" b="1" dirty="0">
                <a:solidFill>
                  <a:srgbClr val="1B8A7A"/>
                </a:solidFill>
                <a:latin typeface="Arial"/>
              </a:rPr>
              <a:t>	2.3. Expectation-Maximization (EM) - </a:t>
            </a:r>
            <a:r>
              <a:rPr lang="vi-VN" sz="1200" b="1" dirty="0">
                <a:solidFill>
                  <a:schemeClr val="accent5">
                    <a:lumMod val="60000"/>
                    <a:lumOff val="40000"/>
                  </a:schemeClr>
                </a:solidFill>
                <a:latin typeface="Arial"/>
              </a:rPr>
              <a:t>Phương pháp cực đại hoá kỳ vọng</a:t>
            </a:r>
            <a:endParaRPr lang="vi-VN" sz="2000" b="1" dirty="0">
              <a:solidFill>
                <a:schemeClr val="accent5">
                  <a:lumMod val="60000"/>
                  <a:lumOff val="40000"/>
                </a:schemeClr>
              </a:solidFill>
              <a:latin typeface="Arial"/>
            </a:endParaRP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3. Demo code</a:t>
            </a:r>
          </a:p>
          <a:p>
            <a:pPr>
              <a:spcAft>
                <a:spcPts val="600"/>
              </a:spcAft>
            </a:pPr>
            <a:endParaRPr lang="vi-VN" sz="3200" b="1" dirty="0">
              <a:solidFill>
                <a:srgbClr val="1B8A7A"/>
              </a:solidFill>
              <a:latin typeface="Arial"/>
            </a:endParaRPr>
          </a:p>
          <a:p>
            <a:pPr>
              <a:spcAft>
                <a:spcPts val="600"/>
              </a:spcAft>
            </a:pPr>
            <a:r>
              <a:rPr lang="vi-VN" sz="3200" b="1" dirty="0">
                <a:solidFill>
                  <a:srgbClr val="1B8A7A"/>
                </a:solidFill>
                <a:latin typeface="Arial"/>
              </a:rPr>
              <a:t>4. Chủ đề liên quan</a:t>
            </a:r>
            <a:endParaRPr sz="28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err="1">
                <a:solidFill>
                  <a:srgbClr val="FFFFFF"/>
                </a:solidFill>
                <a:latin typeface="Arial"/>
              </a:rPr>
              <a:t>Ngữ</a:t>
            </a:r>
            <a:r>
              <a:rPr lang="en-US" sz="2600" b="1" dirty="0">
                <a:solidFill>
                  <a:srgbClr val="FFFFFF"/>
                </a:solidFill>
                <a:latin typeface="Arial"/>
              </a:rPr>
              <a:t> </a:t>
            </a:r>
            <a:r>
              <a:rPr lang="en-US" sz="2600" b="1" dirty="0" err="1">
                <a:solidFill>
                  <a:srgbClr val="FFFFFF"/>
                </a:solidFill>
                <a:latin typeface="Arial"/>
              </a:rPr>
              <a:t>cảnh</a:t>
            </a:r>
            <a:r>
              <a:rPr lang="en-US" sz="2600" b="1" dirty="0">
                <a:solidFill>
                  <a:srgbClr val="FFFFFF"/>
                </a:solidFill>
                <a:latin typeface="Arial"/>
              </a:rPr>
              <a:t>, </a:t>
            </a:r>
            <a:r>
              <a:rPr lang="en-US" sz="2600" b="1" dirty="0" err="1">
                <a:solidFill>
                  <a:srgbClr val="FFFFFF"/>
                </a:solidFill>
                <a:latin typeface="Arial"/>
              </a:rPr>
              <a:t>vấn</a:t>
            </a:r>
            <a:r>
              <a:rPr lang="en-US" sz="2600" b="1" dirty="0">
                <a:solidFill>
                  <a:srgbClr val="FFFFFF"/>
                </a:solidFill>
                <a:latin typeface="Arial"/>
              </a:rPr>
              <a:t> </a:t>
            </a:r>
            <a:r>
              <a:rPr lang="en-US" sz="2600" b="1" dirty="0" err="1">
                <a:solidFill>
                  <a:srgbClr val="FFFFFF"/>
                </a:solidFill>
                <a:latin typeface="Arial"/>
              </a:rPr>
              <a:t>đề</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a:extLst>
              <a:ext uri="{FF2B5EF4-FFF2-40B4-BE49-F238E27FC236}">
                <a16:creationId xmlns:a16="http://schemas.microsoft.com/office/drawing/2014/main" id="{3870ED03-DFCB-5AF3-DCB1-9F857B814DF3}"/>
              </a:ext>
            </a:extLst>
          </p:cNvPr>
          <p:cNvSpPr txBox="1"/>
          <p:nvPr/>
        </p:nvSpPr>
        <p:spPr>
          <a:xfrm>
            <a:off x="364068" y="1267772"/>
            <a:ext cx="7125546" cy="3231654"/>
          </a:xfrm>
          <a:prstGeom prst="rect">
            <a:avLst/>
          </a:prstGeom>
          <a:noFill/>
        </p:spPr>
        <p:txBody>
          <a:bodyPr wrap="square">
            <a:spAutoFit/>
          </a:bodyPr>
          <a:lstStyle/>
          <a:p>
            <a:pPr>
              <a:spcAft>
                <a:spcPts val="600"/>
              </a:spcAft>
            </a:pPr>
            <a:r>
              <a:rPr lang="en-US" sz="1400" b="1" dirty="0">
                <a:solidFill>
                  <a:srgbClr val="1B8A7A"/>
                </a:solidFill>
                <a:latin typeface="Arial"/>
              </a:rPr>
              <a:t>•  </a:t>
            </a:r>
            <a:r>
              <a:rPr lang="en-US" sz="1400" b="1" dirty="0" err="1">
                <a:solidFill>
                  <a:srgbClr val="1B8A7A"/>
                </a:solidFill>
                <a:latin typeface="Arial"/>
              </a:rPr>
              <a:t>Ngữ</a:t>
            </a:r>
            <a:r>
              <a:rPr lang="en-US" sz="1400" b="1" dirty="0">
                <a:solidFill>
                  <a:srgbClr val="1B8A7A"/>
                </a:solidFill>
                <a:latin typeface="Arial"/>
              </a:rPr>
              <a:t> </a:t>
            </a:r>
            <a:r>
              <a:rPr lang="en-US" sz="1400" b="1" dirty="0" err="1">
                <a:solidFill>
                  <a:srgbClr val="1B8A7A"/>
                </a:solidFill>
                <a:latin typeface="Arial"/>
              </a:rPr>
              <a:t>cảnh</a:t>
            </a:r>
            <a:r>
              <a:rPr lang="en-US" sz="1400" b="1" dirty="0">
                <a:solidFill>
                  <a:srgbClr val="1B8A7A"/>
                </a:solidFill>
                <a:latin typeface="Arial"/>
              </a:rPr>
              <a:t>:</a:t>
            </a:r>
          </a:p>
          <a:p>
            <a:pPr>
              <a:spcAft>
                <a:spcPts val="600"/>
              </a:spcAft>
            </a:pPr>
            <a:r>
              <a:rPr lang="vi-VN" sz="1400" dirty="0">
                <a:solidFill>
                  <a:srgbClr val="444B52"/>
                </a:solidFill>
                <a:latin typeface="Arial"/>
              </a:rPr>
              <a:t>	- Tôi có Web nghe nhạc, user càng nghe, tôi càng có tiền quảng cáo</a:t>
            </a:r>
          </a:p>
          <a:p>
            <a:pPr>
              <a:spcAft>
                <a:spcPts val="600"/>
              </a:spcAft>
            </a:pPr>
            <a:r>
              <a:rPr lang="vi-VN" sz="1400" dirty="0">
                <a:solidFill>
                  <a:srgbClr val="444B52"/>
                </a:solidFill>
                <a:latin typeface="Arial"/>
              </a:rPr>
              <a:t>	- Cần phần gợi ý list nhạc tương đồng dụ user nghe hoài</a:t>
            </a:r>
          </a:p>
          <a:p>
            <a:pPr>
              <a:spcAft>
                <a:spcPts val="600"/>
              </a:spcAft>
            </a:pPr>
            <a:endParaRPr lang="vi-VN" sz="1400" dirty="0">
              <a:solidFill>
                <a:srgbClr val="444B52"/>
              </a:solidFill>
              <a:latin typeface="Arial"/>
            </a:endParaRPr>
          </a:p>
          <a:p>
            <a:pPr>
              <a:spcAft>
                <a:spcPts val="600"/>
              </a:spcAft>
            </a:pPr>
            <a:r>
              <a:rPr sz="1400" b="1" dirty="0">
                <a:solidFill>
                  <a:srgbClr val="1B8A7A"/>
                </a:solidFill>
                <a:latin typeface="Arial"/>
              </a:rPr>
              <a:t>•  </a:t>
            </a:r>
            <a:r>
              <a:rPr lang="vi-VN" sz="1400" b="1" dirty="0">
                <a:solidFill>
                  <a:srgbClr val="1B8A7A"/>
                </a:solidFill>
                <a:latin typeface="Arial"/>
              </a:rPr>
              <a:t>Vấn đề</a:t>
            </a:r>
            <a:r>
              <a:rPr sz="1400" b="1" dirty="0">
                <a:solidFill>
                  <a:srgbClr val="1B8A7A"/>
                </a:solidFill>
                <a:latin typeface="Arial"/>
              </a:rPr>
              <a:t>:</a:t>
            </a:r>
          </a:p>
          <a:p>
            <a:pPr>
              <a:spcAft>
                <a:spcPts val="600"/>
              </a:spcAft>
            </a:pPr>
            <a:r>
              <a:rPr lang="vi-VN" sz="1400" dirty="0">
                <a:solidFill>
                  <a:srgbClr val="444B52"/>
                </a:solidFill>
                <a:latin typeface="Arial"/>
              </a:rPr>
              <a:t>	- Tìm mấy bài nhạc tương đồng như nào ?</a:t>
            </a:r>
          </a:p>
          <a:p>
            <a:pPr>
              <a:spcAft>
                <a:spcPts val="600"/>
              </a:spcAft>
            </a:pPr>
            <a:r>
              <a:rPr lang="vi-VN" sz="1400" dirty="0">
                <a:solidFill>
                  <a:srgbClr val="444B52"/>
                </a:solidFill>
                <a:latin typeface="Arial"/>
              </a:rPr>
              <a:t>		</a:t>
            </a:r>
          </a:p>
          <a:p>
            <a:pPr>
              <a:spcAft>
                <a:spcPts val="600"/>
              </a:spcAft>
            </a:pPr>
            <a:r>
              <a:rPr lang="vi-VN" sz="1400" b="1" dirty="0">
                <a:solidFill>
                  <a:srgbClr val="1B8A7A"/>
                </a:solidFill>
                <a:latin typeface="Arial"/>
              </a:rPr>
              <a:t>•  Giải pháp:</a:t>
            </a:r>
          </a:p>
          <a:p>
            <a:pPr>
              <a:spcAft>
                <a:spcPts val="600"/>
              </a:spcAft>
            </a:pPr>
            <a:r>
              <a:rPr lang="vi-VN" sz="1400" dirty="0">
                <a:solidFill>
                  <a:srgbClr val="444B52"/>
                </a:solidFill>
                <a:latin typeface="Arial"/>
              </a:rPr>
              <a:t>	- Phân nhóm list nhạc có sẵn bằng Gaussian Mixture Model (GMM)</a:t>
            </a:r>
          </a:p>
          <a:p>
            <a:pPr>
              <a:spcAft>
                <a:spcPts val="600"/>
              </a:spcAft>
            </a:pPr>
            <a:r>
              <a:rPr lang="vi-VN" sz="1400" dirty="0">
                <a:solidFill>
                  <a:srgbClr val="444B52"/>
                </a:solidFill>
                <a:latin typeface="Arial"/>
              </a:rPr>
              <a:t>	- Mấy “bài nhạc tương đồng” là </a:t>
            </a:r>
          </a:p>
          <a:p>
            <a:pPr>
              <a:spcAft>
                <a:spcPts val="600"/>
              </a:spcAft>
            </a:pPr>
            <a:r>
              <a:rPr lang="vi-VN" sz="1400" dirty="0">
                <a:solidFill>
                  <a:srgbClr val="444B52"/>
                </a:solidFill>
                <a:latin typeface="Arial"/>
              </a:rPr>
              <a:t>	mấy bài “chung” hoặc “gần chung” nhóm với bài user đang nghe</a:t>
            </a:r>
          </a:p>
        </p:txBody>
      </p:sp>
      <p:pic>
        <p:nvPicPr>
          <p:cNvPr id="4" name="Picture 3">
            <a:extLst>
              <a:ext uri="{FF2B5EF4-FFF2-40B4-BE49-F238E27FC236}">
                <a16:creationId xmlns:a16="http://schemas.microsoft.com/office/drawing/2014/main" id="{71EA80EB-D313-7BCA-A7F1-8E9DCECB480F}"/>
              </a:ext>
            </a:extLst>
          </p:cNvPr>
          <p:cNvPicPr>
            <a:picLocks noChangeAspect="1"/>
          </p:cNvPicPr>
          <p:nvPr/>
        </p:nvPicPr>
        <p:blipFill>
          <a:blip r:embed="rId3"/>
          <a:stretch>
            <a:fillRect/>
          </a:stretch>
        </p:blipFill>
        <p:spPr>
          <a:xfrm>
            <a:off x="6807200" y="1586089"/>
            <a:ext cx="5020732" cy="2887407"/>
          </a:xfrm>
          <a:prstGeom prst="rect">
            <a:avLst/>
          </a:prstGeom>
          <a:ln>
            <a:solidFill>
              <a:schemeClr val="accent1">
                <a:alpha val="53644"/>
              </a:schemeClr>
            </a:solidFill>
          </a:ln>
        </p:spPr>
      </p:pic>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9F567-3816-EEE3-0313-A2337AF5CA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A4F00BD-25CB-1F9E-A14A-B26DAABBE1BB}"/>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3CF1073A-A67A-29A4-28BF-5EAB414D142D}"/>
              </a:ext>
            </a:extLst>
          </p:cNvPr>
          <p:cNvSpPr txBox="1"/>
          <p:nvPr/>
        </p:nvSpPr>
        <p:spPr>
          <a:xfrm>
            <a:off x="364067" y="1267772"/>
            <a:ext cx="9787466" cy="307777"/>
          </a:xfrm>
          <a:prstGeom prst="rect">
            <a:avLst/>
          </a:prstGeom>
          <a:noFill/>
        </p:spPr>
        <p:txBody>
          <a:bodyPr wrap="square">
            <a:spAutoFit/>
          </a:bodyPr>
          <a:lstStyle/>
          <a:p>
            <a:pPr>
              <a:spcAft>
                <a:spcPts val="600"/>
              </a:spcAft>
            </a:pPr>
            <a:r>
              <a:rPr lang="vi-VN" sz="1400" b="1" dirty="0">
                <a:solidFill>
                  <a:srgbClr val="1B8A7A"/>
                </a:solidFill>
                <a:latin typeface="Arial"/>
              </a:rPr>
              <a:t>•  Dữ liệu có sẵn (list bài hát):</a:t>
            </a:r>
          </a:p>
        </p:txBody>
      </p:sp>
      <p:graphicFrame>
        <p:nvGraphicFramePr>
          <p:cNvPr id="5" name="Table 4">
            <a:extLst>
              <a:ext uri="{FF2B5EF4-FFF2-40B4-BE49-F238E27FC236}">
                <a16:creationId xmlns:a16="http://schemas.microsoft.com/office/drawing/2014/main" id="{65A35FE2-0858-0752-9084-F0A14BAD603C}"/>
              </a:ext>
            </a:extLst>
          </p:cNvPr>
          <p:cNvGraphicFramePr>
            <a:graphicFrameLocks noGrp="1"/>
          </p:cNvGraphicFramePr>
          <p:nvPr>
            <p:extLst>
              <p:ext uri="{D42A27DB-BD31-4B8C-83A1-F6EECF244321}">
                <p14:modId xmlns:p14="http://schemas.microsoft.com/office/powerpoint/2010/main" val="2522528504"/>
              </p:ext>
            </p:extLst>
          </p:nvPr>
        </p:nvGraphicFramePr>
        <p:xfrm>
          <a:off x="364067" y="1791761"/>
          <a:ext cx="8128000" cy="22250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104114755"/>
                    </a:ext>
                  </a:extLst>
                </a:gridCol>
                <a:gridCol w="4064000">
                  <a:extLst>
                    <a:ext uri="{9D8B030D-6E8A-4147-A177-3AD203B41FA5}">
                      <a16:colId xmlns:a16="http://schemas.microsoft.com/office/drawing/2014/main" val="3351497249"/>
                    </a:ext>
                  </a:extLst>
                </a:gridCol>
              </a:tblGrid>
              <a:tr h="370840">
                <a:tc>
                  <a:txBody>
                    <a:bodyPr/>
                    <a:lstStyle/>
                    <a:p>
                      <a:r>
                        <a:rPr lang="en-VN" dirty="0"/>
                        <a:t>Tên bài hát</a:t>
                      </a:r>
                    </a:p>
                  </a:txBody>
                  <a:tcPr/>
                </a:tc>
                <a:tc>
                  <a:txBody>
                    <a:bodyPr/>
                    <a:lstStyle/>
                    <a:p>
                      <a:r>
                        <a:rPr lang="en-VN" dirty="0"/>
                        <a:t>Điểm sôi động</a:t>
                      </a:r>
                    </a:p>
                  </a:txBody>
                  <a:tcPr/>
                </a:tc>
                <a:extLst>
                  <a:ext uri="{0D108BD9-81ED-4DB2-BD59-A6C34878D82A}">
                    <a16:rowId xmlns:a16="http://schemas.microsoft.com/office/drawing/2014/main" val="2744164486"/>
                  </a:ext>
                </a:extLst>
              </a:tr>
              <a:tr h="370840">
                <a:tc>
                  <a:txBody>
                    <a:bodyPr/>
                    <a:lstStyle/>
                    <a:p>
                      <a:r>
                        <a:rPr lang="en-US" dirty="0"/>
                        <a:t>Kim Phút Kim </a:t>
                      </a:r>
                      <a:r>
                        <a:rPr lang="en-US" dirty="0" err="1"/>
                        <a:t>Giờ</a:t>
                      </a:r>
                      <a:endParaRPr lang="en-US" dirty="0"/>
                    </a:p>
                  </a:txBody>
                  <a:tcPr/>
                </a:tc>
                <a:tc>
                  <a:txBody>
                    <a:bodyPr/>
                    <a:lstStyle/>
                    <a:p>
                      <a:r>
                        <a:rPr lang="en-VN" dirty="0"/>
                        <a:t>2.5</a:t>
                      </a:r>
                    </a:p>
                  </a:txBody>
                  <a:tcPr/>
                </a:tc>
                <a:extLst>
                  <a:ext uri="{0D108BD9-81ED-4DB2-BD59-A6C34878D82A}">
                    <a16:rowId xmlns:a16="http://schemas.microsoft.com/office/drawing/2014/main" val="1550038607"/>
                  </a:ext>
                </a:extLst>
              </a:tr>
              <a:tr h="370840">
                <a:tc>
                  <a:txBody>
                    <a:bodyPr/>
                    <a:lstStyle/>
                    <a:p>
                      <a:r>
                        <a:rPr lang="en-US" dirty="0" err="1"/>
                        <a:t>Chân</a:t>
                      </a:r>
                      <a:r>
                        <a:rPr lang="en-US" dirty="0"/>
                        <a:t> Thành</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2.1</a:t>
                      </a:r>
                    </a:p>
                  </a:txBody>
                  <a:tcPr/>
                </a:tc>
                <a:extLst>
                  <a:ext uri="{0D108BD9-81ED-4DB2-BD59-A6C34878D82A}">
                    <a16:rowId xmlns:a16="http://schemas.microsoft.com/office/drawing/2014/main" val="1495408458"/>
                  </a:ext>
                </a:extLst>
              </a:tr>
              <a:tr h="370840">
                <a:tc>
                  <a:txBody>
                    <a:bodyPr/>
                    <a:lstStyle/>
                    <a:p>
                      <a:r>
                        <a:rPr lang="en-US" dirty="0"/>
                        <a:t>Secret</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3.0</a:t>
                      </a:r>
                    </a:p>
                  </a:txBody>
                  <a:tcPr/>
                </a:tc>
                <a:extLst>
                  <a:ext uri="{0D108BD9-81ED-4DB2-BD59-A6C34878D82A}">
                    <a16:rowId xmlns:a16="http://schemas.microsoft.com/office/drawing/2014/main" val="2493258380"/>
                  </a:ext>
                </a:extLst>
              </a:tr>
              <a:tr h="370840">
                <a:tc>
                  <a:txBody>
                    <a:bodyPr/>
                    <a:lstStyle/>
                    <a:p>
                      <a:r>
                        <a:rPr lang="en-US" dirty="0"/>
                        <a:t>Die With A Smile</a:t>
                      </a:r>
                      <a:endParaRPr lang="en-VN" dirty="0"/>
                    </a:p>
                  </a:txBody>
                  <a:tcPr/>
                </a:tc>
                <a:tc>
                  <a:txBody>
                    <a:bodyPr/>
                    <a:lstStyle/>
                    <a:p>
                      <a:r>
                        <a:rPr lang="en-US" dirty="0"/>
                        <a:t>3.2</a:t>
                      </a:r>
                      <a:endParaRPr lang="en-VN" dirty="0"/>
                    </a:p>
                  </a:txBody>
                  <a:tcPr/>
                </a:tc>
                <a:extLst>
                  <a:ext uri="{0D108BD9-81ED-4DB2-BD59-A6C34878D82A}">
                    <a16:rowId xmlns:a16="http://schemas.microsoft.com/office/drawing/2014/main" val="3682658580"/>
                  </a:ext>
                </a:extLst>
              </a:tr>
              <a:tr h="370840">
                <a:tc>
                  <a:txBody>
                    <a:bodyPr/>
                    <a:lstStyle/>
                    <a:p>
                      <a:r>
                        <a:rPr lang="en-VN" dirty="0"/>
                        <a:t>…</a:t>
                      </a:r>
                    </a:p>
                  </a:txBody>
                  <a:tcPr/>
                </a:tc>
                <a:tc>
                  <a:txBody>
                    <a:bodyPr/>
                    <a:lstStyle/>
                    <a:p>
                      <a:r>
                        <a:rPr lang="en-VN" dirty="0"/>
                        <a:t>…</a:t>
                      </a:r>
                    </a:p>
                  </a:txBody>
                  <a:tcPr/>
                </a:tc>
                <a:extLst>
                  <a:ext uri="{0D108BD9-81ED-4DB2-BD59-A6C34878D82A}">
                    <a16:rowId xmlns:a16="http://schemas.microsoft.com/office/drawing/2014/main" val="1183791201"/>
                  </a:ext>
                </a:extLst>
              </a:tr>
            </a:tbl>
          </a:graphicData>
        </a:graphic>
      </p:graphicFrame>
      <p:sp>
        <p:nvSpPr>
          <p:cNvPr id="11" name="TextBox 10">
            <a:extLst>
              <a:ext uri="{FF2B5EF4-FFF2-40B4-BE49-F238E27FC236}">
                <a16:creationId xmlns:a16="http://schemas.microsoft.com/office/drawing/2014/main" id="{02D99D7D-B0AA-ED4E-386F-264CE63602E7}"/>
              </a:ext>
            </a:extLst>
          </p:cNvPr>
          <p:cNvSpPr txBox="1"/>
          <p:nvPr/>
        </p:nvSpPr>
        <p:spPr>
          <a:xfrm>
            <a:off x="364067" y="4577090"/>
            <a:ext cx="6138332" cy="523220"/>
          </a:xfrm>
          <a:prstGeom prst="rect">
            <a:avLst/>
          </a:prstGeom>
          <a:noFill/>
        </p:spPr>
        <p:txBody>
          <a:bodyPr wrap="square">
            <a:spAutoFit/>
          </a:bodyPr>
          <a:lstStyle/>
          <a:p>
            <a:pPr>
              <a:spcAft>
                <a:spcPts val="600"/>
              </a:spcAft>
            </a:pPr>
            <a:r>
              <a:rPr lang="vi-VN" sz="1400" dirty="0">
                <a:solidFill>
                  <a:srgbClr val="444B52"/>
                </a:solidFill>
                <a:latin typeface="Arial"/>
              </a:rPr>
              <a:t>	- Giải quyết bài toán Phân cụm, Phát hiện điểm bất thường, Phân đoạn hình ảnh, Tách nền video</a:t>
            </a:r>
          </a:p>
        </p:txBody>
      </p:sp>
    </p:spTree>
    <p:extLst>
      <p:ext uri="{BB962C8B-B14F-4D97-AF65-F5344CB8AC3E}">
        <p14:creationId xmlns:p14="http://schemas.microsoft.com/office/powerpoint/2010/main" val="3651539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214B-49A8-E03E-AAA5-D66F1F8D078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738429B-9051-8F94-1ED4-19880CB0ED4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pic>
        <p:nvPicPr>
          <p:cNvPr id="7" name="Picture 6">
            <a:extLst>
              <a:ext uri="{FF2B5EF4-FFF2-40B4-BE49-F238E27FC236}">
                <a16:creationId xmlns:a16="http://schemas.microsoft.com/office/drawing/2014/main" id="{00E5DF9A-ED80-CD74-35AC-B4DD94B8FD8F}"/>
              </a:ext>
            </a:extLst>
          </p:cNvPr>
          <p:cNvPicPr>
            <a:picLocks noChangeAspect="1"/>
          </p:cNvPicPr>
          <p:nvPr/>
        </p:nvPicPr>
        <p:blipFill>
          <a:blip r:embed="rId3"/>
          <a:stretch>
            <a:fillRect/>
          </a:stretch>
        </p:blipFill>
        <p:spPr>
          <a:xfrm>
            <a:off x="5395535" y="3780399"/>
            <a:ext cx="6796160" cy="3077601"/>
          </a:xfrm>
          <a:prstGeom prst="rect">
            <a:avLst/>
          </a:prstGeom>
        </p:spPr>
      </p:pic>
      <p:sp>
        <p:nvSpPr>
          <p:cNvPr id="4" name="TextBox 3">
            <a:extLst>
              <a:ext uri="{FF2B5EF4-FFF2-40B4-BE49-F238E27FC236}">
                <a16:creationId xmlns:a16="http://schemas.microsoft.com/office/drawing/2014/main" id="{4BF5AB7B-F671-E55F-DEAD-A89E2EA567DB}"/>
              </a:ext>
            </a:extLst>
          </p:cNvPr>
          <p:cNvSpPr txBox="1"/>
          <p:nvPr/>
        </p:nvSpPr>
        <p:spPr>
          <a:xfrm>
            <a:off x="364066" y="1267772"/>
            <a:ext cx="10354733" cy="3447098"/>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dirty="0">
                <a:solidFill>
                  <a:srgbClr val="444B52"/>
                </a:solidFill>
                <a:latin typeface="Arial"/>
              </a:rPr>
              <a:t>	- Một mô hình đèo núi, được xây dựng từ nhiều mô hình cái chuông gộp lại</a:t>
            </a:r>
          </a:p>
          <a:p>
            <a:pPr>
              <a:spcAft>
                <a:spcPts val="600"/>
              </a:spcAft>
            </a:pPr>
            <a:r>
              <a:rPr lang="vi-VN" sz="1400" dirty="0">
                <a:solidFill>
                  <a:srgbClr val="444B52"/>
                </a:solidFill>
                <a:latin typeface="Arial"/>
              </a:rPr>
              <a:t>	- Công thức:</a:t>
            </a:r>
            <a:br>
              <a:rPr lang="vi-VN" sz="1400" dirty="0">
                <a:solidFill>
                  <a:srgbClr val="444B52"/>
                </a:solidFill>
                <a:latin typeface="Arial"/>
              </a:rPr>
            </a:br>
            <a:r>
              <a:rPr lang="vi-VN" sz="1400" dirty="0">
                <a:solidFill>
                  <a:srgbClr val="444B52"/>
                </a:solidFill>
                <a:latin typeface="Arial"/>
              </a:rPr>
              <a:t>	</a:t>
            </a:r>
          </a:p>
          <a:p>
            <a:pPr>
              <a:spcAft>
                <a:spcPts val="600"/>
              </a:spcAft>
            </a:pPr>
            <a:r>
              <a:rPr lang="vi-VN" sz="1400" dirty="0">
                <a:solidFill>
                  <a:srgbClr val="444B52"/>
                </a:solidFill>
                <a:latin typeface="Arial"/>
              </a:rPr>
              <a:t>		</a:t>
            </a:r>
            <a:r>
              <a:rPr lang="vi-VN" sz="1400" dirty="0">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cáiChuông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cáiChuông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cáiChuông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r>
              <a:rPr lang="vi-VN" sz="1400" dirty="0">
                <a:solidFill>
                  <a:srgbClr val="444B52"/>
                </a:solidFill>
                <a:latin typeface="Arial"/>
              </a:rPr>
              <a:t>= </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 Vấn đề:</a:t>
            </a:r>
          </a:p>
          <a:p>
            <a:pPr>
              <a:spcAft>
                <a:spcPts val="600"/>
              </a:spcAft>
            </a:pPr>
            <a:r>
              <a:rPr lang="vi-VN" sz="1400" dirty="0">
                <a:solidFill>
                  <a:srgbClr val="444B52"/>
                </a:solidFill>
                <a:latin typeface="Arial"/>
              </a:rPr>
              <a:t>		- Cái chuông là gì?</a:t>
            </a:r>
          </a:p>
          <a:p>
            <a:pPr>
              <a:spcAft>
                <a:spcPts val="600"/>
              </a:spcAft>
            </a:pPr>
            <a:r>
              <a:rPr lang="vi-VN" sz="1400" dirty="0">
                <a:solidFill>
                  <a:srgbClr val="444B52"/>
                </a:solidFill>
                <a:latin typeface="Arial"/>
              </a:rPr>
              <a:t>		- Làm sao vẽ từng cái chuông?</a:t>
            </a:r>
          </a:p>
          <a:p>
            <a:pPr>
              <a:spcAft>
                <a:spcPts val="600"/>
              </a:spcAft>
            </a:pPr>
            <a:r>
              <a:rPr lang="vi-VN" sz="1400" dirty="0">
                <a:solidFill>
                  <a:srgbClr val="444B52"/>
                </a:solidFill>
                <a:latin typeface="Arial"/>
              </a:rPr>
              <a:t>		=&gt; Slide kế</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F9C28F3B-757B-9FF5-7A25-67DF1948AF18}"/>
                  </a:ext>
                </a:extLst>
              </p:cNvPr>
              <p:cNvSpPr txBox="1"/>
              <p:nvPr/>
            </p:nvSpPr>
            <p:spPr>
              <a:xfrm>
                <a:off x="1117600" y="2791189"/>
                <a:ext cx="2666371" cy="605807"/>
              </a:xfrm>
              <a:prstGeom prst="rect">
                <a:avLst/>
              </a:prstGeom>
              <a:noFill/>
            </p:spPr>
            <p:txBody>
              <a:bodyPr wrap="square" lIns="0" tIns="0" rIns="0" bIns="0" rtlCol="0">
                <a:spAutoFit/>
              </a:bodyPr>
              <a:lstStyle/>
              <a:p>
                <a14:m>
                  <m:oMathPara xmlns:m="http://schemas.openxmlformats.org/officeDocument/2006/math">
                    <m:oMath>
                      <m:r>
                        <a:rPr lang="en-US" sz="1400" i="1" smtClean="0">
                          <a:latin typeface="Cambria Math" panose="02040503050406030204" pitchFamily="18" charset="0"/>
                        </a:rPr>
                        <m:t>𝑝</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e>
                      </m:d>
                    </m:oMath>
                  </m:oMathPara>
                </a14:m>
                <a:endParaRPr lang="en-VN" sz="1400" dirty="0"/>
              </a:p>
            </p:txBody>
          </p:sp>
        </mc:Choice>
        <mc:Fallback>
          <p:sp>
            <p:nvSpPr>
              <p:cNvPr id="3" name="TextBox 2">
                <a:extLst>
                  <a:ext uri="{FF2B5EF4-FFF2-40B4-BE49-F238E27FC236}">
                    <a16:creationId xmlns:a16="http://schemas.microsoft.com/office/drawing/2014/main" id="{F9C28F3B-757B-9FF5-7A25-67DF1948AF18}"/>
                  </a:ext>
                </a:extLst>
              </p:cNvPr>
              <p:cNvSpPr txBox="1">
                <a:spLocks noRot="1" noChangeAspect="1" noMove="1" noResize="1" noEditPoints="1" noAdjustHandles="1" noChangeArrowheads="1" noChangeShapeType="1" noTextEdit="1"/>
              </p:cNvSpPr>
              <p:nvPr/>
            </p:nvSpPr>
            <p:spPr>
              <a:xfrm>
                <a:off x="1117600" y="2791189"/>
                <a:ext cx="2666371" cy="605807"/>
              </a:xfrm>
              <a:prstGeom prst="rect">
                <a:avLst/>
              </a:prstGeom>
              <a:blipFill>
                <a:blip r:embed="rId4"/>
                <a:stretch>
                  <a:fillRect t="-112245" b="-17755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C7D58B6-78A2-072A-CC5C-A175EB783D4D}"/>
                  </a:ext>
                </a:extLst>
              </p:cNvPr>
              <p:cNvSpPr txBox="1"/>
              <p:nvPr/>
            </p:nvSpPr>
            <p:spPr>
              <a:xfrm>
                <a:off x="7980815" y="2185382"/>
                <a:ext cx="2666371" cy="605807"/>
              </a:xfrm>
              <a:prstGeom prst="rect">
                <a:avLst/>
              </a:prstGeom>
              <a:noFill/>
            </p:spPr>
            <p:txBody>
              <a:bodyPr wrap="square" lIns="0" tIns="0" rIns="0" bIns="0" rtlCol="0">
                <a:spAutoFit/>
              </a:bodyPr>
              <a:lstStyle/>
              <a:p>
                <a14:m>
                  <m:oMathPara xmlns:m="http://schemas.openxmlformats.org/officeDocument/2006/math">
                    <m:oMath>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r>
                            <m:rPr>
                              <m:sty m:val="p"/>
                            </m:rPr>
                            <a:rPr lang="vi-VN" sz="1400" b="0" i="1" smtClean="0">
                              <a:solidFill>
                                <a:schemeClr val="tx2">
                                  <a:lumMod val="60000"/>
                                  <a:lumOff val="40000"/>
                                </a:schemeClr>
                              </a:solidFill>
                              <a:highlight>
                                <a:srgbClr val="FFFF00"/>
                              </a:highlight>
                              <a:latin typeface="Cambria Math" panose="02040503050406030204" pitchFamily="18" charset="0"/>
                            </a:rPr>
                            <m:t>tr</m:t>
                          </m:r>
                          <m:r>
                            <a:rPr lang="vi-VN" sz="1400" b="0" i="1" smtClean="0">
                              <a:solidFill>
                                <a:schemeClr val="tx2">
                                  <a:lumMod val="60000"/>
                                  <a:lumOff val="40000"/>
                                </a:schemeClr>
                              </a:solidFill>
                              <a:highlight>
                                <a:srgbClr val="FFFF00"/>
                              </a:highlight>
                              <a:latin typeface="Cambria Math" panose="02040503050406030204" pitchFamily="18" charset="0"/>
                            </a:rPr>
                            <m:t>ọ</m:t>
                          </m:r>
                          <m:r>
                            <m:rPr>
                              <m:sty m:val="p"/>
                            </m:rPr>
                            <a:rPr lang="vi-VN" sz="1400" b="0" i="1" smtClean="0">
                              <a:solidFill>
                                <a:schemeClr val="tx2">
                                  <a:lumMod val="60000"/>
                                  <a:lumOff val="40000"/>
                                </a:schemeClr>
                              </a:solidFill>
                              <a:highlight>
                                <a:srgbClr val="FFFF00"/>
                              </a:highlight>
                              <a:latin typeface="Cambria Math" panose="02040503050406030204" pitchFamily="18" charset="0"/>
                            </a:rPr>
                            <m:t>ngS</m:t>
                          </m:r>
                          <m:r>
                            <a:rPr lang="vi-VN" sz="1400" b="0" i="1" smtClean="0">
                              <a:solidFill>
                                <a:schemeClr val="tx2">
                                  <a:lumMod val="60000"/>
                                  <a:lumOff val="40000"/>
                                </a:schemeClr>
                              </a:solidFill>
                              <a:highlight>
                                <a:srgbClr val="FFFF00"/>
                              </a:highlight>
                              <a:latin typeface="Cambria Math" panose="02040503050406030204" pitchFamily="18" charset="0"/>
                            </a:rPr>
                            <m:t>ố</m:t>
                          </m:r>
                          <m:r>
                            <m:rPr>
                              <m:sty m:val="p"/>
                            </m:rPr>
                            <a:rPr lang="vi-VN" sz="1400" b="0" i="1" baseline="-25000" smtClean="0">
                              <a:solidFill>
                                <a:schemeClr val="tx2">
                                  <a:lumMod val="60000"/>
                                  <a:lumOff val="40000"/>
                                </a:schemeClr>
                              </a:solidFill>
                              <a:highlight>
                                <a:srgbClr val="FFFF00"/>
                              </a:highlight>
                              <a:latin typeface="Cambria Math" panose="02040503050406030204" pitchFamily="18" charset="0"/>
                            </a:rPr>
                            <m:t>k</m:t>
                          </m:r>
                        </m:e>
                      </m:nary>
                      <m:r>
                        <m:rPr>
                          <m:sty m:val="p"/>
                        </m:rPr>
                        <a:rPr lang="vi-VN" sz="1400" b="0" i="1" smtClean="0">
                          <a:highlight>
                            <a:srgbClr val="FFFF00"/>
                          </a:highlight>
                          <a:latin typeface="Cambria Math" panose="02040503050406030204" pitchFamily="18" charset="0"/>
                        </a:rPr>
                        <m:t>x</m:t>
                      </m:r>
                      <m:r>
                        <a:rPr lang="vi-VN" sz="1400" b="0" i="1" smtClean="0">
                          <a:highlight>
                            <a:srgbClr val="FFFF00"/>
                          </a:highlight>
                          <a:latin typeface="Cambria Math" panose="02040503050406030204" pitchFamily="18" charset="0"/>
                        </a:rPr>
                        <m:t> </m:t>
                      </m:r>
                      <m:r>
                        <m:rPr>
                          <m:sty m:val="p"/>
                        </m:rPr>
                        <a:rPr lang="vi-VN" sz="1400" b="0" i="1" smtClean="0">
                          <a:solidFill>
                            <a:schemeClr val="accent6">
                              <a:lumMod val="75000"/>
                            </a:schemeClr>
                          </a:solidFill>
                          <a:highlight>
                            <a:srgbClr val="FFFF00"/>
                          </a:highlight>
                          <a:latin typeface="Cambria Math" panose="02040503050406030204" pitchFamily="18" charset="0"/>
                        </a:rPr>
                        <m:t>c</m:t>
                      </m:r>
                      <m:r>
                        <a:rPr lang="vi-VN" sz="1400" b="0" i="1" smtClean="0">
                          <a:solidFill>
                            <a:schemeClr val="accent6">
                              <a:lumMod val="75000"/>
                            </a:schemeClr>
                          </a:solidFill>
                          <a:highlight>
                            <a:srgbClr val="FFFF00"/>
                          </a:highlight>
                          <a:latin typeface="Cambria Math" panose="02040503050406030204" pitchFamily="18" charset="0"/>
                        </a:rPr>
                        <m:t>á</m:t>
                      </m:r>
                      <m:r>
                        <m:rPr>
                          <m:sty m:val="p"/>
                        </m:rPr>
                        <a:rPr lang="vi-VN" sz="1400" b="0" i="1" smtClean="0">
                          <a:solidFill>
                            <a:schemeClr val="accent6">
                              <a:lumMod val="75000"/>
                            </a:schemeClr>
                          </a:solidFill>
                          <a:highlight>
                            <a:srgbClr val="FFFF00"/>
                          </a:highlight>
                          <a:latin typeface="Cambria Math" panose="02040503050406030204" pitchFamily="18" charset="0"/>
                        </a:rPr>
                        <m:t>iChu</m:t>
                      </m:r>
                      <m:r>
                        <a:rPr lang="vi-VN" sz="1400" b="0" i="1" smtClean="0">
                          <a:solidFill>
                            <a:schemeClr val="accent6">
                              <a:lumMod val="75000"/>
                            </a:schemeClr>
                          </a:solidFill>
                          <a:highlight>
                            <a:srgbClr val="FFFF00"/>
                          </a:highlight>
                          <a:latin typeface="Cambria Math" panose="02040503050406030204" pitchFamily="18" charset="0"/>
                        </a:rPr>
                        <m:t>ô</m:t>
                      </m:r>
                      <m:r>
                        <m:rPr>
                          <m:sty m:val="p"/>
                        </m:rPr>
                        <a:rPr lang="vi-VN" sz="1400" b="0" i="1" smtClean="0">
                          <a:solidFill>
                            <a:schemeClr val="accent6">
                              <a:lumMod val="75000"/>
                            </a:schemeClr>
                          </a:solidFill>
                          <a:highlight>
                            <a:srgbClr val="FFFF00"/>
                          </a:highlight>
                          <a:latin typeface="Cambria Math" panose="02040503050406030204" pitchFamily="18" charset="0"/>
                        </a:rPr>
                        <m:t>ngk</m:t>
                      </m:r>
                    </m:oMath>
                  </m:oMathPara>
                </a14:m>
                <a:endParaRPr lang="en-VN" sz="1400" baseline="-25000" dirty="0">
                  <a:highlight>
                    <a:srgbClr val="FFFF00"/>
                  </a:highlight>
                </a:endParaRPr>
              </a:p>
            </p:txBody>
          </p:sp>
        </mc:Choice>
        <mc:Fallback>
          <p:sp>
            <p:nvSpPr>
              <p:cNvPr id="5" name="TextBox 4">
                <a:extLst>
                  <a:ext uri="{FF2B5EF4-FFF2-40B4-BE49-F238E27FC236}">
                    <a16:creationId xmlns:a16="http://schemas.microsoft.com/office/drawing/2014/main" id="{EC7D58B6-78A2-072A-CC5C-A175EB783D4D}"/>
                  </a:ext>
                </a:extLst>
              </p:cNvPr>
              <p:cNvSpPr txBox="1">
                <a:spLocks noRot="1" noChangeAspect="1" noMove="1" noResize="1" noEditPoints="1" noAdjustHandles="1" noChangeArrowheads="1" noChangeShapeType="1" noTextEdit="1"/>
              </p:cNvSpPr>
              <p:nvPr/>
            </p:nvSpPr>
            <p:spPr>
              <a:xfrm>
                <a:off x="7980815" y="2185382"/>
                <a:ext cx="2666371" cy="605807"/>
              </a:xfrm>
              <a:prstGeom prst="rect">
                <a:avLst/>
              </a:prstGeom>
              <a:blipFill>
                <a:blip r:embed="rId5"/>
                <a:stretch>
                  <a:fillRect l="-12322" t="-112245" b="-177551"/>
                </a:stretch>
              </a:blipFill>
            </p:spPr>
            <p:txBody>
              <a:bodyPr/>
              <a:lstStyle/>
              <a:p>
                <a:r>
                  <a:rPr lang="en-VN">
                    <a:noFill/>
                  </a:rPr>
                  <a:t> </a:t>
                </a:r>
              </a:p>
            </p:txBody>
          </p:sp>
        </mc:Fallback>
      </mc:AlternateContent>
    </p:spTree>
    <p:extLst>
      <p:ext uri="{BB962C8B-B14F-4D97-AF65-F5344CB8AC3E}">
        <p14:creationId xmlns:p14="http://schemas.microsoft.com/office/powerpoint/2010/main" val="17640167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2152B45B-401E-ACB8-8993-42F3294618F9}"/>
              </a:ext>
            </a:extLst>
          </p:cNvPr>
          <p:cNvSpPr txBox="1"/>
          <p:nvPr/>
        </p:nvSpPr>
        <p:spPr>
          <a:xfrm>
            <a:off x="364067" y="1267772"/>
            <a:ext cx="9787466" cy="1477328"/>
          </a:xfrm>
          <a:prstGeom prst="rect">
            <a:avLst/>
          </a:prstGeom>
          <a:noFill/>
        </p:spPr>
        <p:txBody>
          <a:bodyPr wrap="square">
            <a:spAutoFit/>
          </a:bodyPr>
          <a:lstStyle/>
          <a:p>
            <a:pPr>
              <a:spcAft>
                <a:spcPts val="600"/>
              </a:spcAft>
            </a:pPr>
            <a:r>
              <a:rPr lang="en-US" sz="1400" b="1" dirty="0">
                <a:solidFill>
                  <a:srgbClr val="1B8A7A"/>
                </a:solidFill>
                <a:latin typeface="Arial"/>
              </a:rPr>
              <a:t>2.2. </a:t>
            </a: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1. Cái chuông chuẩn </a:t>
            </a: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a:p>
            <a:pPr>
              <a:spcAft>
                <a:spcPts val="600"/>
              </a:spcAft>
            </a:pPr>
            <a:r>
              <a:rPr lang="vi-VN" sz="1400" dirty="0">
                <a:solidFill>
                  <a:srgbClr val="444B52"/>
                </a:solidFill>
                <a:latin typeface="Arial"/>
              </a:rPr>
              <a:t>	Công thức:</a:t>
            </a: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p:pic>
        <p:nvPicPr>
          <p:cNvPr id="12" name="Picture 11">
            <a:extLst>
              <a:ext uri="{FF2B5EF4-FFF2-40B4-BE49-F238E27FC236}">
                <a16:creationId xmlns:a16="http://schemas.microsoft.com/office/drawing/2014/main" id="{585BB5BE-1AD8-8D44-4F50-3816813B171B}"/>
              </a:ext>
            </a:extLst>
          </p:cNvPr>
          <p:cNvPicPr>
            <a:picLocks noChangeAspect="1"/>
          </p:cNvPicPr>
          <p:nvPr/>
        </p:nvPicPr>
        <p:blipFill>
          <a:blip r:embed="rId3"/>
          <a:stretch>
            <a:fillRect/>
          </a:stretch>
        </p:blipFill>
        <p:spPr>
          <a:xfrm>
            <a:off x="8119533" y="3244286"/>
            <a:ext cx="3715210" cy="2322006"/>
          </a:xfrm>
          <a:prstGeom prst="rect">
            <a:avLst/>
          </a:prstGeom>
        </p:spPr>
      </p:pic>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A28554CF-311F-6584-B619-5BA25E3C24EA}"/>
                  </a:ext>
                </a:extLst>
              </p:cNvPr>
              <p:cNvSpPr txBox="1"/>
              <p:nvPr/>
            </p:nvSpPr>
            <p:spPr>
              <a:xfrm>
                <a:off x="364067" y="2101179"/>
                <a:ext cx="4113293" cy="893514"/>
              </a:xfrm>
              <a:prstGeom prst="rect">
                <a:avLst/>
              </a:prstGeom>
              <a:noFill/>
            </p:spPr>
            <p:txBody>
              <a:bodyPr wrap="square" lIns="0" tIns="0" rIns="0" bIns="0" rtlCol="0">
                <a:spAutoFit/>
              </a:bodyPr>
              <a:lstStyle/>
              <a:p>
                <a14:m>
                  <m:oMathPara xmlns:m="http://schemas.openxmlformats.org/officeDocument/2006/math">
                    <m:oMath>
                      <m:r>
                        <a:rPr lang="en-VN" i="1" smtClean="0">
                          <a:latin typeface="Cambria Math" panose="02040503050406030204" pitchFamily="18" charset="0"/>
                        </a:rPr>
                        <m:t>𝑓</m:t>
                      </m:r>
                      <m:d>
                        <m:dPr>
                          <m:ctrlPr>
                            <a:rPr lang="en-VN" b="1" i="1" smtClean="0">
                              <a:solidFill>
                                <a:schemeClr val="accent6">
                                  <a:lumMod val="75000"/>
                                </a:schemeClr>
                              </a:solidFill>
                              <a:latin typeface="Cambria Math" panose="02040503050406030204" pitchFamily="18" charset="0"/>
                            </a:rPr>
                          </m:ctrlPr>
                        </m:dPr>
                        <m:e>
                          <m:r>
                            <a:rPr lang="en-VN" b="1" i="1" smtClean="0">
                              <a:solidFill>
                                <a:schemeClr val="accent6">
                                  <a:lumMod val="75000"/>
                                </a:schemeClr>
                              </a:solidFill>
                              <a:latin typeface="Cambria Math" panose="02040503050406030204" pitchFamily="18" charset="0"/>
                            </a:rPr>
                            <m:t>𝒙</m:t>
                          </m:r>
                          <m:r>
                            <a:rPr lang="vi-VN" b="0" i="0" smtClean="0">
                              <a:latin typeface="Cambria Math" panose="02040503050406030204" pitchFamily="18" charset="0"/>
                            </a:rPr>
                            <m:t> </m:t>
                          </m:r>
                          <m:r>
                            <a:rPr lang="en-VN" i="0">
                              <a:latin typeface="Cambria Math" panose="02040503050406030204" pitchFamily="18" charset="0"/>
                            </a:rPr>
                            <m:t>|</m:t>
                          </m:r>
                          <m:r>
                            <a:rPr lang="vi-VN" b="0" i="0" smtClean="0">
                              <a:latin typeface="Cambria Math" panose="02040503050406030204" pitchFamily="18" charset="0"/>
                            </a:rPr>
                            <m:t> </m:t>
                          </m:r>
                          <m:r>
                            <a:rPr lang="vi-VN" b="0" i="1" smtClean="0">
                              <a:latin typeface="Cambria Math" panose="02040503050406030204" pitchFamily="18" charset="0"/>
                            </a:rPr>
                            <m:t>(</m:t>
                          </m:r>
                          <m:r>
                            <a:rPr lang="en-VN" i="1">
                              <a:latin typeface="Cambria Math" panose="02040503050406030204" pitchFamily="18" charset="0"/>
                            </a:rPr>
                            <m:t>𝜇</m:t>
                          </m:r>
                          <m:r>
                            <a:rPr lang="en-VN" i="0">
                              <a:latin typeface="Cambria Math" panose="02040503050406030204" pitchFamily="18" charset="0"/>
                            </a:rPr>
                            <m:t>,</m:t>
                          </m:r>
                          <m:sSup>
                            <m:sSupPr>
                              <m:ctrlPr>
                                <a:rPr lang="en-VN" i="1">
                                  <a:solidFill>
                                    <a:schemeClr val="tx1"/>
                                  </a:solidFill>
                                  <a:latin typeface="Cambria Math" panose="02040503050406030204" pitchFamily="18" charset="0"/>
                                </a:rPr>
                              </m:ctrlPr>
                            </m:sSupPr>
                            <m:e>
                              <m:r>
                                <a:rPr lang="en-VN" i="1">
                                  <a:solidFill>
                                    <a:schemeClr val="tx1"/>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vi-VN" b="0" i="1" smtClean="0">
                              <a:solidFill>
                                <a:schemeClr val="tx1"/>
                              </a:solidFill>
                              <a:latin typeface="Cambria Math" panose="02040503050406030204" pitchFamily="18" charset="0"/>
                            </a:rPr>
                            <m:t>)</m:t>
                          </m:r>
                        </m:e>
                      </m:d>
                      <m:r>
                        <a:rPr lang="en-VN" i="0">
                          <a:latin typeface="Cambria Math" panose="02040503050406030204" pitchFamily="18" charset="0"/>
                        </a:rPr>
                        <m:t>=</m:t>
                      </m:r>
                      <m:f>
                        <m:fPr>
                          <m:ctrlPr>
                            <a:rPr lang="en-VN" i="0">
                              <a:latin typeface="Cambria Math" panose="02040503050406030204" pitchFamily="18" charset="0"/>
                            </a:rPr>
                          </m:ctrlPr>
                        </m:fPr>
                        <m:num>
                          <m:r>
                            <a:rPr lang="en-VN" i="0">
                              <a:latin typeface="Cambria Math" panose="02040503050406030204" pitchFamily="18" charset="0"/>
                            </a:rPr>
                            <m:t>1</m:t>
                          </m:r>
                        </m:num>
                        <m:den>
                          <m:r>
                            <a:rPr lang="en-VN" i="1" smtClean="0">
                              <a:solidFill>
                                <a:schemeClr val="tx1"/>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i="0">
                                  <a:latin typeface="Cambria Math" panose="02040503050406030204" pitchFamily="18" charset="0"/>
                                </a:rPr>
                                <m:t>2</m:t>
                              </m:r>
                              <m:r>
                                <a:rPr lang="en-VN" i="1">
                                  <a:latin typeface="Cambria Math" panose="02040503050406030204" pitchFamily="18" charset="0"/>
                                </a:rPr>
                                <m:t>𝜋</m:t>
                              </m:r>
                            </m:e>
                          </m:rad>
                        </m:den>
                      </m:f>
                      <m:sSup>
                        <m:sSupPr>
                          <m:ctrlPr>
                            <a:rPr lang="en-VN" i="1">
                              <a:latin typeface="Cambria Math" panose="02040503050406030204" pitchFamily="18" charset="0"/>
                            </a:rPr>
                          </m:ctrlPr>
                        </m:sSupPr>
                        <m:e>
                          <m:r>
                            <a:rPr lang="en-VN" i="1">
                              <a:latin typeface="Cambria Math" panose="02040503050406030204" pitchFamily="18" charset="0"/>
                            </a:rPr>
                            <m:t>𝑒</m:t>
                          </m:r>
                        </m:e>
                        <m:sup>
                          <m:r>
                            <a:rPr lang="en-VN" i="0">
                              <a:latin typeface="Cambria Math" panose="02040503050406030204" pitchFamily="18" charset="0"/>
                            </a:rPr>
                            <m:t>−</m:t>
                          </m:r>
                          <m:f>
                            <m:fPr>
                              <m:ctrlPr>
                                <a:rPr lang="en-VN" i="1">
                                  <a:latin typeface="Cambria Math" panose="02040503050406030204" pitchFamily="18" charset="0"/>
                                </a:rPr>
                              </m:ctrlPr>
                            </m:fPr>
                            <m:num>
                              <m:sSup>
                                <m:sSupPr>
                                  <m:ctrlPr>
                                    <a:rPr lang="en-VN" i="1">
                                      <a:latin typeface="Cambria Math" panose="02040503050406030204" pitchFamily="18" charset="0"/>
                                    </a:rPr>
                                  </m:ctrlPr>
                                </m:sSupPr>
                                <m:e>
                                  <m:d>
                                    <m:dPr>
                                      <m:ctrlPr>
                                        <a:rPr lang="en-VN" b="1" i="1" smtClean="0">
                                          <a:solidFill>
                                            <a:schemeClr val="accent6">
                                              <a:lumMod val="75000"/>
                                            </a:schemeClr>
                                          </a:solidFill>
                                          <a:latin typeface="Cambria Math" panose="02040503050406030204" pitchFamily="18" charset="0"/>
                                        </a:rPr>
                                      </m:ctrlPr>
                                    </m:dPr>
                                    <m:e>
                                      <m:r>
                                        <a:rPr lang="en-VN" b="1" i="1" smtClean="0">
                                          <a:solidFill>
                                            <a:schemeClr val="accent6">
                                              <a:lumMod val="75000"/>
                                            </a:schemeClr>
                                          </a:solidFill>
                                          <a:latin typeface="Cambria Math" panose="02040503050406030204" pitchFamily="18" charset="0"/>
                                        </a:rPr>
                                        <m:t>𝒙</m:t>
                                      </m:r>
                                      <m:r>
                                        <a:rPr lang="en-VN" i="0">
                                          <a:latin typeface="Cambria Math" panose="02040503050406030204" pitchFamily="18" charset="0"/>
                                        </a:rPr>
                                        <m:t>−</m:t>
                                      </m:r>
                                      <m:r>
                                        <a:rPr lang="en-VN" i="1">
                                          <a:latin typeface="Cambria Math" panose="02040503050406030204" pitchFamily="18" charset="0"/>
                                        </a:rPr>
                                        <m:t>𝜇</m:t>
                                      </m:r>
                                    </m:e>
                                  </m:d>
                                </m:e>
                                <m:sup>
                                  <m:r>
                                    <a:rPr lang="en-VN" i="0">
                                      <a:latin typeface="Cambria Math" panose="02040503050406030204" pitchFamily="18" charset="0"/>
                                    </a:rPr>
                                    <m:t>2</m:t>
                                  </m:r>
                                </m:sup>
                              </m:sSup>
                            </m:num>
                            <m:den>
                              <m:r>
                                <a:rPr lang="en-VN" i="0">
                                  <a:latin typeface="Cambria Math" panose="02040503050406030204" pitchFamily="18" charset="0"/>
                                </a:rPr>
                                <m:t>2</m:t>
                              </m:r>
                              <m:sSup>
                                <m:sSupPr>
                                  <m:ctrlPr>
                                    <a:rPr lang="en-VN" i="1">
                                      <a:solidFill>
                                        <a:schemeClr val="tx1"/>
                                      </a:solidFill>
                                      <a:latin typeface="Cambria Math" panose="02040503050406030204" pitchFamily="18" charset="0"/>
                                    </a:rPr>
                                  </m:ctrlPr>
                                </m:sSupPr>
                                <m:e>
                                  <m:r>
                                    <a:rPr lang="en-VN" i="1">
                                      <a:solidFill>
                                        <a:schemeClr val="tx1"/>
                                      </a:solidFill>
                                      <a:latin typeface="Cambria Math" panose="02040503050406030204" pitchFamily="18" charset="0"/>
                                    </a:rPr>
                                    <m:t>𝜎</m:t>
                                  </m:r>
                                </m:e>
                                <m:sup>
                                  <m:r>
                                    <a:rPr lang="en-VN" i="0">
                                      <a:solidFill>
                                        <a:schemeClr val="tx1"/>
                                      </a:solidFill>
                                      <a:latin typeface="Cambria Math" panose="02040503050406030204" pitchFamily="18" charset="0"/>
                                    </a:rPr>
                                    <m:t>2</m:t>
                                  </m:r>
                                </m:sup>
                              </m:sSup>
                            </m:den>
                          </m:f>
                        </m:sup>
                      </m:sSup>
                    </m:oMath>
                  </m:oMathPara>
                </a14:m>
                <a:endParaRPr lang="en-VN" dirty="0"/>
              </a:p>
              <a:p>
                <a:endParaRPr lang="en-VN" dirty="0"/>
              </a:p>
            </p:txBody>
          </p:sp>
        </mc:Choice>
        <mc:Fallback>
          <p:sp>
            <p:nvSpPr>
              <p:cNvPr id="14" name="TextBox 13">
                <a:extLst>
                  <a:ext uri="{FF2B5EF4-FFF2-40B4-BE49-F238E27FC236}">
                    <a16:creationId xmlns:a16="http://schemas.microsoft.com/office/drawing/2014/main" id="{A28554CF-311F-6584-B619-5BA25E3C24EA}"/>
                  </a:ext>
                </a:extLst>
              </p:cNvPr>
              <p:cNvSpPr txBox="1">
                <a:spLocks noRot="1" noChangeAspect="1" noMove="1" noResize="1" noEditPoints="1" noAdjustHandles="1" noChangeArrowheads="1" noChangeShapeType="1" noTextEdit="1"/>
              </p:cNvSpPr>
              <p:nvPr/>
            </p:nvSpPr>
            <p:spPr>
              <a:xfrm>
                <a:off x="364067" y="2101179"/>
                <a:ext cx="4113293" cy="893514"/>
              </a:xfrm>
              <a:prstGeom prst="rect">
                <a:avLst/>
              </a:prstGeom>
              <a:blipFill>
                <a:blip r:embed="rId4"/>
                <a:stretch>
                  <a:fillRect/>
                </a:stretch>
              </a:blipFill>
            </p:spPr>
            <p:txBody>
              <a:bodyPr/>
              <a:lstStyle/>
              <a:p>
                <a:r>
                  <a:rPr lang="en-VN">
                    <a:noFill/>
                  </a:rPr>
                  <a:t> </a:t>
                </a:r>
              </a:p>
            </p:txBody>
          </p:sp>
        </mc:Fallback>
      </mc:AlternateContent>
      <p:sp>
        <p:nvSpPr>
          <p:cNvPr id="17" name="TextBox 16">
            <a:extLst>
              <a:ext uri="{FF2B5EF4-FFF2-40B4-BE49-F238E27FC236}">
                <a16:creationId xmlns:a16="http://schemas.microsoft.com/office/drawing/2014/main" id="{1A3E8C25-E68D-28CC-EC82-1A6754126D8B}"/>
              </a:ext>
            </a:extLst>
          </p:cNvPr>
          <p:cNvSpPr txBox="1"/>
          <p:nvPr/>
        </p:nvSpPr>
        <p:spPr>
          <a:xfrm>
            <a:off x="753534" y="5302756"/>
            <a:ext cx="9787466" cy="1769715"/>
          </a:xfrm>
          <a:prstGeom prst="rect">
            <a:avLst/>
          </a:prstGeom>
          <a:noFill/>
        </p:spPr>
        <p:txBody>
          <a:bodyPr wrap="square">
            <a:spAutoFit/>
          </a:bodyPr>
          <a:lstStyle/>
          <a:p>
            <a:pPr>
              <a:spcAft>
                <a:spcPts val="600"/>
              </a:spcAft>
            </a:pPr>
            <a:r>
              <a:rPr lang="vi-VN" sz="1400" dirty="0">
                <a:solidFill>
                  <a:srgbClr val="444B52"/>
                </a:solidFill>
                <a:latin typeface="Arial"/>
              </a:rPr>
              <a:t>- Cho tập dữ liệu x một chiều, làm sao vẽ cái chuông khớp với tập x?</a:t>
            </a:r>
          </a:p>
          <a:p>
            <a:pPr>
              <a:spcAft>
                <a:spcPts val="600"/>
              </a:spcAft>
            </a:pPr>
            <a:r>
              <a:rPr lang="vi-VN" sz="1400" dirty="0">
                <a:solidFill>
                  <a:srgbClr val="444B52"/>
                </a:solidFill>
                <a:latin typeface="Arial"/>
              </a:rPr>
              <a:t>- Để vẽ cái chuông, cần biết 2 thứ là </a:t>
            </a:r>
            <a:r>
              <a:rPr lang="vi-VN" sz="1400" b="1" dirty="0">
                <a:solidFill>
                  <a:srgbClr val="444B52"/>
                </a:solidFill>
                <a:latin typeface="Arial"/>
              </a:rPr>
              <a:t>tâm chuông</a:t>
            </a:r>
            <a:r>
              <a:rPr lang="vi-VN" sz="1400" dirty="0">
                <a:solidFill>
                  <a:srgbClr val="444B52"/>
                </a:solidFill>
                <a:latin typeface="Arial"/>
              </a:rPr>
              <a:t> và </a:t>
            </a:r>
            <a:r>
              <a:rPr lang="vi-VN" sz="1400" b="1" dirty="0">
                <a:solidFill>
                  <a:srgbClr val="444B52"/>
                </a:solidFill>
                <a:latin typeface="Arial"/>
              </a:rPr>
              <a:t>độ mập chuông</a:t>
            </a:r>
          </a:p>
          <a:p>
            <a:pPr>
              <a:spcAft>
                <a:spcPts val="600"/>
              </a:spcAft>
            </a:pPr>
            <a:r>
              <a:rPr lang="vi-VN" sz="1400" dirty="0">
                <a:solidFill>
                  <a:srgbClr val="444B52"/>
                </a:solidFill>
                <a:latin typeface="Arial"/>
              </a:rPr>
              <a:t>- 1 công thức 2 góc nhìn:</a:t>
            </a:r>
          </a:p>
          <a:p>
            <a:pPr>
              <a:spcAft>
                <a:spcPts val="600"/>
              </a:spcAft>
            </a:pPr>
            <a:r>
              <a:rPr lang="vi-VN" sz="1400" dirty="0">
                <a:solidFill>
                  <a:srgbClr val="444B52"/>
                </a:solidFill>
                <a:latin typeface="Arial"/>
              </a:rPr>
              <a:t>- Góc nhìn 1: tìm giá trị của x chiếu lên cái chuông (</a:t>
            </a: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4" name="TextBox 3"/>
          <p:cNvSpPr txBox="1"/>
          <p:nvPr/>
        </p:nvSpPr>
        <p:spPr>
          <a:xfrm>
            <a:off x="503072" y="126904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Train model:</a:t>
            </a:r>
            <a:endParaRPr lang="vi-VN" sz="1500" b="1" dirty="0">
              <a:solidFill>
                <a:srgbClr val="444B52"/>
              </a:solidFill>
              <a:latin typeface="Arial"/>
            </a:endParaRPr>
          </a:p>
        </p:txBody>
      </p:sp>
      <p:pic>
        <p:nvPicPr>
          <p:cNvPr id="5" name="Picture 4">
            <a:extLst>
              <a:ext uri="{FF2B5EF4-FFF2-40B4-BE49-F238E27FC236}">
                <a16:creationId xmlns:a16="http://schemas.microsoft.com/office/drawing/2014/main" id="{5FF91F1E-71BE-8A83-9973-9680D05967EF}"/>
              </a:ext>
            </a:extLst>
          </p:cNvPr>
          <p:cNvPicPr>
            <a:picLocks noChangeAspect="1"/>
          </p:cNvPicPr>
          <p:nvPr/>
        </p:nvPicPr>
        <p:blipFill>
          <a:blip r:embed="rId3"/>
          <a:stretch>
            <a:fillRect/>
          </a:stretch>
        </p:blipFill>
        <p:spPr>
          <a:xfrm>
            <a:off x="1528054" y="1702276"/>
            <a:ext cx="9135585" cy="381830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a:t>
            </a:r>
            <a:r>
              <a:rPr sz="2600" b="1" dirty="0">
                <a:solidFill>
                  <a:srgbClr val="FFFFFF"/>
                </a:solidFill>
                <a:latin typeface="Arial"/>
              </a:rPr>
              <a:t>. </a:t>
            </a:r>
            <a:r>
              <a:rPr sz="2600" b="1" dirty="0" err="1">
                <a:solidFill>
                  <a:srgbClr val="FFFFFF"/>
                </a:solidFill>
                <a:latin typeface="Arial"/>
              </a:rPr>
              <a:t>Giải</a:t>
            </a:r>
            <a:r>
              <a:rPr sz="2600" b="1" dirty="0">
                <a:solidFill>
                  <a:srgbClr val="FFFFFF"/>
                </a:solidFill>
                <a:latin typeface="Arial"/>
              </a:rPr>
              <a:t> </a:t>
            </a:r>
            <a:r>
              <a:rPr sz="2600" b="1" dirty="0" err="1">
                <a:solidFill>
                  <a:srgbClr val="FFFFFF"/>
                </a:solidFill>
                <a:latin typeface="Arial"/>
              </a:rPr>
              <a:t>pháp</a:t>
            </a:r>
            <a:r>
              <a:rPr sz="2600" b="1" dirty="0">
                <a:solidFill>
                  <a:srgbClr val="FFFFFF"/>
                </a:solidFill>
                <a:latin typeface="Arial"/>
              </a:rPr>
              <a:t> </a:t>
            </a:r>
            <a:r>
              <a:rPr sz="2600" b="1" dirty="0" err="1">
                <a:solidFill>
                  <a:srgbClr val="FFFFFF"/>
                </a:solidFill>
                <a:latin typeface="Arial"/>
              </a:rPr>
              <a:t>hệ</a:t>
            </a:r>
            <a:r>
              <a:rPr sz="2600" b="1" dirty="0">
                <a:solidFill>
                  <a:srgbClr val="FFFFFF"/>
                </a:solidFill>
                <a:latin typeface="Arial"/>
              </a:rPr>
              <a:t> </a:t>
            </a:r>
            <a:r>
              <a:rPr sz="2600" b="1" dirty="0" err="1">
                <a:solidFill>
                  <a:srgbClr val="FFFFFF"/>
                </a:solidFill>
                <a:latin typeface="Arial"/>
              </a:rPr>
              <a:t>thống</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pic>
        <p:nvPicPr>
          <p:cNvPr id="8" name="Picture 7">
            <a:extLst>
              <a:ext uri="{FF2B5EF4-FFF2-40B4-BE49-F238E27FC236}">
                <a16:creationId xmlns:a16="http://schemas.microsoft.com/office/drawing/2014/main" id="{328D1180-5E79-E22E-3A27-DDABD3975723}"/>
              </a:ext>
            </a:extLst>
          </p:cNvPr>
          <p:cNvPicPr>
            <a:picLocks noChangeAspect="1"/>
          </p:cNvPicPr>
          <p:nvPr/>
        </p:nvPicPr>
        <p:blipFill>
          <a:blip r:embed="rId3"/>
          <a:stretch>
            <a:fillRect/>
          </a:stretch>
        </p:blipFill>
        <p:spPr>
          <a:xfrm>
            <a:off x="1992994" y="1538009"/>
            <a:ext cx="8205705" cy="4261128"/>
          </a:xfrm>
          <a:prstGeom prst="rect">
            <a:avLst/>
          </a:prstGeom>
        </p:spPr>
      </p:pic>
      <p:sp>
        <p:nvSpPr>
          <p:cNvPr id="3" name="TextBox 2">
            <a:extLst>
              <a:ext uri="{FF2B5EF4-FFF2-40B4-BE49-F238E27FC236}">
                <a16:creationId xmlns:a16="http://schemas.microsoft.com/office/drawing/2014/main" id="{02B2369E-F6DD-3374-483C-ED25CBC11465}"/>
              </a:ext>
            </a:extLst>
          </p:cNvPr>
          <p:cNvSpPr txBox="1"/>
          <p:nvPr/>
        </p:nvSpPr>
        <p:spPr>
          <a:xfrm>
            <a:off x="119006" y="5876049"/>
            <a:ext cx="9871028" cy="1123384"/>
          </a:xfrm>
          <a:prstGeom prst="rect">
            <a:avLst/>
          </a:prstGeom>
          <a:noFill/>
        </p:spPr>
        <p:txBody>
          <a:bodyPr wrap="square" rtlCol="0">
            <a:spAutoFit/>
          </a:bodyPr>
          <a:lstStyle/>
          <a:p>
            <a:pPr lvl="1">
              <a:spcAft>
                <a:spcPts val="400"/>
              </a:spcAft>
            </a:pPr>
            <a:r>
              <a:rPr lang="vi-VN" sz="1300" dirty="0">
                <a:solidFill>
                  <a:srgbClr val="444B52"/>
                </a:solidFill>
                <a:latin typeface="Arial"/>
              </a:rPr>
              <a:t>–  Khuyến nghị dựa trên RULE (bảng tra cứu tĩnh), không dùng ML</a:t>
            </a:r>
          </a:p>
          <a:p>
            <a:pPr lvl="1">
              <a:spcAft>
                <a:spcPts val="400"/>
              </a:spcAft>
            </a:pPr>
            <a:r>
              <a:rPr lang="vi-VN" sz="1300" dirty="0">
                <a:solidFill>
                  <a:srgbClr val="444B52"/>
                </a:solidFill>
                <a:latin typeface="Arial"/>
              </a:rPr>
              <a:t>–  Ánh xạ theo mức rủi ro (LOW/MODERATE/HIGH) từng bệnh + tổng thể</a:t>
            </a:r>
          </a:p>
          <a:p>
            <a:pPr lvl="1">
              <a:spcAft>
                <a:spcPts val="400"/>
              </a:spcAft>
            </a:pPr>
            <a:r>
              <a:rPr lang="vi-VN" sz="1300" dirty="0">
                <a:solidFill>
                  <a:srgbClr val="444B52"/>
                </a:solidFill>
                <a:latin typeface="Arial"/>
              </a:rPr>
              <a:t>–  Ưu điểm: minh bạch, kiểm soát được, an toàn — phù hợp y tế; luôn kèm disclaimer</a:t>
            </a:r>
          </a:p>
          <a:p>
            <a:endParaRPr lang="en-VN" dirty="0"/>
          </a:p>
        </p:txBody>
      </p:sp>
      <p:sp>
        <p:nvSpPr>
          <p:cNvPr id="7" name="TextBox 6">
            <a:extLst>
              <a:ext uri="{FF2B5EF4-FFF2-40B4-BE49-F238E27FC236}">
                <a16:creationId xmlns:a16="http://schemas.microsoft.com/office/drawing/2014/main" id="{973E3CCD-78EE-3A12-358D-46F18ECD2845}"/>
              </a:ext>
            </a:extLst>
          </p:cNvPr>
          <p:cNvSpPr txBox="1"/>
          <p:nvPr/>
        </p:nvSpPr>
        <p:spPr>
          <a:xfrm>
            <a:off x="502918" y="1230232"/>
            <a:ext cx="11185855" cy="323165"/>
          </a:xfrm>
          <a:prstGeom prst="rect">
            <a:avLst/>
          </a:prstGeom>
          <a:noFill/>
        </p:spPr>
        <p:txBody>
          <a:bodyPr wrap="square">
            <a:spAutoFit/>
          </a:bodyPr>
          <a:lstStyle/>
          <a:p>
            <a:pPr>
              <a:spcAft>
                <a:spcPts val="400"/>
              </a:spcAft>
            </a:pPr>
            <a:r>
              <a:rPr lang="vi-VN" sz="1500" b="1" dirty="0">
                <a:solidFill>
                  <a:srgbClr val="1B8A7A"/>
                </a:solidFill>
                <a:latin typeface="Arial"/>
              </a:rPr>
              <a:t>App</a:t>
            </a:r>
            <a:r>
              <a:rPr lang="vi-VN" sz="1400" b="1" dirty="0">
                <a:solidFill>
                  <a:srgbClr val="1B8A7A"/>
                </a:solidFill>
                <a:latin typeface="Arial"/>
              </a:rPr>
              <a:t>:</a:t>
            </a:r>
          </a:p>
        </p:txBody>
      </p:sp>
    </p:spTree>
    <p:extLst>
      <p:ext uri="{BB962C8B-B14F-4D97-AF65-F5344CB8AC3E}">
        <p14:creationId xmlns:p14="http://schemas.microsoft.com/office/powerpoint/2010/main" val="1877805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a:t>
            </a:r>
            <a:r>
              <a:rPr sz="2600" b="1" dirty="0">
                <a:solidFill>
                  <a:srgbClr val="FFFFFF"/>
                </a:solidFill>
                <a:latin typeface="Arial"/>
              </a:rPr>
              <a:t>. </a:t>
            </a:r>
            <a:r>
              <a:rPr sz="2600" b="1" dirty="0" err="1">
                <a:solidFill>
                  <a:srgbClr val="FFFFFF"/>
                </a:solidFill>
                <a:latin typeface="Arial"/>
              </a:rPr>
              <a:t>Dữ</a:t>
            </a:r>
            <a:r>
              <a:rPr sz="2600" b="1" dirty="0">
                <a:solidFill>
                  <a:srgbClr val="FFFFFF"/>
                </a:solidFill>
                <a:latin typeface="Arial"/>
              </a:rPr>
              <a:t> </a:t>
            </a:r>
            <a:r>
              <a:rPr sz="2600" b="1" dirty="0" err="1">
                <a:solidFill>
                  <a:srgbClr val="FFFFFF"/>
                </a:solidFill>
                <a:latin typeface="Arial"/>
              </a:rPr>
              <a:t>liệ</a:t>
            </a:r>
            <a:r>
              <a:rPr lang="en-US" sz="2600" b="1" dirty="0" err="1">
                <a:solidFill>
                  <a:srgbClr val="FFFFFF"/>
                </a:solidFill>
                <a:latin typeface="Arial"/>
              </a:rPr>
              <a:t>u</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a:t>
            </a:r>
            <a:r>
              <a:rPr lang="en-US" sz="1300" i="1" dirty="0" err="1">
                <a:solidFill>
                  <a:srgbClr val="CFE3EC"/>
                </a:solidFill>
                <a:latin typeface="Arial"/>
              </a:rPr>
              <a:t>Triều</a:t>
            </a:r>
            <a:endParaRPr lang="en-US" sz="1300" i="1" dirty="0">
              <a:solidFill>
                <a:srgbClr val="CFE3EC"/>
              </a:solidFill>
              <a:latin typeface="Arial"/>
            </a:endParaRPr>
          </a:p>
        </p:txBody>
      </p:sp>
      <p:sp>
        <p:nvSpPr>
          <p:cNvPr id="3" name="TextBox 2"/>
          <p:cNvSpPr txBox="1"/>
          <p:nvPr/>
        </p:nvSpPr>
        <p:spPr>
          <a:xfrm>
            <a:off x="502920" y="1289780"/>
            <a:ext cx="3647152" cy="323165"/>
          </a:xfrm>
          <a:prstGeom prst="rect">
            <a:avLst/>
          </a:prstGeom>
          <a:noFill/>
        </p:spPr>
        <p:txBody>
          <a:bodyPr wrap="none">
            <a:spAutoFit/>
          </a:bodyPr>
          <a:lstStyle/>
          <a:p>
            <a:r>
              <a:rPr sz="1500" b="1" dirty="0" err="1">
                <a:solidFill>
                  <a:srgbClr val="1B8A7A"/>
                </a:solidFill>
                <a:latin typeface="Arial"/>
              </a:rPr>
              <a:t>Dữ</a:t>
            </a:r>
            <a:r>
              <a:rPr sz="1500" b="1" dirty="0">
                <a:solidFill>
                  <a:srgbClr val="1B8A7A"/>
                </a:solidFill>
                <a:latin typeface="Arial"/>
              </a:rPr>
              <a:t> </a:t>
            </a:r>
            <a:r>
              <a:rPr sz="1500" b="1" dirty="0" err="1">
                <a:solidFill>
                  <a:srgbClr val="1B8A7A"/>
                </a:solidFill>
                <a:latin typeface="Arial"/>
              </a:rPr>
              <a:t>liệu</a:t>
            </a:r>
            <a:r>
              <a:rPr sz="1500" b="1" dirty="0">
                <a:solidFill>
                  <a:srgbClr val="1B8A7A"/>
                </a:solidFill>
                <a:latin typeface="Arial"/>
              </a:rPr>
              <a:t> &amp;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chất</a:t>
            </a:r>
            <a:r>
              <a:rPr sz="1500" b="1" dirty="0">
                <a:solidFill>
                  <a:srgbClr val="1B8A7A"/>
                </a:solidFill>
                <a:latin typeface="Arial"/>
              </a:rPr>
              <a:t> </a:t>
            </a:r>
            <a:r>
              <a:rPr sz="1500" b="1" dirty="0" err="1">
                <a:solidFill>
                  <a:srgbClr val="1B8A7A"/>
                </a:solidFill>
                <a:latin typeface="Arial"/>
              </a:rPr>
              <a:t>lượng</a:t>
            </a:r>
            <a:r>
              <a:rPr sz="1500" b="1" dirty="0">
                <a:solidFill>
                  <a:srgbClr val="1B8A7A"/>
                </a:solidFill>
                <a:latin typeface="Arial"/>
              </a:rPr>
              <a:t> </a:t>
            </a:r>
            <a:r>
              <a:rPr sz="1500" b="1" dirty="0" err="1">
                <a:solidFill>
                  <a:srgbClr val="1B8A7A"/>
                </a:solidFill>
                <a:latin typeface="Arial"/>
              </a:rPr>
              <a:t>nguồn</a:t>
            </a:r>
            <a:r>
              <a:rPr lang="vi-VN" sz="1500" b="1" dirty="0">
                <a:solidFill>
                  <a:srgbClr val="1B8A7A"/>
                </a:solidFill>
                <a:latin typeface="Arial"/>
              </a:rPr>
              <a:t>:</a:t>
            </a:r>
            <a:endParaRPr sz="1500" b="1" dirty="0">
              <a:solidFill>
                <a:srgbClr val="1B8A7A"/>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116995682"/>
              </p:ext>
            </p:extLst>
          </p:nvPr>
        </p:nvGraphicFramePr>
        <p:xfrm>
          <a:off x="518007" y="2234995"/>
          <a:ext cx="11155680" cy="128016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20040">
                <a:tc>
                  <a:txBody>
                    <a:bodyPr/>
                    <a:lstStyle/>
                    <a:p>
                      <a:r>
                        <a:rPr sz="1200" b="1">
                          <a:solidFill>
                            <a:srgbClr val="FFFFFF"/>
                          </a:solidFill>
                          <a:latin typeface="Arial"/>
                        </a:rPr>
                        <a:t>Bệnh</a:t>
                      </a:r>
                    </a:p>
                  </a:txBody>
                  <a:tcPr marL="73152" marR="73152" marT="27432" marB="27432" anchor="ctr">
                    <a:solidFill>
                      <a:srgbClr val="0F3D5E"/>
                    </a:solidFill>
                  </a:tcPr>
                </a:tc>
                <a:tc>
                  <a:txBody>
                    <a:bodyPr/>
                    <a:lstStyle/>
                    <a:p>
                      <a:r>
                        <a:rPr sz="1200" b="1" dirty="0" err="1">
                          <a:solidFill>
                            <a:srgbClr val="FFFFFF"/>
                          </a:solidFill>
                          <a:latin typeface="Arial"/>
                        </a:rPr>
                        <a:t>Bộ</a:t>
                      </a:r>
                      <a:r>
                        <a:rPr sz="1200" b="1" dirty="0">
                          <a:solidFill>
                            <a:srgbClr val="FFFFFF"/>
                          </a:solidFill>
                          <a:latin typeface="Arial"/>
                        </a:rPr>
                        <a:t> </a:t>
                      </a:r>
                      <a:r>
                        <a:rPr sz="1200" b="1" dirty="0" err="1">
                          <a:solidFill>
                            <a:srgbClr val="FFFFFF"/>
                          </a:solidFill>
                          <a:latin typeface="Arial"/>
                        </a:rPr>
                        <a:t>dữ</a:t>
                      </a:r>
                      <a:r>
                        <a:rPr sz="1200" b="1" dirty="0">
                          <a:solidFill>
                            <a:srgbClr val="FFFFFF"/>
                          </a:solidFill>
                          <a:latin typeface="Arial"/>
                        </a:rPr>
                        <a:t> </a:t>
                      </a:r>
                      <a:r>
                        <a:rPr sz="1200" b="1" dirty="0" err="1">
                          <a:solidFill>
                            <a:srgbClr val="FFFFFF"/>
                          </a:solidFill>
                          <a:latin typeface="Arial"/>
                        </a:rPr>
                        <a:t>liệu</a:t>
                      </a:r>
                      <a:endParaRPr sz="1200" b="1" dirty="0">
                        <a:solidFill>
                          <a:srgbClr val="FFFFFF"/>
                        </a:solidFill>
                        <a:latin typeface="Arial"/>
                      </a:endParaRPr>
                    </a:p>
                  </a:txBody>
                  <a:tcPr marL="73152" marR="73152" marT="27432" marB="27432" anchor="ctr">
                    <a:solidFill>
                      <a:srgbClr val="0F3D5E"/>
                    </a:solidFill>
                  </a:tcPr>
                </a:tc>
                <a:tc>
                  <a:txBody>
                    <a:bodyPr/>
                    <a:lstStyle/>
                    <a:p>
                      <a:r>
                        <a:rPr sz="1200" b="1">
                          <a:solidFill>
                            <a:srgbClr val="FFFFFF"/>
                          </a:solidFill>
                          <a:latin typeface="Arial"/>
                        </a:rPr>
                        <a:t>Số dòng</a:t>
                      </a:r>
                    </a:p>
                  </a:txBody>
                  <a:tcPr marL="73152" marR="73152" marT="27432" marB="27432" anchor="ctr">
                    <a:solidFill>
                      <a:srgbClr val="0F3D5E"/>
                    </a:solidFill>
                  </a:tcPr>
                </a:tc>
                <a:tc>
                  <a:txBody>
                    <a:bodyPr/>
                    <a:lstStyle/>
                    <a:p>
                      <a:r>
                        <a:rPr sz="1200" b="1">
                          <a:solidFill>
                            <a:srgbClr val="FFFFFF"/>
                          </a:solidFill>
                          <a:latin typeface="Arial"/>
                        </a:rPr>
                        <a:t>Đặc trưng</a:t>
                      </a:r>
                    </a:p>
                  </a:txBody>
                  <a:tcPr marL="73152" marR="73152" marT="27432" marB="27432" anchor="ctr">
                    <a:solidFill>
                      <a:srgbClr val="0F3D5E"/>
                    </a:solidFill>
                  </a:tcPr>
                </a:tc>
                <a:tc>
                  <a:txBody>
                    <a:bodyPr/>
                    <a:lstStyle/>
                    <a:p>
                      <a:r>
                        <a:rPr sz="1200" b="1">
                          <a:solidFill>
                            <a:srgbClr val="FFFFFF"/>
                          </a:solidFill>
                          <a:latin typeface="Arial"/>
                        </a:rPr>
                        <a:t>Nhãn</a:t>
                      </a:r>
                    </a:p>
                  </a:txBody>
                  <a:tcPr marL="73152" marR="73152" marT="27432" marB="27432" anchor="ctr">
                    <a:solidFill>
                      <a:srgbClr val="0F3D5E"/>
                    </a:solidFill>
                  </a:tcPr>
                </a:tc>
                <a:extLst>
                  <a:ext uri="{0D108BD9-81ED-4DB2-BD59-A6C34878D82A}">
                    <a16:rowId xmlns:a16="http://schemas.microsoft.com/office/drawing/2014/main" val="10000"/>
                  </a:ext>
                </a:extLst>
              </a:tr>
              <a:tr h="320040">
                <a:tc>
                  <a:txBody>
                    <a:bodyPr/>
                    <a:lstStyle/>
                    <a:p>
                      <a:r>
                        <a:rPr sz="1200">
                          <a:solidFill>
                            <a:srgbClr val="444B52"/>
                          </a:solidFill>
                          <a:latin typeface="Arial"/>
                        </a:rPr>
                        <a:t>Tim mạch</a:t>
                      </a:r>
                    </a:p>
                  </a:txBody>
                  <a:tcPr marL="73152" marR="73152" marT="27432" marB="27432" anchor="ctr">
                    <a:solidFill>
                      <a:srgbClr val="FFFFFF"/>
                    </a:solidFill>
                  </a:tcPr>
                </a:tc>
                <a:tc>
                  <a:txBody>
                    <a:bodyPr/>
                    <a:lstStyle/>
                    <a:p>
                      <a:r>
                        <a:rPr sz="1200" dirty="0">
                          <a:solidFill>
                            <a:srgbClr val="444B52"/>
                          </a:solidFill>
                          <a:latin typeface="Arial"/>
                        </a:rPr>
                        <a:t>Cardiovascular Disease (Kaggle)</a:t>
                      </a:r>
                    </a:p>
                  </a:txBody>
                  <a:tcPr marL="73152" marR="73152" marT="27432" marB="27432" anchor="ctr">
                    <a:solidFill>
                      <a:srgbClr val="FFFFFF"/>
                    </a:solidFill>
                  </a:tcPr>
                </a:tc>
                <a:tc>
                  <a:txBody>
                    <a:bodyPr/>
                    <a:lstStyle/>
                    <a:p>
                      <a:r>
                        <a:rPr sz="1200">
                          <a:solidFill>
                            <a:srgbClr val="444B52"/>
                          </a:solidFill>
                          <a:latin typeface="Arial"/>
                        </a:rPr>
                        <a:t>70.000</a:t>
                      </a:r>
                    </a:p>
                  </a:txBody>
                  <a:tcPr marL="73152" marR="73152" marT="27432" marB="27432" anchor="ctr">
                    <a:solidFill>
                      <a:srgbClr val="FFFFFF"/>
                    </a:solidFill>
                  </a:tcPr>
                </a:tc>
                <a:tc>
                  <a:txBody>
                    <a:bodyPr/>
                    <a:lstStyle/>
                    <a:p>
                      <a:r>
                        <a:rPr sz="1200">
                          <a:solidFill>
                            <a:srgbClr val="444B52"/>
                          </a:solidFill>
                          <a:latin typeface="Arial"/>
                        </a:rPr>
                        <a:t>11</a:t>
                      </a:r>
                    </a:p>
                  </a:txBody>
                  <a:tcPr marL="73152" marR="73152" marT="27432" marB="27432" anchor="ctr">
                    <a:solidFill>
                      <a:srgbClr val="FFFFFF"/>
                    </a:solidFill>
                  </a:tcPr>
                </a:tc>
                <a:tc>
                  <a:txBody>
                    <a:bodyPr/>
                    <a:lstStyle/>
                    <a:p>
                      <a:r>
                        <a:rPr sz="1200">
                          <a:solidFill>
                            <a:srgbClr val="444B52"/>
                          </a:solidFill>
                          <a:latin typeface="Arial"/>
                        </a:rPr>
                        <a:t>cardio</a:t>
                      </a:r>
                    </a:p>
                  </a:txBody>
                  <a:tcPr marL="73152" marR="73152" marT="27432" marB="27432" anchor="ctr">
                    <a:solidFill>
                      <a:srgbClr val="FFFFFF"/>
                    </a:solidFill>
                  </a:tcPr>
                </a:tc>
                <a:extLst>
                  <a:ext uri="{0D108BD9-81ED-4DB2-BD59-A6C34878D82A}">
                    <a16:rowId xmlns:a16="http://schemas.microsoft.com/office/drawing/2014/main" val="10001"/>
                  </a:ext>
                </a:extLst>
              </a:tr>
              <a:tr h="320040">
                <a:tc>
                  <a:txBody>
                    <a:bodyPr/>
                    <a:lstStyle/>
                    <a:p>
                      <a:r>
                        <a:rPr sz="1200">
                          <a:solidFill>
                            <a:srgbClr val="444B52"/>
                          </a:solidFill>
                          <a:latin typeface="Arial"/>
                        </a:rPr>
                        <a:t>Tiểu đường</a:t>
                      </a:r>
                    </a:p>
                  </a:txBody>
                  <a:tcPr marL="73152" marR="73152" marT="27432" marB="27432" anchor="ctr">
                    <a:solidFill>
                      <a:srgbClr val="EAF2F6"/>
                    </a:solidFill>
                  </a:tcPr>
                </a:tc>
                <a:tc>
                  <a:txBody>
                    <a:bodyPr/>
                    <a:lstStyle/>
                    <a:p>
                      <a:r>
                        <a:rPr sz="1200" dirty="0">
                          <a:solidFill>
                            <a:srgbClr val="444B52"/>
                          </a:solidFill>
                          <a:latin typeface="Arial"/>
                        </a:rPr>
                        <a:t>Pima Indians Diabetes</a:t>
                      </a:r>
                    </a:p>
                  </a:txBody>
                  <a:tcPr marL="73152" marR="73152" marT="27432" marB="27432" anchor="ctr">
                    <a:solidFill>
                      <a:srgbClr val="EAF2F6"/>
                    </a:solidFill>
                  </a:tcPr>
                </a:tc>
                <a:tc>
                  <a:txBody>
                    <a:bodyPr/>
                    <a:lstStyle/>
                    <a:p>
                      <a:r>
                        <a:rPr sz="1200">
                          <a:solidFill>
                            <a:srgbClr val="444B52"/>
                          </a:solidFill>
                          <a:latin typeface="Arial"/>
                        </a:rPr>
                        <a:t>768</a:t>
                      </a:r>
                    </a:p>
                  </a:txBody>
                  <a:tcPr marL="73152" marR="73152" marT="27432" marB="27432" anchor="ctr">
                    <a:solidFill>
                      <a:srgbClr val="EAF2F6"/>
                    </a:solidFill>
                  </a:tcPr>
                </a:tc>
                <a:tc>
                  <a:txBody>
                    <a:bodyPr/>
                    <a:lstStyle/>
                    <a:p>
                      <a:r>
                        <a:rPr sz="1200">
                          <a:solidFill>
                            <a:srgbClr val="444B52"/>
                          </a:solidFill>
                          <a:latin typeface="Arial"/>
                        </a:rPr>
                        <a:t>8</a:t>
                      </a:r>
                    </a:p>
                  </a:txBody>
                  <a:tcPr marL="73152" marR="73152" marT="27432" marB="27432" anchor="ctr">
                    <a:solidFill>
                      <a:srgbClr val="EAF2F6"/>
                    </a:solidFill>
                  </a:tcPr>
                </a:tc>
                <a:tc>
                  <a:txBody>
                    <a:bodyPr/>
                    <a:lstStyle/>
                    <a:p>
                      <a:r>
                        <a:rPr sz="1200" dirty="0">
                          <a:solidFill>
                            <a:srgbClr val="444B52"/>
                          </a:solidFill>
                          <a:latin typeface="Arial"/>
                        </a:rPr>
                        <a:t>Outcome</a:t>
                      </a:r>
                    </a:p>
                  </a:txBody>
                  <a:tcPr marL="73152" marR="73152" marT="27432" marB="27432" anchor="ctr">
                    <a:solidFill>
                      <a:srgbClr val="EAF2F6"/>
                    </a:solidFill>
                  </a:tcPr>
                </a:tc>
                <a:extLst>
                  <a:ext uri="{0D108BD9-81ED-4DB2-BD59-A6C34878D82A}">
                    <a16:rowId xmlns:a16="http://schemas.microsoft.com/office/drawing/2014/main" val="10002"/>
                  </a:ext>
                </a:extLst>
              </a:tr>
              <a:tr h="320040">
                <a:tc>
                  <a:txBody>
                    <a:bodyPr/>
                    <a:lstStyle/>
                    <a:p>
                      <a:r>
                        <a:rPr sz="1200">
                          <a:solidFill>
                            <a:srgbClr val="444B52"/>
                          </a:solidFill>
                          <a:latin typeface="Arial"/>
                        </a:rPr>
                        <a:t>Tăng huyết áp</a:t>
                      </a:r>
                    </a:p>
                  </a:txBody>
                  <a:tcPr marL="73152" marR="73152" marT="27432" marB="27432" anchor="ctr">
                    <a:solidFill>
                      <a:srgbClr val="FFFFFF"/>
                    </a:solidFill>
                  </a:tcPr>
                </a:tc>
                <a:tc>
                  <a:txBody>
                    <a:bodyPr/>
                    <a:lstStyle/>
                    <a:p>
                      <a:r>
                        <a:rPr sz="1200" dirty="0">
                          <a:solidFill>
                            <a:srgbClr val="444B52"/>
                          </a:solidFill>
                          <a:latin typeface="Arial"/>
                        </a:rPr>
                        <a:t>Framingham Heart Study</a:t>
                      </a:r>
                    </a:p>
                  </a:txBody>
                  <a:tcPr marL="73152" marR="73152" marT="27432" marB="27432" anchor="ctr">
                    <a:solidFill>
                      <a:srgbClr val="FFFFFF"/>
                    </a:solidFill>
                  </a:tcPr>
                </a:tc>
                <a:tc>
                  <a:txBody>
                    <a:bodyPr/>
                    <a:lstStyle/>
                    <a:p>
                      <a:r>
                        <a:rPr sz="1200">
                          <a:solidFill>
                            <a:srgbClr val="444B52"/>
                          </a:solidFill>
                          <a:latin typeface="Arial"/>
                        </a:rPr>
                        <a:t>4.240</a:t>
                      </a:r>
                    </a:p>
                  </a:txBody>
                  <a:tcPr marL="73152" marR="73152" marT="27432" marB="27432" anchor="ctr">
                    <a:solidFill>
                      <a:srgbClr val="FFFFFF"/>
                    </a:solidFill>
                  </a:tcPr>
                </a:tc>
                <a:tc>
                  <a:txBody>
                    <a:bodyPr/>
                    <a:lstStyle/>
                    <a:p>
                      <a:r>
                        <a:rPr sz="1200">
                          <a:solidFill>
                            <a:srgbClr val="444B52"/>
                          </a:solidFill>
                          <a:latin typeface="Arial"/>
                        </a:rPr>
                        <a:t>12</a:t>
                      </a:r>
                    </a:p>
                  </a:txBody>
                  <a:tcPr marL="73152" marR="73152" marT="27432" marB="27432" anchor="ctr">
                    <a:solidFill>
                      <a:srgbClr val="FFFFFF"/>
                    </a:solidFill>
                  </a:tcPr>
                </a:tc>
                <a:tc>
                  <a:txBody>
                    <a:bodyPr/>
                    <a:lstStyle/>
                    <a:p>
                      <a:r>
                        <a:rPr sz="1200" dirty="0">
                          <a:solidFill>
                            <a:srgbClr val="444B52"/>
                          </a:solidFill>
                          <a:latin typeface="Arial"/>
                        </a:rPr>
                        <a:t>Risk</a:t>
                      </a:r>
                    </a:p>
                  </a:txBody>
                  <a:tcPr marL="73152" marR="73152"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502920" y="3976208"/>
            <a:ext cx="11185855" cy="1690206"/>
          </a:xfrm>
          <a:prstGeom prst="rect">
            <a:avLst/>
          </a:prstGeom>
          <a:noFill/>
        </p:spPr>
        <p:txBody>
          <a:bodyPr wrap="square">
            <a:spAutoFit/>
          </a:bodyPr>
          <a:lstStyle/>
          <a:p>
            <a:pPr>
              <a:spcAft>
                <a:spcPts val="400"/>
              </a:spcAft>
            </a:pPr>
            <a:r>
              <a:rPr lang="en-VN" sz="1400" dirty="0"/>
              <a:t>Nguồn dữ liệu là các dataset công khai trên Kaggle. Nhóm thực hiện kiểm tra chất lượng, tính phù hợp và đặc điểm của từng bộ dữ liệu trước khi sử dụng cho huấn luyện mô hình</a:t>
            </a:r>
            <a:br>
              <a:rPr lang="en-VN" sz="1400" dirty="0"/>
            </a:br>
            <a:endParaRPr lang="vi-VN" sz="1250" dirty="0">
              <a:solidFill>
                <a:srgbClr val="444B52"/>
              </a:solidFill>
              <a:latin typeface="Arial"/>
            </a:endParaRPr>
          </a:p>
          <a:p>
            <a:pPr>
              <a:spcAft>
                <a:spcPts val="400"/>
              </a:spcAft>
            </a:pPr>
            <a:r>
              <a:rPr lang="vi-VN" sz="1250" dirty="0">
                <a:solidFill>
                  <a:srgbClr val="444B52"/>
                </a:solidFill>
                <a:latin typeface="Arial"/>
              </a:rPr>
              <a:t>Nguồn:</a:t>
            </a:r>
          </a:p>
          <a:p>
            <a:pPr>
              <a:spcAft>
                <a:spcPts val="400"/>
              </a:spcAft>
            </a:pPr>
            <a:r>
              <a:rPr lang="vi-VN" sz="1250" dirty="0">
                <a:solidFill>
                  <a:srgbClr val="444B52"/>
                </a:solidFill>
                <a:latin typeface="Arial"/>
                <a:hlinkClick r:id="rId3"/>
              </a:rPr>
              <a:t>http://kaggle.com/datasets/jamaltariqcheema/pima-indians-diabetes-dataset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4"/>
              </a:rPr>
              <a:t>https://www.kaggle.com/datasets/sulianova/cardiovascular-disease-dataset</a:t>
            </a:r>
            <a:endParaRPr lang="vi-VN" sz="1250" dirty="0">
              <a:solidFill>
                <a:srgbClr val="444B52"/>
              </a:solidFill>
              <a:latin typeface="Arial"/>
            </a:endParaRPr>
          </a:p>
          <a:p>
            <a:pPr>
              <a:spcAft>
                <a:spcPts val="400"/>
              </a:spcAft>
            </a:pPr>
            <a:r>
              <a:rPr lang="vi-VN" sz="1250" dirty="0">
                <a:solidFill>
                  <a:srgbClr val="444B52"/>
                </a:solidFill>
                <a:latin typeface="Arial"/>
                <a:hlinkClick r:id="rId5"/>
              </a:rPr>
              <a:t>https://www.kaggle.com/datasets/khan1803115/hypertension-risk-model-main</a:t>
            </a:r>
            <a:endParaRPr lang="vi-VN" sz="1250" dirty="0">
              <a:solidFill>
                <a:srgbClr val="444B5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5</a:t>
            </a:r>
            <a:r>
              <a:rPr sz="2600" b="1" dirty="0">
                <a:solidFill>
                  <a:srgbClr val="FFFFFF"/>
                </a:solidFill>
                <a:latin typeface="Arial"/>
              </a:rPr>
              <a:t>. Dem</a:t>
            </a:r>
            <a:r>
              <a:rPr lang="vi-VN" sz="2600" b="1" dirty="0">
                <a:solidFill>
                  <a:srgbClr val="FFFFFF"/>
                </a:solidFill>
                <a:latin typeface="Arial"/>
              </a:rPr>
              <a:t>o</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20" y="1325880"/>
            <a:ext cx="11185855" cy="1192634"/>
          </a:xfrm>
          <a:prstGeom prst="rect">
            <a:avLst/>
          </a:prstGeom>
          <a:noFill/>
        </p:spPr>
        <p:txBody>
          <a:bodyPr wrap="square">
            <a:spAutoFit/>
          </a:bodyPr>
          <a:lstStyle/>
          <a:p>
            <a:pPr>
              <a:spcAft>
                <a:spcPts val="500"/>
              </a:spcAft>
            </a:pPr>
            <a:r>
              <a:rPr lang="vi-VN" sz="1500" b="1" dirty="0">
                <a:solidFill>
                  <a:srgbClr val="1B8A7A"/>
                </a:solidFill>
                <a:latin typeface="Arial"/>
              </a:rPr>
              <a:t>1 - </a:t>
            </a:r>
            <a:r>
              <a:rPr sz="1500" b="1" dirty="0" err="1">
                <a:solidFill>
                  <a:srgbClr val="1B8A7A"/>
                </a:solidFill>
                <a:latin typeface="Arial"/>
              </a:rPr>
              <a:t>Đánh</a:t>
            </a:r>
            <a:r>
              <a:rPr sz="1500" b="1" dirty="0">
                <a:solidFill>
                  <a:srgbClr val="1B8A7A"/>
                </a:solidFill>
                <a:latin typeface="Arial"/>
              </a:rPr>
              <a:t> </a:t>
            </a:r>
            <a:r>
              <a:rPr sz="1500" b="1" dirty="0" err="1">
                <a:solidFill>
                  <a:srgbClr val="1B8A7A"/>
                </a:solidFill>
                <a:latin typeface="Arial"/>
              </a:rPr>
              <a:t>giá</a:t>
            </a:r>
            <a:r>
              <a:rPr sz="1500" b="1" dirty="0">
                <a:solidFill>
                  <a:srgbClr val="1B8A7A"/>
                </a:solidFill>
                <a:latin typeface="Arial"/>
              </a:rPr>
              <a:t> </a:t>
            </a:r>
            <a:r>
              <a:rPr sz="1500" b="1" dirty="0" err="1">
                <a:solidFill>
                  <a:srgbClr val="1B8A7A"/>
                </a:solidFill>
                <a:latin typeface="Arial"/>
              </a:rPr>
              <a:t>rủi</a:t>
            </a:r>
            <a:r>
              <a:rPr sz="1500" b="1" dirty="0">
                <a:solidFill>
                  <a:srgbClr val="1B8A7A"/>
                </a:solidFill>
                <a:latin typeface="Arial"/>
              </a:rPr>
              <a:t> </a:t>
            </a:r>
            <a:r>
              <a:rPr sz="1500" b="1" dirty="0" err="1">
                <a:solidFill>
                  <a:srgbClr val="1B8A7A"/>
                </a:solidFill>
                <a:latin typeface="Arial"/>
              </a:rPr>
              <a:t>ro</a:t>
            </a:r>
            <a:r>
              <a:rPr sz="1500" b="1" dirty="0">
                <a:solidFill>
                  <a:srgbClr val="1B8A7A"/>
                </a:solidFill>
                <a:latin typeface="Arial"/>
              </a:rPr>
              <a:t> 3 </a:t>
            </a:r>
            <a:r>
              <a:rPr sz="1500" b="1" dirty="0" err="1">
                <a:solidFill>
                  <a:srgbClr val="1B8A7A"/>
                </a:solidFill>
                <a:latin typeface="Arial"/>
              </a:rPr>
              <a:t>bệnh</a:t>
            </a:r>
            <a:r>
              <a:rPr sz="1500" b="1" dirty="0">
                <a:solidFill>
                  <a:srgbClr val="1B8A7A"/>
                </a:solidFill>
                <a:latin typeface="Arial"/>
              </a:rPr>
              <a:t> </a:t>
            </a:r>
            <a:r>
              <a:rPr sz="1500" b="1" dirty="0" err="1">
                <a:solidFill>
                  <a:srgbClr val="1B8A7A"/>
                </a:solidFill>
                <a:latin typeface="Arial"/>
              </a:rPr>
              <a:t>mãn</a:t>
            </a:r>
            <a:r>
              <a:rPr sz="1500" b="1" dirty="0">
                <a:solidFill>
                  <a:srgbClr val="1B8A7A"/>
                </a:solidFill>
                <a:latin typeface="Arial"/>
              </a:rPr>
              <a:t> </a:t>
            </a:r>
            <a:r>
              <a:rPr sz="1500" b="1" dirty="0" err="1">
                <a:solidFill>
                  <a:srgbClr val="1B8A7A"/>
                </a:solidFill>
                <a:latin typeface="Arial"/>
              </a:rPr>
              <a:t>tính</a:t>
            </a:r>
            <a:endParaRPr lang="en-US" sz="1500" b="1" dirty="0">
              <a:solidFill>
                <a:srgbClr val="1B8A7A"/>
              </a:solidFill>
              <a:latin typeface="Arial"/>
            </a:endParaRPr>
          </a:p>
          <a:p>
            <a:pPr>
              <a:spcAft>
                <a:spcPts val="500"/>
              </a:spcAft>
            </a:pPr>
            <a:r>
              <a:rPr lang="en-US" sz="1500" b="1" dirty="0">
                <a:solidFill>
                  <a:srgbClr val="1B8A7A"/>
                </a:solidFill>
                <a:latin typeface="Arial"/>
              </a:rPr>
              <a:t>2 - </a:t>
            </a:r>
            <a:r>
              <a:rPr lang="en-US" sz="1500" b="1" dirty="0" err="1">
                <a:solidFill>
                  <a:srgbClr val="1B8A7A"/>
                </a:solidFill>
                <a:latin typeface="Arial"/>
              </a:rPr>
              <a:t>Khuyến</a:t>
            </a:r>
            <a:r>
              <a:rPr lang="en-US" sz="1500" b="1" dirty="0">
                <a:solidFill>
                  <a:srgbClr val="1B8A7A"/>
                </a:solidFill>
                <a:latin typeface="Arial"/>
              </a:rPr>
              <a:t> </a:t>
            </a:r>
            <a:r>
              <a:rPr lang="en-US" sz="1500" b="1" dirty="0" err="1">
                <a:solidFill>
                  <a:srgbClr val="1B8A7A"/>
                </a:solidFill>
                <a:latin typeface="Arial"/>
              </a:rPr>
              <a:t>nghị</a:t>
            </a:r>
            <a:endParaRPr lang="en-US" sz="1500" b="1" dirty="0">
              <a:solidFill>
                <a:srgbClr val="1B8A7A"/>
              </a:solidFill>
              <a:latin typeface="Arial"/>
            </a:endParaRPr>
          </a:p>
          <a:p>
            <a:pPr>
              <a:spcAft>
                <a:spcPts val="500"/>
              </a:spcAft>
            </a:pPr>
            <a:r>
              <a:rPr lang="en-US" sz="1500" b="1" dirty="0">
                <a:solidFill>
                  <a:srgbClr val="1B8A7A"/>
                </a:solidFill>
                <a:latin typeface="Arial"/>
              </a:rPr>
              <a:t>3 - CRUD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bệnh</a:t>
            </a:r>
            <a:r>
              <a:rPr lang="en-US" sz="1500" b="1" dirty="0">
                <a:solidFill>
                  <a:srgbClr val="1B8A7A"/>
                </a:solidFill>
                <a:latin typeface="Arial"/>
              </a:rPr>
              <a:t> </a:t>
            </a:r>
            <a:r>
              <a:rPr lang="en-US" sz="1500" b="1" dirty="0" err="1">
                <a:solidFill>
                  <a:srgbClr val="1B8A7A"/>
                </a:solidFill>
                <a:latin typeface="Arial"/>
              </a:rPr>
              <a:t>nhân</a:t>
            </a:r>
            <a:r>
              <a:rPr lang="en-US" sz="1500" b="1" dirty="0">
                <a:solidFill>
                  <a:srgbClr val="1B8A7A"/>
                </a:solidFill>
                <a:latin typeface="Arial"/>
              </a:rPr>
              <a:t> </a:t>
            </a:r>
            <a:r>
              <a:rPr lang="en-US" sz="1500" b="1" dirty="0" err="1">
                <a:solidFill>
                  <a:srgbClr val="1B8A7A"/>
                </a:solidFill>
                <a:latin typeface="Arial"/>
              </a:rPr>
              <a:t>và</a:t>
            </a:r>
            <a:r>
              <a:rPr lang="en-US" sz="1500" b="1" dirty="0">
                <a:solidFill>
                  <a:srgbClr val="1B8A7A"/>
                </a:solidFill>
                <a:latin typeface="Arial"/>
              </a:rPr>
              <a:t> </a:t>
            </a:r>
            <a:r>
              <a:rPr lang="en-US" sz="1500" b="1" dirty="0" err="1">
                <a:solidFill>
                  <a:srgbClr val="1B8A7A"/>
                </a:solidFill>
                <a:latin typeface="Arial"/>
              </a:rPr>
              <a:t>thông</a:t>
            </a:r>
            <a:r>
              <a:rPr lang="en-US" sz="1500" b="1" dirty="0">
                <a:solidFill>
                  <a:srgbClr val="1B8A7A"/>
                </a:solidFill>
                <a:latin typeface="Arial"/>
              </a:rPr>
              <a:t> tin </a:t>
            </a:r>
            <a:r>
              <a:rPr lang="en-US" sz="1500" b="1" dirty="0" err="1">
                <a:solidFill>
                  <a:srgbClr val="1B8A7A"/>
                </a:solidFill>
                <a:latin typeface="Arial"/>
              </a:rPr>
              <a:t>đo</a:t>
            </a:r>
            <a:r>
              <a:rPr lang="en-US" sz="1500" b="1" dirty="0">
                <a:solidFill>
                  <a:srgbClr val="1B8A7A"/>
                </a:solidFill>
                <a:latin typeface="Arial"/>
              </a:rPr>
              <a:t> </a:t>
            </a:r>
            <a:r>
              <a:rPr lang="en-US" sz="1500" b="1" dirty="0" err="1">
                <a:solidFill>
                  <a:srgbClr val="1B8A7A"/>
                </a:solidFill>
                <a:latin typeface="Arial"/>
              </a:rPr>
              <a:t>sức</a:t>
            </a:r>
            <a:r>
              <a:rPr lang="en-US" sz="1500" b="1" dirty="0">
                <a:solidFill>
                  <a:srgbClr val="1B8A7A"/>
                </a:solidFill>
                <a:latin typeface="Arial"/>
              </a:rPr>
              <a:t> </a:t>
            </a:r>
            <a:r>
              <a:rPr lang="en-US" sz="1500" b="1" dirty="0" err="1">
                <a:solidFill>
                  <a:srgbClr val="1B8A7A"/>
                </a:solidFill>
                <a:latin typeface="Arial"/>
              </a:rPr>
              <a:t>khoẻ</a:t>
            </a:r>
            <a:endParaRPr lang="en-US" sz="1500" b="1" dirty="0">
              <a:solidFill>
                <a:srgbClr val="1B8A7A"/>
              </a:solidFill>
              <a:latin typeface="Arial"/>
            </a:endParaRPr>
          </a:p>
          <a:p>
            <a:pPr lvl="1">
              <a:spcAft>
                <a:spcPts val="500"/>
              </a:spcAft>
            </a:pPr>
            <a:endParaRPr lang="vi-VN" sz="1400" dirty="0">
              <a:solidFill>
                <a:srgbClr val="444B52"/>
              </a:solidFill>
              <a:latin typeface="Arial"/>
            </a:endParaRPr>
          </a:p>
        </p:txBody>
      </p:sp>
      <p:pic>
        <p:nvPicPr>
          <p:cNvPr id="5" name="Picture 4">
            <a:extLst>
              <a:ext uri="{FF2B5EF4-FFF2-40B4-BE49-F238E27FC236}">
                <a16:creationId xmlns:a16="http://schemas.microsoft.com/office/drawing/2014/main" id="{03E4DB9C-CCBF-6763-FF37-4C651DDB31E8}"/>
              </a:ext>
            </a:extLst>
          </p:cNvPr>
          <p:cNvPicPr>
            <a:picLocks noChangeAspect="1"/>
          </p:cNvPicPr>
          <p:nvPr/>
        </p:nvPicPr>
        <p:blipFill>
          <a:blip r:embed="rId3"/>
          <a:stretch>
            <a:fillRect/>
          </a:stretch>
        </p:blipFill>
        <p:spPr>
          <a:xfrm>
            <a:off x="2467880" y="2438271"/>
            <a:ext cx="7255934" cy="421163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6</a:t>
            </a:r>
            <a:r>
              <a:rPr sz="2600" b="1" dirty="0">
                <a:solidFill>
                  <a:srgbClr val="FFFFFF"/>
                </a:solidFill>
                <a:latin typeface="Arial"/>
              </a:rPr>
              <a:t>. </a:t>
            </a:r>
            <a:r>
              <a:rPr sz="2600" b="1" dirty="0" err="1">
                <a:solidFill>
                  <a:srgbClr val="FFFFFF"/>
                </a:solidFill>
                <a:latin typeface="Arial"/>
              </a:rPr>
              <a:t>Hạn</a:t>
            </a:r>
            <a:r>
              <a:rPr sz="2600" b="1" dirty="0">
                <a:solidFill>
                  <a:srgbClr val="FFFFFF"/>
                </a:solidFill>
                <a:latin typeface="Arial"/>
              </a:rPr>
              <a:t> </a:t>
            </a:r>
            <a:r>
              <a:rPr sz="2600" b="1" dirty="0" err="1">
                <a:solidFill>
                  <a:srgbClr val="FFFFFF"/>
                </a:solidFill>
                <a:latin typeface="Arial"/>
              </a:rPr>
              <a:t>chế</a:t>
            </a:r>
            <a:r>
              <a:rPr sz="2600" b="1" dirty="0">
                <a:solidFill>
                  <a:srgbClr val="FFFFFF"/>
                </a:solidFill>
                <a:latin typeface="Arial"/>
              </a:rPr>
              <a:t> &amp; </a:t>
            </a:r>
            <a:r>
              <a:rPr sz="2600" b="1" dirty="0" err="1">
                <a:solidFill>
                  <a:srgbClr val="FFFFFF"/>
                </a:solidFill>
                <a:latin typeface="Arial"/>
              </a:rPr>
              <a:t>Hướng</a:t>
            </a:r>
            <a:r>
              <a:rPr sz="2600" b="1" dirty="0">
                <a:solidFill>
                  <a:srgbClr val="FFFFFF"/>
                </a:solidFill>
                <a:latin typeface="Arial"/>
              </a:rPr>
              <a:t> </a:t>
            </a:r>
            <a:r>
              <a:rPr sz="2600" b="1" dirty="0" err="1">
                <a:solidFill>
                  <a:srgbClr val="FFFFFF"/>
                </a:solidFill>
                <a:latin typeface="Arial"/>
              </a:rPr>
              <a:t>cải</a:t>
            </a:r>
            <a:r>
              <a:rPr sz="2600" b="1" dirty="0">
                <a:solidFill>
                  <a:srgbClr val="FFFFFF"/>
                </a:solidFill>
                <a:latin typeface="Arial"/>
              </a:rPr>
              <a:t> </a:t>
            </a:r>
            <a:r>
              <a:rPr sz="2600" b="1" dirty="0" err="1">
                <a:solidFill>
                  <a:srgbClr val="FFFFFF"/>
                </a:solidFill>
                <a:latin typeface="Arial"/>
              </a:rPr>
              <a:t>thiện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p:cNvSpPr txBox="1"/>
          <p:nvPr/>
        </p:nvSpPr>
        <p:spPr>
          <a:xfrm>
            <a:off x="502919" y="1656080"/>
            <a:ext cx="11185855" cy="2662267"/>
          </a:xfrm>
          <a:prstGeom prst="rect">
            <a:avLst/>
          </a:prstGeom>
          <a:noFill/>
        </p:spPr>
        <p:txBody>
          <a:bodyPr wrap="square">
            <a:spAutoFit/>
          </a:bodyPr>
          <a:lstStyle/>
          <a:p>
            <a:pPr>
              <a:spcAft>
                <a:spcPts val="500"/>
              </a:spcAft>
            </a:pPr>
            <a:r>
              <a:rPr sz="1500" b="1" dirty="0">
                <a:solidFill>
                  <a:srgbClr val="1B8A7A"/>
                </a:solidFill>
                <a:latin typeface="Arial"/>
              </a:rPr>
              <a:t>•  </a:t>
            </a:r>
            <a:r>
              <a:rPr sz="1500" b="1" dirty="0" err="1">
                <a:solidFill>
                  <a:srgbClr val="1B8A7A"/>
                </a:solidFill>
                <a:latin typeface="Arial"/>
              </a:rPr>
              <a:t>Hạn</a:t>
            </a:r>
            <a:r>
              <a:rPr sz="1500" b="1" dirty="0">
                <a:solidFill>
                  <a:srgbClr val="1B8A7A"/>
                </a:solidFill>
                <a:latin typeface="Arial"/>
              </a:rPr>
              <a:t> </a:t>
            </a:r>
            <a:r>
              <a:rPr sz="1500" b="1" dirty="0" err="1">
                <a:solidFill>
                  <a:srgbClr val="1B8A7A"/>
                </a:solidFill>
                <a:latin typeface="Arial"/>
              </a:rPr>
              <a:t>chế</a:t>
            </a:r>
            <a:r>
              <a:rPr sz="1500" b="1" dirty="0">
                <a:solidFill>
                  <a:srgbClr val="1B8A7A"/>
                </a:solidFill>
                <a:latin typeface="Arial"/>
              </a:rPr>
              <a:t> </a:t>
            </a:r>
            <a:r>
              <a:rPr sz="1500" b="1" dirty="0" err="1">
                <a:solidFill>
                  <a:srgbClr val="1B8A7A"/>
                </a:solidFill>
                <a:latin typeface="Arial"/>
              </a:rPr>
              <a:t>hiện</a:t>
            </a:r>
            <a:r>
              <a:rPr sz="1500" b="1" dirty="0">
                <a:solidFill>
                  <a:srgbClr val="1B8A7A"/>
                </a:solidFill>
                <a:latin typeface="Arial"/>
              </a:rPr>
              <a:t> </a:t>
            </a:r>
            <a:r>
              <a:rPr sz="1500" b="1" dirty="0" err="1">
                <a:solidFill>
                  <a:srgbClr val="1B8A7A"/>
                </a:solidFill>
                <a:latin typeface="Arial"/>
              </a:rPr>
              <a:t>tại</a:t>
            </a:r>
            <a:r>
              <a:rPr sz="1500" b="1" dirty="0">
                <a:solidFill>
                  <a:srgbClr val="1B8A7A"/>
                </a:solidFill>
                <a:latin typeface="Arial"/>
              </a:rPr>
              <a:t>:</a:t>
            </a:r>
          </a:p>
          <a:p>
            <a:pPr lvl="1">
              <a:spcAft>
                <a:spcPts val="500"/>
              </a:spcAft>
            </a:pPr>
            <a:r>
              <a:rPr sz="1400" dirty="0">
                <a:solidFill>
                  <a:srgbClr val="444B52"/>
                </a:solidFill>
                <a:latin typeface="Arial"/>
              </a:rPr>
              <a:t>–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là</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 </a:t>
            </a:r>
            <a:r>
              <a:rPr sz="1400" dirty="0" err="1">
                <a:solidFill>
                  <a:srgbClr val="444B52"/>
                </a:solidFill>
                <a:latin typeface="Arial"/>
              </a:rPr>
              <a:t>ngoại</a:t>
            </a:r>
            <a:r>
              <a:rPr sz="1400" dirty="0">
                <a:solidFill>
                  <a:srgbClr val="444B52"/>
                </a:solidFill>
                <a:latin typeface="Arial"/>
              </a:rPr>
              <a:t>, </a:t>
            </a:r>
            <a:r>
              <a:rPr sz="1400" dirty="0" err="1">
                <a:solidFill>
                  <a:srgbClr val="444B52"/>
                </a:solidFill>
                <a:latin typeface="Arial"/>
              </a:rPr>
              <a:t>nguy</a:t>
            </a:r>
            <a:r>
              <a:rPr sz="1400" dirty="0">
                <a:solidFill>
                  <a:srgbClr val="444B52"/>
                </a:solidFill>
                <a:latin typeface="Arial"/>
              </a:rPr>
              <a:t> </a:t>
            </a:r>
            <a:r>
              <a:rPr sz="1400" dirty="0" err="1">
                <a:solidFill>
                  <a:srgbClr val="444B52"/>
                </a:solidFill>
                <a:latin typeface="Arial"/>
              </a:rPr>
              <a:t>cơ</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phân</a:t>
            </a:r>
            <a:r>
              <a:rPr sz="1400" dirty="0">
                <a:solidFill>
                  <a:srgbClr val="444B52"/>
                </a:solidFill>
                <a:latin typeface="Arial"/>
              </a:rPr>
              <a:t> </a:t>
            </a:r>
            <a:r>
              <a:rPr sz="1400" dirty="0" err="1">
                <a:solidFill>
                  <a:srgbClr val="444B52"/>
                </a:solidFill>
                <a:latin typeface="Arial"/>
              </a:rPr>
              <a:t>phối</a:t>
            </a:r>
            <a:r>
              <a:rPr sz="1400" dirty="0">
                <a:solidFill>
                  <a:srgbClr val="444B52"/>
                </a:solidFill>
                <a:latin typeface="Arial"/>
              </a:rPr>
              <a:t> </a:t>
            </a:r>
            <a:r>
              <a:rPr sz="1400" dirty="0" err="1">
                <a:solidFill>
                  <a:srgbClr val="444B52"/>
                </a:solidFill>
                <a:latin typeface="Arial"/>
              </a:rPr>
              <a:t>với</a:t>
            </a:r>
            <a:r>
              <a:rPr sz="1400" dirty="0">
                <a:solidFill>
                  <a:srgbClr val="444B52"/>
                </a:solidFill>
                <a:latin typeface="Arial"/>
              </a:rPr>
              <a:t> </a:t>
            </a:r>
            <a:r>
              <a:rPr sz="1400" dirty="0" err="1">
                <a:solidFill>
                  <a:srgbClr val="444B52"/>
                </a:solidFill>
                <a:latin typeface="Arial"/>
              </a:rPr>
              <a:t>dân</a:t>
            </a:r>
            <a:r>
              <a:rPr sz="1400" dirty="0">
                <a:solidFill>
                  <a:srgbClr val="444B52"/>
                </a:solidFill>
                <a:latin typeface="Arial"/>
              </a:rPr>
              <a:t> </a:t>
            </a:r>
            <a:r>
              <a:rPr sz="1400" dirty="0" err="1">
                <a:solidFill>
                  <a:srgbClr val="444B52"/>
                </a:solidFill>
                <a:latin typeface="Arial"/>
              </a:rPr>
              <a:t>số</a:t>
            </a:r>
            <a:r>
              <a:rPr sz="1400" dirty="0">
                <a:solidFill>
                  <a:srgbClr val="444B52"/>
                </a:solidFill>
                <a:latin typeface="Arial"/>
              </a:rPr>
              <a:t> VN</a:t>
            </a:r>
            <a:endParaRPr lang="vi-VN" sz="1400" dirty="0">
              <a:solidFill>
                <a:srgbClr val="444B52"/>
              </a:solidFill>
              <a:latin typeface="Arial"/>
            </a:endParaRPr>
          </a:p>
          <a:p>
            <a:pPr lvl="1">
              <a:spcAft>
                <a:spcPts val="500"/>
              </a:spcAft>
            </a:pPr>
            <a:r>
              <a:rPr lang="vi-VN" sz="1400" dirty="0">
                <a:solidFill>
                  <a:srgbClr val="444B52"/>
                </a:solidFill>
                <a:latin typeface="Arial"/>
              </a:rPr>
              <a:t>–  Chưa có chatbox</a:t>
            </a:r>
          </a:p>
          <a:p>
            <a:pPr lvl="1">
              <a:spcAft>
                <a:spcPts val="500"/>
              </a:spcAft>
            </a:pPr>
            <a:endParaRPr lang="vi-VN" sz="1400" dirty="0">
              <a:solidFill>
                <a:srgbClr val="444B52"/>
              </a:solidFill>
              <a:latin typeface="Arial"/>
            </a:endParaRPr>
          </a:p>
          <a:p>
            <a:pPr>
              <a:spcAft>
                <a:spcPts val="500"/>
              </a:spcAft>
            </a:pPr>
            <a:r>
              <a:rPr lang="vi-VN" sz="1500" b="1" dirty="0">
                <a:solidFill>
                  <a:srgbClr val="1B8A7A"/>
                </a:solidFill>
                <a:latin typeface="Arial"/>
              </a:rPr>
              <a:t>•  Hướng cải thiện:</a:t>
            </a:r>
          </a:p>
          <a:p>
            <a:pPr lvl="1">
              <a:spcAft>
                <a:spcPts val="500"/>
              </a:spcAft>
            </a:pPr>
            <a:r>
              <a:rPr sz="1400" dirty="0">
                <a:solidFill>
                  <a:srgbClr val="444B52"/>
                </a:solidFill>
                <a:latin typeface="Arial"/>
              </a:rPr>
              <a:t>–  </a:t>
            </a:r>
            <a:r>
              <a:rPr lang="vi-VN" sz="1400" dirty="0">
                <a:solidFill>
                  <a:srgbClr val="444B52"/>
                </a:solidFill>
                <a:latin typeface="Arial"/>
              </a:rPr>
              <a:t>Tích hợp chatbox </a:t>
            </a:r>
            <a:r>
              <a:rPr sz="1400" dirty="0">
                <a:solidFill>
                  <a:srgbClr val="444B52"/>
                </a:solidFill>
                <a:latin typeface="Arial"/>
              </a:rPr>
              <a:t>agent </a:t>
            </a:r>
            <a:r>
              <a:rPr lang="vi-VN" sz="1400" dirty="0">
                <a:solidFill>
                  <a:srgbClr val="444B52"/>
                </a:solidFill>
                <a:latin typeface="Arial"/>
              </a:rPr>
              <a:t>theo mô hình </a:t>
            </a:r>
            <a:r>
              <a:rPr sz="1400" dirty="0">
                <a:solidFill>
                  <a:srgbClr val="444B52"/>
                </a:solidFill>
                <a:latin typeface="Arial"/>
              </a:rPr>
              <a:t>RAG + LLM (</a:t>
            </a:r>
            <a:r>
              <a:rPr sz="1400" dirty="0" err="1">
                <a:solidFill>
                  <a:srgbClr val="444B52"/>
                </a:solidFill>
                <a:latin typeface="Arial"/>
              </a:rPr>
              <a:t>đọc</a:t>
            </a:r>
            <a:r>
              <a:rPr sz="1400" dirty="0">
                <a:solidFill>
                  <a:srgbClr val="444B52"/>
                </a:solidFill>
                <a:latin typeface="Arial"/>
              </a:rPr>
              <a:t> </a:t>
            </a:r>
            <a:r>
              <a:rPr sz="1400" dirty="0" err="1">
                <a:solidFill>
                  <a:srgbClr val="444B52"/>
                </a:solidFill>
                <a:latin typeface="Arial"/>
              </a:rPr>
              <a:t>tài</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y khoa tin </a:t>
            </a:r>
            <a:r>
              <a:rPr sz="1400" dirty="0" err="1">
                <a:solidFill>
                  <a:srgbClr val="444B52"/>
                </a:solidFill>
                <a:latin typeface="Arial"/>
              </a:rPr>
              <a:t>cậy</a:t>
            </a:r>
            <a:r>
              <a:rPr sz="1400" dirty="0">
                <a:solidFill>
                  <a:srgbClr val="444B52"/>
                </a:solidFill>
                <a:latin typeface="Arial"/>
              </a:rPr>
              <a:t>, </a:t>
            </a:r>
            <a:r>
              <a:rPr sz="1400" dirty="0" err="1">
                <a:solidFill>
                  <a:srgbClr val="444B52"/>
                </a:solidFill>
                <a:latin typeface="Arial"/>
              </a:rPr>
              <a:t>có</a:t>
            </a:r>
            <a:r>
              <a:rPr sz="1400" dirty="0">
                <a:solidFill>
                  <a:srgbClr val="444B52"/>
                </a:solidFill>
                <a:latin typeface="Arial"/>
              </a:rPr>
              <a:t> </a:t>
            </a:r>
            <a:r>
              <a:rPr sz="1400" dirty="0" err="1">
                <a:solidFill>
                  <a:srgbClr val="444B52"/>
                </a:solidFill>
                <a:latin typeface="Arial"/>
              </a:rPr>
              <a:t>trích</a:t>
            </a:r>
            <a:r>
              <a:rPr sz="1400" dirty="0">
                <a:solidFill>
                  <a:srgbClr val="444B52"/>
                </a:solidFill>
                <a:latin typeface="Arial"/>
              </a:rPr>
              <a:t> </a:t>
            </a:r>
            <a:r>
              <a:rPr sz="1400" dirty="0" err="1">
                <a:solidFill>
                  <a:srgbClr val="444B52"/>
                </a:solidFill>
                <a:latin typeface="Arial"/>
              </a:rPr>
              <a:t>nguồn</a:t>
            </a:r>
            <a:r>
              <a:rPr sz="1400" dirty="0">
                <a:solidFill>
                  <a:srgbClr val="444B52"/>
                </a:solidFill>
                <a:latin typeface="Arial"/>
              </a:rPr>
              <a:t>)</a:t>
            </a:r>
            <a:br>
              <a:rPr lang="vi-VN" sz="1400" dirty="0">
                <a:solidFill>
                  <a:srgbClr val="444B52"/>
                </a:solidFill>
                <a:latin typeface="Arial"/>
              </a:rPr>
            </a:br>
            <a:r>
              <a:rPr sz="1400" dirty="0">
                <a:solidFill>
                  <a:srgbClr val="444B52"/>
                </a:solidFill>
                <a:latin typeface="Arial"/>
              </a:rPr>
              <a:t>–  </a:t>
            </a:r>
            <a:r>
              <a:rPr sz="1400" dirty="0" err="1">
                <a:solidFill>
                  <a:srgbClr val="444B52"/>
                </a:solidFill>
                <a:latin typeface="Arial"/>
              </a:rPr>
              <a:t>Bổ</a:t>
            </a:r>
            <a:r>
              <a:rPr sz="1400" dirty="0">
                <a:solidFill>
                  <a:srgbClr val="444B52"/>
                </a:solidFill>
                <a:latin typeface="Arial"/>
              </a:rPr>
              <a:t> sung </a:t>
            </a:r>
            <a:r>
              <a:rPr sz="1400" dirty="0" err="1">
                <a:solidFill>
                  <a:srgbClr val="444B52"/>
                </a:solidFill>
                <a:latin typeface="Arial"/>
              </a:rPr>
              <a:t>dữ</a:t>
            </a:r>
            <a:r>
              <a:rPr sz="1400" dirty="0">
                <a:solidFill>
                  <a:srgbClr val="444B52"/>
                </a:solidFill>
                <a:latin typeface="Arial"/>
              </a:rPr>
              <a:t> </a:t>
            </a:r>
            <a:r>
              <a:rPr sz="1400" dirty="0" err="1">
                <a:solidFill>
                  <a:srgbClr val="444B52"/>
                </a:solidFill>
                <a:latin typeface="Arial"/>
              </a:rPr>
              <a:t>liệu</a:t>
            </a:r>
            <a:r>
              <a:rPr sz="1400" dirty="0">
                <a:solidFill>
                  <a:srgbClr val="444B52"/>
                </a:solidFill>
                <a:latin typeface="Arial"/>
              </a:rPr>
              <a:t> </a:t>
            </a:r>
            <a:r>
              <a:rPr sz="1400" dirty="0" err="1">
                <a:solidFill>
                  <a:srgbClr val="444B52"/>
                </a:solidFill>
                <a:latin typeface="Arial"/>
              </a:rPr>
              <a:t>bản</a:t>
            </a:r>
            <a:r>
              <a:rPr sz="1400" dirty="0">
                <a:solidFill>
                  <a:srgbClr val="444B52"/>
                </a:solidFill>
                <a:latin typeface="Arial"/>
              </a:rPr>
              <a:t> </a:t>
            </a:r>
            <a:r>
              <a:rPr sz="1400" dirty="0" err="1">
                <a:solidFill>
                  <a:srgbClr val="444B52"/>
                </a:solidFill>
                <a:latin typeface="Arial"/>
              </a:rPr>
              <a:t>địa</a:t>
            </a:r>
            <a:r>
              <a:rPr sz="1400" dirty="0">
                <a:solidFill>
                  <a:srgbClr val="444B52"/>
                </a:solidFill>
                <a:latin typeface="Arial"/>
              </a:rPr>
              <a:t> </a:t>
            </a:r>
            <a:r>
              <a:rPr sz="1400" dirty="0" err="1">
                <a:solidFill>
                  <a:srgbClr val="444B52"/>
                </a:solidFill>
                <a:latin typeface="Arial"/>
              </a:rPr>
              <a:t>hóa</a:t>
            </a:r>
            <a:r>
              <a:rPr sz="1400" dirty="0">
                <a:solidFill>
                  <a:srgbClr val="444B52"/>
                </a:solidFill>
                <a:latin typeface="Arial"/>
              </a:rPr>
              <a:t> </a:t>
            </a:r>
            <a:r>
              <a:rPr sz="1400" dirty="0" err="1">
                <a:solidFill>
                  <a:srgbClr val="444B52"/>
                </a:solidFill>
                <a:latin typeface="Arial"/>
              </a:rPr>
              <a:t>để</a:t>
            </a:r>
            <a:r>
              <a:rPr sz="1400" dirty="0">
                <a:solidFill>
                  <a:srgbClr val="444B52"/>
                </a:solidFill>
                <a:latin typeface="Arial"/>
              </a:rPr>
              <a:t> </a:t>
            </a:r>
            <a:r>
              <a:rPr sz="1400" dirty="0" err="1">
                <a:solidFill>
                  <a:srgbClr val="444B52"/>
                </a:solidFill>
                <a:latin typeface="Arial"/>
              </a:rPr>
              <a:t>giảm</a:t>
            </a:r>
            <a:r>
              <a:rPr sz="1400" dirty="0">
                <a:solidFill>
                  <a:srgbClr val="444B52"/>
                </a:solidFill>
                <a:latin typeface="Arial"/>
              </a:rPr>
              <a:t> </a:t>
            </a:r>
            <a:r>
              <a:rPr sz="1400" dirty="0" err="1">
                <a:solidFill>
                  <a:srgbClr val="444B52"/>
                </a:solidFill>
                <a:latin typeface="Arial"/>
              </a:rPr>
              <a:t>lệch</a:t>
            </a:r>
            <a:r>
              <a:rPr sz="1400" dirty="0">
                <a:solidFill>
                  <a:srgbClr val="444B52"/>
                </a:solidFill>
                <a:latin typeface="Arial"/>
              </a:rPr>
              <a:t>; </a:t>
            </a:r>
            <a:r>
              <a:rPr sz="1400" dirty="0" err="1">
                <a:solidFill>
                  <a:srgbClr val="444B52"/>
                </a:solidFill>
                <a:latin typeface="Arial"/>
              </a:rPr>
              <a:t>hoàn</a:t>
            </a:r>
            <a:r>
              <a:rPr sz="1400" dirty="0">
                <a:solidFill>
                  <a:srgbClr val="444B52"/>
                </a:solidFill>
                <a:latin typeface="Arial"/>
              </a:rPr>
              <a:t> </a:t>
            </a:r>
            <a:r>
              <a:rPr sz="1400" dirty="0" err="1">
                <a:solidFill>
                  <a:srgbClr val="444B52"/>
                </a:solidFill>
                <a:latin typeface="Arial"/>
              </a:rPr>
              <a:t>thiện</a:t>
            </a:r>
            <a:r>
              <a:rPr sz="1400" dirty="0">
                <a:solidFill>
                  <a:srgbClr val="444B52"/>
                </a:solidFill>
                <a:latin typeface="Arial"/>
              </a:rPr>
              <a:t> </a:t>
            </a:r>
            <a:r>
              <a:rPr sz="1400" dirty="0" err="1">
                <a:solidFill>
                  <a:srgbClr val="444B52"/>
                </a:solidFill>
                <a:latin typeface="Arial"/>
              </a:rPr>
              <a:t>requirements.txt</a:t>
            </a:r>
            <a:r>
              <a:rPr sz="1400" dirty="0">
                <a:solidFill>
                  <a:srgbClr val="444B52"/>
                </a:solidFill>
                <a:latin typeface="Arial"/>
              </a:rPr>
              <a:t> &amp; </a:t>
            </a:r>
            <a:r>
              <a:rPr sz="1400" dirty="0" err="1">
                <a:solidFill>
                  <a:srgbClr val="444B52"/>
                </a:solidFill>
                <a:latin typeface="Arial"/>
              </a:rPr>
              <a:t>đóng</a:t>
            </a:r>
            <a:r>
              <a:rPr sz="1400" dirty="0">
                <a:solidFill>
                  <a:srgbClr val="444B52"/>
                </a:solidFill>
                <a:latin typeface="Arial"/>
              </a:rPr>
              <a:t> </a:t>
            </a:r>
            <a:r>
              <a:rPr sz="1400" dirty="0" err="1">
                <a:solidFill>
                  <a:srgbClr val="444B52"/>
                </a:solidFill>
                <a:latin typeface="Arial"/>
              </a:rPr>
              <a:t>gói</a:t>
            </a:r>
            <a:r>
              <a:rPr sz="1400" dirty="0">
                <a:solidFill>
                  <a:srgbClr val="444B52"/>
                </a:solidFill>
                <a:latin typeface="Arial"/>
              </a:rPr>
              <a:t> </a:t>
            </a:r>
            <a:r>
              <a:rPr sz="1400" dirty="0" err="1">
                <a:solidFill>
                  <a:srgbClr val="444B52"/>
                </a:solidFill>
                <a:latin typeface="Arial"/>
              </a:rPr>
              <a:t>triển</a:t>
            </a:r>
            <a:r>
              <a:rPr sz="1400" dirty="0">
                <a:solidFill>
                  <a:srgbClr val="444B52"/>
                </a:solidFill>
                <a:latin typeface="Arial"/>
              </a:rPr>
              <a:t> </a:t>
            </a:r>
            <a:r>
              <a:rPr sz="1400" dirty="0" err="1">
                <a:solidFill>
                  <a:srgbClr val="444B52"/>
                </a:solidFill>
                <a:latin typeface="Arial"/>
              </a:rPr>
              <a:t>khai</a:t>
            </a:r>
            <a:br>
              <a:rPr lang="vi-VN"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Triển</a:t>
            </a:r>
            <a:r>
              <a:rPr lang="en-US" sz="1400" dirty="0">
                <a:solidFill>
                  <a:srgbClr val="444B52"/>
                </a:solidFill>
                <a:latin typeface="Arial"/>
              </a:rPr>
              <a:t> </a:t>
            </a:r>
            <a:r>
              <a:rPr lang="en-US" sz="1400" dirty="0" err="1">
                <a:solidFill>
                  <a:srgbClr val="444B52"/>
                </a:solidFill>
                <a:latin typeface="Arial"/>
              </a:rPr>
              <a:t>khai</a:t>
            </a:r>
            <a:r>
              <a:rPr lang="en-US" sz="1400" dirty="0">
                <a:solidFill>
                  <a:srgbClr val="444B52"/>
                </a:solidFill>
                <a:latin typeface="Arial"/>
              </a:rPr>
              <a:t> </a:t>
            </a:r>
            <a:r>
              <a:rPr lang="en-US" sz="1400" dirty="0" err="1">
                <a:solidFill>
                  <a:srgbClr val="444B52"/>
                </a:solidFill>
                <a:latin typeface="Arial"/>
              </a:rPr>
              <a:t>quy</a:t>
            </a:r>
            <a:r>
              <a:rPr lang="en-US" sz="1400" dirty="0">
                <a:solidFill>
                  <a:srgbClr val="444B52"/>
                </a:solidFill>
                <a:latin typeface="Arial"/>
              </a:rPr>
              <a:t> </a:t>
            </a:r>
            <a:r>
              <a:rPr lang="en-US" sz="1400" dirty="0" err="1">
                <a:solidFill>
                  <a:srgbClr val="444B52"/>
                </a:solidFill>
                <a:latin typeface="Arial"/>
              </a:rPr>
              <a:t>trình</a:t>
            </a:r>
            <a:r>
              <a:rPr lang="en-US" sz="1400" dirty="0">
                <a:solidFill>
                  <a:srgbClr val="444B52"/>
                </a:solidFill>
                <a:latin typeface="Arial"/>
              </a:rPr>
              <a:t> </a:t>
            </a:r>
            <a:r>
              <a:rPr lang="en-US" sz="1400" dirty="0" err="1">
                <a:solidFill>
                  <a:srgbClr val="444B52"/>
                </a:solidFill>
                <a:latin typeface="Arial"/>
              </a:rPr>
              <a:t>MLOps</a:t>
            </a:r>
            <a:r>
              <a:rPr lang="en-US" sz="1400" dirty="0">
                <a:solidFill>
                  <a:srgbClr val="444B52"/>
                </a:solidFill>
                <a:latin typeface="Arial"/>
              </a:rPr>
              <a:t> </a:t>
            </a:r>
            <a:r>
              <a:rPr lang="en-US" sz="1400" dirty="0" err="1">
                <a:solidFill>
                  <a:srgbClr val="444B52"/>
                </a:solidFill>
                <a:latin typeface="Arial"/>
              </a:rPr>
              <a:t>dùng</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a:t>
            </a:r>
            <a:r>
              <a:rPr lang="en-US" sz="1400" dirty="0" err="1">
                <a:solidFill>
                  <a:srgbClr val="444B52"/>
                </a:solidFill>
                <a:latin typeface="Arial"/>
              </a:rPr>
              <a:t>thực</a:t>
            </a:r>
            <a:r>
              <a:rPr lang="en-US" sz="1400" dirty="0">
                <a:solidFill>
                  <a:srgbClr val="444B52"/>
                </a:solidFill>
                <a:latin typeface="Arial"/>
              </a:rPr>
              <a:t> </a:t>
            </a:r>
            <a:r>
              <a:rPr lang="en-US" sz="1400" dirty="0" err="1">
                <a:solidFill>
                  <a:srgbClr val="444B52"/>
                </a:solidFill>
                <a:latin typeface="Arial"/>
              </a:rPr>
              <a:t>tế</a:t>
            </a:r>
            <a:r>
              <a:rPr lang="en-US" sz="1400" dirty="0">
                <a:solidFill>
                  <a:srgbClr val="444B52"/>
                </a:solidFill>
                <a:latin typeface="Arial"/>
              </a:rPr>
              <a:t> </a:t>
            </a:r>
            <a:r>
              <a:rPr lang="en-US" sz="1400" dirty="0" err="1">
                <a:solidFill>
                  <a:srgbClr val="444B52"/>
                </a:solidFill>
                <a:latin typeface="Arial"/>
              </a:rPr>
              <a:t>ở</a:t>
            </a:r>
            <a:r>
              <a:rPr lang="en-US" sz="1400" dirty="0">
                <a:solidFill>
                  <a:srgbClr val="444B52"/>
                </a:solidFill>
                <a:latin typeface="Arial"/>
              </a:rPr>
              <a:t> tram </a:t>
            </a:r>
            <a:r>
              <a:rPr lang="en-US" sz="1400" dirty="0" err="1">
                <a:solidFill>
                  <a:srgbClr val="444B52"/>
                </a:solidFill>
                <a:latin typeface="Arial"/>
              </a:rPr>
              <a:t>xá</a:t>
            </a:r>
            <a:r>
              <a:rPr lang="en-US" sz="1400" dirty="0">
                <a:solidFill>
                  <a:srgbClr val="444B52"/>
                </a:solidFill>
                <a:latin typeface="Arial"/>
              </a:rPr>
              <a:t> </a:t>
            </a:r>
            <a:r>
              <a:rPr lang="en-US" sz="1400" dirty="0" err="1">
                <a:solidFill>
                  <a:srgbClr val="444B52"/>
                </a:solidFill>
                <a:latin typeface="Arial"/>
              </a:rPr>
              <a:t>để</a:t>
            </a:r>
            <a:r>
              <a:rPr lang="en-US" sz="1400" dirty="0">
                <a:solidFill>
                  <a:srgbClr val="444B52"/>
                </a:solidFill>
                <a:latin typeface="Arial"/>
              </a:rPr>
              <a:t> train </a:t>
            </a:r>
            <a:r>
              <a:rPr lang="en-US" sz="1400" dirty="0" err="1">
                <a:solidFill>
                  <a:srgbClr val="444B52"/>
                </a:solidFill>
                <a:latin typeface="Arial"/>
              </a:rPr>
              <a:t>và</a:t>
            </a:r>
            <a:r>
              <a:rPr lang="en-US" sz="1400" dirty="0">
                <a:solidFill>
                  <a:srgbClr val="444B52"/>
                </a:solidFill>
                <a:latin typeface="Arial"/>
              </a:rPr>
              <a:t> </a:t>
            </a:r>
            <a:r>
              <a:rPr lang="en-US" sz="1400" dirty="0" err="1">
                <a:solidFill>
                  <a:srgbClr val="444B52"/>
                </a:solidFill>
                <a:latin typeface="Arial"/>
              </a:rPr>
              <a:t>nâng</a:t>
            </a:r>
            <a:r>
              <a:rPr lang="en-US" sz="1400" dirty="0">
                <a:solidFill>
                  <a:srgbClr val="444B52"/>
                </a:solidFill>
                <a:latin typeface="Arial"/>
              </a:rPr>
              <a:t> </a:t>
            </a:r>
            <a:r>
              <a:rPr lang="en-US" sz="1400" dirty="0" err="1">
                <a:solidFill>
                  <a:srgbClr val="444B52"/>
                </a:solidFill>
                <a:latin typeface="Arial"/>
              </a:rPr>
              <a:t>cấp</a:t>
            </a:r>
            <a:r>
              <a:rPr lang="en-US" sz="1400" dirty="0">
                <a:solidFill>
                  <a:srgbClr val="444B52"/>
                </a:solidFill>
                <a:latin typeface="Arial"/>
              </a:rPr>
              <a:t> model</a:t>
            </a:r>
            <a:br>
              <a:rPr lang="en-US" sz="1400" dirty="0">
                <a:solidFill>
                  <a:srgbClr val="444B52"/>
                </a:solidFill>
                <a:latin typeface="Arial"/>
              </a:rPr>
            </a:br>
            <a:r>
              <a:rPr lang="en-US" sz="1400" dirty="0">
                <a:solidFill>
                  <a:srgbClr val="444B52"/>
                </a:solidFill>
                <a:latin typeface="Arial"/>
              </a:rPr>
              <a:t>–  </a:t>
            </a:r>
            <a:r>
              <a:rPr lang="en-US" sz="1400" dirty="0" err="1">
                <a:solidFill>
                  <a:srgbClr val="444B52"/>
                </a:solidFill>
                <a:latin typeface="Arial"/>
              </a:rPr>
              <a:t>Tích</a:t>
            </a:r>
            <a:r>
              <a:rPr lang="en-US" sz="1400" dirty="0">
                <a:solidFill>
                  <a:srgbClr val="444B52"/>
                </a:solidFill>
                <a:latin typeface="Arial"/>
              </a:rPr>
              <a:t> </a:t>
            </a:r>
            <a:r>
              <a:rPr lang="en-US" sz="1400" dirty="0" err="1">
                <a:solidFill>
                  <a:srgbClr val="444B52"/>
                </a:solidFill>
                <a:latin typeface="Arial"/>
              </a:rPr>
              <a:t>hợp</a:t>
            </a:r>
            <a:r>
              <a:rPr lang="en-US" sz="1400" dirty="0">
                <a:solidFill>
                  <a:srgbClr val="444B52"/>
                </a:solidFill>
                <a:latin typeface="Arial"/>
              </a:rPr>
              <a:t> </a:t>
            </a:r>
            <a:r>
              <a:rPr lang="en-US" sz="1400" dirty="0" err="1">
                <a:solidFill>
                  <a:srgbClr val="444B52"/>
                </a:solidFill>
                <a:latin typeface="Arial"/>
              </a:rPr>
              <a:t>với</a:t>
            </a:r>
            <a:r>
              <a:rPr lang="en-US" sz="1400" dirty="0">
                <a:solidFill>
                  <a:srgbClr val="444B52"/>
                </a:solidFill>
                <a:latin typeface="Arial"/>
              </a:rPr>
              <a:t> </a:t>
            </a:r>
            <a:r>
              <a:rPr lang="en-US" sz="1400" dirty="0" err="1">
                <a:solidFill>
                  <a:srgbClr val="444B52"/>
                </a:solidFill>
                <a:latin typeface="Arial"/>
              </a:rPr>
              <a:t>các</a:t>
            </a:r>
            <a:r>
              <a:rPr lang="en-US" sz="1400" dirty="0">
                <a:solidFill>
                  <a:srgbClr val="444B52"/>
                </a:solidFill>
                <a:latin typeface="Arial"/>
              </a:rPr>
              <a:t> </a:t>
            </a:r>
            <a:r>
              <a:rPr lang="en-US" sz="1400" dirty="0" err="1">
                <a:solidFill>
                  <a:srgbClr val="444B52"/>
                </a:solidFill>
                <a:latin typeface="Arial"/>
              </a:rPr>
              <a:t>thiết</a:t>
            </a:r>
            <a:r>
              <a:rPr lang="en-US" sz="1400" dirty="0">
                <a:solidFill>
                  <a:srgbClr val="444B52"/>
                </a:solidFill>
                <a:latin typeface="Arial"/>
              </a:rPr>
              <a:t> </a:t>
            </a:r>
            <a:r>
              <a:rPr lang="en-US" sz="1400" dirty="0" err="1">
                <a:solidFill>
                  <a:srgbClr val="444B52"/>
                </a:solidFill>
                <a:latin typeface="Arial"/>
              </a:rPr>
              <a:t>bị</a:t>
            </a:r>
            <a:r>
              <a:rPr lang="en-US" sz="1400" dirty="0">
                <a:solidFill>
                  <a:srgbClr val="444B52"/>
                </a:solidFill>
                <a:latin typeface="Arial"/>
              </a:rPr>
              <a:t> y khoa </a:t>
            </a:r>
            <a:r>
              <a:rPr lang="en-US" sz="1400" dirty="0" err="1">
                <a:solidFill>
                  <a:srgbClr val="444B52"/>
                </a:solidFill>
                <a:latin typeface="Arial"/>
              </a:rPr>
              <a:t>để</a:t>
            </a:r>
            <a:r>
              <a:rPr lang="en-US" sz="1400" dirty="0">
                <a:solidFill>
                  <a:srgbClr val="444B52"/>
                </a:solidFill>
                <a:latin typeface="Arial"/>
              </a:rPr>
              <a:t> </a:t>
            </a:r>
            <a:r>
              <a:rPr lang="en-US" sz="1400" dirty="0" err="1">
                <a:solidFill>
                  <a:srgbClr val="444B52"/>
                </a:solidFill>
                <a:latin typeface="Arial"/>
              </a:rPr>
              <a:t>thu</a:t>
            </a:r>
            <a:r>
              <a:rPr lang="en-US" sz="1400" dirty="0">
                <a:solidFill>
                  <a:srgbClr val="444B52"/>
                </a:solidFill>
                <a:latin typeface="Arial"/>
              </a:rPr>
              <a:t> </a:t>
            </a:r>
            <a:r>
              <a:rPr lang="en-US" sz="1400" dirty="0" err="1">
                <a:solidFill>
                  <a:srgbClr val="444B52"/>
                </a:solidFill>
                <a:latin typeface="Arial"/>
              </a:rPr>
              <a:t>thập</a:t>
            </a:r>
            <a:r>
              <a:rPr lang="en-US" sz="1400" dirty="0">
                <a:solidFill>
                  <a:srgbClr val="444B52"/>
                </a:solidFill>
                <a:latin typeface="Arial"/>
              </a:rPr>
              <a:t> </a:t>
            </a:r>
            <a:r>
              <a:rPr lang="en-US" sz="1400" dirty="0" err="1">
                <a:solidFill>
                  <a:srgbClr val="444B52"/>
                </a:solidFill>
                <a:latin typeface="Arial"/>
              </a:rPr>
              <a:t>dữ</a:t>
            </a:r>
            <a:r>
              <a:rPr lang="en-US" sz="1400" dirty="0">
                <a:solidFill>
                  <a:srgbClr val="444B52"/>
                </a:solidFill>
                <a:latin typeface="Arial"/>
              </a:rPr>
              <a:t> </a:t>
            </a:r>
            <a:r>
              <a:rPr lang="en-US" sz="1400" dirty="0" err="1">
                <a:solidFill>
                  <a:srgbClr val="444B52"/>
                </a:solidFill>
                <a:latin typeface="Arial"/>
              </a:rPr>
              <a:t>liệu</a:t>
            </a:r>
            <a:r>
              <a:rPr lang="en-US" sz="1400" dirty="0">
                <a:solidFill>
                  <a:srgbClr val="444B52"/>
                </a:solidFill>
                <a:latin typeface="Arial"/>
              </a:rPr>
              <a:t> live </a:t>
            </a:r>
            <a:r>
              <a:rPr lang="en-US" sz="1400" dirty="0" err="1">
                <a:solidFill>
                  <a:srgbClr val="444B52"/>
                </a:solidFill>
                <a:latin typeface="Arial"/>
              </a:rPr>
              <a:t>như</a:t>
            </a:r>
            <a:r>
              <a:rPr lang="en-US" sz="1400" dirty="0">
                <a:solidFill>
                  <a:srgbClr val="444B52"/>
                </a:solidFill>
                <a:latin typeface="Arial"/>
              </a:rPr>
              <a:t> </a:t>
            </a:r>
            <a:r>
              <a:rPr lang="en-US" sz="1400" dirty="0" err="1">
                <a:solidFill>
                  <a:srgbClr val="444B52"/>
                </a:solidFill>
                <a:latin typeface="Arial"/>
              </a:rPr>
              <a:t>đồng</a:t>
            </a:r>
            <a:r>
              <a:rPr lang="en-US" sz="1400" dirty="0">
                <a:solidFill>
                  <a:srgbClr val="444B52"/>
                </a:solidFill>
                <a:latin typeface="Arial"/>
              </a:rPr>
              <a:t> </a:t>
            </a:r>
            <a:r>
              <a:rPr lang="en-US" sz="1400" dirty="0" err="1">
                <a:solidFill>
                  <a:srgbClr val="444B52"/>
                </a:solidFill>
                <a:latin typeface="Arial"/>
              </a:rPr>
              <a:t>hồ</a:t>
            </a:r>
            <a:r>
              <a:rPr lang="en-US" sz="1400" dirty="0">
                <a:solidFill>
                  <a:srgbClr val="444B52"/>
                </a:solidFill>
                <a:latin typeface="Arial"/>
              </a:rPr>
              <a:t> </a:t>
            </a:r>
            <a:r>
              <a:rPr lang="en-US" sz="1400" dirty="0" err="1">
                <a:solidFill>
                  <a:srgbClr val="444B52"/>
                </a:solidFill>
                <a:latin typeface="Arial"/>
              </a:rPr>
              <a:t>thông</a:t>
            </a:r>
            <a:r>
              <a:rPr lang="en-US" sz="1400" dirty="0">
                <a:solidFill>
                  <a:srgbClr val="444B52"/>
                </a:solidFill>
                <a:latin typeface="Arial"/>
              </a:rPr>
              <a:t> </a:t>
            </a:r>
            <a:r>
              <a:rPr lang="en-US" sz="1400" dirty="0" err="1">
                <a:solidFill>
                  <a:srgbClr val="444B52"/>
                </a:solidFill>
                <a:latin typeface="Arial"/>
              </a:rPr>
              <a:t>minh</a:t>
            </a:r>
            <a:r>
              <a:rPr lang="en-US" sz="1400" dirty="0">
                <a:solidFill>
                  <a:srgbClr val="444B52"/>
                </a:solidFill>
                <a:latin typeface="Arial"/>
              </a:rPr>
              <a:t> </a:t>
            </a:r>
            <a:r>
              <a:rPr lang="en-US" sz="1400" dirty="0" err="1">
                <a:solidFill>
                  <a:srgbClr val="444B52"/>
                </a:solidFill>
                <a:latin typeface="Arial"/>
              </a:rPr>
              <a:t>đeo</a:t>
            </a:r>
            <a:r>
              <a:rPr lang="en-US" sz="1400" dirty="0">
                <a:solidFill>
                  <a:srgbClr val="444B52"/>
                </a:solidFill>
                <a:latin typeface="Arial"/>
              </a:rPr>
              <a:t> </a:t>
            </a:r>
            <a:r>
              <a:rPr lang="en-US" sz="1400" dirty="0" err="1">
                <a:solidFill>
                  <a:srgbClr val="444B52"/>
                </a:solidFill>
                <a:latin typeface="Arial"/>
              </a:rPr>
              <a:t>tay</a:t>
            </a:r>
            <a:endParaRPr lang="en-US" sz="1400" dirty="0">
              <a:solidFill>
                <a:srgbClr val="444B52"/>
              </a:solidFill>
              <a:latin typeface="Arial"/>
            </a:endParaRPr>
          </a:p>
          <a:p>
            <a:pPr lvl="1">
              <a:spcAft>
                <a:spcPts val="500"/>
              </a:spcAft>
            </a:pPr>
            <a:endParaRPr sz="1400" dirty="0">
              <a:solidFill>
                <a:srgbClr val="444B52"/>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sz="1800" b="1" dirty="0">
                <a:solidFill>
                  <a:srgbClr val="FFFFFF"/>
                </a:solidFill>
                <a:latin typeface="Arial"/>
              </a:rPr>
              <a:t> </a:t>
            </a:r>
            <a:r>
              <a:rPr lang="vi-VN" sz="1800" b="1" dirty="0">
                <a:solidFill>
                  <a:srgbClr val="FFFFFF"/>
                </a:solidFill>
                <a:latin typeface="Arial"/>
              </a:rPr>
              <a:t>thầy và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1556</TotalTime>
  <Words>1175</Words>
  <Application>Microsoft Macintosh PowerPoint</Application>
  <PresentationFormat>Widescreen</PresentationFormat>
  <Paragraphs>138</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43</cp:revision>
  <dcterms:created xsi:type="dcterms:W3CDTF">2013-01-27T09:14:16Z</dcterms:created>
  <dcterms:modified xsi:type="dcterms:W3CDTF">2026-09-20T14:11:23Z</dcterms:modified>
  <cp:category/>
</cp:coreProperties>
</file>