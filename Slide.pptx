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5"/>
  </p:notesMasterIdLst>
  <p:sldIdLst>
    <p:sldId id="256" r:id="rId2"/>
    <p:sldId id="257" r:id="rId3"/>
    <p:sldId id="264" r:id="rId4"/>
    <p:sldId id="266" r:id="rId5"/>
    <p:sldId id="271" r:id="rId6"/>
    <p:sldId id="273" r:id="rId7"/>
    <p:sldId id="274" r:id="rId8"/>
    <p:sldId id="267" r:id="rId9"/>
    <p:sldId id="278" r:id="rId10"/>
    <p:sldId id="277" r:id="rId11"/>
    <p:sldId id="296" r:id="rId12"/>
    <p:sldId id="331" r:id="rId13"/>
    <p:sldId id="332" r:id="rId14"/>
    <p:sldId id="333" r:id="rId15"/>
    <p:sldId id="286" r:id="rId16"/>
    <p:sldId id="290" r:id="rId17"/>
    <p:sldId id="293" r:id="rId18"/>
    <p:sldId id="294" r:id="rId19"/>
    <p:sldId id="292" r:id="rId20"/>
    <p:sldId id="303" r:id="rId21"/>
    <p:sldId id="302" r:id="rId22"/>
    <p:sldId id="299" r:id="rId23"/>
    <p:sldId id="301" r:id="rId24"/>
    <p:sldId id="300" r:id="rId25"/>
    <p:sldId id="282" r:id="rId26"/>
    <p:sldId id="309" r:id="rId27"/>
    <p:sldId id="311" r:id="rId28"/>
    <p:sldId id="312" r:id="rId29"/>
    <p:sldId id="313" r:id="rId30"/>
    <p:sldId id="314" r:id="rId31"/>
    <p:sldId id="327" r:id="rId32"/>
    <p:sldId id="315" r:id="rId33"/>
    <p:sldId id="316" r:id="rId34"/>
    <p:sldId id="317" r:id="rId35"/>
    <p:sldId id="318" r:id="rId36"/>
    <p:sldId id="319" r:id="rId37"/>
    <p:sldId id="320" r:id="rId38"/>
    <p:sldId id="325" r:id="rId39"/>
    <p:sldId id="326" r:id="rId40"/>
    <p:sldId id="322" r:id="rId41"/>
    <p:sldId id="323" r:id="rId42"/>
    <p:sldId id="324" r:id="rId43"/>
    <p:sldId id="337" r:id="rId44"/>
    <p:sldId id="328" r:id="rId45"/>
    <p:sldId id="338" r:id="rId46"/>
    <p:sldId id="334" r:id="rId47"/>
    <p:sldId id="339" r:id="rId48"/>
    <p:sldId id="330" r:id="rId49"/>
    <p:sldId id="329" r:id="rId50"/>
    <p:sldId id="321" r:id="rId51"/>
    <p:sldId id="265" r:id="rId52"/>
    <p:sldId id="297" r:id="rId53"/>
    <p:sldId id="263" r:id="rId5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217"/>
    <p:restoredTop sz="94598"/>
  </p:normalViewPr>
  <p:slideViewPr>
    <p:cSldViewPr snapToGrid="0" snapToObjects="1">
      <p:cViewPr varScale="1">
        <p:scale>
          <a:sx n="151" d="100"/>
          <a:sy n="151" d="100"/>
        </p:scale>
        <p:origin x="560" y="192"/>
      </p:cViewPr>
      <p:guideLst>
        <p:guide orient="horz" pos="2160"/>
        <p:guide pos="2880"/>
      </p:guideLst>
    </p:cSldViewPr>
  </p:slideViewPr>
  <p:notesTextViewPr>
    <p:cViewPr>
      <p:scale>
        <a:sx n="100" d="100"/>
        <a:sy n="100" d="100"/>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436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D1198F-3080-83F6-A15E-AF08A8AD2F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4B9447-10FE-9609-762A-8B054CD94B9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E313767-219A-3043-0049-9DC2F4C037CB}"/>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AEA763FE-23B3-E185-B875-D3C5EC24C422}"/>
              </a:ext>
            </a:extLst>
          </p:cNvPr>
          <p:cNvSpPr>
            <a:spLocks noGrp="1"/>
          </p:cNvSpPr>
          <p:nvPr>
            <p:ph type="sldNum" sz="quarter" idx="5"/>
          </p:nvPr>
        </p:nvSpPr>
        <p:spPr/>
      </p:sp>
    </p:spTree>
    <p:extLst>
      <p:ext uri="{BB962C8B-B14F-4D97-AF65-F5344CB8AC3E}">
        <p14:creationId xmlns:p14="http://schemas.microsoft.com/office/powerpoint/2010/main" val="40022816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9901A-180A-ACB4-09F7-08C0906204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CAE727-57FD-D210-21C9-5F524B9F569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8E90EDC-B0E2-B48C-8209-E02C688412E1}"/>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3B23BB7B-BD2D-EDA6-1DAA-7BA6BE526E14}"/>
              </a:ext>
            </a:extLst>
          </p:cNvPr>
          <p:cNvSpPr>
            <a:spLocks noGrp="1"/>
          </p:cNvSpPr>
          <p:nvPr>
            <p:ph type="sldNum" sz="quarter" idx="5"/>
          </p:nvPr>
        </p:nvSpPr>
        <p:spPr/>
      </p:sp>
    </p:spTree>
    <p:extLst>
      <p:ext uri="{BB962C8B-B14F-4D97-AF65-F5344CB8AC3E}">
        <p14:creationId xmlns:p14="http://schemas.microsoft.com/office/powerpoint/2010/main" val="11822784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0A29F-E564-15F0-0597-AAE3F9895D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0FA0F6-32C9-949B-1C1B-B102F725E00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DFA00C4-5706-3584-E507-E994724AD6F9}"/>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14E140A2-6D9B-E76D-8A13-1ACA000F3695}"/>
              </a:ext>
            </a:extLst>
          </p:cNvPr>
          <p:cNvSpPr>
            <a:spLocks noGrp="1"/>
          </p:cNvSpPr>
          <p:nvPr>
            <p:ph type="sldNum" sz="quarter" idx="5"/>
          </p:nvPr>
        </p:nvSpPr>
        <p:spPr/>
      </p:sp>
    </p:spTree>
    <p:extLst>
      <p:ext uri="{BB962C8B-B14F-4D97-AF65-F5344CB8AC3E}">
        <p14:creationId xmlns:p14="http://schemas.microsoft.com/office/powerpoint/2010/main" val="10204966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D4854-91DA-7103-6903-C6AA82CBB0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20C4C1-D077-F2FD-73AD-1B3A7B7892C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666DF0B-954C-A586-1166-E8430600521C}"/>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2AEF20AF-9001-F634-8FD4-541458E91AED}"/>
              </a:ext>
            </a:extLst>
          </p:cNvPr>
          <p:cNvSpPr>
            <a:spLocks noGrp="1"/>
          </p:cNvSpPr>
          <p:nvPr>
            <p:ph type="sldNum" sz="quarter" idx="5"/>
          </p:nvPr>
        </p:nvSpPr>
        <p:spPr/>
      </p:sp>
    </p:spTree>
    <p:extLst>
      <p:ext uri="{BB962C8B-B14F-4D97-AF65-F5344CB8AC3E}">
        <p14:creationId xmlns:p14="http://schemas.microsoft.com/office/powerpoint/2010/main" val="28596434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D64B2C-A9E9-F5C8-B012-A3C8441283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8A4203-7EA9-F772-E71B-3D488F7AE15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32501B0-80BB-322A-894E-E5816029E5DF}"/>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195319ED-1D95-C273-5809-549480CAF1C1}"/>
              </a:ext>
            </a:extLst>
          </p:cNvPr>
          <p:cNvSpPr>
            <a:spLocks noGrp="1"/>
          </p:cNvSpPr>
          <p:nvPr>
            <p:ph type="sldNum" sz="quarter" idx="5"/>
          </p:nvPr>
        </p:nvSpPr>
        <p:spPr/>
      </p:sp>
    </p:spTree>
    <p:extLst>
      <p:ext uri="{BB962C8B-B14F-4D97-AF65-F5344CB8AC3E}">
        <p14:creationId xmlns:p14="http://schemas.microsoft.com/office/powerpoint/2010/main" val="35381163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B2945-8416-606E-D094-18F4C06DE1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FDC56A-04A8-7360-90D2-35F1AD4EE39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FBA8D57-DBB9-34C6-25A8-011091D87CF8}"/>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FE9D2E0E-6652-8CA7-00A1-7BB08DBB0B83}"/>
              </a:ext>
            </a:extLst>
          </p:cNvPr>
          <p:cNvSpPr>
            <a:spLocks noGrp="1"/>
          </p:cNvSpPr>
          <p:nvPr>
            <p:ph type="sldNum" sz="quarter" idx="5"/>
          </p:nvPr>
        </p:nvSpPr>
        <p:spPr/>
      </p:sp>
    </p:spTree>
    <p:extLst>
      <p:ext uri="{BB962C8B-B14F-4D97-AF65-F5344CB8AC3E}">
        <p14:creationId xmlns:p14="http://schemas.microsoft.com/office/powerpoint/2010/main" val="35634283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299594-2FEE-85CE-0D91-266E927224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F23C7F-7A95-61BB-BFEB-4C10F3D6C05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040677E-8145-16BB-0CB0-88886CADD293}"/>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70A7081A-547F-02FE-6C78-8CBDDC5589E8}"/>
              </a:ext>
            </a:extLst>
          </p:cNvPr>
          <p:cNvSpPr>
            <a:spLocks noGrp="1"/>
          </p:cNvSpPr>
          <p:nvPr>
            <p:ph type="sldNum" sz="quarter" idx="5"/>
          </p:nvPr>
        </p:nvSpPr>
        <p:spPr/>
      </p:sp>
    </p:spTree>
    <p:extLst>
      <p:ext uri="{BB962C8B-B14F-4D97-AF65-F5344CB8AC3E}">
        <p14:creationId xmlns:p14="http://schemas.microsoft.com/office/powerpoint/2010/main" val="22704141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A2134-7258-8DC0-D00E-92EFCDC54A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DBA886-663F-D69F-B714-944C1CF47D1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B6BBF00-A202-878E-6D7D-717B21447AB6}"/>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EF5CFFE0-3949-0944-C542-4530858DF3CF}"/>
              </a:ext>
            </a:extLst>
          </p:cNvPr>
          <p:cNvSpPr>
            <a:spLocks noGrp="1"/>
          </p:cNvSpPr>
          <p:nvPr>
            <p:ph type="sldNum" sz="quarter" idx="5"/>
          </p:nvPr>
        </p:nvSpPr>
        <p:spPr/>
      </p:sp>
    </p:spTree>
    <p:extLst>
      <p:ext uri="{BB962C8B-B14F-4D97-AF65-F5344CB8AC3E}">
        <p14:creationId xmlns:p14="http://schemas.microsoft.com/office/powerpoint/2010/main" val="27182964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71321A-988F-DDB6-6DA0-48C5641659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9B2D43-1D2D-85BD-E832-61471542B83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6647558-C082-6B9B-D911-5DECC8146F87}"/>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3F58DFF2-6575-A8E4-B379-7DBFB5F81F3C}"/>
              </a:ext>
            </a:extLst>
          </p:cNvPr>
          <p:cNvSpPr>
            <a:spLocks noGrp="1"/>
          </p:cNvSpPr>
          <p:nvPr>
            <p:ph type="sldNum" sz="quarter" idx="5"/>
          </p:nvPr>
        </p:nvSpPr>
        <p:spPr/>
      </p:sp>
    </p:spTree>
    <p:extLst>
      <p:ext uri="{BB962C8B-B14F-4D97-AF65-F5344CB8AC3E}">
        <p14:creationId xmlns:p14="http://schemas.microsoft.com/office/powerpoint/2010/main" val="18964587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D503D-D736-D381-E135-3DA8517E2B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3389F0-ACC2-79F2-C231-60153C9ADBD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942DDCC-66F3-ED88-3B12-5C1FC1468D4C}"/>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6BF8BB51-7104-978E-336A-77FF94F4B144}"/>
              </a:ext>
            </a:extLst>
          </p:cNvPr>
          <p:cNvSpPr>
            <a:spLocks noGrp="1"/>
          </p:cNvSpPr>
          <p:nvPr>
            <p:ph type="sldNum" sz="quarter" idx="5"/>
          </p:nvPr>
        </p:nvSpPr>
        <p:spPr/>
      </p:sp>
    </p:spTree>
    <p:extLst>
      <p:ext uri="{BB962C8B-B14F-4D97-AF65-F5344CB8AC3E}">
        <p14:creationId xmlns:p14="http://schemas.microsoft.com/office/powerpoint/2010/main" val="344569958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6D269-E33C-FE9D-EA21-553B87B1B7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7B1629-82F6-82FB-7236-E5443F38F9D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BC740D8-2304-4DA1-2E18-97D5971563FE}"/>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FAC808B8-3FEA-A02E-FD6F-9ACD6DC7843C}"/>
              </a:ext>
            </a:extLst>
          </p:cNvPr>
          <p:cNvSpPr>
            <a:spLocks noGrp="1"/>
          </p:cNvSpPr>
          <p:nvPr>
            <p:ph type="sldNum" sz="quarter" idx="5"/>
          </p:nvPr>
        </p:nvSpPr>
        <p:spPr/>
      </p:sp>
    </p:spTree>
    <p:extLst>
      <p:ext uri="{BB962C8B-B14F-4D97-AF65-F5344CB8AC3E}">
        <p14:creationId xmlns:p14="http://schemas.microsoft.com/office/powerpoint/2010/main" val="26813183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619EA-8B9C-7C4C-2662-BB7E43733D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296868-D53D-DE9B-0A32-D8595A956F1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642DD6C-3765-0622-3542-4EF463FCD02C}"/>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E4BC7AAA-8029-61DA-491D-3CFDBD317EED}"/>
              </a:ext>
            </a:extLst>
          </p:cNvPr>
          <p:cNvSpPr>
            <a:spLocks noGrp="1"/>
          </p:cNvSpPr>
          <p:nvPr>
            <p:ph type="sldNum" sz="quarter" idx="5"/>
          </p:nvPr>
        </p:nvSpPr>
        <p:spPr/>
      </p:sp>
    </p:spTree>
    <p:extLst>
      <p:ext uri="{BB962C8B-B14F-4D97-AF65-F5344CB8AC3E}">
        <p14:creationId xmlns:p14="http://schemas.microsoft.com/office/powerpoint/2010/main" val="19636744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837968-7E43-7241-E81C-6161A7EFC3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E3277F-BE7C-D498-3DF0-0EA85C0CBCB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84C4AED-7926-2D18-161B-DC7C30162255}"/>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52CCD9F9-D12C-4C5C-6F05-E3B7F28C6E79}"/>
              </a:ext>
            </a:extLst>
          </p:cNvPr>
          <p:cNvSpPr>
            <a:spLocks noGrp="1"/>
          </p:cNvSpPr>
          <p:nvPr>
            <p:ph type="sldNum" sz="quarter" idx="5"/>
          </p:nvPr>
        </p:nvSpPr>
        <p:spPr/>
      </p:sp>
    </p:spTree>
    <p:extLst>
      <p:ext uri="{BB962C8B-B14F-4D97-AF65-F5344CB8AC3E}">
        <p14:creationId xmlns:p14="http://schemas.microsoft.com/office/powerpoint/2010/main" val="28599966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3112E-A98A-0440-0DEB-7E5CBEF482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982C4-6F04-A249-DBA4-61C03688EEC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A966153-4B7B-3184-FFE0-141651266105}"/>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E82919FA-83C4-9E03-39E3-31E614476960}"/>
              </a:ext>
            </a:extLst>
          </p:cNvPr>
          <p:cNvSpPr>
            <a:spLocks noGrp="1"/>
          </p:cNvSpPr>
          <p:nvPr>
            <p:ph type="sldNum" sz="quarter" idx="5"/>
          </p:nvPr>
        </p:nvSpPr>
        <p:spPr/>
      </p:sp>
    </p:spTree>
    <p:extLst>
      <p:ext uri="{BB962C8B-B14F-4D97-AF65-F5344CB8AC3E}">
        <p14:creationId xmlns:p14="http://schemas.microsoft.com/office/powerpoint/2010/main" val="15613677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A9A57-6AF2-7210-4A2F-C40A5A5ABB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2B2760-184D-4E38-7471-4D4884D37C2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D9BC4C6-5FB7-C84B-EA1E-D26DF580E490}"/>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17E450AD-F162-0E99-87A8-906BFD1AA598}"/>
              </a:ext>
            </a:extLst>
          </p:cNvPr>
          <p:cNvSpPr>
            <a:spLocks noGrp="1"/>
          </p:cNvSpPr>
          <p:nvPr>
            <p:ph type="sldNum" sz="quarter" idx="5"/>
          </p:nvPr>
        </p:nvSpPr>
        <p:spPr/>
      </p:sp>
    </p:spTree>
    <p:extLst>
      <p:ext uri="{BB962C8B-B14F-4D97-AF65-F5344CB8AC3E}">
        <p14:creationId xmlns:p14="http://schemas.microsoft.com/office/powerpoint/2010/main" val="11128418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4C492-2C5A-8EBE-A7EE-0D49968EC6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4FBB51-1F89-6566-936F-925FB4232E1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E200188-B928-551C-C2BC-BE643A0E0365}"/>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CE81C8C4-0146-B181-95C0-68BB66419EA5}"/>
              </a:ext>
            </a:extLst>
          </p:cNvPr>
          <p:cNvSpPr>
            <a:spLocks noGrp="1"/>
          </p:cNvSpPr>
          <p:nvPr>
            <p:ph type="sldNum" sz="quarter" idx="5"/>
          </p:nvPr>
        </p:nvSpPr>
        <p:spPr/>
      </p:sp>
    </p:spTree>
    <p:extLst>
      <p:ext uri="{BB962C8B-B14F-4D97-AF65-F5344CB8AC3E}">
        <p14:creationId xmlns:p14="http://schemas.microsoft.com/office/powerpoint/2010/main" val="27513154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BB91F-402B-BC16-FCE6-E0D89132A0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2C5C9E-0FD9-9287-6408-DD607BA0D67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C94153B-00FC-9CF8-1CA7-9C46C5D77C4D}"/>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04AD088C-0C90-73FC-DF55-20413B388DC7}"/>
              </a:ext>
            </a:extLst>
          </p:cNvPr>
          <p:cNvSpPr>
            <a:spLocks noGrp="1"/>
          </p:cNvSpPr>
          <p:nvPr>
            <p:ph type="sldNum" sz="quarter" idx="5"/>
          </p:nvPr>
        </p:nvSpPr>
        <p:spPr/>
      </p:sp>
    </p:spTree>
    <p:extLst>
      <p:ext uri="{BB962C8B-B14F-4D97-AF65-F5344CB8AC3E}">
        <p14:creationId xmlns:p14="http://schemas.microsoft.com/office/powerpoint/2010/main" val="33876786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390466-C8BB-4A73-39E8-2F7E95FDDC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AC2552-3188-7453-26B7-A752770D668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596FAC1-730A-6A52-F7E2-79CAC452FFB3}"/>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79C3AEA8-D86F-4139-897C-E6DE2E5A778D}"/>
              </a:ext>
            </a:extLst>
          </p:cNvPr>
          <p:cNvSpPr>
            <a:spLocks noGrp="1"/>
          </p:cNvSpPr>
          <p:nvPr>
            <p:ph type="sldNum" sz="quarter" idx="5"/>
          </p:nvPr>
        </p:nvSpPr>
        <p:spPr/>
      </p:sp>
    </p:spTree>
    <p:extLst>
      <p:ext uri="{BB962C8B-B14F-4D97-AF65-F5344CB8AC3E}">
        <p14:creationId xmlns:p14="http://schemas.microsoft.com/office/powerpoint/2010/main" val="31989184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1713D-4217-BA4F-20EB-4154F6CF0B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5EC2B8-AA75-A460-4768-C3A8FA50A7D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B8AADEC-AF00-9079-07D5-53C8764BFA8D}"/>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C666E154-1981-0000-B477-83FD20DA9C67}"/>
              </a:ext>
            </a:extLst>
          </p:cNvPr>
          <p:cNvSpPr>
            <a:spLocks noGrp="1"/>
          </p:cNvSpPr>
          <p:nvPr>
            <p:ph type="sldNum" sz="quarter" idx="5"/>
          </p:nvPr>
        </p:nvSpPr>
        <p:spPr/>
      </p:sp>
    </p:spTree>
    <p:extLst>
      <p:ext uri="{BB962C8B-B14F-4D97-AF65-F5344CB8AC3E}">
        <p14:creationId xmlns:p14="http://schemas.microsoft.com/office/powerpoint/2010/main" val="29320014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C2C35-A368-628B-F812-D3D8A1D1CA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0D0BE0-FAC6-40EB-52F0-4BB01E7E263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69369E3-A2BA-3E7B-EA5C-9CA5181B7CA4}"/>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1C0D1C41-CBD9-F764-EC32-5254E5B59C13}"/>
              </a:ext>
            </a:extLst>
          </p:cNvPr>
          <p:cNvSpPr>
            <a:spLocks noGrp="1"/>
          </p:cNvSpPr>
          <p:nvPr>
            <p:ph type="sldNum" sz="quarter" idx="5"/>
          </p:nvPr>
        </p:nvSpPr>
        <p:spPr/>
      </p:sp>
    </p:spTree>
    <p:extLst>
      <p:ext uri="{BB962C8B-B14F-4D97-AF65-F5344CB8AC3E}">
        <p14:creationId xmlns:p14="http://schemas.microsoft.com/office/powerpoint/2010/main" val="28514808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AEC2BF-F054-54A4-4047-FAB80CCE43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27CE90-7FAB-A829-5BB3-BFB32916448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909D885-1BA6-9EC2-38AA-DDE70346BE6E}"/>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20C1E117-C40C-8237-7C0D-537E60A93A77}"/>
              </a:ext>
            </a:extLst>
          </p:cNvPr>
          <p:cNvSpPr>
            <a:spLocks noGrp="1"/>
          </p:cNvSpPr>
          <p:nvPr>
            <p:ph type="sldNum" sz="quarter" idx="5"/>
          </p:nvPr>
        </p:nvSpPr>
        <p:spPr/>
      </p:sp>
    </p:spTree>
    <p:extLst>
      <p:ext uri="{BB962C8B-B14F-4D97-AF65-F5344CB8AC3E}">
        <p14:creationId xmlns:p14="http://schemas.microsoft.com/office/powerpoint/2010/main" val="1119485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F95F5-93FB-59A5-3F70-C014F3157A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4B5BD7-6D9B-FDBF-555D-EC994FA6412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DFE2676-0B2D-1D99-E321-260D1F0EF671}"/>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1CA7F923-D760-FC5E-8EDA-2DA5DB6DB4BD}"/>
              </a:ext>
            </a:extLst>
          </p:cNvPr>
          <p:cNvSpPr>
            <a:spLocks noGrp="1"/>
          </p:cNvSpPr>
          <p:nvPr>
            <p:ph type="sldNum" sz="quarter" idx="5"/>
          </p:nvPr>
        </p:nvSpPr>
        <p:spPr/>
      </p:sp>
    </p:spTree>
    <p:extLst>
      <p:ext uri="{BB962C8B-B14F-4D97-AF65-F5344CB8AC3E}">
        <p14:creationId xmlns:p14="http://schemas.microsoft.com/office/powerpoint/2010/main" val="16522734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9BB8BD-EBFD-BDF0-D50A-392DA5B0CE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4DF9CD-EF1E-096B-4417-5F5595FB180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1D8F21F-3328-9E63-7C13-D7249D66FA10}"/>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A757B8C4-C638-8818-A063-CB743E6D50A1}"/>
              </a:ext>
            </a:extLst>
          </p:cNvPr>
          <p:cNvSpPr>
            <a:spLocks noGrp="1"/>
          </p:cNvSpPr>
          <p:nvPr>
            <p:ph type="sldNum" sz="quarter" idx="5"/>
          </p:nvPr>
        </p:nvSpPr>
        <p:spPr/>
      </p:sp>
    </p:spTree>
    <p:extLst>
      <p:ext uri="{BB962C8B-B14F-4D97-AF65-F5344CB8AC3E}">
        <p14:creationId xmlns:p14="http://schemas.microsoft.com/office/powerpoint/2010/main" val="39788542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AA3783-D7D9-37B3-68C9-A7845C4FAC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68E0A0-2A8A-E754-A0B2-575B47BD56A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BE21395-3BDB-577A-3759-500F2D6CED7D}"/>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D3AAB95A-30F0-3C2A-0E99-87F46F82F51D}"/>
              </a:ext>
            </a:extLst>
          </p:cNvPr>
          <p:cNvSpPr>
            <a:spLocks noGrp="1"/>
          </p:cNvSpPr>
          <p:nvPr>
            <p:ph type="sldNum" sz="quarter" idx="5"/>
          </p:nvPr>
        </p:nvSpPr>
        <p:spPr/>
      </p:sp>
    </p:spTree>
    <p:extLst>
      <p:ext uri="{BB962C8B-B14F-4D97-AF65-F5344CB8AC3E}">
        <p14:creationId xmlns:p14="http://schemas.microsoft.com/office/powerpoint/2010/main" val="344484301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1EFCD-71E4-EE8A-2E21-50719B8747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77CBE7-DF67-01F1-07E3-592540157C5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967204F-98D3-44ED-B757-C8D741D1B769}"/>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DA87A173-76CC-9991-4F12-9B13B2F1DFE2}"/>
              </a:ext>
            </a:extLst>
          </p:cNvPr>
          <p:cNvSpPr>
            <a:spLocks noGrp="1"/>
          </p:cNvSpPr>
          <p:nvPr>
            <p:ph type="sldNum" sz="quarter" idx="5"/>
          </p:nvPr>
        </p:nvSpPr>
        <p:spPr/>
      </p:sp>
    </p:spTree>
    <p:extLst>
      <p:ext uri="{BB962C8B-B14F-4D97-AF65-F5344CB8AC3E}">
        <p14:creationId xmlns:p14="http://schemas.microsoft.com/office/powerpoint/2010/main" val="258927522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0C3C45-A0A1-0AB9-3C57-9C8AE16DB9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A3A78F-C597-EBED-3C16-03977D062DF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6D56682-768B-FC3D-BFBE-353A5E8C28BC}"/>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DB5E8540-4720-C515-8EDE-ED0766F4C269}"/>
              </a:ext>
            </a:extLst>
          </p:cNvPr>
          <p:cNvSpPr>
            <a:spLocks noGrp="1"/>
          </p:cNvSpPr>
          <p:nvPr>
            <p:ph type="sldNum" sz="quarter" idx="5"/>
          </p:nvPr>
        </p:nvSpPr>
        <p:spPr/>
      </p:sp>
    </p:spTree>
    <p:extLst>
      <p:ext uri="{BB962C8B-B14F-4D97-AF65-F5344CB8AC3E}">
        <p14:creationId xmlns:p14="http://schemas.microsoft.com/office/powerpoint/2010/main" val="20498983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74862-8DC8-86C4-B49A-8EAB93B4DB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0AE774-7831-1624-80EA-95E74753040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D15E671-8180-DE37-A19C-8B9548989DE6}"/>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1CB88F27-7B67-F6A2-57F2-240E04C27293}"/>
              </a:ext>
            </a:extLst>
          </p:cNvPr>
          <p:cNvSpPr>
            <a:spLocks noGrp="1"/>
          </p:cNvSpPr>
          <p:nvPr>
            <p:ph type="sldNum" sz="quarter" idx="5"/>
          </p:nvPr>
        </p:nvSpPr>
        <p:spPr/>
      </p:sp>
    </p:spTree>
    <p:extLst>
      <p:ext uri="{BB962C8B-B14F-4D97-AF65-F5344CB8AC3E}">
        <p14:creationId xmlns:p14="http://schemas.microsoft.com/office/powerpoint/2010/main" val="31513727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FFB02-5014-0B4A-1FA1-797EF6E676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4D8900-3F09-D838-FC9E-FEDB53A1985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88B59EE-6C2C-A321-747C-805A74769935}"/>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D87F881D-8FEA-563A-493E-45D243E54FB3}"/>
              </a:ext>
            </a:extLst>
          </p:cNvPr>
          <p:cNvSpPr>
            <a:spLocks noGrp="1"/>
          </p:cNvSpPr>
          <p:nvPr>
            <p:ph type="sldNum" sz="quarter" idx="5"/>
          </p:nvPr>
        </p:nvSpPr>
        <p:spPr/>
      </p:sp>
    </p:spTree>
    <p:extLst>
      <p:ext uri="{BB962C8B-B14F-4D97-AF65-F5344CB8AC3E}">
        <p14:creationId xmlns:p14="http://schemas.microsoft.com/office/powerpoint/2010/main" val="237354804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92B14-BC0A-09AE-2C89-2EFC42111F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9EA8AF-613F-7FE3-E474-5BBD6B2F059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DAE35EF-A68F-745B-3ECC-12A607ED222C}"/>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DF92839B-44FB-6442-A019-16437AD97D87}"/>
              </a:ext>
            </a:extLst>
          </p:cNvPr>
          <p:cNvSpPr>
            <a:spLocks noGrp="1"/>
          </p:cNvSpPr>
          <p:nvPr>
            <p:ph type="sldNum" sz="quarter" idx="5"/>
          </p:nvPr>
        </p:nvSpPr>
        <p:spPr/>
      </p:sp>
    </p:spTree>
    <p:extLst>
      <p:ext uri="{BB962C8B-B14F-4D97-AF65-F5344CB8AC3E}">
        <p14:creationId xmlns:p14="http://schemas.microsoft.com/office/powerpoint/2010/main" val="55464390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9DA1C-B2E4-6478-1FFF-21E5BF0EFF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2902A2-3D56-0F4E-6518-68C21A0C19C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311EE25-0748-8918-EF4A-ADF7F8838AFB}"/>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8E33CD7B-F8BE-54C5-82F3-DA0AF7CF0359}"/>
              </a:ext>
            </a:extLst>
          </p:cNvPr>
          <p:cNvSpPr>
            <a:spLocks noGrp="1"/>
          </p:cNvSpPr>
          <p:nvPr>
            <p:ph type="sldNum" sz="quarter" idx="5"/>
          </p:nvPr>
        </p:nvSpPr>
        <p:spPr/>
      </p:sp>
    </p:spTree>
    <p:extLst>
      <p:ext uri="{BB962C8B-B14F-4D97-AF65-F5344CB8AC3E}">
        <p14:creationId xmlns:p14="http://schemas.microsoft.com/office/powerpoint/2010/main" val="35584331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75303-10E8-5854-7ED9-C97004E9CA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859F22-93E4-D4B2-C097-8394DA284F5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F03F8A5-F55C-6579-D4C0-A282B247F02D}"/>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43CA148B-155C-7215-C851-BC2B0765129B}"/>
              </a:ext>
            </a:extLst>
          </p:cNvPr>
          <p:cNvSpPr>
            <a:spLocks noGrp="1"/>
          </p:cNvSpPr>
          <p:nvPr>
            <p:ph type="sldNum" sz="quarter" idx="5"/>
          </p:nvPr>
        </p:nvSpPr>
        <p:spPr/>
      </p:sp>
    </p:spTree>
    <p:extLst>
      <p:ext uri="{BB962C8B-B14F-4D97-AF65-F5344CB8AC3E}">
        <p14:creationId xmlns:p14="http://schemas.microsoft.com/office/powerpoint/2010/main" val="17770384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77733-B0A4-07AE-6B5E-F803DD6CFB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871FBE-E406-BEB2-2B0A-732EBBD270B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7F86C83-1AB5-AAB0-44D8-95E224C41B53}"/>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027C226F-8261-1DA5-8AE3-B5EB909BCD73}"/>
              </a:ext>
            </a:extLst>
          </p:cNvPr>
          <p:cNvSpPr>
            <a:spLocks noGrp="1"/>
          </p:cNvSpPr>
          <p:nvPr>
            <p:ph type="sldNum" sz="quarter" idx="5"/>
          </p:nvPr>
        </p:nvSpPr>
        <p:spPr/>
      </p:sp>
    </p:spTree>
    <p:extLst>
      <p:ext uri="{BB962C8B-B14F-4D97-AF65-F5344CB8AC3E}">
        <p14:creationId xmlns:p14="http://schemas.microsoft.com/office/powerpoint/2010/main" val="400468871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F12217-4135-1C86-5020-AA618560C8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7A05E2-01AE-CB95-3603-E43DE4CD67C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E050A68-2E00-DC7D-8BDF-7F27E046D5E2}"/>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12335A0D-4C28-62DA-44EB-AD929589CE5D}"/>
              </a:ext>
            </a:extLst>
          </p:cNvPr>
          <p:cNvSpPr>
            <a:spLocks noGrp="1"/>
          </p:cNvSpPr>
          <p:nvPr>
            <p:ph type="sldNum" sz="quarter" idx="5"/>
          </p:nvPr>
        </p:nvSpPr>
        <p:spPr/>
      </p:sp>
    </p:spTree>
    <p:extLst>
      <p:ext uri="{BB962C8B-B14F-4D97-AF65-F5344CB8AC3E}">
        <p14:creationId xmlns:p14="http://schemas.microsoft.com/office/powerpoint/2010/main" val="301303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19F81-F6C1-79CC-A7FF-8F56F306B3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10A78E-688B-F36F-BB6A-CC0C810200C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94DCD72-FEC7-4EE4-92DA-2BAC1E693FB3}"/>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54C5A0BB-2CA6-05D1-8BA8-B9DF40473AC4}"/>
              </a:ext>
            </a:extLst>
          </p:cNvPr>
          <p:cNvSpPr>
            <a:spLocks noGrp="1"/>
          </p:cNvSpPr>
          <p:nvPr>
            <p:ph type="sldNum" sz="quarter" idx="5"/>
          </p:nvPr>
        </p:nvSpPr>
        <p:spPr/>
      </p:sp>
    </p:spTree>
    <p:extLst>
      <p:ext uri="{BB962C8B-B14F-4D97-AF65-F5344CB8AC3E}">
        <p14:creationId xmlns:p14="http://schemas.microsoft.com/office/powerpoint/2010/main" val="31201138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0A894-5E53-19DE-90AA-6C5C53E8EF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58F4C-3F8B-BF67-C2D0-EF7FC68E968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55A0F0C-03BA-FA93-3754-76D7A7EC11FD}"/>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BB2F4631-C6F9-F594-A00A-21C49F1D5B9D}"/>
              </a:ext>
            </a:extLst>
          </p:cNvPr>
          <p:cNvSpPr>
            <a:spLocks noGrp="1"/>
          </p:cNvSpPr>
          <p:nvPr>
            <p:ph type="sldNum" sz="quarter" idx="5"/>
          </p:nvPr>
        </p:nvSpPr>
        <p:spPr/>
      </p:sp>
    </p:spTree>
    <p:extLst>
      <p:ext uri="{BB962C8B-B14F-4D97-AF65-F5344CB8AC3E}">
        <p14:creationId xmlns:p14="http://schemas.microsoft.com/office/powerpoint/2010/main" val="13951772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00CCA7-D249-B614-1DF6-9E6CACF6FA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0A81BE-4272-6660-99EF-F1BAB7F98F4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B0E155A-9F8D-F198-5E5F-6E7482510D2E}"/>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9A7F8F16-8DE7-BBF9-A96A-875FD3972ECC}"/>
              </a:ext>
            </a:extLst>
          </p:cNvPr>
          <p:cNvSpPr>
            <a:spLocks noGrp="1"/>
          </p:cNvSpPr>
          <p:nvPr>
            <p:ph type="sldNum" sz="quarter" idx="5"/>
          </p:nvPr>
        </p:nvSpPr>
        <p:spPr/>
      </p:sp>
    </p:spTree>
    <p:extLst>
      <p:ext uri="{BB962C8B-B14F-4D97-AF65-F5344CB8AC3E}">
        <p14:creationId xmlns:p14="http://schemas.microsoft.com/office/powerpoint/2010/main" val="16560328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8DDD5-F1EB-B041-ACC3-02EB1A173B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3A5188-314E-F720-7C79-9A3B7D45D0F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BE430E9-2ED1-0A3E-F054-282CE48874A4}"/>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FF419FF9-6C8A-6D29-FAF9-1215AAC8975D}"/>
              </a:ext>
            </a:extLst>
          </p:cNvPr>
          <p:cNvSpPr>
            <a:spLocks noGrp="1"/>
          </p:cNvSpPr>
          <p:nvPr>
            <p:ph type="sldNum" sz="quarter" idx="5"/>
          </p:nvPr>
        </p:nvSpPr>
        <p:spPr/>
      </p:sp>
    </p:spTree>
    <p:extLst>
      <p:ext uri="{BB962C8B-B14F-4D97-AF65-F5344CB8AC3E}">
        <p14:creationId xmlns:p14="http://schemas.microsoft.com/office/powerpoint/2010/main" val="48784820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726EB-BD2B-94FA-E89E-ECDFD94E54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9368E8-A9CB-5621-14E2-1D5C833AC35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8580118-535A-7A99-30A8-78428B25998D}"/>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24382B2B-94BE-479B-1C9F-AA68C20D4CF9}"/>
              </a:ext>
            </a:extLst>
          </p:cNvPr>
          <p:cNvSpPr>
            <a:spLocks noGrp="1"/>
          </p:cNvSpPr>
          <p:nvPr>
            <p:ph type="sldNum" sz="quarter" idx="5"/>
          </p:nvPr>
        </p:nvSpPr>
        <p:spPr/>
      </p:sp>
    </p:spTree>
    <p:extLst>
      <p:ext uri="{BB962C8B-B14F-4D97-AF65-F5344CB8AC3E}">
        <p14:creationId xmlns:p14="http://schemas.microsoft.com/office/powerpoint/2010/main" val="39698972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D1A11-AD46-4E28-3C97-66EADEFF5B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A4B2CE-A8F2-B6FB-C7B1-574CF806608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7FE34FF-938E-3336-60CB-0A30AAFD6E71}"/>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C6E569AB-855B-7492-EC38-8649B107D336}"/>
              </a:ext>
            </a:extLst>
          </p:cNvPr>
          <p:cNvSpPr>
            <a:spLocks noGrp="1"/>
          </p:cNvSpPr>
          <p:nvPr>
            <p:ph type="sldNum" sz="quarter" idx="5"/>
          </p:nvPr>
        </p:nvSpPr>
        <p:spPr/>
      </p:sp>
    </p:spTree>
    <p:extLst>
      <p:ext uri="{BB962C8B-B14F-4D97-AF65-F5344CB8AC3E}">
        <p14:creationId xmlns:p14="http://schemas.microsoft.com/office/powerpoint/2010/main" val="328940145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8B7924-001F-87BB-0A9D-BF22318977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4FFC19-EF75-AD36-1502-0A7F1A2E577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8ADC208-ECE3-8066-E83B-3BE84C9218C8}"/>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84A7DE8C-10CB-152A-F75A-C78D0CFC48AF}"/>
              </a:ext>
            </a:extLst>
          </p:cNvPr>
          <p:cNvSpPr>
            <a:spLocks noGrp="1"/>
          </p:cNvSpPr>
          <p:nvPr>
            <p:ph type="sldNum" sz="quarter" idx="5"/>
          </p:nvPr>
        </p:nvSpPr>
        <p:spPr/>
      </p:sp>
    </p:spTree>
    <p:extLst>
      <p:ext uri="{BB962C8B-B14F-4D97-AF65-F5344CB8AC3E}">
        <p14:creationId xmlns:p14="http://schemas.microsoft.com/office/powerpoint/2010/main" val="424482437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20077-371B-BFE7-1E7B-389120190B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2F1B73-F876-E043-7F33-D56A334EAE1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431BFC0-9229-277B-9072-F46B3B71A734}"/>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A7E0ED6F-9FD8-6D88-0BFB-96A090673377}"/>
              </a:ext>
            </a:extLst>
          </p:cNvPr>
          <p:cNvSpPr>
            <a:spLocks noGrp="1"/>
          </p:cNvSpPr>
          <p:nvPr>
            <p:ph type="sldNum" sz="quarter" idx="5"/>
          </p:nvPr>
        </p:nvSpPr>
        <p:spPr/>
      </p:sp>
    </p:spTree>
    <p:extLst>
      <p:ext uri="{BB962C8B-B14F-4D97-AF65-F5344CB8AC3E}">
        <p14:creationId xmlns:p14="http://schemas.microsoft.com/office/powerpoint/2010/main" val="4173916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8AAD4-1413-B754-24C3-580AED6911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62BB0C-04A4-77DD-61BE-167D748504D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ABBDCEA-2792-A728-98C8-6EBC8415B166}"/>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672714E7-FC5C-6B2F-8009-F0D1C74837AB}"/>
              </a:ext>
            </a:extLst>
          </p:cNvPr>
          <p:cNvSpPr>
            <a:spLocks noGrp="1"/>
          </p:cNvSpPr>
          <p:nvPr>
            <p:ph type="sldNum" sz="quarter" idx="5"/>
          </p:nvPr>
        </p:nvSpPr>
        <p:spPr/>
      </p:sp>
    </p:spTree>
    <p:extLst>
      <p:ext uri="{BB962C8B-B14F-4D97-AF65-F5344CB8AC3E}">
        <p14:creationId xmlns:p14="http://schemas.microsoft.com/office/powerpoint/2010/main" val="83340837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D020B-4E1D-5AF0-B7D1-FA9BFC8CF3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E1BF3A-C37E-9D45-7A4C-F5FC0DD1728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F8D5ED0-5906-7170-4BC6-61E1AB8B0E45}"/>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B8A5875A-E508-1DEA-5B44-831AA3535E4E}"/>
              </a:ext>
            </a:extLst>
          </p:cNvPr>
          <p:cNvSpPr>
            <a:spLocks noGrp="1"/>
          </p:cNvSpPr>
          <p:nvPr>
            <p:ph type="sldNum" sz="quarter" idx="5"/>
          </p:nvPr>
        </p:nvSpPr>
        <p:spPr/>
      </p:sp>
    </p:spTree>
    <p:extLst>
      <p:ext uri="{BB962C8B-B14F-4D97-AF65-F5344CB8AC3E}">
        <p14:creationId xmlns:p14="http://schemas.microsoft.com/office/powerpoint/2010/main" val="205226293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13FC4-DFE8-60D0-DFBB-E60F05F99C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E2F2C7-2D0A-1850-90EA-92BF6C2FE52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837D986-8BC8-C96E-385D-4EBBBDB0508D}"/>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C0054DCF-E40B-29E3-91C2-22416B6C0B14}"/>
              </a:ext>
            </a:extLst>
          </p:cNvPr>
          <p:cNvSpPr>
            <a:spLocks noGrp="1"/>
          </p:cNvSpPr>
          <p:nvPr>
            <p:ph type="sldNum" sz="quarter" idx="5"/>
          </p:nvPr>
        </p:nvSpPr>
        <p:spPr/>
      </p:sp>
    </p:spTree>
    <p:extLst>
      <p:ext uri="{BB962C8B-B14F-4D97-AF65-F5344CB8AC3E}">
        <p14:creationId xmlns:p14="http://schemas.microsoft.com/office/powerpoint/2010/main" val="100628498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B2FE6-C028-680B-B61D-C190753592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ECA9EE-173B-4438-2F9E-A037ACC0B1E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D2DA251-B2EB-4C6E-6B9F-68CF096B3432}"/>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02906125-7393-1CA4-78F8-6F82457624A2}"/>
              </a:ext>
            </a:extLst>
          </p:cNvPr>
          <p:cNvSpPr>
            <a:spLocks noGrp="1"/>
          </p:cNvSpPr>
          <p:nvPr>
            <p:ph type="sldNum" sz="quarter" idx="5"/>
          </p:nvPr>
        </p:nvSpPr>
        <p:spPr/>
      </p:sp>
    </p:spTree>
    <p:extLst>
      <p:ext uri="{BB962C8B-B14F-4D97-AF65-F5344CB8AC3E}">
        <p14:creationId xmlns:p14="http://schemas.microsoft.com/office/powerpoint/2010/main" val="209880766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AACCDC-89A1-1FEC-D35C-3E79A35926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E8FC37-75A8-8C77-F2B5-3D10BDC89DA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80DFE7C-673B-9109-05D0-9E10B32DC4F3}"/>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B170DB31-FF01-B92C-5A48-AFD7E53155C2}"/>
              </a:ext>
            </a:extLst>
          </p:cNvPr>
          <p:cNvSpPr>
            <a:spLocks noGrp="1"/>
          </p:cNvSpPr>
          <p:nvPr>
            <p:ph type="sldNum" sz="quarter" idx="5"/>
          </p:nvPr>
        </p:nvSpPr>
        <p:spPr/>
      </p:sp>
    </p:spTree>
    <p:extLst>
      <p:ext uri="{BB962C8B-B14F-4D97-AF65-F5344CB8AC3E}">
        <p14:creationId xmlns:p14="http://schemas.microsoft.com/office/powerpoint/2010/main" val="21327940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646C31-600C-7070-536C-589A951C96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38CA68-9816-28F5-6592-5072C186B87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90A5534-EA37-B5DF-3D0A-4B5A810BBAD5}"/>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7DFAA30F-E2E1-AFEE-4DB2-108A3E146373}"/>
              </a:ext>
            </a:extLst>
          </p:cNvPr>
          <p:cNvSpPr>
            <a:spLocks noGrp="1"/>
          </p:cNvSpPr>
          <p:nvPr>
            <p:ph type="sldNum" sz="quarter" idx="5"/>
          </p:nvPr>
        </p:nvSpPr>
        <p:spPr/>
      </p:sp>
    </p:spTree>
    <p:extLst>
      <p:ext uri="{BB962C8B-B14F-4D97-AF65-F5344CB8AC3E}">
        <p14:creationId xmlns:p14="http://schemas.microsoft.com/office/powerpoint/2010/main" val="263822942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58BDB-B717-B07B-9F30-F1B7F875B2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4EB172-D6AF-AE63-2B7A-7A4B3DB248A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21436E6-9867-07F6-CCEA-36377AE9D220}"/>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5372AD40-D807-006F-98FD-6A6F3EFEA72F}"/>
              </a:ext>
            </a:extLst>
          </p:cNvPr>
          <p:cNvSpPr>
            <a:spLocks noGrp="1"/>
          </p:cNvSpPr>
          <p:nvPr>
            <p:ph type="sldNum" sz="quarter" idx="5"/>
          </p:nvPr>
        </p:nvSpPr>
        <p:spPr/>
      </p:sp>
    </p:spTree>
    <p:extLst>
      <p:ext uri="{BB962C8B-B14F-4D97-AF65-F5344CB8AC3E}">
        <p14:creationId xmlns:p14="http://schemas.microsoft.com/office/powerpoint/2010/main" val="24803186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F225F-C976-576D-0EE6-1176D53D52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19D221-FD29-3B1A-87CE-D743152BFA2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CA18D41-857A-0BBD-DB7F-B24BD2132C31}"/>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F3671A58-3B46-A160-4410-BD16CA009374}"/>
              </a:ext>
            </a:extLst>
          </p:cNvPr>
          <p:cNvSpPr>
            <a:spLocks noGrp="1"/>
          </p:cNvSpPr>
          <p:nvPr>
            <p:ph type="sldNum" sz="quarter" idx="5"/>
          </p:nvPr>
        </p:nvSpPr>
        <p:spPr/>
      </p:sp>
    </p:spTree>
    <p:extLst>
      <p:ext uri="{BB962C8B-B14F-4D97-AF65-F5344CB8AC3E}">
        <p14:creationId xmlns:p14="http://schemas.microsoft.com/office/powerpoint/2010/main" val="249938563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18A7CC-6F9D-4BEA-5550-6E5B22427E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FC4E7C-5BBA-500B-60C6-71C1BD23F6A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54E15DB-55E4-33CD-3095-3A342C9390C3}"/>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156A85E7-61A4-B6A2-400D-8416988CCD89}"/>
              </a:ext>
            </a:extLst>
          </p:cNvPr>
          <p:cNvSpPr>
            <a:spLocks noGrp="1"/>
          </p:cNvSpPr>
          <p:nvPr>
            <p:ph type="sldNum" sz="quarter" idx="5"/>
          </p:nvPr>
        </p:nvSpPr>
        <p:spPr/>
      </p:sp>
    </p:spTree>
    <p:extLst>
      <p:ext uri="{BB962C8B-B14F-4D97-AF65-F5344CB8AC3E}">
        <p14:creationId xmlns:p14="http://schemas.microsoft.com/office/powerpoint/2010/main" val="365705945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Câu</a:t>
            </a:r>
            <a:r>
              <a:rPr dirty="0"/>
              <a:t> </a:t>
            </a:r>
            <a:r>
              <a:rPr dirty="0" err="1"/>
              <a:t>hỏi</a:t>
            </a:r>
            <a:r>
              <a:rPr dirty="0"/>
              <a:t> </a:t>
            </a:r>
            <a:r>
              <a:rPr dirty="0" err="1"/>
              <a:t>có</a:t>
            </a:r>
            <a:r>
              <a:rPr dirty="0"/>
              <a:t> </a:t>
            </a:r>
            <a:r>
              <a:rPr dirty="0" err="1"/>
              <a:t>thể</a:t>
            </a:r>
            <a:r>
              <a:rPr dirty="0"/>
              <a:t> </a:t>
            </a:r>
            <a:r>
              <a:rPr dirty="0" err="1"/>
              <a:t>gặp</a:t>
            </a:r>
            <a:r>
              <a:rPr dirty="0"/>
              <a:t>:</a:t>
            </a:r>
          </a:p>
          <a:p>
            <a:r>
              <a:rPr dirty="0"/>
              <a:t>- '</a:t>
            </a:r>
            <a:r>
              <a:rPr dirty="0" err="1"/>
              <a:t>Có</a:t>
            </a:r>
            <a:r>
              <a:rPr dirty="0"/>
              <a:t> </a:t>
            </a:r>
            <a:r>
              <a:rPr dirty="0" err="1"/>
              <a:t>phải</a:t>
            </a:r>
            <a:r>
              <a:rPr dirty="0"/>
              <a:t> LLM </a:t>
            </a:r>
            <a:r>
              <a:rPr dirty="0" err="1"/>
              <a:t>không</a:t>
            </a:r>
            <a:r>
              <a:rPr dirty="0"/>
              <a:t>?' → </a:t>
            </a:r>
            <a:r>
              <a:rPr dirty="0" err="1"/>
              <a:t>Không</a:t>
            </a:r>
            <a:r>
              <a:rPr dirty="0"/>
              <a:t>; </a:t>
            </a:r>
            <a:r>
              <a:rPr dirty="0" err="1"/>
              <a:t>hỏi</a:t>
            </a:r>
            <a:r>
              <a:rPr dirty="0"/>
              <a:t> </a:t>
            </a:r>
            <a:r>
              <a:rPr dirty="0" err="1"/>
              <a:t>đáp</a:t>
            </a:r>
            <a:r>
              <a:rPr dirty="0"/>
              <a:t> </a:t>
            </a:r>
            <a:r>
              <a:rPr dirty="0" err="1"/>
              <a:t>hiện</a:t>
            </a:r>
            <a:r>
              <a:rPr dirty="0"/>
              <a:t> </a:t>
            </a:r>
            <a:r>
              <a:rPr dirty="0" err="1"/>
              <a:t>là</a:t>
            </a:r>
            <a:r>
              <a:rPr dirty="0"/>
              <a:t> rule-based </a:t>
            </a:r>
            <a:r>
              <a:rPr dirty="0" err="1"/>
              <a:t>có</a:t>
            </a:r>
            <a:r>
              <a:rPr dirty="0"/>
              <a:t> </a:t>
            </a:r>
            <a:r>
              <a:rPr dirty="0" err="1"/>
              <a:t>ràng</a:t>
            </a:r>
            <a:r>
              <a:rPr dirty="0"/>
              <a:t> </a:t>
            </a:r>
            <a:r>
              <a:rPr dirty="0" err="1"/>
              <a:t>buộc</a:t>
            </a:r>
            <a:r>
              <a:rPr dirty="0"/>
              <a:t> an </a:t>
            </a:r>
            <a:r>
              <a:rPr dirty="0" err="1"/>
              <a:t>toàn</a:t>
            </a:r>
            <a:r>
              <a:rPr dirty="0"/>
              <a:t>; LLM/RAG </a:t>
            </a:r>
            <a:r>
              <a:rPr dirty="0" err="1"/>
              <a:t>là</a:t>
            </a:r>
            <a:r>
              <a:rPr dirty="0"/>
              <a:t> </a:t>
            </a:r>
            <a:r>
              <a:rPr dirty="0" err="1"/>
              <a:t>hướng</a:t>
            </a:r>
            <a:r>
              <a:rPr dirty="0"/>
              <a:t> </a:t>
            </a:r>
            <a:r>
              <a:rPr dirty="0" err="1"/>
              <a:t>phát</a:t>
            </a:r>
            <a:r>
              <a:rPr dirty="0"/>
              <a:t> </a:t>
            </a:r>
            <a:r>
              <a:rPr dirty="0" err="1"/>
              <a:t>triển</a:t>
            </a:r>
            <a:r>
              <a:rPr dirty="0"/>
              <a:t>.</a:t>
            </a:r>
          </a:p>
          <a:p>
            <a:r>
              <a:rPr dirty="0"/>
              <a:t>- '</a:t>
            </a:r>
            <a:r>
              <a:rPr dirty="0" err="1"/>
              <a:t>Độ</a:t>
            </a:r>
            <a:r>
              <a:rPr dirty="0"/>
              <a:t> </a:t>
            </a:r>
            <a:r>
              <a:rPr dirty="0" err="1"/>
              <a:t>chính</a:t>
            </a:r>
            <a:r>
              <a:rPr dirty="0"/>
              <a:t> </a:t>
            </a:r>
            <a:r>
              <a:rPr dirty="0" err="1"/>
              <a:t>xác</a:t>
            </a:r>
            <a:r>
              <a:rPr dirty="0"/>
              <a:t> </a:t>
            </a:r>
            <a:r>
              <a:rPr dirty="0" err="1"/>
              <a:t>mô</a:t>
            </a:r>
            <a:r>
              <a:rPr dirty="0"/>
              <a:t> </a:t>
            </a:r>
            <a:r>
              <a:rPr dirty="0" err="1"/>
              <a:t>hình</a:t>
            </a:r>
            <a:r>
              <a:rPr dirty="0"/>
              <a:t>?' → </a:t>
            </a:r>
            <a:r>
              <a:rPr dirty="0" err="1"/>
              <a:t>nêu</a:t>
            </a:r>
            <a:r>
              <a:rPr dirty="0"/>
              <a:t> </a:t>
            </a:r>
            <a:r>
              <a:rPr dirty="0" err="1"/>
              <a:t>số</a:t>
            </a:r>
            <a:r>
              <a:rPr dirty="0"/>
              <a:t> </a:t>
            </a:r>
            <a:r>
              <a:rPr dirty="0" err="1"/>
              <a:t>từ</a:t>
            </a:r>
            <a:r>
              <a:rPr dirty="0"/>
              <a:t> </a:t>
            </a:r>
            <a:r>
              <a:rPr dirty="0" err="1"/>
              <a:t>src</a:t>
            </a:r>
            <a:r>
              <a:rPr dirty="0"/>
              <a:t>/models/*_</a:t>
            </a:r>
            <a:r>
              <a:rPr dirty="0" err="1"/>
              <a:t>evaluation.py</a:t>
            </a:r>
            <a:r>
              <a:rPr dirty="0"/>
              <a:t> (</a:t>
            </a:r>
            <a:r>
              <a:rPr dirty="0" err="1"/>
              <a:t>điền</a:t>
            </a:r>
            <a:r>
              <a:rPr dirty="0"/>
              <a:t> </a:t>
            </a:r>
            <a:r>
              <a:rPr dirty="0" err="1"/>
              <a:t>số</a:t>
            </a:r>
            <a:r>
              <a:rPr dirty="0"/>
              <a:t> </a:t>
            </a:r>
            <a:r>
              <a:rPr dirty="0" err="1"/>
              <a:t>thật</a:t>
            </a:r>
            <a:r>
              <a:rPr dirty="0"/>
              <a:t> </a:t>
            </a:r>
            <a:r>
              <a:rPr dirty="0" err="1"/>
              <a:t>trước</a:t>
            </a:r>
            <a:r>
              <a:rPr dirty="0"/>
              <a:t> </a:t>
            </a:r>
            <a:r>
              <a:rPr dirty="0" err="1"/>
              <a:t>khi</a:t>
            </a:r>
            <a:r>
              <a:rPr dirty="0"/>
              <a:t> </a:t>
            </a:r>
            <a:r>
              <a:rPr dirty="0" err="1"/>
              <a:t>trình</a:t>
            </a:r>
            <a:r>
              <a:rPr dirty="0"/>
              <a:t> </a:t>
            </a:r>
            <a:r>
              <a:rPr dirty="0" err="1"/>
              <a:t>bày</a:t>
            </a:r>
            <a:r>
              <a:rPr dirty="0"/>
              <a:t>).</a:t>
            </a:r>
          </a:p>
          <a:p>
            <a:r>
              <a:rPr dirty="0"/>
              <a:t>- '</a:t>
            </a:r>
            <a:r>
              <a:rPr dirty="0" err="1"/>
              <a:t>Vì</a:t>
            </a:r>
            <a:r>
              <a:rPr dirty="0"/>
              <a:t> </a:t>
            </a:r>
            <a:r>
              <a:rPr dirty="0" err="1"/>
              <a:t>sao</a:t>
            </a:r>
            <a:r>
              <a:rPr dirty="0"/>
              <a:t> </a:t>
            </a:r>
            <a:r>
              <a:rPr dirty="0" err="1"/>
              <a:t>chọn</a:t>
            </a:r>
            <a:r>
              <a:rPr dirty="0"/>
              <a:t> </a:t>
            </a:r>
            <a:r>
              <a:rPr dirty="0" err="1"/>
              <a:t>RandomForest</a:t>
            </a:r>
            <a:r>
              <a:rPr dirty="0"/>
              <a:t>?' → </a:t>
            </a:r>
            <a:r>
              <a:rPr dirty="0" err="1"/>
              <a:t>mạnh</a:t>
            </a:r>
            <a:r>
              <a:rPr dirty="0"/>
              <a:t> </a:t>
            </a:r>
            <a:r>
              <a:rPr dirty="0" err="1"/>
              <a:t>với</a:t>
            </a:r>
            <a:r>
              <a:rPr dirty="0"/>
              <a:t> </a:t>
            </a:r>
            <a:r>
              <a:rPr dirty="0" err="1"/>
              <a:t>dữ</a:t>
            </a:r>
            <a:r>
              <a:rPr dirty="0"/>
              <a:t> </a:t>
            </a:r>
            <a:r>
              <a:rPr dirty="0" err="1"/>
              <a:t>liệu</a:t>
            </a:r>
            <a:r>
              <a:rPr dirty="0"/>
              <a:t> </a:t>
            </a:r>
            <a:r>
              <a:rPr dirty="0" err="1"/>
              <a:t>bảng</a:t>
            </a:r>
            <a:r>
              <a:rPr dirty="0"/>
              <a:t>, </a:t>
            </a:r>
            <a:r>
              <a:rPr dirty="0" err="1"/>
              <a:t>ít</a:t>
            </a:r>
            <a:r>
              <a:rPr dirty="0"/>
              <a:t> overfit </a:t>
            </a:r>
            <a:r>
              <a:rPr dirty="0" err="1"/>
              <a:t>hơn</a:t>
            </a:r>
            <a:r>
              <a:rPr dirty="0"/>
              <a:t> 1 </a:t>
            </a:r>
            <a:r>
              <a:rPr dirty="0" err="1"/>
              <a:t>cây</a:t>
            </a:r>
            <a:r>
              <a:rPr dirty="0"/>
              <a:t>, </a:t>
            </a:r>
            <a:r>
              <a:rPr dirty="0" err="1"/>
              <a:t>hỗ</a:t>
            </a:r>
            <a:r>
              <a:rPr dirty="0"/>
              <a:t> </a:t>
            </a:r>
            <a:r>
              <a:rPr dirty="0" err="1"/>
              <a:t>trợ</a:t>
            </a:r>
            <a:r>
              <a:rPr dirty="0"/>
              <a:t> feature importance/SHAP.</a:t>
            </a:r>
          </a:p>
          <a:p>
            <a:r>
              <a:rPr dirty="0"/>
              <a:t>- '</a:t>
            </a:r>
            <a:r>
              <a:rPr dirty="0" err="1"/>
              <a:t>Xử</a:t>
            </a:r>
            <a:r>
              <a:rPr dirty="0"/>
              <a:t> </a:t>
            </a:r>
            <a:r>
              <a:rPr dirty="0" err="1"/>
              <a:t>lý</a:t>
            </a:r>
            <a:r>
              <a:rPr dirty="0"/>
              <a:t> </a:t>
            </a:r>
            <a:r>
              <a:rPr dirty="0" err="1"/>
              <a:t>mất</a:t>
            </a:r>
            <a:r>
              <a:rPr dirty="0"/>
              <a:t> </a:t>
            </a:r>
            <a:r>
              <a:rPr dirty="0" err="1"/>
              <a:t>cân</a:t>
            </a:r>
            <a:r>
              <a:rPr dirty="0"/>
              <a:t> </a:t>
            </a:r>
            <a:r>
              <a:rPr dirty="0" err="1"/>
              <a:t>bằng</a:t>
            </a:r>
            <a:r>
              <a:rPr dirty="0"/>
              <a:t> </a:t>
            </a:r>
            <a:r>
              <a:rPr dirty="0" err="1"/>
              <a:t>dữ</a:t>
            </a:r>
            <a:r>
              <a:rPr dirty="0"/>
              <a:t> </a:t>
            </a:r>
            <a:r>
              <a:rPr dirty="0" err="1"/>
              <a:t>liệu</a:t>
            </a:r>
            <a:r>
              <a:rPr dirty="0"/>
              <a:t>?' → </a:t>
            </a:r>
            <a:r>
              <a:rPr dirty="0" err="1"/>
              <a:t>tinh</a:t>
            </a:r>
            <a:r>
              <a:rPr dirty="0"/>
              <a:t> </a:t>
            </a:r>
            <a:r>
              <a:rPr dirty="0" err="1"/>
              <a:t>chỉnh</a:t>
            </a:r>
            <a:r>
              <a:rPr dirty="0"/>
              <a:t> threshold </a:t>
            </a:r>
            <a:r>
              <a:rPr dirty="0" err="1"/>
              <a:t>theo</a:t>
            </a:r>
            <a:r>
              <a:rPr dirty="0"/>
              <a:t> </a:t>
            </a:r>
            <a:r>
              <a:rPr dirty="0" err="1"/>
              <a:t>bệnh</a:t>
            </a:r>
            <a:r>
              <a:rPr dirty="0"/>
              <a:t> (0.40/0.35/0.35) </a:t>
            </a:r>
            <a:r>
              <a:rPr dirty="0" err="1"/>
              <a:t>thay</a:t>
            </a:r>
            <a:r>
              <a:rPr dirty="0"/>
              <a:t> </a:t>
            </a:r>
            <a:r>
              <a:rPr dirty="0" err="1"/>
              <a:t>vì</a:t>
            </a:r>
            <a:r>
              <a:rPr dirty="0"/>
              <a:t> 0.5.</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10/7/26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10/7/26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10/7/26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10/7/26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10/7/26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10/7/26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hyperlink" Target="https://dinhdatthong1809.github.io/gaussian-mixture-model-interactive-visualisation"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80.png"/><Relationship Id="rId7"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4.png"/><Relationship Id="rId7"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0.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8.png"/><Relationship Id="rId7" Type="http://schemas.openxmlformats.org/officeDocument/2006/relationships/image" Target="../media/image15.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140.png"/><Relationship Id="rId5" Type="http://schemas.openxmlformats.org/officeDocument/2006/relationships/image" Target="../media/image13.png"/><Relationship Id="rId10" Type="http://schemas.openxmlformats.org/officeDocument/2006/relationships/image" Target="../media/image17.png"/><Relationship Id="rId4" Type="http://schemas.openxmlformats.org/officeDocument/2006/relationships/image" Target="../media/image14.png"/><Relationship Id="rId9" Type="http://schemas.openxmlformats.org/officeDocument/2006/relationships/image" Target="../media/image19.png"/></Relationships>
</file>

<file path=ppt/slides/_rels/slide1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20.png"/><Relationship Id="rId7" Type="http://schemas.openxmlformats.org/officeDocument/2006/relationships/image" Target="../media/image15.png"/><Relationship Id="rId12"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40.png"/><Relationship Id="rId11" Type="http://schemas.openxmlformats.org/officeDocument/2006/relationships/image" Target="../media/image22.png"/><Relationship Id="rId5" Type="http://schemas.openxmlformats.org/officeDocument/2006/relationships/image" Target="../media/image13.png"/><Relationship Id="rId10" Type="http://schemas.openxmlformats.org/officeDocument/2006/relationships/image" Target="../media/image21.png"/><Relationship Id="rId4" Type="http://schemas.openxmlformats.org/officeDocument/2006/relationships/image" Target="../media/image14.png"/><Relationship Id="rId9" Type="http://schemas.openxmlformats.org/officeDocument/2006/relationships/image" Target="../media/image1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20.png"/><Relationship Id="rId7"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3.png"/><Relationship Id="rId10" Type="http://schemas.openxmlformats.org/officeDocument/2006/relationships/image" Target="../media/image29.png"/><Relationship Id="rId4" Type="http://schemas.openxmlformats.org/officeDocument/2006/relationships/image" Target="../media/image26.png"/><Relationship Id="rId9" Type="http://schemas.openxmlformats.org/officeDocument/2006/relationships/image" Target="../media/image25.png"/></Relationships>
</file>

<file path=ppt/slides/_rels/slide1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20.png"/><Relationship Id="rId7" Type="http://schemas.openxmlformats.org/officeDocument/2006/relationships/image" Target="../media/image29.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3.png"/><Relationship Id="rId10" Type="http://schemas.openxmlformats.org/officeDocument/2006/relationships/image" Target="../media/image25.png"/><Relationship Id="rId4" Type="http://schemas.openxmlformats.org/officeDocument/2006/relationships/image" Target="../media/image26.png"/><Relationship Id="rId9"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31.png"/><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31.png"/><Relationship Id="rId5" Type="http://schemas.openxmlformats.org/officeDocument/2006/relationships/image" Target="../media/image33.png"/><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4.png"/><Relationship Id="rId4" Type="http://schemas.openxmlformats.org/officeDocument/2006/relationships/image" Target="../media/image30.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notesSlide" Target="../notesSlides/notesSlide29.xml"/><Relationship Id="rId1" Type="http://schemas.openxmlformats.org/officeDocument/2006/relationships/slideLayout" Target="../slideLayouts/slideLayout7.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31.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1.xml"/><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32.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notesSlide" Target="../notesSlides/notesSlide32.xml"/><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3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3.xml"/><Relationship Id="rId1" Type="http://schemas.openxmlformats.org/officeDocument/2006/relationships/slideLayout" Target="../slideLayouts/slideLayout7.xml"/><Relationship Id="rId5" Type="http://schemas.openxmlformats.org/officeDocument/2006/relationships/image" Target="../media/image54.png"/><Relationship Id="rId4" Type="http://schemas.openxmlformats.org/officeDocument/2006/relationships/image" Target="../media/image53.png"/></Relationships>
</file>

<file path=ppt/slides/_rels/slide34.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4.xml"/><Relationship Id="rId1" Type="http://schemas.openxmlformats.org/officeDocument/2006/relationships/slideLayout" Target="../slideLayouts/slideLayout7.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35.xml.rels><?xml version="1.0" encoding="UTF-8" standalone="yes"?>
<Relationships xmlns="http://schemas.openxmlformats.org/package/2006/relationships"><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62.png"/><Relationship Id="rId5" Type="http://schemas.openxmlformats.org/officeDocument/2006/relationships/image" Target="../media/image61.png"/><Relationship Id="rId4" Type="http://schemas.openxmlformats.org/officeDocument/2006/relationships/image" Target="../media/image60.png"/></Relationships>
</file>

<file path=ppt/slides/_rels/slide3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36.xml"/><Relationship Id="rId1" Type="http://schemas.openxmlformats.org/officeDocument/2006/relationships/slideLayout" Target="../slideLayouts/slideLayout7.xml"/><Relationship Id="rId5" Type="http://schemas.openxmlformats.org/officeDocument/2006/relationships/image" Target="../media/image66.png"/><Relationship Id="rId4" Type="http://schemas.openxmlformats.org/officeDocument/2006/relationships/image" Target="../media/image65.png"/></Relationships>
</file>

<file path=ppt/slides/_rels/slide3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68.png"/><Relationship Id="rId7" Type="http://schemas.openxmlformats.org/officeDocument/2006/relationships/image" Target="../media/image72.png"/><Relationship Id="rId2" Type="http://schemas.openxmlformats.org/officeDocument/2006/relationships/notesSlide" Target="../notesSlides/notesSlide40.xml"/><Relationship Id="rId1" Type="http://schemas.openxmlformats.org/officeDocument/2006/relationships/slideLayout" Target="../slideLayouts/slideLayout7.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9.png"/></Relationships>
</file>

<file path=ppt/slides/_rels/slide41.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2.xml"/><Relationship Id="rId1" Type="http://schemas.openxmlformats.org/officeDocument/2006/relationships/slideLayout" Target="../slideLayouts/slideLayout7.xml"/><Relationship Id="rId4" Type="http://schemas.openxmlformats.org/officeDocument/2006/relationships/image" Target="../media/image74.png"/></Relationships>
</file>

<file path=ppt/slides/_rels/slide43.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3.xml"/><Relationship Id="rId1" Type="http://schemas.openxmlformats.org/officeDocument/2006/relationships/slideLayout" Target="../slideLayouts/slideLayout7.xml"/><Relationship Id="rId5" Type="http://schemas.openxmlformats.org/officeDocument/2006/relationships/image" Target="../media/image77.png"/><Relationship Id="rId4" Type="http://schemas.openxmlformats.org/officeDocument/2006/relationships/image" Target="../media/image76.png"/></Relationships>
</file>

<file path=ppt/slides/_rels/slide4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4.xml"/><Relationship Id="rId1" Type="http://schemas.openxmlformats.org/officeDocument/2006/relationships/slideLayout" Target="../slideLayouts/slideLayout7.xml"/><Relationship Id="rId5" Type="http://schemas.openxmlformats.org/officeDocument/2006/relationships/image" Target="../media/image79.png"/><Relationship Id="rId4" Type="http://schemas.openxmlformats.org/officeDocument/2006/relationships/image" Target="../media/image78.png"/></Relationships>
</file>

<file path=ppt/slides/_rels/slide45.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5.xml"/><Relationship Id="rId1" Type="http://schemas.openxmlformats.org/officeDocument/2006/relationships/slideLayout" Target="../slideLayouts/slideLayout7.xml"/><Relationship Id="rId5" Type="http://schemas.openxmlformats.org/officeDocument/2006/relationships/image" Target="../media/image82.png"/><Relationship Id="rId4" Type="http://schemas.openxmlformats.org/officeDocument/2006/relationships/image" Target="../media/image81.png"/></Relationships>
</file>

<file path=ppt/slides/_rels/slide4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6.xml"/><Relationship Id="rId1" Type="http://schemas.openxmlformats.org/officeDocument/2006/relationships/slideLayout" Target="../slideLayouts/slideLayout7.xml"/><Relationship Id="rId6" Type="http://schemas.openxmlformats.org/officeDocument/2006/relationships/image" Target="../media/image81.png"/><Relationship Id="rId5" Type="http://schemas.openxmlformats.org/officeDocument/2006/relationships/image" Target="../media/image82.png"/><Relationship Id="rId4" Type="http://schemas.openxmlformats.org/officeDocument/2006/relationships/image" Target="../media/image83.png"/></Relationships>
</file>

<file path=ppt/slides/_rels/slide4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47.xml"/><Relationship Id="rId1" Type="http://schemas.openxmlformats.org/officeDocument/2006/relationships/slideLayout" Target="../slideLayouts/slideLayout7.xml"/><Relationship Id="rId6" Type="http://schemas.openxmlformats.org/officeDocument/2006/relationships/image" Target="../media/image81.png"/><Relationship Id="rId5" Type="http://schemas.openxmlformats.org/officeDocument/2006/relationships/image" Target="../media/image82.png"/><Relationship Id="rId4" Type="http://schemas.openxmlformats.org/officeDocument/2006/relationships/image" Target="../media/image84.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hyperlink" Target="https://colab.research.google.com/drive/1mdINSVY2X29GtQj1N6tcE2YFGUPZ7Wuc?usp=sharing" TargetMode="External"/><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hyperlink" Target="https://scikit-learn.org/stable/auto_examples/mixture/plot_gmm_init.html" TargetMode="External"/><Relationship Id="rId2" Type="http://schemas.openxmlformats.org/officeDocument/2006/relationships/notesSlide" Target="../notesSlides/notesSlide52.xml"/><Relationship Id="rId1" Type="http://schemas.openxmlformats.org/officeDocument/2006/relationships/slideLayout" Target="../slideLayouts/slideLayout7.xml"/><Relationship Id="rId5" Type="http://schemas.openxmlformats.org/officeDocument/2006/relationships/hyperlink" Target="https://phamdinhkhanh.github.io/deepai-book/ch_ml/GMM.html" TargetMode="External"/><Relationship Id="rId4" Type="http://schemas.openxmlformats.org/officeDocument/2006/relationships/hyperlink" Target="https://elearning.citd.edu.vn/pluginfile.php/108366/mod_resource/content/1/Unsupervised-learning.pdf" TargetMode="Externa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 name="Rectangle 2"/>
          <p:cNvSpPr/>
          <p:nvPr/>
        </p:nvSpPr>
        <p:spPr>
          <a:xfrm>
            <a:off x="0" y="4206240"/>
            <a:ext cx="12191695" cy="109728"/>
          </a:xfrm>
          <a:prstGeom prst="rect">
            <a:avLst/>
          </a:prstGeom>
          <a:solidFill>
            <a:srgbClr val="1B8A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371600"/>
            <a:ext cx="10545775" cy="1938992"/>
          </a:xfrm>
          <a:prstGeom prst="rect">
            <a:avLst/>
          </a:prstGeom>
          <a:noFill/>
        </p:spPr>
        <p:txBody>
          <a:bodyPr wrap="square">
            <a:spAutoFit/>
          </a:bodyPr>
          <a:lstStyle/>
          <a:p>
            <a:r>
              <a:rPr lang="vi-VN" sz="4000" b="1" dirty="0">
                <a:solidFill>
                  <a:srgbClr val="CFE3EC"/>
                </a:solidFill>
                <a:latin typeface="Arial"/>
              </a:rPr>
              <a:t>Gaussian Mixture Model (GMM)</a:t>
            </a:r>
          </a:p>
          <a:p>
            <a:r>
              <a:rPr lang="vi-VN" sz="4000" b="1" dirty="0">
                <a:solidFill>
                  <a:srgbClr val="CFE3EC"/>
                </a:solidFill>
                <a:latin typeface="Arial"/>
              </a:rPr>
              <a:t>và</a:t>
            </a:r>
          </a:p>
          <a:p>
            <a:r>
              <a:rPr lang="vi-VN" sz="4000" b="1" dirty="0">
                <a:solidFill>
                  <a:srgbClr val="CFE3EC"/>
                </a:solidFill>
                <a:latin typeface="Arial"/>
              </a:rPr>
              <a:t>Expectation-Maximization (EM) method</a:t>
            </a:r>
            <a:endParaRPr lang="en-VN" dirty="0">
              <a:solidFill>
                <a:srgbClr val="CFE3EC"/>
              </a:solidFill>
              <a:latin typeface="Arial"/>
            </a:endParaRPr>
          </a:p>
        </p:txBody>
      </p:sp>
      <p:sp>
        <p:nvSpPr>
          <p:cNvPr id="5" name="TextBox 4"/>
          <p:cNvSpPr txBox="1"/>
          <p:nvPr/>
        </p:nvSpPr>
        <p:spPr>
          <a:xfrm>
            <a:off x="822959" y="4702126"/>
            <a:ext cx="10545775" cy="1554272"/>
          </a:xfrm>
          <a:prstGeom prst="rect">
            <a:avLst/>
          </a:prstGeom>
          <a:noFill/>
        </p:spPr>
        <p:txBody>
          <a:bodyPr wrap="square">
            <a:spAutoFit/>
          </a:bodyPr>
          <a:lstStyle/>
          <a:p>
            <a:r>
              <a:rPr lang="vi-VN" sz="1400" b="1" dirty="0">
                <a:solidFill>
                  <a:schemeClr val="accent1">
                    <a:lumMod val="20000"/>
                    <a:lumOff val="80000"/>
                  </a:schemeClr>
                </a:solidFill>
                <a:latin typeface="Arial"/>
              </a:rPr>
              <a:t>Môn học: Toán cho Khoa học máy tính</a:t>
            </a:r>
            <a:r>
              <a:rPr sz="1400" b="1" dirty="0">
                <a:solidFill>
                  <a:schemeClr val="accent1">
                    <a:lumMod val="20000"/>
                    <a:lumOff val="80000"/>
                  </a:schemeClr>
                </a:solidFill>
                <a:latin typeface="Arial"/>
              </a:rPr>
              <a:t> (</a:t>
            </a:r>
            <a:r>
              <a:rPr lang="en-US" sz="1400" b="1" dirty="0">
                <a:solidFill>
                  <a:schemeClr val="accent1">
                    <a:lumMod val="20000"/>
                    <a:lumOff val="80000"/>
                  </a:schemeClr>
                </a:solidFill>
                <a:latin typeface="Arial"/>
              </a:rPr>
              <a:t>CS115</a:t>
            </a:r>
            <a:r>
              <a:rPr sz="1400" b="1" dirty="0">
                <a:solidFill>
                  <a:schemeClr val="accent1">
                    <a:lumMod val="20000"/>
                    <a:lumOff val="80000"/>
                  </a:schemeClr>
                </a:solidFill>
                <a:latin typeface="Arial"/>
              </a:rPr>
              <a:t>)</a:t>
            </a:r>
          </a:p>
          <a:p>
            <a:r>
              <a:rPr lang="vi-VN" sz="1400" b="1" dirty="0">
                <a:solidFill>
                  <a:schemeClr val="accent1">
                    <a:lumMod val="20000"/>
                    <a:lumOff val="80000"/>
                  </a:schemeClr>
                </a:solidFill>
                <a:latin typeface="Arial"/>
              </a:rPr>
              <a:t>Giảng viên</a:t>
            </a:r>
            <a:r>
              <a:rPr sz="1400" b="1" dirty="0">
                <a:solidFill>
                  <a:schemeClr val="accent1">
                    <a:lumMod val="20000"/>
                    <a:lumOff val="80000"/>
                  </a:schemeClr>
                </a:solidFill>
                <a:latin typeface="Arial"/>
              </a:rPr>
              <a:t>: </a:t>
            </a:r>
            <a:r>
              <a:rPr lang="vi-VN" sz="1400" b="1" dirty="0">
                <a:solidFill>
                  <a:schemeClr val="accent1">
                    <a:lumMod val="20000"/>
                    <a:lumOff val="80000"/>
                  </a:schemeClr>
                </a:solidFill>
                <a:latin typeface="Arial"/>
              </a:rPr>
              <a:t>Cô Dương Việt Hằng</a:t>
            </a:r>
            <a:endParaRPr sz="1400" b="1" dirty="0">
              <a:solidFill>
                <a:schemeClr val="accent1">
                  <a:lumMod val="20000"/>
                  <a:lumOff val="80000"/>
                </a:schemeClr>
              </a:solidFill>
              <a:latin typeface="Arial"/>
            </a:endParaRPr>
          </a:p>
          <a:p>
            <a:endParaRPr sz="1400" b="1" dirty="0">
              <a:solidFill>
                <a:schemeClr val="accent1">
                  <a:lumMod val="20000"/>
                  <a:lumOff val="80000"/>
                </a:schemeClr>
              </a:solidFill>
              <a:latin typeface="Arial"/>
            </a:endParaRPr>
          </a:p>
          <a:p>
            <a:r>
              <a:rPr sz="1400" b="1" dirty="0" err="1">
                <a:solidFill>
                  <a:schemeClr val="accent1">
                    <a:lumMod val="20000"/>
                    <a:lumOff val="80000"/>
                  </a:schemeClr>
                </a:solidFill>
                <a:latin typeface="Arial"/>
              </a:rPr>
              <a:t>Nhóm</a:t>
            </a:r>
            <a:r>
              <a:rPr sz="1400" b="1" dirty="0">
                <a:solidFill>
                  <a:schemeClr val="accent1">
                    <a:lumMod val="20000"/>
                    <a:lumOff val="80000"/>
                  </a:schemeClr>
                </a:solidFill>
                <a:latin typeface="Arial"/>
              </a:rPr>
              <a:t> </a:t>
            </a:r>
            <a:r>
              <a:rPr lang="vi-VN" sz="1400" b="1" dirty="0">
                <a:solidFill>
                  <a:schemeClr val="accent1">
                    <a:lumMod val="20000"/>
                    <a:lumOff val="80000"/>
                  </a:schemeClr>
                </a:solidFill>
                <a:latin typeface="Arial"/>
              </a:rPr>
              <a:t>14:</a:t>
            </a:r>
            <a:br>
              <a:rPr lang="vi-VN" sz="1400" b="1" dirty="0">
                <a:solidFill>
                  <a:schemeClr val="accent1">
                    <a:lumMod val="20000"/>
                    <a:lumOff val="80000"/>
                  </a:schemeClr>
                </a:solidFill>
                <a:latin typeface="Arial"/>
              </a:rPr>
            </a:br>
            <a:r>
              <a:rPr sz="1300" b="0" dirty="0">
                <a:solidFill>
                  <a:schemeClr val="accent1">
                    <a:lumMod val="20000"/>
                    <a:lumOff val="80000"/>
                  </a:schemeClr>
                </a:solidFill>
                <a:latin typeface="Arial"/>
              </a:rPr>
              <a:t>Đinh Đạt Thông — 26410294</a:t>
            </a:r>
          </a:p>
          <a:p>
            <a:r>
              <a:rPr sz="1300" b="0" dirty="0">
                <a:solidFill>
                  <a:schemeClr val="accent1">
                    <a:lumMod val="20000"/>
                    <a:lumOff val="80000"/>
                  </a:schemeClr>
                </a:solidFill>
                <a:latin typeface="Arial"/>
              </a:rPr>
              <a:t>Nguyễn Đông Triều — 26410309</a:t>
            </a:r>
          </a:p>
          <a:p>
            <a:r>
              <a:rPr sz="1300" b="0" dirty="0">
                <a:solidFill>
                  <a:schemeClr val="accent1">
                    <a:lumMod val="20000"/>
                    <a:lumOff val="80000"/>
                  </a:schemeClr>
                </a:solidFill>
                <a:latin typeface="Arial"/>
              </a:rPr>
              <a:t>Phạm Thái </a:t>
            </a:r>
            <a:r>
              <a:rPr sz="1300" b="0" dirty="0" err="1">
                <a:solidFill>
                  <a:schemeClr val="accent1">
                    <a:lumMod val="20000"/>
                    <a:lumOff val="80000"/>
                  </a:schemeClr>
                </a:solidFill>
                <a:latin typeface="Arial"/>
              </a:rPr>
              <a:t>Thuận</a:t>
            </a:r>
            <a:r>
              <a:rPr lang="en-VN" sz="1300" b="0" dirty="0">
                <a:solidFill>
                  <a:schemeClr val="accent1">
                    <a:lumMod val="20000"/>
                    <a:lumOff val="80000"/>
                  </a:schemeClr>
                </a:solidFill>
                <a:latin typeface="Arial"/>
              </a:rPr>
              <a:t> </a:t>
            </a:r>
            <a:r>
              <a:rPr sz="1300" b="0" dirty="0">
                <a:solidFill>
                  <a:schemeClr val="accent1">
                    <a:lumMod val="20000"/>
                    <a:lumOff val="80000"/>
                  </a:schemeClr>
                </a:solidFill>
                <a:latin typeface="Arial"/>
              </a:rPr>
              <a:t>— 26410297</a:t>
            </a:r>
            <a:endParaRPr lang="vi-VN" sz="1300" b="0" dirty="0">
              <a:solidFill>
                <a:schemeClr val="accent1">
                  <a:lumMod val="20000"/>
                  <a:lumOff val="80000"/>
                </a:schemeClr>
              </a:solidFill>
              <a:latin typeface="Arial"/>
            </a:endParaRPr>
          </a:p>
        </p:txBody>
      </p:sp>
      <p:pic>
        <p:nvPicPr>
          <p:cNvPr id="9" name="Picture 8" descr="Công bố ba công khai">
            <a:extLst>
              <a:ext uri="{FF2B5EF4-FFF2-40B4-BE49-F238E27FC236}">
                <a16:creationId xmlns:a16="http://schemas.microsoft.com/office/drawing/2014/main" id="{7A87B24D-ABB3-22F8-21DA-8274A507D971}"/>
              </a:ext>
            </a:extLst>
          </p:cNvPr>
          <p:cNvPicPr>
            <a:picLocks noChangeAspect="1"/>
          </p:cNvPicPr>
          <p:nvPr/>
        </p:nvPicPr>
        <p:blipFill>
          <a:blip r:embed="rId3"/>
          <a:stretch>
            <a:fillRect/>
          </a:stretch>
        </p:blipFill>
        <p:spPr>
          <a:xfrm>
            <a:off x="0" y="249180"/>
            <a:ext cx="1885046" cy="70484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Nội dung</a:t>
            </a:r>
            <a:endParaRPr sz="1300" dirty="0">
              <a:solidFill>
                <a:srgbClr val="CFE3EC"/>
              </a:solidFill>
              <a:latin typeface="Arial"/>
            </a:endParaRPr>
          </a:p>
        </p:txBody>
      </p:sp>
      <p:sp>
        <p:nvSpPr>
          <p:cNvPr id="3" name="TextBox 2"/>
          <p:cNvSpPr txBox="1"/>
          <p:nvPr/>
        </p:nvSpPr>
        <p:spPr>
          <a:xfrm>
            <a:off x="502919" y="1374479"/>
            <a:ext cx="11185855" cy="5078313"/>
          </a:xfrm>
          <a:prstGeom prst="rect">
            <a:avLst/>
          </a:prstGeom>
          <a:noFill/>
        </p:spPr>
        <p:txBody>
          <a:bodyPr wrap="square">
            <a:spAutoFit/>
          </a:bodyPr>
          <a:lstStyle/>
          <a:p>
            <a:pPr>
              <a:spcAft>
                <a:spcPts val="600"/>
              </a:spcAft>
            </a:pPr>
            <a:r>
              <a:rPr lang="vi-VN" sz="2400" b="1" dirty="0">
                <a:solidFill>
                  <a:srgbClr val="1B8A7A"/>
                </a:solidFill>
                <a:latin typeface="Arial"/>
              </a:rPr>
              <a:t>1. Ngữ cảnh, vấn đề, giải pháp</a:t>
            </a:r>
          </a:p>
          <a:p>
            <a:pPr>
              <a:spcAft>
                <a:spcPts val="600"/>
              </a:spcAft>
            </a:pPr>
            <a:endParaRPr lang="vi-VN" sz="2400" b="1" dirty="0">
              <a:solidFill>
                <a:srgbClr val="1B8A7A"/>
              </a:solidFill>
              <a:latin typeface="Arial"/>
            </a:endParaRPr>
          </a:p>
          <a:p>
            <a:pPr>
              <a:spcAft>
                <a:spcPts val="600"/>
              </a:spcAft>
            </a:pPr>
            <a:r>
              <a:rPr lang="vi-VN" sz="2400" b="1" dirty="0">
                <a:solidFill>
                  <a:srgbClr val="1B8A7A"/>
                </a:solidFill>
                <a:latin typeface="Arial"/>
              </a:rPr>
              <a:t>2. Giải thích giải pháp</a:t>
            </a:r>
            <a:endParaRPr lang="vi-VN" sz="1600" b="1" dirty="0">
              <a:solidFill>
                <a:srgbClr val="1B8A7A"/>
              </a:solidFill>
              <a:latin typeface="Arial"/>
            </a:endParaRPr>
          </a:p>
          <a:p>
            <a:pPr>
              <a:spcAft>
                <a:spcPts val="600"/>
              </a:spcAft>
            </a:pPr>
            <a:r>
              <a:rPr lang="vi-VN" sz="1600" b="1" dirty="0">
                <a:solidFill>
                  <a:srgbClr val="1B8A7A"/>
                </a:solidFill>
                <a:latin typeface="Arial"/>
              </a:rPr>
              <a:t>	2.1. Gaussian Mixture Model (GMM) - </a:t>
            </a:r>
            <a:r>
              <a:rPr lang="vi-VN" sz="1050" b="1" dirty="0">
                <a:solidFill>
                  <a:schemeClr val="accent5">
                    <a:lumMod val="60000"/>
                    <a:lumOff val="40000"/>
                  </a:schemeClr>
                </a:solidFill>
                <a:latin typeface="Arial"/>
              </a:rPr>
              <a:t>Mô hình hỗn hợp phân phối chuẩn</a:t>
            </a:r>
          </a:p>
          <a:p>
            <a:pPr>
              <a:spcAft>
                <a:spcPts val="600"/>
              </a:spcAft>
            </a:pPr>
            <a:r>
              <a:rPr lang="vi-VN" sz="1600" b="1" dirty="0">
                <a:solidFill>
                  <a:srgbClr val="1B8A7A"/>
                </a:solidFill>
                <a:latin typeface="Arial"/>
              </a:rPr>
              <a:t>		</a:t>
            </a:r>
            <a:r>
              <a:rPr lang="vi-VN" sz="1600" b="1" dirty="0">
                <a:solidFill>
                  <a:schemeClr val="bg2">
                    <a:lumMod val="50000"/>
                  </a:schemeClr>
                </a:solidFill>
                <a:latin typeface="Arial"/>
              </a:rPr>
              <a:t>2.1.1. Tìm hàm số mô hình</a:t>
            </a:r>
          </a:p>
          <a:p>
            <a:pPr>
              <a:spcAft>
                <a:spcPts val="600"/>
              </a:spcAft>
            </a:pPr>
            <a:r>
              <a:rPr lang="vi-VN" sz="1600" b="1" dirty="0">
                <a:solidFill>
                  <a:srgbClr val="1B8A7A"/>
                </a:solidFill>
                <a:latin typeface="Arial"/>
              </a:rPr>
              <a:t>		</a:t>
            </a:r>
            <a:r>
              <a:rPr lang="vi-VN" sz="1600" b="1" dirty="0">
                <a:solidFill>
                  <a:schemeClr val="bg2">
                    <a:lumMod val="50000"/>
                  </a:schemeClr>
                </a:solidFill>
                <a:latin typeface="Arial"/>
              </a:rPr>
              <a:t>2.1.2. Tìm hàm mục tiêu</a:t>
            </a:r>
          </a:p>
          <a:p>
            <a:pPr>
              <a:spcAft>
                <a:spcPts val="600"/>
              </a:spcAft>
            </a:pPr>
            <a:r>
              <a:rPr lang="vi-VN" sz="1600" b="1" dirty="0">
                <a:solidFill>
                  <a:srgbClr val="1B8A7A"/>
                </a:solidFill>
                <a:latin typeface="Arial"/>
              </a:rPr>
              <a:t>		</a:t>
            </a:r>
            <a:r>
              <a:rPr lang="vi-VN" sz="1600" b="1" dirty="0">
                <a:solidFill>
                  <a:schemeClr val="bg2">
                    <a:lumMod val="50000"/>
                  </a:schemeClr>
                </a:solidFill>
                <a:latin typeface="Arial"/>
              </a:rPr>
              <a:t>2.1.3. Tìm cực trị hàm mục tiêu</a:t>
            </a:r>
          </a:p>
          <a:p>
            <a:pPr>
              <a:spcAft>
                <a:spcPts val="600"/>
              </a:spcAft>
            </a:pPr>
            <a:r>
              <a:rPr lang="vi-VN" sz="1600" b="1" dirty="0">
                <a:solidFill>
                  <a:srgbClr val="1B8A7A"/>
                </a:solidFill>
                <a:latin typeface="Arial"/>
              </a:rPr>
              <a:t>	2.2. Expectation-Maximization (EM) - </a:t>
            </a:r>
            <a:r>
              <a:rPr lang="vi-VN" sz="1050" b="1" dirty="0">
                <a:solidFill>
                  <a:schemeClr val="accent5">
                    <a:lumMod val="60000"/>
                    <a:lumOff val="40000"/>
                  </a:schemeClr>
                </a:solidFill>
                <a:latin typeface="Arial"/>
              </a:rPr>
              <a:t>Phương pháp cực đại hoá kỳ vọng</a:t>
            </a:r>
            <a:endParaRPr lang="vi-VN" sz="1600" b="1" dirty="0">
              <a:solidFill>
                <a:schemeClr val="accent5">
                  <a:lumMod val="60000"/>
                  <a:lumOff val="40000"/>
                </a:schemeClr>
              </a:solidFill>
              <a:latin typeface="Arial"/>
            </a:endParaRPr>
          </a:p>
          <a:p>
            <a:pPr>
              <a:spcAft>
                <a:spcPts val="600"/>
              </a:spcAft>
            </a:pPr>
            <a:r>
              <a:rPr lang="vi-VN" sz="1600" b="1" dirty="0">
                <a:solidFill>
                  <a:srgbClr val="1B8A7A"/>
                </a:solidFill>
                <a:latin typeface="Arial"/>
              </a:rPr>
              <a:t>	2.3. Siêu tham số mô hình GMM</a:t>
            </a:r>
          </a:p>
          <a:p>
            <a:pPr>
              <a:spcAft>
                <a:spcPts val="600"/>
              </a:spcAft>
            </a:pPr>
            <a:endParaRPr lang="vi-VN" sz="2400" b="1" dirty="0">
              <a:solidFill>
                <a:srgbClr val="1B8A7A"/>
              </a:solidFill>
              <a:latin typeface="Arial"/>
            </a:endParaRPr>
          </a:p>
          <a:p>
            <a:pPr>
              <a:spcAft>
                <a:spcPts val="600"/>
              </a:spcAft>
            </a:pPr>
            <a:r>
              <a:rPr lang="vi-VN" sz="2400" b="1" dirty="0">
                <a:solidFill>
                  <a:srgbClr val="1B8A7A"/>
                </a:solidFill>
                <a:latin typeface="Arial"/>
              </a:rPr>
              <a:t>3. Demo code</a:t>
            </a:r>
          </a:p>
          <a:p>
            <a:pPr>
              <a:spcAft>
                <a:spcPts val="600"/>
              </a:spcAft>
            </a:pPr>
            <a:endParaRPr lang="vi-VN" sz="2400" b="1" dirty="0">
              <a:solidFill>
                <a:srgbClr val="1B8A7A"/>
              </a:solidFill>
              <a:latin typeface="Arial"/>
            </a:endParaRPr>
          </a:p>
          <a:p>
            <a:pPr>
              <a:spcAft>
                <a:spcPts val="600"/>
              </a:spcAft>
            </a:pPr>
            <a:r>
              <a:rPr lang="vi-VN" sz="2400" b="1" dirty="0">
                <a:solidFill>
                  <a:srgbClr val="1B8A7A"/>
                </a:solidFill>
                <a:latin typeface="Arial"/>
              </a:rPr>
              <a:t>4. Chủ đề liên quan</a:t>
            </a:r>
            <a:endParaRPr sz="2000" dirty="0">
              <a:solidFill>
                <a:srgbClr val="444B52"/>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62986E-2709-2B50-821D-B87068F11FE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C946530-300E-DBDD-7C6B-304B0B933D36}"/>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1</a:t>
            </a:r>
            <a:r>
              <a:rPr sz="2600" b="1" dirty="0">
                <a:solidFill>
                  <a:srgbClr val="FFFFFF"/>
                </a:solidFill>
                <a:latin typeface="Arial"/>
              </a:rPr>
              <a:t>. </a:t>
            </a:r>
            <a:r>
              <a:rPr lang="en-US" sz="2600" b="1" dirty="0" err="1">
                <a:solidFill>
                  <a:srgbClr val="FFFFFF"/>
                </a:solidFill>
                <a:latin typeface="Arial"/>
              </a:rPr>
              <a:t>Ngữ</a:t>
            </a:r>
            <a:r>
              <a:rPr lang="en-US" sz="2600" b="1" dirty="0">
                <a:solidFill>
                  <a:srgbClr val="FFFFFF"/>
                </a:solidFill>
                <a:latin typeface="Arial"/>
              </a:rPr>
              <a:t> </a:t>
            </a:r>
            <a:r>
              <a:rPr lang="en-US" sz="2600" b="1" dirty="0" err="1">
                <a:solidFill>
                  <a:srgbClr val="FFFFFF"/>
                </a:solidFill>
                <a:latin typeface="Arial"/>
              </a:rPr>
              <a:t>cảnh</a:t>
            </a:r>
            <a:r>
              <a:rPr lang="en-US" sz="2600" b="1" dirty="0">
                <a:solidFill>
                  <a:srgbClr val="FFFFFF"/>
                </a:solidFill>
                <a:latin typeface="Arial"/>
              </a:rPr>
              <a:t>, </a:t>
            </a:r>
            <a:r>
              <a:rPr lang="en-US" sz="2600" b="1" dirty="0" err="1">
                <a:solidFill>
                  <a:srgbClr val="FFFFFF"/>
                </a:solidFill>
                <a:latin typeface="Arial"/>
              </a:rPr>
              <a:t>vấn</a:t>
            </a:r>
            <a:r>
              <a:rPr lang="en-US" sz="2600" b="1" dirty="0">
                <a:solidFill>
                  <a:srgbClr val="FFFFFF"/>
                </a:solidFill>
                <a:latin typeface="Arial"/>
              </a:rPr>
              <a:t> </a:t>
            </a:r>
            <a:r>
              <a:rPr lang="en-US" sz="2600" b="1" dirty="0" err="1">
                <a:solidFill>
                  <a:srgbClr val="FFFFFF"/>
                </a:solidFill>
                <a:latin typeface="Arial"/>
              </a:rPr>
              <a:t>đề</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p:sp>
        <p:nvSpPr>
          <p:cNvPr id="3" name="TextBox 2">
            <a:extLst>
              <a:ext uri="{FF2B5EF4-FFF2-40B4-BE49-F238E27FC236}">
                <a16:creationId xmlns:a16="http://schemas.microsoft.com/office/drawing/2014/main" id="{3870ED03-DFCB-5AF3-DCB1-9F857B814DF3}"/>
              </a:ext>
            </a:extLst>
          </p:cNvPr>
          <p:cNvSpPr txBox="1"/>
          <p:nvPr/>
        </p:nvSpPr>
        <p:spPr>
          <a:xfrm>
            <a:off x="364068" y="1267772"/>
            <a:ext cx="8796865" cy="2354491"/>
          </a:xfrm>
          <a:prstGeom prst="rect">
            <a:avLst/>
          </a:prstGeom>
          <a:noFill/>
        </p:spPr>
        <p:txBody>
          <a:bodyPr wrap="square">
            <a:spAutoFit/>
          </a:bodyPr>
          <a:lstStyle/>
          <a:p>
            <a:pPr>
              <a:spcAft>
                <a:spcPts val="600"/>
              </a:spcAft>
            </a:pPr>
            <a:r>
              <a:rPr lang="en-US" sz="1400" b="1" dirty="0">
                <a:solidFill>
                  <a:srgbClr val="1B8A7A"/>
                </a:solidFill>
                <a:latin typeface="Arial"/>
              </a:rPr>
              <a:t>•  </a:t>
            </a:r>
            <a:r>
              <a:rPr lang="en-US" sz="1400" b="1" dirty="0" err="1">
                <a:solidFill>
                  <a:srgbClr val="1B8A7A"/>
                </a:solidFill>
                <a:latin typeface="Arial"/>
              </a:rPr>
              <a:t>Ngữ</a:t>
            </a:r>
            <a:r>
              <a:rPr lang="en-US" sz="1400" b="1" dirty="0">
                <a:solidFill>
                  <a:srgbClr val="1B8A7A"/>
                </a:solidFill>
                <a:latin typeface="Arial"/>
              </a:rPr>
              <a:t> </a:t>
            </a:r>
            <a:r>
              <a:rPr lang="en-US" sz="1400" b="1" dirty="0" err="1">
                <a:solidFill>
                  <a:srgbClr val="1B8A7A"/>
                </a:solidFill>
                <a:latin typeface="Arial"/>
              </a:rPr>
              <a:t>cảnh</a:t>
            </a:r>
            <a:r>
              <a:rPr lang="en-US" sz="1400" b="1" dirty="0">
                <a:solidFill>
                  <a:srgbClr val="1B8A7A"/>
                </a:solidFill>
                <a:latin typeface="Arial"/>
              </a:rPr>
              <a:t>:</a:t>
            </a:r>
          </a:p>
          <a:p>
            <a:pPr>
              <a:spcAft>
                <a:spcPts val="600"/>
              </a:spcAft>
            </a:pPr>
            <a:r>
              <a:rPr lang="vi-VN" sz="1400" dirty="0">
                <a:solidFill>
                  <a:srgbClr val="444B52"/>
                </a:solidFill>
                <a:latin typeface="Arial"/>
              </a:rPr>
              <a:t>	- Em có Web nghe nhạc, user càng nghe, mình càng có tiền quảng cáo</a:t>
            </a:r>
          </a:p>
          <a:p>
            <a:pPr>
              <a:spcAft>
                <a:spcPts val="600"/>
              </a:spcAft>
            </a:pPr>
            <a:r>
              <a:rPr lang="vi-VN" sz="1400" dirty="0">
                <a:solidFill>
                  <a:srgbClr val="444B52"/>
                </a:solidFill>
                <a:latin typeface="Arial"/>
              </a:rPr>
              <a:t>	- Để có thêm tiền quảng cáo thì thêm phần </a:t>
            </a:r>
            <a:r>
              <a:rPr lang="vi-VN" sz="1400" b="1" dirty="0">
                <a:solidFill>
                  <a:srgbClr val="444B52"/>
                </a:solidFill>
                <a:latin typeface="Arial"/>
              </a:rPr>
              <a:t>gợi ý </a:t>
            </a:r>
            <a:r>
              <a:rPr lang="vi-VN" sz="1400" dirty="0">
                <a:solidFill>
                  <a:srgbClr val="444B52"/>
                </a:solidFill>
                <a:highlight>
                  <a:srgbClr val="FFFF00"/>
                </a:highlight>
                <a:latin typeface="Arial"/>
              </a:rPr>
              <a:t>list bài hát tương tự</a:t>
            </a:r>
            <a:r>
              <a:rPr lang="vi-VN" sz="1400" dirty="0">
                <a:solidFill>
                  <a:srgbClr val="444B52"/>
                </a:solidFill>
                <a:latin typeface="Arial"/>
              </a:rPr>
              <a:t>, dụ user nghe hoài</a:t>
            </a:r>
          </a:p>
          <a:p>
            <a:pPr>
              <a:spcAft>
                <a:spcPts val="600"/>
              </a:spcAft>
            </a:pPr>
            <a:r>
              <a:rPr sz="1400" b="1" dirty="0">
                <a:solidFill>
                  <a:srgbClr val="1B8A7A"/>
                </a:solidFill>
                <a:latin typeface="Arial"/>
              </a:rPr>
              <a:t>•  </a:t>
            </a:r>
            <a:r>
              <a:rPr lang="vi-VN" sz="1400" b="1" dirty="0">
                <a:solidFill>
                  <a:srgbClr val="1B8A7A"/>
                </a:solidFill>
                <a:latin typeface="Arial"/>
              </a:rPr>
              <a:t>Vấn đề</a:t>
            </a:r>
            <a:r>
              <a:rPr sz="1400" b="1" dirty="0">
                <a:solidFill>
                  <a:srgbClr val="1B8A7A"/>
                </a:solidFill>
                <a:latin typeface="Arial"/>
              </a:rPr>
              <a:t>:</a:t>
            </a:r>
          </a:p>
          <a:p>
            <a:pPr>
              <a:spcAft>
                <a:spcPts val="600"/>
              </a:spcAft>
            </a:pPr>
            <a:r>
              <a:rPr lang="vi-VN" sz="1400" dirty="0">
                <a:solidFill>
                  <a:srgbClr val="444B52"/>
                </a:solidFill>
                <a:latin typeface="Arial"/>
              </a:rPr>
              <a:t>	- Tìm </a:t>
            </a:r>
            <a:r>
              <a:rPr lang="vi-VN" sz="1400" dirty="0">
                <a:solidFill>
                  <a:srgbClr val="444B52"/>
                </a:solidFill>
                <a:highlight>
                  <a:srgbClr val="FFFF00"/>
                </a:highlight>
                <a:latin typeface="Arial"/>
              </a:rPr>
              <a:t>list bài hát tương tự</a:t>
            </a:r>
            <a:r>
              <a:rPr lang="vi-VN" sz="1400" dirty="0">
                <a:solidFill>
                  <a:srgbClr val="444B52"/>
                </a:solidFill>
                <a:latin typeface="Arial"/>
              </a:rPr>
              <a:t> như nào ?</a:t>
            </a:r>
          </a:p>
          <a:p>
            <a:pPr>
              <a:spcAft>
                <a:spcPts val="600"/>
              </a:spcAft>
            </a:pPr>
            <a:r>
              <a:rPr lang="vi-VN" sz="1400" b="1" dirty="0">
                <a:solidFill>
                  <a:srgbClr val="1B8A7A"/>
                </a:solidFill>
                <a:latin typeface="Arial"/>
              </a:rPr>
              <a:t>•  Giải pháp:</a:t>
            </a:r>
          </a:p>
          <a:p>
            <a:pPr>
              <a:spcAft>
                <a:spcPts val="600"/>
              </a:spcAft>
            </a:pPr>
            <a:r>
              <a:rPr lang="vi-VN" sz="1400" dirty="0">
                <a:solidFill>
                  <a:srgbClr val="444B52"/>
                </a:solidFill>
                <a:latin typeface="Arial"/>
              </a:rPr>
              <a:t>	- Phân cụm list bài hát, sử dụng Gaussian Mixture Model (GMM)</a:t>
            </a:r>
          </a:p>
          <a:p>
            <a:pPr>
              <a:spcAft>
                <a:spcPts val="600"/>
              </a:spcAft>
            </a:pPr>
            <a:r>
              <a:rPr lang="vi-VN" sz="1400" dirty="0">
                <a:solidFill>
                  <a:srgbClr val="444B52"/>
                </a:solidFill>
                <a:latin typeface="Arial"/>
              </a:rPr>
              <a:t>	- </a:t>
            </a:r>
            <a:r>
              <a:rPr lang="vi-VN" sz="1400" dirty="0">
                <a:solidFill>
                  <a:srgbClr val="444B52"/>
                </a:solidFill>
                <a:highlight>
                  <a:srgbClr val="FFFF00"/>
                </a:highlight>
                <a:latin typeface="Arial"/>
              </a:rPr>
              <a:t>List bài hát tương tự</a:t>
            </a:r>
            <a:r>
              <a:rPr lang="vi-VN" sz="1400" dirty="0">
                <a:solidFill>
                  <a:srgbClr val="444B52"/>
                </a:solidFill>
                <a:latin typeface="Arial"/>
              </a:rPr>
              <a:t> là mấy bài “chung” hoặc “gần chung” nhóm với bài user đang nghe</a:t>
            </a:r>
          </a:p>
        </p:txBody>
      </p:sp>
      <p:pic>
        <p:nvPicPr>
          <p:cNvPr id="4" name="Picture 3">
            <a:extLst>
              <a:ext uri="{FF2B5EF4-FFF2-40B4-BE49-F238E27FC236}">
                <a16:creationId xmlns:a16="http://schemas.microsoft.com/office/drawing/2014/main" id="{71EA80EB-D313-7BCA-A7F1-8E9DCECB480F}"/>
              </a:ext>
            </a:extLst>
          </p:cNvPr>
          <p:cNvPicPr>
            <a:picLocks noChangeAspect="1"/>
          </p:cNvPicPr>
          <p:nvPr/>
        </p:nvPicPr>
        <p:blipFill>
          <a:blip r:embed="rId3"/>
          <a:stretch>
            <a:fillRect/>
          </a:stretch>
        </p:blipFill>
        <p:spPr>
          <a:xfrm>
            <a:off x="3585481" y="3776695"/>
            <a:ext cx="5020732" cy="2887407"/>
          </a:xfrm>
          <a:prstGeom prst="rect">
            <a:avLst/>
          </a:prstGeom>
          <a:ln>
            <a:solidFill>
              <a:schemeClr val="accent1">
                <a:alpha val="53644"/>
              </a:schemeClr>
            </a:solidFill>
          </a:ln>
        </p:spPr>
      </p:pic>
    </p:spTree>
    <p:extLst>
      <p:ext uri="{BB962C8B-B14F-4D97-AF65-F5344CB8AC3E}">
        <p14:creationId xmlns:p14="http://schemas.microsoft.com/office/powerpoint/2010/main" val="28568593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9F567-3816-EEE3-0313-A2337AF5CA0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A4F00BD-25CB-1F9E-A14A-B26DAABBE1BB}"/>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1. Ngữ cảnh, vấn đề, giải pháp</a:t>
            </a:r>
          </a:p>
          <a:p>
            <a:r>
              <a:rPr lang="vi-VN" sz="1300" i="1" dirty="0">
                <a:solidFill>
                  <a:srgbClr val="CFE3EC"/>
                </a:solidFill>
                <a:latin typeface="Arial"/>
              </a:rPr>
              <a:t>Trình bày: Thông</a:t>
            </a:r>
          </a:p>
        </p:txBody>
      </p:sp>
      <p:sp>
        <p:nvSpPr>
          <p:cNvPr id="4" name="TextBox 3">
            <a:extLst>
              <a:ext uri="{FF2B5EF4-FFF2-40B4-BE49-F238E27FC236}">
                <a16:creationId xmlns:a16="http://schemas.microsoft.com/office/drawing/2014/main" id="{3CF1073A-A67A-29A4-28BF-5EAB414D142D}"/>
              </a:ext>
            </a:extLst>
          </p:cNvPr>
          <p:cNvSpPr txBox="1"/>
          <p:nvPr/>
        </p:nvSpPr>
        <p:spPr>
          <a:xfrm>
            <a:off x="364067" y="1267772"/>
            <a:ext cx="9787466" cy="307777"/>
          </a:xfrm>
          <a:prstGeom prst="rect">
            <a:avLst/>
          </a:prstGeom>
          <a:noFill/>
        </p:spPr>
        <p:txBody>
          <a:bodyPr wrap="square">
            <a:spAutoFit/>
          </a:bodyPr>
          <a:lstStyle/>
          <a:p>
            <a:pPr>
              <a:spcAft>
                <a:spcPts val="600"/>
              </a:spcAft>
            </a:pPr>
            <a:r>
              <a:rPr lang="vi-VN" sz="1400" b="1" dirty="0">
                <a:solidFill>
                  <a:srgbClr val="1B8A7A"/>
                </a:solidFill>
                <a:latin typeface="Arial"/>
              </a:rPr>
              <a:t>•  Dữ liệu có sẵn (list bài hát):</a:t>
            </a:r>
          </a:p>
        </p:txBody>
      </p:sp>
      <p:graphicFrame>
        <p:nvGraphicFramePr>
          <p:cNvPr id="5" name="Table 4">
            <a:extLst>
              <a:ext uri="{FF2B5EF4-FFF2-40B4-BE49-F238E27FC236}">
                <a16:creationId xmlns:a16="http://schemas.microsoft.com/office/drawing/2014/main" id="{65A35FE2-0858-0752-9084-F0A14BAD603C}"/>
              </a:ext>
            </a:extLst>
          </p:cNvPr>
          <p:cNvGraphicFramePr>
            <a:graphicFrameLocks noGrp="1"/>
          </p:cNvGraphicFramePr>
          <p:nvPr>
            <p:extLst>
              <p:ext uri="{D42A27DB-BD31-4B8C-83A1-F6EECF244321}">
                <p14:modId xmlns:p14="http://schemas.microsoft.com/office/powerpoint/2010/main" val="1144532013"/>
              </p:ext>
            </p:extLst>
          </p:nvPr>
        </p:nvGraphicFramePr>
        <p:xfrm>
          <a:off x="364067" y="1791761"/>
          <a:ext cx="3767666" cy="2225040"/>
        </p:xfrm>
        <a:graphic>
          <a:graphicData uri="http://schemas.openxmlformats.org/drawingml/2006/table">
            <a:tbl>
              <a:tblPr firstRow="1" bandRow="1">
                <a:tableStyleId>{5C22544A-7EE6-4342-B048-85BDC9FD1C3A}</a:tableStyleId>
              </a:tblPr>
              <a:tblGrid>
                <a:gridCol w="1883833">
                  <a:extLst>
                    <a:ext uri="{9D8B030D-6E8A-4147-A177-3AD203B41FA5}">
                      <a16:colId xmlns:a16="http://schemas.microsoft.com/office/drawing/2014/main" val="4104114755"/>
                    </a:ext>
                  </a:extLst>
                </a:gridCol>
                <a:gridCol w="1883833">
                  <a:extLst>
                    <a:ext uri="{9D8B030D-6E8A-4147-A177-3AD203B41FA5}">
                      <a16:colId xmlns:a16="http://schemas.microsoft.com/office/drawing/2014/main" val="3351497249"/>
                    </a:ext>
                  </a:extLst>
                </a:gridCol>
              </a:tblGrid>
              <a:tr h="370840">
                <a:tc>
                  <a:txBody>
                    <a:bodyPr/>
                    <a:lstStyle/>
                    <a:p>
                      <a:r>
                        <a:rPr lang="en-VN" dirty="0"/>
                        <a:t>Tên bài hát</a:t>
                      </a:r>
                    </a:p>
                  </a:txBody>
                  <a:tcPr/>
                </a:tc>
                <a:tc>
                  <a:txBody>
                    <a:bodyPr/>
                    <a:lstStyle/>
                    <a:p>
                      <a:r>
                        <a:rPr lang="en-VN" dirty="0"/>
                        <a:t>Điểm sôi động</a:t>
                      </a:r>
                    </a:p>
                  </a:txBody>
                  <a:tcPr/>
                </a:tc>
                <a:extLst>
                  <a:ext uri="{0D108BD9-81ED-4DB2-BD59-A6C34878D82A}">
                    <a16:rowId xmlns:a16="http://schemas.microsoft.com/office/drawing/2014/main" val="2744164486"/>
                  </a:ext>
                </a:extLst>
              </a:tr>
              <a:tr h="370840">
                <a:tc>
                  <a:txBody>
                    <a:bodyPr/>
                    <a:lstStyle/>
                    <a:p>
                      <a:r>
                        <a:rPr lang="en-US" dirty="0"/>
                        <a:t>Kim Phút Kim </a:t>
                      </a:r>
                      <a:r>
                        <a:rPr lang="en-US" dirty="0" err="1"/>
                        <a:t>Giờ</a:t>
                      </a:r>
                      <a:endParaRPr lang="en-US" dirty="0"/>
                    </a:p>
                  </a:txBody>
                  <a:tcPr/>
                </a:tc>
                <a:tc>
                  <a:txBody>
                    <a:bodyPr/>
                    <a:lstStyle/>
                    <a:p>
                      <a:r>
                        <a:rPr lang="en-VN" dirty="0"/>
                        <a:t>3.8</a:t>
                      </a:r>
                    </a:p>
                  </a:txBody>
                  <a:tcPr/>
                </a:tc>
                <a:extLst>
                  <a:ext uri="{0D108BD9-81ED-4DB2-BD59-A6C34878D82A}">
                    <a16:rowId xmlns:a16="http://schemas.microsoft.com/office/drawing/2014/main" val="1550038607"/>
                  </a:ext>
                </a:extLst>
              </a:tr>
              <a:tr h="370840">
                <a:tc>
                  <a:txBody>
                    <a:bodyPr/>
                    <a:lstStyle/>
                    <a:p>
                      <a:r>
                        <a:rPr lang="en-US" dirty="0" err="1"/>
                        <a:t>Chân</a:t>
                      </a:r>
                      <a:r>
                        <a:rPr lang="en-US" dirty="0"/>
                        <a:t> Thành</a:t>
                      </a:r>
                      <a:endParaRPr lang="en-V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3.4</a:t>
                      </a:r>
                    </a:p>
                  </a:txBody>
                  <a:tcPr/>
                </a:tc>
                <a:extLst>
                  <a:ext uri="{0D108BD9-81ED-4DB2-BD59-A6C34878D82A}">
                    <a16:rowId xmlns:a16="http://schemas.microsoft.com/office/drawing/2014/main" val="1495408458"/>
                  </a:ext>
                </a:extLst>
              </a:tr>
              <a:tr h="370840">
                <a:tc>
                  <a:txBody>
                    <a:bodyPr/>
                    <a:lstStyle/>
                    <a:p>
                      <a:r>
                        <a:rPr lang="en-US" dirty="0"/>
                        <a:t>Secret</a:t>
                      </a:r>
                      <a:endParaRPr lang="en-V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4.1</a:t>
                      </a:r>
                    </a:p>
                  </a:txBody>
                  <a:tcPr/>
                </a:tc>
                <a:extLst>
                  <a:ext uri="{0D108BD9-81ED-4DB2-BD59-A6C34878D82A}">
                    <a16:rowId xmlns:a16="http://schemas.microsoft.com/office/drawing/2014/main" val="2493258380"/>
                  </a:ext>
                </a:extLst>
              </a:tr>
              <a:tr h="370840">
                <a:tc>
                  <a:txBody>
                    <a:bodyPr/>
                    <a:lstStyle/>
                    <a:p>
                      <a:r>
                        <a:rPr lang="en-US" dirty="0"/>
                        <a:t>Die With A Smile</a:t>
                      </a:r>
                      <a:endParaRPr lang="en-VN" dirty="0"/>
                    </a:p>
                  </a:txBody>
                  <a:tcPr/>
                </a:tc>
                <a:tc>
                  <a:txBody>
                    <a:bodyPr/>
                    <a:lstStyle/>
                    <a:p>
                      <a:r>
                        <a:rPr lang="en-VN" dirty="0"/>
                        <a:t>4.4</a:t>
                      </a:r>
                    </a:p>
                  </a:txBody>
                  <a:tcPr/>
                </a:tc>
                <a:extLst>
                  <a:ext uri="{0D108BD9-81ED-4DB2-BD59-A6C34878D82A}">
                    <a16:rowId xmlns:a16="http://schemas.microsoft.com/office/drawing/2014/main" val="3682658580"/>
                  </a:ext>
                </a:extLst>
              </a:tr>
              <a:tr h="370840">
                <a:tc>
                  <a:txBody>
                    <a:bodyPr/>
                    <a:lstStyle/>
                    <a:p>
                      <a:r>
                        <a:rPr lang="en-VN" dirty="0"/>
                        <a:t>…</a:t>
                      </a:r>
                    </a:p>
                  </a:txBody>
                  <a:tcPr/>
                </a:tc>
                <a:tc>
                  <a:txBody>
                    <a:bodyPr/>
                    <a:lstStyle/>
                    <a:p>
                      <a:r>
                        <a:rPr lang="en-VN" dirty="0"/>
                        <a:t>…</a:t>
                      </a:r>
                    </a:p>
                  </a:txBody>
                  <a:tcPr/>
                </a:tc>
                <a:extLst>
                  <a:ext uri="{0D108BD9-81ED-4DB2-BD59-A6C34878D82A}">
                    <a16:rowId xmlns:a16="http://schemas.microsoft.com/office/drawing/2014/main" val="1183791201"/>
                  </a:ext>
                </a:extLst>
              </a:tr>
            </a:tbl>
          </a:graphicData>
        </a:graphic>
      </p:graphicFrame>
    </p:spTree>
    <p:extLst>
      <p:ext uri="{BB962C8B-B14F-4D97-AF65-F5344CB8AC3E}">
        <p14:creationId xmlns:p14="http://schemas.microsoft.com/office/powerpoint/2010/main" val="3651539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7BDC6-EA3D-2E59-08F4-7D97AB06398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A0EAC26-A6A3-DD88-71CD-A6D4C5ACD4B3}"/>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p:sp>
        <p:nvSpPr>
          <p:cNvPr id="4" name="TextBox 3">
            <a:extLst>
              <a:ext uri="{FF2B5EF4-FFF2-40B4-BE49-F238E27FC236}">
                <a16:creationId xmlns:a16="http://schemas.microsoft.com/office/drawing/2014/main" id="{B4468A90-1324-C5AA-F206-0982A93764CE}"/>
              </a:ext>
            </a:extLst>
          </p:cNvPr>
          <p:cNvSpPr txBox="1"/>
          <p:nvPr/>
        </p:nvSpPr>
        <p:spPr>
          <a:xfrm>
            <a:off x="364066" y="1267772"/>
            <a:ext cx="10354733" cy="923330"/>
          </a:xfrm>
          <a:prstGeom prst="rect">
            <a:avLst/>
          </a:prstGeom>
          <a:noFill/>
        </p:spPr>
        <p:txBody>
          <a:bodyPr wrap="square">
            <a:spAutoFit/>
          </a:bodyPr>
          <a:lstStyle/>
          <a:p>
            <a:pPr>
              <a:spcAft>
                <a:spcPts val="600"/>
              </a:spcAft>
            </a:pPr>
            <a:r>
              <a:rPr lang="vi-VN" sz="1400" b="1" dirty="0">
                <a:solidFill>
                  <a:srgbClr val="1B8A7A"/>
                </a:solidFill>
                <a:latin typeface="Arial"/>
              </a:rPr>
              <a:t>2.1. Gaussian Mixture Model (GMM) - </a:t>
            </a:r>
            <a:r>
              <a:rPr lang="vi-VN" sz="1000" b="1" dirty="0">
                <a:solidFill>
                  <a:schemeClr val="accent5">
                    <a:lumMod val="60000"/>
                    <a:lumOff val="40000"/>
                  </a:schemeClr>
                </a:solidFill>
                <a:latin typeface="Arial"/>
              </a:rPr>
              <a:t>Mô hình hỗn hợp phân phối chuẩn</a:t>
            </a:r>
          </a:p>
          <a:p>
            <a:pPr>
              <a:spcAft>
                <a:spcPts val="600"/>
              </a:spcAft>
            </a:pPr>
            <a:r>
              <a:rPr lang="vi-VN" sz="1400" b="1" dirty="0">
                <a:solidFill>
                  <a:schemeClr val="bg2">
                    <a:lumMod val="50000"/>
                  </a:schemeClr>
                </a:solidFill>
                <a:latin typeface="Arial"/>
              </a:rPr>
              <a:t>2.1.1. Tìm hàm số mô hình</a:t>
            </a:r>
          </a:p>
          <a:p>
            <a:pPr>
              <a:spcAft>
                <a:spcPts val="600"/>
              </a:spcAft>
            </a:pPr>
            <a:endParaRPr lang="vi-VN" sz="1400" dirty="0">
              <a:solidFill>
                <a:srgbClr val="444B52"/>
              </a:solidFill>
              <a:latin typeface="Arial"/>
            </a:endParaRPr>
          </a:p>
        </p:txBody>
      </p:sp>
      <p:sp>
        <p:nvSpPr>
          <p:cNvPr id="8" name="TextBox 7">
            <a:extLst>
              <a:ext uri="{FF2B5EF4-FFF2-40B4-BE49-F238E27FC236}">
                <a16:creationId xmlns:a16="http://schemas.microsoft.com/office/drawing/2014/main" id="{F5549AAD-3EDD-3874-51AE-D3EBF03390BA}"/>
              </a:ext>
            </a:extLst>
          </p:cNvPr>
          <p:cNvSpPr txBox="1"/>
          <p:nvPr/>
        </p:nvSpPr>
        <p:spPr>
          <a:xfrm>
            <a:off x="681888" y="6491067"/>
            <a:ext cx="4133591" cy="200055"/>
          </a:xfrm>
          <a:prstGeom prst="rect">
            <a:avLst/>
          </a:prstGeom>
          <a:noFill/>
        </p:spPr>
        <p:txBody>
          <a:bodyPr wrap="square">
            <a:spAutoFit/>
          </a:bodyPr>
          <a:lstStyle/>
          <a:p>
            <a:pPr algn="ctr">
              <a:spcAft>
                <a:spcPts val="600"/>
              </a:spcAft>
            </a:pPr>
            <a:r>
              <a:rPr lang="vi-VN" sz="700" b="1" dirty="0">
                <a:latin typeface="Arial"/>
              </a:rPr>
              <a:t>Dữ liệu 2 chiều</a:t>
            </a:r>
          </a:p>
        </p:txBody>
      </p:sp>
      <p:pic>
        <p:nvPicPr>
          <p:cNvPr id="7" name="Picture 6">
            <a:extLst>
              <a:ext uri="{FF2B5EF4-FFF2-40B4-BE49-F238E27FC236}">
                <a16:creationId xmlns:a16="http://schemas.microsoft.com/office/drawing/2014/main" id="{C792D4BC-D65C-3F2A-8634-D3A74DB3CD60}"/>
              </a:ext>
            </a:extLst>
          </p:cNvPr>
          <p:cNvPicPr>
            <a:picLocks noChangeAspect="1"/>
          </p:cNvPicPr>
          <p:nvPr/>
        </p:nvPicPr>
        <p:blipFill>
          <a:blip r:embed="rId3"/>
          <a:stretch>
            <a:fillRect/>
          </a:stretch>
        </p:blipFill>
        <p:spPr>
          <a:xfrm>
            <a:off x="364066" y="1791761"/>
            <a:ext cx="4769236" cy="4644459"/>
          </a:xfrm>
          <a:prstGeom prst="rect">
            <a:avLst/>
          </a:prstGeom>
        </p:spPr>
      </p:pic>
      <p:sp>
        <p:nvSpPr>
          <p:cNvPr id="11" name="TextBox 10">
            <a:extLst>
              <a:ext uri="{FF2B5EF4-FFF2-40B4-BE49-F238E27FC236}">
                <a16:creationId xmlns:a16="http://schemas.microsoft.com/office/drawing/2014/main" id="{56DBAF21-4B44-C9AE-123E-FE99F304FDF2}"/>
              </a:ext>
            </a:extLst>
          </p:cNvPr>
          <p:cNvSpPr txBox="1"/>
          <p:nvPr/>
        </p:nvSpPr>
        <p:spPr>
          <a:xfrm>
            <a:off x="5003801" y="3775436"/>
            <a:ext cx="8136161" cy="338554"/>
          </a:xfrm>
          <a:prstGeom prst="rect">
            <a:avLst/>
          </a:prstGeom>
          <a:noFill/>
        </p:spPr>
        <p:txBody>
          <a:bodyPr wrap="square">
            <a:spAutoFit/>
          </a:bodyPr>
          <a:lstStyle/>
          <a:p>
            <a:r>
              <a:rPr lang="en-VN" sz="1600" dirty="0">
                <a:hlinkClick r:id="rId4"/>
              </a:rPr>
              <a:t>https://dinhdatthong1809.github.io/gaussian-mixture-model-interactive-visualisation</a:t>
            </a:r>
            <a:endParaRPr lang="en-VN" sz="1600" dirty="0"/>
          </a:p>
        </p:txBody>
      </p:sp>
    </p:spTree>
    <p:extLst>
      <p:ext uri="{BB962C8B-B14F-4D97-AF65-F5344CB8AC3E}">
        <p14:creationId xmlns:p14="http://schemas.microsoft.com/office/powerpoint/2010/main" val="1526168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D9EB9-B385-1786-9C54-F4B79E6E75A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CCAC7D0-FB91-EFAF-01C6-BC992DE1FF39}"/>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p:sp>
        <p:nvSpPr>
          <p:cNvPr id="4" name="TextBox 3">
            <a:extLst>
              <a:ext uri="{FF2B5EF4-FFF2-40B4-BE49-F238E27FC236}">
                <a16:creationId xmlns:a16="http://schemas.microsoft.com/office/drawing/2014/main" id="{249F21F6-0914-9214-D344-D3A4B9BC21D9}"/>
              </a:ext>
            </a:extLst>
          </p:cNvPr>
          <p:cNvSpPr txBox="1"/>
          <p:nvPr/>
        </p:nvSpPr>
        <p:spPr>
          <a:xfrm>
            <a:off x="364066" y="1267772"/>
            <a:ext cx="10354733" cy="600164"/>
          </a:xfrm>
          <a:prstGeom prst="rect">
            <a:avLst/>
          </a:prstGeom>
          <a:noFill/>
        </p:spPr>
        <p:txBody>
          <a:bodyPr wrap="square">
            <a:spAutoFit/>
          </a:bodyPr>
          <a:lstStyle/>
          <a:p>
            <a:pPr>
              <a:spcAft>
                <a:spcPts val="600"/>
              </a:spcAft>
            </a:pPr>
            <a:r>
              <a:rPr lang="vi-VN" sz="1400" b="1" dirty="0">
                <a:solidFill>
                  <a:srgbClr val="1B8A7A"/>
                </a:solidFill>
                <a:latin typeface="Arial"/>
              </a:rPr>
              <a:t>2.1. Gaussian Mixture Model (GMM) - </a:t>
            </a:r>
            <a:r>
              <a:rPr lang="vi-VN" sz="1000" b="1" dirty="0">
                <a:solidFill>
                  <a:schemeClr val="accent5">
                    <a:lumMod val="60000"/>
                    <a:lumOff val="40000"/>
                  </a:schemeClr>
                </a:solidFill>
                <a:latin typeface="Arial"/>
              </a:rPr>
              <a:t>Mô hình hỗn hợp phân phối chuẩn</a:t>
            </a:r>
          </a:p>
          <a:p>
            <a:pPr>
              <a:spcAft>
                <a:spcPts val="600"/>
              </a:spcAft>
            </a:pPr>
            <a:r>
              <a:rPr lang="vi-VN" sz="1400" b="1" dirty="0">
                <a:solidFill>
                  <a:schemeClr val="bg2">
                    <a:lumMod val="50000"/>
                  </a:schemeClr>
                </a:solidFill>
                <a:latin typeface="Arial"/>
              </a:rPr>
              <a:t>2.1.1. Tìm hàm số mô hình</a:t>
            </a:r>
          </a:p>
        </p:txBody>
      </p:sp>
      <p:sp>
        <p:nvSpPr>
          <p:cNvPr id="8" name="TextBox 7">
            <a:extLst>
              <a:ext uri="{FF2B5EF4-FFF2-40B4-BE49-F238E27FC236}">
                <a16:creationId xmlns:a16="http://schemas.microsoft.com/office/drawing/2014/main" id="{EC53D564-1ACE-1327-E775-C5E6E71701BB}"/>
              </a:ext>
            </a:extLst>
          </p:cNvPr>
          <p:cNvSpPr txBox="1"/>
          <p:nvPr/>
        </p:nvSpPr>
        <p:spPr>
          <a:xfrm>
            <a:off x="681888" y="6491067"/>
            <a:ext cx="4133591" cy="200055"/>
          </a:xfrm>
          <a:prstGeom prst="rect">
            <a:avLst/>
          </a:prstGeom>
          <a:noFill/>
        </p:spPr>
        <p:txBody>
          <a:bodyPr wrap="square">
            <a:spAutoFit/>
          </a:bodyPr>
          <a:lstStyle/>
          <a:p>
            <a:pPr algn="ctr">
              <a:spcAft>
                <a:spcPts val="600"/>
              </a:spcAft>
            </a:pPr>
            <a:r>
              <a:rPr lang="vi-VN" sz="700" b="1" dirty="0">
                <a:latin typeface="Arial"/>
              </a:rPr>
              <a:t>Mô hình GMM</a:t>
            </a:r>
          </a:p>
        </p:txBody>
      </p:sp>
      <p:pic>
        <p:nvPicPr>
          <p:cNvPr id="7" name="Picture 6">
            <a:extLst>
              <a:ext uri="{FF2B5EF4-FFF2-40B4-BE49-F238E27FC236}">
                <a16:creationId xmlns:a16="http://schemas.microsoft.com/office/drawing/2014/main" id="{1BC0C1DC-4229-3D54-459A-1C79CA252CDC}"/>
              </a:ext>
            </a:extLst>
          </p:cNvPr>
          <p:cNvPicPr>
            <a:picLocks noChangeAspect="1"/>
          </p:cNvPicPr>
          <p:nvPr/>
        </p:nvPicPr>
        <p:blipFill>
          <a:blip r:embed="rId3"/>
          <a:stretch>
            <a:fillRect/>
          </a:stretch>
        </p:blipFill>
        <p:spPr>
          <a:xfrm>
            <a:off x="364066" y="1791761"/>
            <a:ext cx="4769236" cy="4644459"/>
          </a:xfrm>
          <a:prstGeom prst="rect">
            <a:avLst/>
          </a:prstGeom>
        </p:spPr>
      </p:pic>
      <p:pic>
        <p:nvPicPr>
          <p:cNvPr id="9" name="Picture 8">
            <a:extLst>
              <a:ext uri="{FF2B5EF4-FFF2-40B4-BE49-F238E27FC236}">
                <a16:creationId xmlns:a16="http://schemas.microsoft.com/office/drawing/2014/main" id="{800BB806-C1CB-6B88-266B-4A89CFD46ED9}"/>
              </a:ext>
            </a:extLst>
          </p:cNvPr>
          <p:cNvPicPr>
            <a:picLocks noChangeAspect="1"/>
          </p:cNvPicPr>
          <p:nvPr/>
        </p:nvPicPr>
        <p:blipFill>
          <a:blip r:embed="rId4"/>
          <a:stretch>
            <a:fillRect/>
          </a:stretch>
        </p:blipFill>
        <p:spPr>
          <a:xfrm>
            <a:off x="364065" y="1800228"/>
            <a:ext cx="4732868" cy="4671882"/>
          </a:xfrm>
          <a:prstGeom prst="rect">
            <a:avLst/>
          </a:prstGeom>
        </p:spPr>
      </p:pic>
      <p:pic>
        <p:nvPicPr>
          <p:cNvPr id="3" name="Picture 2">
            <a:extLst>
              <a:ext uri="{FF2B5EF4-FFF2-40B4-BE49-F238E27FC236}">
                <a16:creationId xmlns:a16="http://schemas.microsoft.com/office/drawing/2014/main" id="{133A842F-6EEB-EEEE-BCB7-FEBD247F32F2}"/>
              </a:ext>
            </a:extLst>
          </p:cNvPr>
          <p:cNvPicPr>
            <a:picLocks noChangeAspect="1"/>
          </p:cNvPicPr>
          <p:nvPr/>
        </p:nvPicPr>
        <p:blipFill>
          <a:blip r:embed="rId5"/>
          <a:stretch>
            <a:fillRect/>
          </a:stretch>
        </p:blipFill>
        <p:spPr>
          <a:xfrm>
            <a:off x="5867400" y="1946635"/>
            <a:ext cx="5554680" cy="4644459"/>
          </a:xfrm>
          <a:prstGeom prst="rect">
            <a:avLst/>
          </a:prstGeom>
        </p:spPr>
      </p:pic>
    </p:spTree>
    <p:extLst>
      <p:ext uri="{BB962C8B-B14F-4D97-AF65-F5344CB8AC3E}">
        <p14:creationId xmlns:p14="http://schemas.microsoft.com/office/powerpoint/2010/main" val="16196608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1B24D0-0889-A54D-4BDF-870530F72B3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2A9894C-8BF4-4948-17A6-7417BDDF875D}"/>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p:sp>
        <p:nvSpPr>
          <p:cNvPr id="6" name="TextBox 5">
            <a:extLst>
              <a:ext uri="{FF2B5EF4-FFF2-40B4-BE49-F238E27FC236}">
                <a16:creationId xmlns:a16="http://schemas.microsoft.com/office/drawing/2014/main" id="{5D45D776-7D98-7C1D-DD56-15D11665F94B}"/>
              </a:ext>
            </a:extLst>
          </p:cNvPr>
          <p:cNvSpPr txBox="1"/>
          <p:nvPr/>
        </p:nvSpPr>
        <p:spPr>
          <a:xfrm>
            <a:off x="746072" y="6406735"/>
            <a:ext cx="4133591" cy="384721"/>
          </a:xfrm>
          <a:prstGeom prst="rect">
            <a:avLst/>
          </a:prstGeom>
          <a:noFill/>
        </p:spPr>
        <p:txBody>
          <a:bodyPr wrap="square">
            <a:spAutoFit/>
          </a:bodyPr>
          <a:lstStyle/>
          <a:p>
            <a:pPr algn="ctr">
              <a:spcAft>
                <a:spcPts val="600"/>
              </a:spcAft>
            </a:pPr>
            <a:r>
              <a:rPr lang="vi-VN" sz="700" b="1" dirty="0">
                <a:latin typeface="Arial"/>
              </a:rPr>
              <a:t>Mô hình GMM với dữ liệu 1 chiều</a:t>
            </a:r>
          </a:p>
          <a:p>
            <a:pPr algn="ctr">
              <a:spcAft>
                <a:spcPts val="600"/>
              </a:spcAft>
            </a:pPr>
            <a:r>
              <a:rPr lang="vi-VN" sz="700" b="1" dirty="0">
                <a:latin typeface="Arial"/>
              </a:rPr>
              <a:t>Các điểm dữ liệu nằm trải trên trục ngang</a:t>
            </a:r>
            <a:endParaRPr lang="vi-VN" sz="700" dirty="0">
              <a:latin typeface="Arial"/>
            </a:endParaRPr>
          </a:p>
        </p:txBody>
      </p:sp>
      <p:pic>
        <p:nvPicPr>
          <p:cNvPr id="5" name="Picture 4">
            <a:extLst>
              <a:ext uri="{FF2B5EF4-FFF2-40B4-BE49-F238E27FC236}">
                <a16:creationId xmlns:a16="http://schemas.microsoft.com/office/drawing/2014/main" id="{EAC47716-27D2-B873-DFD3-462BA821854C}"/>
              </a:ext>
            </a:extLst>
          </p:cNvPr>
          <p:cNvPicPr>
            <a:picLocks noChangeAspect="1"/>
          </p:cNvPicPr>
          <p:nvPr/>
        </p:nvPicPr>
        <p:blipFill>
          <a:blip r:embed="rId3"/>
          <a:stretch>
            <a:fillRect/>
          </a:stretch>
        </p:blipFill>
        <p:spPr>
          <a:xfrm>
            <a:off x="-1" y="2263665"/>
            <a:ext cx="5625738" cy="4181165"/>
          </a:xfrm>
          <a:prstGeom prst="rect">
            <a:avLst/>
          </a:prstGeom>
        </p:spPr>
      </p:pic>
      <p:sp>
        <p:nvSpPr>
          <p:cNvPr id="10" name="TextBox 9">
            <a:extLst>
              <a:ext uri="{FF2B5EF4-FFF2-40B4-BE49-F238E27FC236}">
                <a16:creationId xmlns:a16="http://schemas.microsoft.com/office/drawing/2014/main" id="{DD412BE6-EFCB-C454-9DC4-960D634C5BD8}"/>
              </a:ext>
            </a:extLst>
          </p:cNvPr>
          <p:cNvSpPr txBox="1"/>
          <p:nvPr/>
        </p:nvSpPr>
        <p:spPr>
          <a:xfrm>
            <a:off x="364066" y="1267772"/>
            <a:ext cx="10961159" cy="892552"/>
          </a:xfrm>
          <a:prstGeom prst="rect">
            <a:avLst/>
          </a:prstGeom>
          <a:noFill/>
        </p:spPr>
        <p:txBody>
          <a:bodyPr wrap="square">
            <a:spAutoFit/>
          </a:bodyPr>
          <a:lstStyle/>
          <a:p>
            <a:pPr>
              <a:spcAft>
                <a:spcPts val="600"/>
              </a:spcAft>
            </a:pPr>
            <a:r>
              <a:rPr lang="vi-VN" sz="1400" b="1" dirty="0">
                <a:solidFill>
                  <a:srgbClr val="1B8A7A"/>
                </a:solidFill>
                <a:latin typeface="Arial"/>
              </a:rPr>
              <a:t>2.1. Gaussian Mixture Model (GMM) - </a:t>
            </a:r>
            <a:r>
              <a:rPr lang="vi-VN" sz="1000" b="1" dirty="0">
                <a:solidFill>
                  <a:schemeClr val="accent5">
                    <a:lumMod val="60000"/>
                    <a:lumOff val="40000"/>
                  </a:schemeClr>
                </a:solidFill>
                <a:latin typeface="Arial"/>
              </a:rPr>
              <a:t>Mô hình hỗn hợp phân phối chuẩn</a:t>
            </a:r>
          </a:p>
          <a:p>
            <a:pPr>
              <a:spcAft>
                <a:spcPts val="600"/>
              </a:spcAft>
            </a:pPr>
            <a:r>
              <a:rPr lang="vi-VN" sz="1400" b="1" dirty="0">
                <a:solidFill>
                  <a:schemeClr val="bg2">
                    <a:lumMod val="50000"/>
                  </a:schemeClr>
                </a:solidFill>
                <a:latin typeface="Arial"/>
              </a:rPr>
              <a:t>2.1.1. Tìm hàm số mô hình</a:t>
            </a:r>
            <a:endParaRPr lang="vi-VN" sz="1400" dirty="0">
              <a:solidFill>
                <a:schemeClr val="bg2">
                  <a:lumMod val="50000"/>
                </a:schemeClr>
              </a:solidFill>
              <a:latin typeface="Arial"/>
            </a:endParaRPr>
          </a:p>
          <a:p>
            <a:pPr>
              <a:spcAft>
                <a:spcPts val="600"/>
              </a:spcAft>
            </a:pPr>
            <a:r>
              <a:rPr lang="vi-VN" sz="1400" dirty="0">
                <a:solidFill>
                  <a:srgbClr val="444B52"/>
                </a:solidFill>
                <a:latin typeface="Arial"/>
              </a:rPr>
              <a:t>	- Là một mô hình (đường màu tím như đèo núi) kết hợp từ nhiều mô hình phân phối chuẩn (2 đường đỏ và xanh như cái chuông)</a:t>
            </a:r>
          </a:p>
        </p:txBody>
      </p:sp>
    </p:spTree>
    <p:extLst>
      <p:ext uri="{BB962C8B-B14F-4D97-AF65-F5344CB8AC3E}">
        <p14:creationId xmlns:p14="http://schemas.microsoft.com/office/powerpoint/2010/main" val="3019750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A214B-49A8-E03E-AAA5-D66F1F8D0786}"/>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738429B-9051-8F94-1ED4-19880CB0ED40}"/>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55DE7C0-0BB5-333F-1D64-7BEA7B6FC960}"/>
                  </a:ext>
                </a:extLst>
              </p:cNvPr>
              <p:cNvSpPr txBox="1"/>
              <p:nvPr/>
            </p:nvSpPr>
            <p:spPr>
              <a:xfrm>
                <a:off x="5625737" y="2263665"/>
                <a:ext cx="6565958" cy="1762727"/>
              </a:xfrm>
              <a:prstGeom prst="rect">
                <a:avLst/>
              </a:prstGeom>
              <a:noFill/>
            </p:spPr>
            <p:txBody>
              <a:bodyPr wrap="square">
                <a:spAutoFit/>
              </a:bodyPr>
              <a:lstStyle/>
              <a:p>
                <a:pPr>
                  <a:spcAft>
                    <a:spcPts val="600"/>
                  </a:spcAft>
                </a:pPr>
                <a:r>
                  <a:rPr lang="vi-VN" sz="1400" b="1" dirty="0">
                    <a:solidFill>
                      <a:srgbClr val="1B8A7A"/>
                    </a:solidFill>
                    <a:latin typeface="Arial"/>
                  </a:rPr>
                  <a:t>Hàm số mô hình GMM</a:t>
                </a:r>
              </a:p>
              <a:p>
                <a:pPr>
                  <a:spcAft>
                    <a:spcPts val="600"/>
                  </a:spcAft>
                </a:pPr>
                <a:r>
                  <a:rPr lang="vi-VN" sz="1400" dirty="0">
                    <a:solidFill>
                      <a:srgbClr val="444B52"/>
                    </a:solidFill>
                    <a:latin typeface="Arial"/>
                  </a:rPr>
                  <a:t>	</a:t>
                </a:r>
                <a:r>
                  <a:rPr lang="vi-VN" sz="1400" b="1" dirty="0">
                    <a:solidFill>
                      <a:srgbClr val="444B52"/>
                    </a:solidFill>
                    <a:latin typeface="Arial"/>
                  </a:rPr>
                  <a:t>GMM</a:t>
                </a:r>
                <a:r>
                  <a:rPr lang="vi-VN" sz="1400" dirty="0">
                    <a:solidFill>
                      <a:srgbClr val="444B52"/>
                    </a:solidFill>
                    <a:latin typeface="Arial"/>
                  </a:rPr>
                  <a:t> = </a:t>
                </a:r>
                <a:r>
                  <a:rPr lang="vi-VN" sz="1400" dirty="0">
                    <a:solidFill>
                      <a:schemeClr val="tx2">
                        <a:lumMod val="60000"/>
                        <a:lumOff val="40000"/>
                      </a:schemeClr>
                    </a:solidFill>
                    <a:highlight>
                      <a:srgbClr val="FFFF00"/>
                    </a:highlight>
                    <a:latin typeface="Arial"/>
                  </a:rPr>
                  <a:t>trọngSố</a:t>
                </a:r>
                <a:r>
                  <a:rPr lang="vi-VN" sz="1400" baseline="-25000" dirty="0">
                    <a:solidFill>
                      <a:schemeClr val="tx2">
                        <a:lumMod val="60000"/>
                        <a:lumOff val="40000"/>
                      </a:schemeClr>
                    </a:solidFill>
                    <a:highlight>
                      <a:srgbClr val="FFFF00"/>
                    </a:highlight>
                    <a:latin typeface="Arial"/>
                  </a:rPr>
                  <a:t>1 </a:t>
                </a:r>
                <a:r>
                  <a:rPr lang="vi-VN" sz="1400" dirty="0">
                    <a:highlight>
                      <a:srgbClr val="FFFF00"/>
                    </a:highlight>
                    <a:latin typeface="Arial"/>
                  </a:rPr>
                  <a:t>x</a:t>
                </a:r>
                <a:r>
                  <a:rPr lang="vi-VN" sz="1400" dirty="0">
                    <a:solidFill>
                      <a:schemeClr val="tx2">
                        <a:lumMod val="60000"/>
                        <a:lumOff val="40000"/>
                      </a:schemeClr>
                    </a:solidFill>
                    <a:highlight>
                      <a:srgbClr val="FFFF00"/>
                    </a:highlight>
                    <a:latin typeface="Arial"/>
                  </a:rPr>
                  <a:t> </a:t>
                </a:r>
                <a:r>
                  <a:rPr lang="vi-VN" sz="1400" dirty="0">
                    <a:solidFill>
                      <a:schemeClr val="accent6">
                        <a:lumMod val="75000"/>
                      </a:schemeClr>
                    </a:solidFill>
                    <a:highlight>
                      <a:srgbClr val="FFFF00"/>
                    </a:highlight>
                    <a:latin typeface="Arial"/>
                  </a:rPr>
                  <a:t>chuông</a:t>
                </a:r>
                <a:r>
                  <a:rPr lang="vi-VN" sz="1400" baseline="-25000" dirty="0">
                    <a:solidFill>
                      <a:schemeClr val="accent6">
                        <a:lumMod val="75000"/>
                      </a:schemeClr>
                    </a:solidFill>
                    <a:highlight>
                      <a:srgbClr val="FFFF00"/>
                    </a:highlight>
                    <a:latin typeface="Arial"/>
                  </a:rPr>
                  <a:t>1</a:t>
                </a:r>
                <a:r>
                  <a:rPr lang="vi-VN" sz="1400" dirty="0">
                    <a:solidFill>
                      <a:srgbClr val="444B52"/>
                    </a:solidFill>
                    <a:latin typeface="Arial"/>
                  </a:rPr>
                  <a:t> + </a:t>
                </a:r>
                <a:r>
                  <a:rPr lang="vi-VN" sz="1400" dirty="0">
                    <a:solidFill>
                      <a:schemeClr val="tx2">
                        <a:lumMod val="60000"/>
                        <a:lumOff val="40000"/>
                      </a:schemeClr>
                    </a:solidFill>
                    <a:highlight>
                      <a:srgbClr val="FFFF00"/>
                    </a:highlight>
                    <a:latin typeface="Arial"/>
                  </a:rPr>
                  <a:t>trọngSố</a:t>
                </a:r>
                <a:r>
                  <a:rPr lang="vi-VN" sz="1400" baseline="-25000" dirty="0">
                    <a:solidFill>
                      <a:schemeClr val="tx2">
                        <a:lumMod val="60000"/>
                        <a:lumOff val="40000"/>
                      </a:schemeClr>
                    </a:solidFill>
                    <a:highlight>
                      <a:srgbClr val="FFFF00"/>
                    </a:highlight>
                    <a:latin typeface="Arial"/>
                  </a:rPr>
                  <a:t>2 </a:t>
                </a:r>
                <a:r>
                  <a:rPr lang="vi-VN" sz="1400" dirty="0">
                    <a:highlight>
                      <a:srgbClr val="FFFF00"/>
                    </a:highlight>
                    <a:latin typeface="Arial"/>
                  </a:rPr>
                  <a:t>x</a:t>
                </a:r>
                <a:r>
                  <a:rPr lang="vi-VN" sz="1400" dirty="0">
                    <a:solidFill>
                      <a:schemeClr val="tx2">
                        <a:lumMod val="60000"/>
                        <a:lumOff val="40000"/>
                      </a:schemeClr>
                    </a:solidFill>
                    <a:highlight>
                      <a:srgbClr val="FFFF00"/>
                    </a:highlight>
                    <a:latin typeface="Arial"/>
                  </a:rPr>
                  <a:t> </a:t>
                </a:r>
                <a:r>
                  <a:rPr lang="vi-VN" sz="1400" dirty="0">
                    <a:solidFill>
                      <a:schemeClr val="accent6">
                        <a:lumMod val="75000"/>
                      </a:schemeClr>
                    </a:solidFill>
                    <a:highlight>
                      <a:srgbClr val="FFFF00"/>
                    </a:highlight>
                    <a:latin typeface="Arial"/>
                  </a:rPr>
                  <a:t>chuông</a:t>
                </a:r>
                <a:r>
                  <a:rPr lang="vi-VN" sz="1400" baseline="-25000" dirty="0">
                    <a:solidFill>
                      <a:schemeClr val="accent6">
                        <a:lumMod val="75000"/>
                      </a:schemeClr>
                    </a:solidFill>
                    <a:highlight>
                      <a:srgbClr val="FFFF00"/>
                    </a:highlight>
                    <a:latin typeface="Arial"/>
                  </a:rPr>
                  <a:t>2</a:t>
                </a:r>
                <a:r>
                  <a:rPr lang="vi-VN" sz="1400" dirty="0">
                    <a:solidFill>
                      <a:srgbClr val="444B52"/>
                    </a:solidFill>
                    <a:latin typeface="Arial"/>
                  </a:rPr>
                  <a:t> + … + </a:t>
                </a:r>
                <a:r>
                  <a:rPr lang="vi-VN" sz="1400" dirty="0">
                    <a:solidFill>
                      <a:schemeClr val="tx2">
                        <a:lumMod val="60000"/>
                        <a:lumOff val="40000"/>
                      </a:schemeClr>
                    </a:solidFill>
                    <a:highlight>
                      <a:srgbClr val="FFFF00"/>
                    </a:highlight>
                    <a:latin typeface="Arial"/>
                  </a:rPr>
                  <a:t>trọngSố</a:t>
                </a:r>
                <a:r>
                  <a:rPr lang="vi-VN" sz="1400" baseline="-25000" dirty="0">
                    <a:solidFill>
                      <a:schemeClr val="tx2">
                        <a:lumMod val="60000"/>
                        <a:lumOff val="40000"/>
                      </a:schemeClr>
                    </a:solidFill>
                    <a:highlight>
                      <a:srgbClr val="FFFF00"/>
                    </a:highlight>
                    <a:latin typeface="Arial"/>
                  </a:rPr>
                  <a:t>k </a:t>
                </a:r>
                <a:r>
                  <a:rPr lang="vi-VN" sz="1400" dirty="0">
                    <a:highlight>
                      <a:srgbClr val="FFFF00"/>
                    </a:highlight>
                    <a:latin typeface="Arial"/>
                  </a:rPr>
                  <a:t>x</a:t>
                </a:r>
                <a:r>
                  <a:rPr lang="vi-VN" sz="1400" dirty="0">
                    <a:solidFill>
                      <a:schemeClr val="tx2">
                        <a:lumMod val="60000"/>
                        <a:lumOff val="40000"/>
                      </a:schemeClr>
                    </a:solidFill>
                    <a:highlight>
                      <a:srgbClr val="FFFF00"/>
                    </a:highlight>
                    <a:latin typeface="Arial"/>
                  </a:rPr>
                  <a:t> </a:t>
                </a:r>
                <a:r>
                  <a:rPr lang="vi-VN" sz="1400" dirty="0">
                    <a:solidFill>
                      <a:schemeClr val="accent6">
                        <a:lumMod val="75000"/>
                      </a:schemeClr>
                    </a:solidFill>
                    <a:highlight>
                      <a:srgbClr val="FFFF00"/>
                    </a:highlight>
                    <a:latin typeface="Arial"/>
                  </a:rPr>
                  <a:t>chuông</a:t>
                </a:r>
                <a:r>
                  <a:rPr lang="vi-VN" sz="1400" baseline="-25000" dirty="0">
                    <a:solidFill>
                      <a:schemeClr val="accent6">
                        <a:lumMod val="75000"/>
                      </a:schemeClr>
                    </a:solidFill>
                    <a:highlight>
                      <a:srgbClr val="FFFF00"/>
                    </a:highlight>
                    <a:latin typeface="Arial"/>
                  </a:rPr>
                  <a:t>k</a:t>
                </a:r>
                <a:r>
                  <a:rPr lang="vi-VN" sz="1400" dirty="0">
                    <a:solidFill>
                      <a:schemeClr val="accent6">
                        <a:lumMod val="75000"/>
                      </a:schemeClr>
                    </a:solidFill>
                    <a:latin typeface="Arial"/>
                  </a:rPr>
                  <a:t> </a:t>
                </a:r>
              </a:p>
              <a:p>
                <a:pPr>
                  <a:spcAft>
                    <a:spcPts val="600"/>
                  </a:spcAft>
                </a:pPr>
                <a:r>
                  <a:rPr lang="vi-VN" sz="1400" dirty="0">
                    <a:solidFill>
                      <a:schemeClr val="tx2">
                        <a:lumMod val="60000"/>
                        <a:lumOff val="40000"/>
                      </a:schemeClr>
                    </a:solidFill>
                    <a:latin typeface="Arial"/>
                  </a:rPr>
                  <a:t>		</a:t>
                </a:r>
                <a:r>
                  <a:rPr lang="vi-VN" sz="1200" dirty="0">
                    <a:solidFill>
                      <a:schemeClr val="tx2">
                        <a:lumMod val="60000"/>
                        <a:lumOff val="40000"/>
                      </a:schemeClr>
                    </a:solidFill>
                    <a:latin typeface="Arial"/>
                  </a:rPr>
                  <a:t>trọngSố</a:t>
                </a:r>
                <a:r>
                  <a:rPr lang="vi-VN" sz="1200" baseline="-25000" dirty="0">
                    <a:solidFill>
                      <a:schemeClr val="tx2">
                        <a:lumMod val="60000"/>
                        <a:lumOff val="40000"/>
                      </a:schemeClr>
                    </a:solidFill>
                    <a:latin typeface="Arial"/>
                  </a:rPr>
                  <a:t>k</a:t>
                </a:r>
                <a:r>
                  <a:rPr lang="vi-VN" sz="1200" dirty="0">
                    <a:solidFill>
                      <a:schemeClr val="tx2">
                        <a:lumMod val="60000"/>
                        <a:lumOff val="40000"/>
                      </a:schemeClr>
                    </a:solidFill>
                    <a:latin typeface="Arial"/>
                  </a:rPr>
                  <a:t> </a:t>
                </a:r>
                <a:r>
                  <a:rPr lang="vi-VN" sz="1200" dirty="0">
                    <a:latin typeface="Arial"/>
                  </a:rPr>
                  <a:t>kí hiệu là Pi:</a:t>
                </a:r>
                <a:r>
                  <a:rPr lang="vi-VN" sz="1200" dirty="0">
                    <a:solidFill>
                      <a:schemeClr val="tx2">
                        <a:lumMod val="60000"/>
                        <a:lumOff val="40000"/>
                      </a:schemeClr>
                    </a:solidFill>
                    <a:latin typeface="Arial"/>
                  </a:rPr>
                  <a:t> </a:t>
                </a:r>
                <a14:m>
                  <m:oMath xmlns:m="http://schemas.openxmlformats.org/officeDocument/2006/math">
                    <m:sSub>
                      <m:sSubPr>
                        <m:ctrlPr>
                          <a:rPr lang="en-US" sz="1200" i="1">
                            <a:solidFill>
                              <a:schemeClr val="tx2">
                                <a:lumMod val="60000"/>
                                <a:lumOff val="40000"/>
                              </a:schemeClr>
                            </a:solidFill>
                            <a:latin typeface="Cambria Math" panose="02040503050406030204" pitchFamily="18" charset="0"/>
                          </a:rPr>
                        </m:ctrlPr>
                      </m:sSubPr>
                      <m:e>
                        <m:r>
                          <a:rPr lang="en-US" sz="1200" i="1">
                            <a:solidFill>
                              <a:schemeClr val="tx2">
                                <a:lumMod val="60000"/>
                                <a:lumOff val="40000"/>
                              </a:schemeClr>
                            </a:solidFill>
                            <a:latin typeface="Cambria Math" panose="02040503050406030204" pitchFamily="18" charset="0"/>
                          </a:rPr>
                          <m:t>𝜋</m:t>
                        </m:r>
                      </m:e>
                      <m:sub>
                        <m:r>
                          <a:rPr lang="en-US" sz="1200" i="1">
                            <a:solidFill>
                              <a:schemeClr val="tx2">
                                <a:lumMod val="60000"/>
                                <a:lumOff val="40000"/>
                              </a:schemeClr>
                            </a:solidFill>
                            <a:latin typeface="Cambria Math" panose="02040503050406030204" pitchFamily="18" charset="0"/>
                          </a:rPr>
                          <m:t>𝑘</m:t>
                        </m:r>
                      </m:sub>
                    </m:sSub>
                  </m:oMath>
                </a14:m>
                <a:r>
                  <a:rPr lang="vi-VN" sz="1200" b="1" dirty="0">
                    <a:solidFill>
                      <a:schemeClr val="accent6">
                        <a:lumMod val="75000"/>
                      </a:schemeClr>
                    </a:solidFill>
                    <a:latin typeface="Arial"/>
                  </a:rPr>
                  <a:t> </a:t>
                </a:r>
                <a:r>
                  <a:rPr lang="vi-VN" sz="1200" dirty="0">
                    <a:latin typeface="Arial"/>
                  </a:rPr>
                  <a:t>(</a:t>
                </a:r>
                <a:r>
                  <a:rPr lang="vi-VN" sz="1200" b="1" dirty="0">
                    <a:latin typeface="Arial"/>
                  </a:rPr>
                  <a:t>P</a:t>
                </a:r>
                <a:r>
                  <a:rPr lang="vi-VN" sz="1200" dirty="0">
                    <a:latin typeface="Arial"/>
                  </a:rPr>
                  <a:t>robability)</a:t>
                </a:r>
                <a:endParaRPr lang="vi-VN" sz="1200" b="1" dirty="0">
                  <a:solidFill>
                    <a:schemeClr val="accent6">
                      <a:lumMod val="75000"/>
                    </a:schemeClr>
                  </a:solidFill>
                  <a:latin typeface="Arial"/>
                </a:endParaRPr>
              </a:p>
              <a:p>
                <a:pPr>
                  <a:spcAft>
                    <a:spcPts val="600"/>
                  </a:spcAft>
                </a:pPr>
                <a:r>
                  <a:rPr lang="vi-VN" sz="1200" dirty="0">
                    <a:solidFill>
                      <a:schemeClr val="accent6">
                        <a:lumMod val="75000"/>
                      </a:schemeClr>
                    </a:solidFill>
                    <a:latin typeface="Arial"/>
                  </a:rPr>
                  <a:t>		chuông</a:t>
                </a:r>
                <a:r>
                  <a:rPr lang="vi-VN" sz="1200" baseline="-25000" dirty="0">
                    <a:solidFill>
                      <a:schemeClr val="accent6">
                        <a:lumMod val="75000"/>
                      </a:schemeClr>
                    </a:solidFill>
                    <a:latin typeface="Arial"/>
                  </a:rPr>
                  <a:t>k</a:t>
                </a:r>
                <a:r>
                  <a:rPr lang="vi-VN" sz="1200" dirty="0">
                    <a:solidFill>
                      <a:schemeClr val="accent6">
                        <a:lumMod val="75000"/>
                      </a:schemeClr>
                    </a:solidFill>
                    <a:latin typeface="Arial"/>
                  </a:rPr>
                  <a:t> </a:t>
                </a:r>
                <a:r>
                  <a:rPr lang="vi-VN" sz="1200" dirty="0">
                    <a:latin typeface="Arial"/>
                  </a:rPr>
                  <a:t>kí hiệu là N: </a:t>
                </a:r>
                <a14:m>
                  <m:oMath xmlns:m="http://schemas.openxmlformats.org/officeDocument/2006/math">
                    <m:r>
                      <a:rPr lang="en-US" sz="1200" i="1">
                        <a:solidFill>
                          <a:schemeClr val="accent6">
                            <a:lumMod val="75000"/>
                          </a:schemeClr>
                        </a:solidFill>
                        <a:latin typeface="Cambria Math" panose="02040503050406030204" pitchFamily="18" charset="0"/>
                      </a:rPr>
                      <m:t>𝒩</m:t>
                    </m:r>
                    <m:d>
                      <m:dPr>
                        <m:ctrlPr>
                          <a:rPr lang="en-US" sz="1200" i="1">
                            <a:solidFill>
                              <a:schemeClr val="accent6">
                                <a:lumMod val="75000"/>
                              </a:schemeClr>
                            </a:solidFill>
                            <a:latin typeface="Cambria Math" panose="02040503050406030204" pitchFamily="18" charset="0"/>
                          </a:rPr>
                        </m:ctrlPr>
                      </m:dPr>
                      <m:e>
                        <m:r>
                          <a:rPr lang="en-US" sz="1200" i="1">
                            <a:solidFill>
                              <a:schemeClr val="accent6">
                                <a:lumMod val="75000"/>
                              </a:schemeClr>
                            </a:solidFill>
                            <a:latin typeface="Cambria Math" panose="02040503050406030204" pitchFamily="18" charset="0"/>
                          </a:rPr>
                          <m:t>𝑥</m:t>
                        </m:r>
                        <m:r>
                          <a:rPr lang="en-US" sz="1200" i="1">
                            <a:solidFill>
                              <a:schemeClr val="accent6">
                                <a:lumMod val="75000"/>
                              </a:schemeClr>
                            </a:solidFill>
                            <a:latin typeface="Cambria Math" panose="02040503050406030204" pitchFamily="18" charset="0"/>
                          </a:rPr>
                          <m:t>∣</m:t>
                        </m:r>
                        <m:sSub>
                          <m:sSubPr>
                            <m:ctrlPr>
                              <a:rPr lang="en-US" sz="1200" i="1">
                                <a:solidFill>
                                  <a:schemeClr val="accent6">
                                    <a:lumMod val="75000"/>
                                  </a:schemeClr>
                                </a:solidFill>
                                <a:latin typeface="Cambria Math" panose="02040503050406030204" pitchFamily="18" charset="0"/>
                              </a:rPr>
                            </m:ctrlPr>
                          </m:sSubPr>
                          <m:e>
                            <m:r>
                              <a:rPr lang="en-US" sz="1200" i="1">
                                <a:solidFill>
                                  <a:schemeClr val="accent6">
                                    <a:lumMod val="75000"/>
                                  </a:schemeClr>
                                </a:solidFill>
                                <a:latin typeface="Cambria Math" panose="02040503050406030204" pitchFamily="18" charset="0"/>
                              </a:rPr>
                              <m:t>𝜇</m:t>
                            </m:r>
                          </m:e>
                          <m:sub>
                            <m:r>
                              <a:rPr lang="en-US" sz="1200" i="1">
                                <a:solidFill>
                                  <a:schemeClr val="accent6">
                                    <a:lumMod val="75000"/>
                                  </a:schemeClr>
                                </a:solidFill>
                                <a:latin typeface="Cambria Math" panose="02040503050406030204" pitchFamily="18" charset="0"/>
                              </a:rPr>
                              <m:t>𝑘</m:t>
                            </m:r>
                          </m:sub>
                        </m:sSub>
                        <m:r>
                          <a:rPr lang="en-US" sz="1200" i="1">
                            <a:solidFill>
                              <a:schemeClr val="accent6">
                                <a:lumMod val="75000"/>
                              </a:schemeClr>
                            </a:solidFill>
                            <a:latin typeface="Cambria Math" panose="02040503050406030204" pitchFamily="18" charset="0"/>
                          </a:rPr>
                          <m:t>,</m:t>
                        </m:r>
                        <m:sSubSup>
                          <m:sSubSupPr>
                            <m:ctrlPr>
                              <a:rPr lang="en-US" sz="1200" i="1">
                                <a:solidFill>
                                  <a:schemeClr val="accent6">
                                    <a:lumMod val="75000"/>
                                  </a:schemeClr>
                                </a:solidFill>
                                <a:latin typeface="Cambria Math" panose="02040503050406030204" pitchFamily="18" charset="0"/>
                              </a:rPr>
                            </m:ctrlPr>
                          </m:sSubSupPr>
                          <m:e>
                            <m:r>
                              <a:rPr lang="en-US" sz="1200" i="1">
                                <a:solidFill>
                                  <a:schemeClr val="accent6">
                                    <a:lumMod val="75000"/>
                                  </a:schemeClr>
                                </a:solidFill>
                                <a:latin typeface="Cambria Math" panose="02040503050406030204" pitchFamily="18" charset="0"/>
                              </a:rPr>
                              <m:t>𝜎</m:t>
                            </m:r>
                          </m:e>
                          <m:sub>
                            <m:r>
                              <a:rPr lang="en-US" sz="1200" i="1">
                                <a:solidFill>
                                  <a:schemeClr val="accent6">
                                    <a:lumMod val="75000"/>
                                  </a:schemeClr>
                                </a:solidFill>
                                <a:latin typeface="Cambria Math" panose="02040503050406030204" pitchFamily="18" charset="0"/>
                              </a:rPr>
                              <m:t>𝑘</m:t>
                            </m:r>
                          </m:sub>
                          <m:sup>
                            <m:r>
                              <a:rPr lang="en-US" sz="1200" i="1">
                                <a:solidFill>
                                  <a:schemeClr val="accent6">
                                    <a:lumMod val="75000"/>
                                  </a:schemeClr>
                                </a:solidFill>
                                <a:latin typeface="Cambria Math" panose="02040503050406030204" pitchFamily="18" charset="0"/>
                              </a:rPr>
                              <m:t>2</m:t>
                            </m:r>
                          </m:sup>
                        </m:sSubSup>
                      </m:e>
                    </m:d>
                  </m:oMath>
                </a14:m>
                <a:r>
                  <a:rPr lang="vi-VN" sz="1200" b="1" dirty="0">
                    <a:solidFill>
                      <a:schemeClr val="accent6">
                        <a:lumMod val="75000"/>
                      </a:schemeClr>
                    </a:solidFill>
                    <a:latin typeface="Arial"/>
                  </a:rPr>
                  <a:t> </a:t>
                </a:r>
                <a:r>
                  <a:rPr lang="vi-VN" sz="1200" dirty="0">
                    <a:latin typeface="Arial"/>
                  </a:rPr>
                  <a:t>(</a:t>
                </a:r>
                <a:r>
                  <a:rPr lang="vi-VN" sz="1200" b="1" dirty="0">
                    <a:latin typeface="Arial"/>
                  </a:rPr>
                  <a:t>N</a:t>
                </a:r>
                <a:r>
                  <a:rPr lang="vi-VN" sz="1200" dirty="0">
                    <a:latin typeface="Arial"/>
                  </a:rPr>
                  <a:t>ormal Distribution)</a:t>
                </a:r>
                <a:endParaRPr lang="vi-VN" sz="1200" b="1" dirty="0">
                  <a:solidFill>
                    <a:schemeClr val="accent6">
                      <a:lumMod val="75000"/>
                    </a:schemeClr>
                  </a:solidFill>
                  <a:latin typeface="Arial"/>
                </a:endParaRPr>
              </a:p>
              <a:p>
                <a:pPr>
                  <a:spcAft>
                    <a:spcPts val="600"/>
                  </a:spcAft>
                </a:pPr>
                <a:endParaRPr lang="vi-VN" sz="1400" b="1" dirty="0">
                  <a:solidFill>
                    <a:srgbClr val="1B8A7A"/>
                  </a:solidFill>
                  <a:latin typeface="Arial"/>
                </a:endParaRPr>
              </a:p>
              <a:p>
                <a:pPr>
                  <a:spcAft>
                    <a:spcPts val="600"/>
                  </a:spcAft>
                </a:pPr>
                <a:endParaRPr lang="vi-VN" sz="1400" dirty="0">
                  <a:solidFill>
                    <a:srgbClr val="444B52"/>
                  </a:solidFill>
                  <a:latin typeface="Arial"/>
                </a:endParaRPr>
              </a:p>
            </p:txBody>
          </p:sp>
        </mc:Choice>
        <mc:Fallback xmlns="">
          <p:sp>
            <p:nvSpPr>
              <p:cNvPr id="11" name="TextBox 10">
                <a:extLst>
                  <a:ext uri="{FF2B5EF4-FFF2-40B4-BE49-F238E27FC236}">
                    <a16:creationId xmlns:a16="http://schemas.microsoft.com/office/drawing/2014/main" id="{955DE7C0-0BB5-333F-1D64-7BEA7B6FC960}"/>
                  </a:ext>
                </a:extLst>
              </p:cNvPr>
              <p:cNvSpPr txBox="1">
                <a:spLocks noRot="1" noChangeAspect="1" noMove="1" noResize="1" noEditPoints="1" noAdjustHandles="1" noChangeArrowheads="1" noChangeShapeType="1" noTextEdit="1"/>
              </p:cNvSpPr>
              <p:nvPr/>
            </p:nvSpPr>
            <p:spPr>
              <a:xfrm>
                <a:off x="5625737" y="2263665"/>
                <a:ext cx="6565958" cy="1762727"/>
              </a:xfrm>
              <a:prstGeom prst="rect">
                <a:avLst/>
              </a:prstGeom>
              <a:blipFill>
                <a:blip r:embed="rId3"/>
                <a:stretch>
                  <a:fillRect l="-386" t="-719"/>
                </a:stretch>
              </a:blipFill>
            </p:spPr>
            <p:txBody>
              <a:bodyPr/>
              <a:lstStyle/>
              <a:p>
                <a:r>
                  <a:rPr lang="en-VN">
                    <a:noFill/>
                  </a:rPr>
                  <a:t> </a:t>
                </a:r>
              </a:p>
            </p:txBody>
          </p:sp>
        </mc:Fallback>
      </mc:AlternateContent>
      <p:sp>
        <p:nvSpPr>
          <p:cNvPr id="6" name="TextBox 5">
            <a:extLst>
              <a:ext uri="{FF2B5EF4-FFF2-40B4-BE49-F238E27FC236}">
                <a16:creationId xmlns:a16="http://schemas.microsoft.com/office/drawing/2014/main" id="{FCCEFD7D-5F45-70DE-C239-86E9EAB0C42D}"/>
              </a:ext>
            </a:extLst>
          </p:cNvPr>
          <p:cNvSpPr txBox="1"/>
          <p:nvPr/>
        </p:nvSpPr>
        <p:spPr>
          <a:xfrm>
            <a:off x="746072" y="6406735"/>
            <a:ext cx="4133591" cy="384721"/>
          </a:xfrm>
          <a:prstGeom prst="rect">
            <a:avLst/>
          </a:prstGeom>
          <a:noFill/>
        </p:spPr>
        <p:txBody>
          <a:bodyPr wrap="square">
            <a:spAutoFit/>
          </a:bodyPr>
          <a:lstStyle/>
          <a:p>
            <a:pPr algn="ctr">
              <a:spcAft>
                <a:spcPts val="600"/>
              </a:spcAft>
            </a:pPr>
            <a:r>
              <a:rPr lang="vi-VN" sz="700" b="1" dirty="0">
                <a:latin typeface="Arial"/>
              </a:rPr>
              <a:t>Mô hình GMM với dữ liệu 1 chiều</a:t>
            </a:r>
          </a:p>
          <a:p>
            <a:pPr algn="ctr">
              <a:spcAft>
                <a:spcPts val="600"/>
              </a:spcAft>
            </a:pPr>
            <a:r>
              <a:rPr lang="vi-VN" sz="700" b="1" dirty="0">
                <a:latin typeface="Arial"/>
              </a:rPr>
              <a:t>Các điểm dữ liệu nằm trải trên trục ngang</a:t>
            </a:r>
            <a:endParaRPr lang="vi-VN" sz="700" dirty="0">
              <a:latin typeface="Arial"/>
            </a:endParaRPr>
          </a:p>
        </p:txBody>
      </p:sp>
      <p:pic>
        <p:nvPicPr>
          <p:cNvPr id="5" name="Picture 4">
            <a:extLst>
              <a:ext uri="{FF2B5EF4-FFF2-40B4-BE49-F238E27FC236}">
                <a16:creationId xmlns:a16="http://schemas.microsoft.com/office/drawing/2014/main" id="{05C790A9-EAB8-5251-0330-7B14E1B2CB47}"/>
              </a:ext>
            </a:extLst>
          </p:cNvPr>
          <p:cNvPicPr>
            <a:picLocks noChangeAspect="1"/>
          </p:cNvPicPr>
          <p:nvPr/>
        </p:nvPicPr>
        <p:blipFill>
          <a:blip r:embed="rId4"/>
          <a:stretch>
            <a:fillRect/>
          </a:stretch>
        </p:blipFill>
        <p:spPr>
          <a:xfrm>
            <a:off x="-1" y="2263665"/>
            <a:ext cx="5625738" cy="4181165"/>
          </a:xfrm>
          <a:prstGeom prst="rect">
            <a:avLst/>
          </a:prstGeom>
        </p:spPr>
      </p:pic>
      <p:sp>
        <p:nvSpPr>
          <p:cNvPr id="10" name="TextBox 9">
            <a:extLst>
              <a:ext uri="{FF2B5EF4-FFF2-40B4-BE49-F238E27FC236}">
                <a16:creationId xmlns:a16="http://schemas.microsoft.com/office/drawing/2014/main" id="{78A2E98F-8E68-26C6-3D72-CB11E6F410F8}"/>
              </a:ext>
            </a:extLst>
          </p:cNvPr>
          <p:cNvSpPr txBox="1"/>
          <p:nvPr/>
        </p:nvSpPr>
        <p:spPr>
          <a:xfrm>
            <a:off x="364066" y="1267772"/>
            <a:ext cx="10961159" cy="892552"/>
          </a:xfrm>
          <a:prstGeom prst="rect">
            <a:avLst/>
          </a:prstGeom>
          <a:noFill/>
        </p:spPr>
        <p:txBody>
          <a:bodyPr wrap="square">
            <a:spAutoFit/>
          </a:bodyPr>
          <a:lstStyle/>
          <a:p>
            <a:pPr>
              <a:spcAft>
                <a:spcPts val="600"/>
              </a:spcAft>
            </a:pPr>
            <a:r>
              <a:rPr lang="vi-VN" sz="1400" b="1" dirty="0">
                <a:solidFill>
                  <a:srgbClr val="1B8A7A"/>
                </a:solidFill>
                <a:latin typeface="Arial"/>
              </a:rPr>
              <a:t>2.1. Gaussian Mixture Model (GMM) - </a:t>
            </a:r>
            <a:r>
              <a:rPr lang="vi-VN" sz="1000" b="1" dirty="0">
                <a:solidFill>
                  <a:schemeClr val="accent5">
                    <a:lumMod val="60000"/>
                    <a:lumOff val="40000"/>
                  </a:schemeClr>
                </a:solidFill>
                <a:latin typeface="Arial"/>
              </a:rPr>
              <a:t>Mô hình hỗn hợp phân phối chuẩn</a:t>
            </a:r>
          </a:p>
          <a:p>
            <a:pPr>
              <a:spcAft>
                <a:spcPts val="600"/>
              </a:spcAft>
            </a:pPr>
            <a:r>
              <a:rPr lang="vi-VN" sz="1400" b="1" dirty="0">
                <a:solidFill>
                  <a:schemeClr val="bg2">
                    <a:lumMod val="50000"/>
                  </a:schemeClr>
                </a:solidFill>
                <a:latin typeface="Arial"/>
              </a:rPr>
              <a:t>2.1.1. Tìm hàm số mô hình</a:t>
            </a:r>
            <a:endParaRPr lang="vi-VN" sz="1400" dirty="0">
              <a:solidFill>
                <a:schemeClr val="bg2">
                  <a:lumMod val="50000"/>
                </a:schemeClr>
              </a:solidFill>
              <a:latin typeface="Arial"/>
            </a:endParaRPr>
          </a:p>
          <a:p>
            <a:pPr>
              <a:spcAft>
                <a:spcPts val="600"/>
              </a:spcAft>
            </a:pPr>
            <a:r>
              <a:rPr lang="vi-VN" sz="1400" dirty="0">
                <a:solidFill>
                  <a:srgbClr val="444B52"/>
                </a:solidFill>
                <a:latin typeface="Arial"/>
              </a:rPr>
              <a:t>	- Là một mô hình (đường màu tím như đèo núi) kết hợp từ nhiều mô hình phân phối chuẩn (2 đường đỏ và xanh như cái chuông)</a:t>
            </a:r>
          </a:p>
        </p:txBody>
      </p:sp>
    </p:spTree>
    <p:extLst>
      <p:ext uri="{BB962C8B-B14F-4D97-AF65-F5344CB8AC3E}">
        <p14:creationId xmlns:p14="http://schemas.microsoft.com/office/powerpoint/2010/main" val="1764016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C917E-00FF-7962-358D-4A5D2FFC839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BF2320A-EC5D-05A3-8B8C-7934D1B0A242}"/>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72987EC-037D-D993-8F99-1DF2DD887D53}"/>
                  </a:ext>
                </a:extLst>
              </p:cNvPr>
              <p:cNvSpPr txBox="1"/>
              <p:nvPr/>
            </p:nvSpPr>
            <p:spPr>
              <a:xfrm>
                <a:off x="5625737" y="2263665"/>
                <a:ext cx="6565958" cy="3817905"/>
              </a:xfrm>
              <a:prstGeom prst="rect">
                <a:avLst/>
              </a:prstGeom>
              <a:noFill/>
            </p:spPr>
            <p:txBody>
              <a:bodyPr wrap="square">
                <a:spAutoFit/>
              </a:bodyPr>
              <a:lstStyle/>
              <a:p>
                <a:pPr>
                  <a:spcAft>
                    <a:spcPts val="600"/>
                  </a:spcAft>
                </a:pPr>
                <a:r>
                  <a:rPr lang="vi-VN" sz="1400" b="1" dirty="0">
                    <a:solidFill>
                      <a:srgbClr val="1B8A7A"/>
                    </a:solidFill>
                    <a:latin typeface="Arial"/>
                  </a:rPr>
                  <a:t>Hàm số mô hình GMM</a:t>
                </a:r>
              </a:p>
              <a:p>
                <a:pPr>
                  <a:spcAft>
                    <a:spcPts val="600"/>
                  </a:spcAft>
                </a:pPr>
                <a:r>
                  <a:rPr lang="vi-VN" sz="1400" dirty="0">
                    <a:solidFill>
                      <a:srgbClr val="444B52"/>
                    </a:solidFill>
                    <a:latin typeface="Arial"/>
                  </a:rPr>
                  <a:t>	</a:t>
                </a:r>
                <a:r>
                  <a:rPr lang="vi-VN" sz="1400" b="1" dirty="0">
                    <a:solidFill>
                      <a:srgbClr val="444B52"/>
                    </a:solidFill>
                    <a:latin typeface="Arial"/>
                  </a:rPr>
                  <a:t>GMM</a:t>
                </a:r>
                <a:r>
                  <a:rPr lang="vi-VN" sz="1400" dirty="0">
                    <a:solidFill>
                      <a:srgbClr val="444B52"/>
                    </a:solidFill>
                    <a:latin typeface="Arial"/>
                  </a:rPr>
                  <a:t> = </a:t>
                </a:r>
                <a:r>
                  <a:rPr lang="vi-VN" sz="1400" dirty="0">
                    <a:solidFill>
                      <a:schemeClr val="tx2">
                        <a:lumMod val="60000"/>
                        <a:lumOff val="40000"/>
                      </a:schemeClr>
                    </a:solidFill>
                    <a:highlight>
                      <a:srgbClr val="FFFF00"/>
                    </a:highlight>
                    <a:latin typeface="Arial"/>
                  </a:rPr>
                  <a:t>trọngSố</a:t>
                </a:r>
                <a:r>
                  <a:rPr lang="vi-VN" sz="1400" baseline="-25000" dirty="0">
                    <a:solidFill>
                      <a:schemeClr val="tx2">
                        <a:lumMod val="60000"/>
                        <a:lumOff val="40000"/>
                      </a:schemeClr>
                    </a:solidFill>
                    <a:highlight>
                      <a:srgbClr val="FFFF00"/>
                    </a:highlight>
                    <a:latin typeface="Arial"/>
                  </a:rPr>
                  <a:t>1 </a:t>
                </a:r>
                <a:r>
                  <a:rPr lang="vi-VN" sz="1400" dirty="0">
                    <a:highlight>
                      <a:srgbClr val="FFFF00"/>
                    </a:highlight>
                    <a:latin typeface="Arial"/>
                  </a:rPr>
                  <a:t>x</a:t>
                </a:r>
                <a:r>
                  <a:rPr lang="vi-VN" sz="1400" dirty="0">
                    <a:solidFill>
                      <a:schemeClr val="tx2">
                        <a:lumMod val="60000"/>
                        <a:lumOff val="40000"/>
                      </a:schemeClr>
                    </a:solidFill>
                    <a:highlight>
                      <a:srgbClr val="FFFF00"/>
                    </a:highlight>
                    <a:latin typeface="Arial"/>
                  </a:rPr>
                  <a:t> </a:t>
                </a:r>
                <a:r>
                  <a:rPr lang="vi-VN" sz="1400" dirty="0">
                    <a:solidFill>
                      <a:schemeClr val="accent6">
                        <a:lumMod val="75000"/>
                      </a:schemeClr>
                    </a:solidFill>
                    <a:highlight>
                      <a:srgbClr val="FFFF00"/>
                    </a:highlight>
                    <a:latin typeface="Arial"/>
                  </a:rPr>
                  <a:t>chuông</a:t>
                </a:r>
                <a:r>
                  <a:rPr lang="vi-VN" sz="1400" baseline="-25000" dirty="0">
                    <a:solidFill>
                      <a:schemeClr val="accent6">
                        <a:lumMod val="75000"/>
                      </a:schemeClr>
                    </a:solidFill>
                    <a:highlight>
                      <a:srgbClr val="FFFF00"/>
                    </a:highlight>
                    <a:latin typeface="Arial"/>
                  </a:rPr>
                  <a:t>1</a:t>
                </a:r>
                <a:r>
                  <a:rPr lang="vi-VN" sz="1400" dirty="0">
                    <a:solidFill>
                      <a:srgbClr val="444B52"/>
                    </a:solidFill>
                    <a:latin typeface="Arial"/>
                  </a:rPr>
                  <a:t> + </a:t>
                </a:r>
                <a:r>
                  <a:rPr lang="vi-VN" sz="1400" dirty="0">
                    <a:solidFill>
                      <a:schemeClr val="tx2">
                        <a:lumMod val="60000"/>
                        <a:lumOff val="40000"/>
                      </a:schemeClr>
                    </a:solidFill>
                    <a:highlight>
                      <a:srgbClr val="FFFF00"/>
                    </a:highlight>
                    <a:latin typeface="Arial"/>
                  </a:rPr>
                  <a:t>trọngSố</a:t>
                </a:r>
                <a:r>
                  <a:rPr lang="vi-VN" sz="1400" baseline="-25000" dirty="0">
                    <a:solidFill>
                      <a:schemeClr val="tx2">
                        <a:lumMod val="60000"/>
                        <a:lumOff val="40000"/>
                      </a:schemeClr>
                    </a:solidFill>
                    <a:highlight>
                      <a:srgbClr val="FFFF00"/>
                    </a:highlight>
                    <a:latin typeface="Arial"/>
                  </a:rPr>
                  <a:t>2 </a:t>
                </a:r>
                <a:r>
                  <a:rPr lang="vi-VN" sz="1400" dirty="0">
                    <a:highlight>
                      <a:srgbClr val="FFFF00"/>
                    </a:highlight>
                    <a:latin typeface="Arial"/>
                  </a:rPr>
                  <a:t>x</a:t>
                </a:r>
                <a:r>
                  <a:rPr lang="vi-VN" sz="1400" dirty="0">
                    <a:solidFill>
                      <a:schemeClr val="tx2">
                        <a:lumMod val="60000"/>
                        <a:lumOff val="40000"/>
                      </a:schemeClr>
                    </a:solidFill>
                    <a:highlight>
                      <a:srgbClr val="FFFF00"/>
                    </a:highlight>
                    <a:latin typeface="Arial"/>
                  </a:rPr>
                  <a:t> </a:t>
                </a:r>
                <a:r>
                  <a:rPr lang="vi-VN" sz="1400" dirty="0">
                    <a:solidFill>
                      <a:schemeClr val="accent6">
                        <a:lumMod val="75000"/>
                      </a:schemeClr>
                    </a:solidFill>
                    <a:highlight>
                      <a:srgbClr val="FFFF00"/>
                    </a:highlight>
                    <a:latin typeface="Arial"/>
                  </a:rPr>
                  <a:t>chuông</a:t>
                </a:r>
                <a:r>
                  <a:rPr lang="vi-VN" sz="1400" baseline="-25000" dirty="0">
                    <a:solidFill>
                      <a:schemeClr val="accent6">
                        <a:lumMod val="75000"/>
                      </a:schemeClr>
                    </a:solidFill>
                    <a:highlight>
                      <a:srgbClr val="FFFF00"/>
                    </a:highlight>
                    <a:latin typeface="Arial"/>
                  </a:rPr>
                  <a:t>2</a:t>
                </a:r>
                <a:r>
                  <a:rPr lang="vi-VN" sz="1400" dirty="0">
                    <a:solidFill>
                      <a:srgbClr val="444B52"/>
                    </a:solidFill>
                    <a:latin typeface="Arial"/>
                  </a:rPr>
                  <a:t> + … + </a:t>
                </a:r>
                <a:r>
                  <a:rPr lang="vi-VN" sz="1400" dirty="0">
                    <a:solidFill>
                      <a:schemeClr val="tx2">
                        <a:lumMod val="60000"/>
                        <a:lumOff val="40000"/>
                      </a:schemeClr>
                    </a:solidFill>
                    <a:highlight>
                      <a:srgbClr val="FFFF00"/>
                    </a:highlight>
                    <a:latin typeface="Arial"/>
                  </a:rPr>
                  <a:t>trọngSố</a:t>
                </a:r>
                <a:r>
                  <a:rPr lang="vi-VN" sz="1400" baseline="-25000" dirty="0">
                    <a:solidFill>
                      <a:schemeClr val="tx2">
                        <a:lumMod val="60000"/>
                        <a:lumOff val="40000"/>
                      </a:schemeClr>
                    </a:solidFill>
                    <a:highlight>
                      <a:srgbClr val="FFFF00"/>
                    </a:highlight>
                    <a:latin typeface="Arial"/>
                  </a:rPr>
                  <a:t>k </a:t>
                </a:r>
                <a:r>
                  <a:rPr lang="vi-VN" sz="1400" dirty="0">
                    <a:highlight>
                      <a:srgbClr val="FFFF00"/>
                    </a:highlight>
                    <a:latin typeface="Arial"/>
                  </a:rPr>
                  <a:t>x</a:t>
                </a:r>
                <a:r>
                  <a:rPr lang="vi-VN" sz="1400" dirty="0">
                    <a:solidFill>
                      <a:schemeClr val="tx2">
                        <a:lumMod val="60000"/>
                        <a:lumOff val="40000"/>
                      </a:schemeClr>
                    </a:solidFill>
                    <a:highlight>
                      <a:srgbClr val="FFFF00"/>
                    </a:highlight>
                    <a:latin typeface="Arial"/>
                  </a:rPr>
                  <a:t> </a:t>
                </a:r>
                <a:r>
                  <a:rPr lang="vi-VN" sz="1400" dirty="0">
                    <a:solidFill>
                      <a:schemeClr val="accent6">
                        <a:lumMod val="75000"/>
                      </a:schemeClr>
                    </a:solidFill>
                    <a:highlight>
                      <a:srgbClr val="FFFF00"/>
                    </a:highlight>
                    <a:latin typeface="Arial"/>
                  </a:rPr>
                  <a:t>chuông</a:t>
                </a:r>
                <a:r>
                  <a:rPr lang="vi-VN" sz="1400" baseline="-25000" dirty="0">
                    <a:solidFill>
                      <a:schemeClr val="accent6">
                        <a:lumMod val="75000"/>
                      </a:schemeClr>
                    </a:solidFill>
                    <a:highlight>
                      <a:srgbClr val="FFFF00"/>
                    </a:highlight>
                    <a:latin typeface="Arial"/>
                  </a:rPr>
                  <a:t>k</a:t>
                </a:r>
                <a:r>
                  <a:rPr lang="vi-VN" sz="1400" dirty="0">
                    <a:solidFill>
                      <a:schemeClr val="accent6">
                        <a:lumMod val="75000"/>
                      </a:schemeClr>
                    </a:solidFill>
                    <a:latin typeface="Arial"/>
                  </a:rPr>
                  <a:t> </a:t>
                </a:r>
              </a:p>
              <a:p>
                <a:pPr>
                  <a:spcAft>
                    <a:spcPts val="600"/>
                  </a:spcAft>
                </a:pPr>
                <a:r>
                  <a:rPr lang="vi-VN" sz="1400" dirty="0">
                    <a:solidFill>
                      <a:schemeClr val="tx2">
                        <a:lumMod val="60000"/>
                        <a:lumOff val="40000"/>
                      </a:schemeClr>
                    </a:solidFill>
                    <a:latin typeface="Arial"/>
                  </a:rPr>
                  <a:t>		</a:t>
                </a:r>
                <a:r>
                  <a:rPr lang="vi-VN" sz="1200" dirty="0">
                    <a:solidFill>
                      <a:schemeClr val="tx2">
                        <a:lumMod val="60000"/>
                        <a:lumOff val="40000"/>
                      </a:schemeClr>
                    </a:solidFill>
                    <a:latin typeface="Arial"/>
                  </a:rPr>
                  <a:t>trọngSố</a:t>
                </a:r>
                <a:r>
                  <a:rPr lang="vi-VN" sz="1200" baseline="-25000" dirty="0">
                    <a:solidFill>
                      <a:schemeClr val="tx2">
                        <a:lumMod val="60000"/>
                        <a:lumOff val="40000"/>
                      </a:schemeClr>
                    </a:solidFill>
                    <a:latin typeface="Arial"/>
                  </a:rPr>
                  <a:t>k</a:t>
                </a:r>
                <a:r>
                  <a:rPr lang="vi-VN" sz="1200" dirty="0">
                    <a:solidFill>
                      <a:schemeClr val="tx2">
                        <a:lumMod val="60000"/>
                        <a:lumOff val="40000"/>
                      </a:schemeClr>
                    </a:solidFill>
                    <a:latin typeface="Arial"/>
                  </a:rPr>
                  <a:t> </a:t>
                </a:r>
                <a:r>
                  <a:rPr lang="vi-VN" sz="1200" dirty="0">
                    <a:latin typeface="Arial"/>
                  </a:rPr>
                  <a:t>kí hiệu là Pi:</a:t>
                </a:r>
                <a:r>
                  <a:rPr lang="vi-VN" sz="1200" dirty="0">
                    <a:solidFill>
                      <a:schemeClr val="tx2">
                        <a:lumMod val="60000"/>
                        <a:lumOff val="40000"/>
                      </a:schemeClr>
                    </a:solidFill>
                    <a:latin typeface="Arial"/>
                  </a:rPr>
                  <a:t> </a:t>
                </a:r>
                <a14:m>
                  <m:oMath xmlns:m="http://schemas.openxmlformats.org/officeDocument/2006/math">
                    <m:sSub>
                      <m:sSubPr>
                        <m:ctrlPr>
                          <a:rPr lang="en-US" sz="1200" i="1">
                            <a:solidFill>
                              <a:schemeClr val="tx2">
                                <a:lumMod val="60000"/>
                                <a:lumOff val="40000"/>
                              </a:schemeClr>
                            </a:solidFill>
                            <a:latin typeface="Cambria Math" panose="02040503050406030204" pitchFamily="18" charset="0"/>
                          </a:rPr>
                        </m:ctrlPr>
                      </m:sSubPr>
                      <m:e>
                        <m:r>
                          <a:rPr lang="en-US" sz="1200" i="1">
                            <a:solidFill>
                              <a:schemeClr val="tx2">
                                <a:lumMod val="60000"/>
                                <a:lumOff val="40000"/>
                              </a:schemeClr>
                            </a:solidFill>
                            <a:latin typeface="Cambria Math" panose="02040503050406030204" pitchFamily="18" charset="0"/>
                          </a:rPr>
                          <m:t>𝜋</m:t>
                        </m:r>
                      </m:e>
                      <m:sub>
                        <m:r>
                          <a:rPr lang="en-US" sz="1200" i="1">
                            <a:solidFill>
                              <a:schemeClr val="tx2">
                                <a:lumMod val="60000"/>
                                <a:lumOff val="40000"/>
                              </a:schemeClr>
                            </a:solidFill>
                            <a:latin typeface="Cambria Math" panose="02040503050406030204" pitchFamily="18" charset="0"/>
                          </a:rPr>
                          <m:t>𝑘</m:t>
                        </m:r>
                      </m:sub>
                    </m:sSub>
                  </m:oMath>
                </a14:m>
                <a:r>
                  <a:rPr lang="vi-VN" sz="1200" b="1" dirty="0">
                    <a:solidFill>
                      <a:schemeClr val="accent6">
                        <a:lumMod val="75000"/>
                      </a:schemeClr>
                    </a:solidFill>
                    <a:latin typeface="Arial"/>
                  </a:rPr>
                  <a:t> </a:t>
                </a:r>
                <a:r>
                  <a:rPr lang="vi-VN" sz="1200" dirty="0">
                    <a:latin typeface="Arial"/>
                  </a:rPr>
                  <a:t>(</a:t>
                </a:r>
                <a:r>
                  <a:rPr lang="vi-VN" sz="1200" b="1" dirty="0">
                    <a:latin typeface="Arial"/>
                  </a:rPr>
                  <a:t>P</a:t>
                </a:r>
                <a:r>
                  <a:rPr lang="vi-VN" sz="1200" dirty="0">
                    <a:latin typeface="Arial"/>
                  </a:rPr>
                  <a:t>robability)</a:t>
                </a:r>
                <a:endParaRPr lang="vi-VN" sz="1200" b="1" dirty="0">
                  <a:solidFill>
                    <a:schemeClr val="accent6">
                      <a:lumMod val="75000"/>
                    </a:schemeClr>
                  </a:solidFill>
                  <a:latin typeface="Arial"/>
                </a:endParaRPr>
              </a:p>
              <a:p>
                <a:pPr>
                  <a:spcAft>
                    <a:spcPts val="600"/>
                  </a:spcAft>
                </a:pPr>
                <a:r>
                  <a:rPr lang="vi-VN" sz="1200" dirty="0">
                    <a:solidFill>
                      <a:schemeClr val="accent6">
                        <a:lumMod val="75000"/>
                      </a:schemeClr>
                    </a:solidFill>
                    <a:latin typeface="Arial"/>
                  </a:rPr>
                  <a:t>		chuông</a:t>
                </a:r>
                <a:r>
                  <a:rPr lang="vi-VN" sz="1200" baseline="-25000" dirty="0">
                    <a:solidFill>
                      <a:schemeClr val="accent6">
                        <a:lumMod val="75000"/>
                      </a:schemeClr>
                    </a:solidFill>
                    <a:latin typeface="Arial"/>
                  </a:rPr>
                  <a:t>k</a:t>
                </a:r>
                <a:r>
                  <a:rPr lang="vi-VN" sz="1200" dirty="0">
                    <a:solidFill>
                      <a:schemeClr val="accent6">
                        <a:lumMod val="75000"/>
                      </a:schemeClr>
                    </a:solidFill>
                    <a:latin typeface="Arial"/>
                  </a:rPr>
                  <a:t> </a:t>
                </a:r>
                <a:r>
                  <a:rPr lang="vi-VN" sz="1200" dirty="0">
                    <a:latin typeface="Arial"/>
                  </a:rPr>
                  <a:t>kí hiệu là N: </a:t>
                </a:r>
                <a14:m>
                  <m:oMath xmlns:m="http://schemas.openxmlformats.org/officeDocument/2006/math">
                    <m:r>
                      <a:rPr lang="en-US" sz="1200" i="1">
                        <a:solidFill>
                          <a:schemeClr val="accent6">
                            <a:lumMod val="75000"/>
                          </a:schemeClr>
                        </a:solidFill>
                        <a:latin typeface="Cambria Math" panose="02040503050406030204" pitchFamily="18" charset="0"/>
                      </a:rPr>
                      <m:t>𝒩</m:t>
                    </m:r>
                    <m:d>
                      <m:dPr>
                        <m:ctrlPr>
                          <a:rPr lang="en-US" sz="1200" i="1">
                            <a:solidFill>
                              <a:schemeClr val="accent6">
                                <a:lumMod val="75000"/>
                              </a:schemeClr>
                            </a:solidFill>
                            <a:latin typeface="Cambria Math" panose="02040503050406030204" pitchFamily="18" charset="0"/>
                          </a:rPr>
                        </m:ctrlPr>
                      </m:dPr>
                      <m:e>
                        <m:r>
                          <a:rPr lang="en-US" sz="1200" i="1">
                            <a:solidFill>
                              <a:schemeClr val="accent6">
                                <a:lumMod val="75000"/>
                              </a:schemeClr>
                            </a:solidFill>
                            <a:latin typeface="Cambria Math" panose="02040503050406030204" pitchFamily="18" charset="0"/>
                          </a:rPr>
                          <m:t>𝑥</m:t>
                        </m:r>
                        <m:r>
                          <a:rPr lang="en-US" sz="1200" i="1">
                            <a:solidFill>
                              <a:schemeClr val="accent6">
                                <a:lumMod val="75000"/>
                              </a:schemeClr>
                            </a:solidFill>
                            <a:latin typeface="Cambria Math" panose="02040503050406030204" pitchFamily="18" charset="0"/>
                          </a:rPr>
                          <m:t>∣</m:t>
                        </m:r>
                        <m:sSub>
                          <m:sSubPr>
                            <m:ctrlPr>
                              <a:rPr lang="en-US" sz="1200" i="1">
                                <a:solidFill>
                                  <a:schemeClr val="accent6">
                                    <a:lumMod val="75000"/>
                                  </a:schemeClr>
                                </a:solidFill>
                                <a:latin typeface="Cambria Math" panose="02040503050406030204" pitchFamily="18" charset="0"/>
                              </a:rPr>
                            </m:ctrlPr>
                          </m:sSubPr>
                          <m:e>
                            <m:r>
                              <a:rPr lang="en-US" sz="1200" i="1">
                                <a:solidFill>
                                  <a:schemeClr val="accent6">
                                    <a:lumMod val="75000"/>
                                  </a:schemeClr>
                                </a:solidFill>
                                <a:latin typeface="Cambria Math" panose="02040503050406030204" pitchFamily="18" charset="0"/>
                              </a:rPr>
                              <m:t>𝜇</m:t>
                            </m:r>
                          </m:e>
                          <m:sub>
                            <m:r>
                              <a:rPr lang="en-US" sz="1200" i="1">
                                <a:solidFill>
                                  <a:schemeClr val="accent6">
                                    <a:lumMod val="75000"/>
                                  </a:schemeClr>
                                </a:solidFill>
                                <a:latin typeface="Cambria Math" panose="02040503050406030204" pitchFamily="18" charset="0"/>
                              </a:rPr>
                              <m:t>𝑘</m:t>
                            </m:r>
                          </m:sub>
                        </m:sSub>
                        <m:r>
                          <a:rPr lang="en-US" sz="1200" i="1">
                            <a:solidFill>
                              <a:schemeClr val="accent6">
                                <a:lumMod val="75000"/>
                              </a:schemeClr>
                            </a:solidFill>
                            <a:latin typeface="Cambria Math" panose="02040503050406030204" pitchFamily="18" charset="0"/>
                          </a:rPr>
                          <m:t>,</m:t>
                        </m:r>
                        <m:sSubSup>
                          <m:sSubSupPr>
                            <m:ctrlPr>
                              <a:rPr lang="en-US" sz="1200" i="1">
                                <a:solidFill>
                                  <a:schemeClr val="accent6">
                                    <a:lumMod val="75000"/>
                                  </a:schemeClr>
                                </a:solidFill>
                                <a:latin typeface="Cambria Math" panose="02040503050406030204" pitchFamily="18" charset="0"/>
                              </a:rPr>
                            </m:ctrlPr>
                          </m:sSubSupPr>
                          <m:e>
                            <m:r>
                              <a:rPr lang="en-US" sz="1200" i="1">
                                <a:solidFill>
                                  <a:schemeClr val="accent6">
                                    <a:lumMod val="75000"/>
                                  </a:schemeClr>
                                </a:solidFill>
                                <a:latin typeface="Cambria Math" panose="02040503050406030204" pitchFamily="18" charset="0"/>
                              </a:rPr>
                              <m:t>𝜎</m:t>
                            </m:r>
                          </m:e>
                          <m:sub>
                            <m:r>
                              <a:rPr lang="en-US" sz="1200" i="1">
                                <a:solidFill>
                                  <a:schemeClr val="accent6">
                                    <a:lumMod val="75000"/>
                                  </a:schemeClr>
                                </a:solidFill>
                                <a:latin typeface="Cambria Math" panose="02040503050406030204" pitchFamily="18" charset="0"/>
                              </a:rPr>
                              <m:t>𝑘</m:t>
                            </m:r>
                          </m:sub>
                          <m:sup>
                            <m:r>
                              <a:rPr lang="en-US" sz="1200" i="1">
                                <a:solidFill>
                                  <a:schemeClr val="accent6">
                                    <a:lumMod val="75000"/>
                                  </a:schemeClr>
                                </a:solidFill>
                                <a:latin typeface="Cambria Math" panose="02040503050406030204" pitchFamily="18" charset="0"/>
                              </a:rPr>
                              <m:t>2</m:t>
                            </m:r>
                          </m:sup>
                        </m:sSubSup>
                      </m:e>
                    </m:d>
                  </m:oMath>
                </a14:m>
                <a:r>
                  <a:rPr lang="vi-VN" sz="1200" b="1" dirty="0">
                    <a:solidFill>
                      <a:schemeClr val="accent6">
                        <a:lumMod val="75000"/>
                      </a:schemeClr>
                    </a:solidFill>
                    <a:latin typeface="Arial"/>
                  </a:rPr>
                  <a:t> </a:t>
                </a:r>
                <a:r>
                  <a:rPr lang="vi-VN" sz="1200" dirty="0">
                    <a:latin typeface="Arial"/>
                  </a:rPr>
                  <a:t>(</a:t>
                </a:r>
                <a:r>
                  <a:rPr lang="vi-VN" sz="1200" b="1" dirty="0">
                    <a:latin typeface="Arial"/>
                  </a:rPr>
                  <a:t>N</a:t>
                </a:r>
                <a:r>
                  <a:rPr lang="vi-VN" sz="1200" dirty="0">
                    <a:latin typeface="Arial"/>
                  </a:rPr>
                  <a:t>ormal Distribution)</a:t>
                </a:r>
                <a:endParaRPr lang="vi-VN" sz="1200" b="1" dirty="0">
                  <a:solidFill>
                    <a:schemeClr val="accent6">
                      <a:lumMod val="75000"/>
                    </a:schemeClr>
                  </a:solidFill>
                  <a:latin typeface="Arial"/>
                </a:endParaRPr>
              </a:p>
              <a:p>
                <a:pPr>
                  <a:spcAft>
                    <a:spcPts val="600"/>
                  </a:spcAft>
                </a:pPr>
                <a:endParaRPr lang="vi-VN" sz="1400" b="1" dirty="0">
                  <a:solidFill>
                    <a:srgbClr val="1B8A7A"/>
                  </a:solidFill>
                  <a:latin typeface="Arial"/>
                </a:endParaRPr>
              </a:p>
              <a:p>
                <a:pPr>
                  <a:spcAft>
                    <a:spcPts val="600"/>
                  </a:spcAft>
                </a:pPr>
                <a:r>
                  <a:rPr lang="vi-VN" sz="1400" dirty="0">
                    <a:solidFill>
                      <a:srgbClr val="444B52"/>
                    </a:solidFill>
                    <a:latin typeface="Arial"/>
                  </a:rPr>
                  <a:t>- Dạng một chiều:</a:t>
                </a:r>
                <a:endParaRPr lang="vi-VN" sz="1400" b="1" dirty="0">
                  <a:solidFill>
                    <a:srgbClr val="1B8A7A"/>
                  </a:solidFill>
                  <a:latin typeface="Arial"/>
                </a:endParaRPr>
              </a:p>
              <a:p>
                <a:pPr>
                  <a:spcAft>
                    <a:spcPts val="600"/>
                  </a:spcAft>
                </a:pPr>
                <a:endParaRPr lang="vi-VN" sz="1400" b="1" dirty="0">
                  <a:solidFill>
                    <a:srgbClr val="1B8A7A"/>
                  </a:solidFill>
                  <a:latin typeface="Arial"/>
                </a:endParaRPr>
              </a:p>
              <a:p>
                <a:pPr>
                  <a:spcAft>
                    <a:spcPts val="600"/>
                  </a:spcAft>
                </a:pPr>
                <a:endParaRPr lang="vi-VN" sz="1400" b="1" dirty="0">
                  <a:solidFill>
                    <a:srgbClr val="1B8A7A"/>
                  </a:solidFill>
                  <a:latin typeface="Arial"/>
                </a:endParaRPr>
              </a:p>
              <a:p>
                <a:pPr>
                  <a:spcAft>
                    <a:spcPts val="600"/>
                  </a:spcAft>
                </a:pPr>
                <a:endParaRPr lang="vi-VN" sz="1400" b="1" dirty="0">
                  <a:solidFill>
                    <a:srgbClr val="1B8A7A"/>
                  </a:solidFill>
                  <a:latin typeface="Arial"/>
                </a:endParaRPr>
              </a:p>
              <a:p>
                <a:pPr>
                  <a:spcAft>
                    <a:spcPts val="600"/>
                  </a:spcAft>
                </a:pPr>
                <a:r>
                  <a:rPr lang="vi-VN" sz="1400" dirty="0">
                    <a:solidFill>
                      <a:srgbClr val="444B52"/>
                    </a:solidFill>
                    <a:latin typeface="Arial"/>
                  </a:rPr>
                  <a:t>- Dạng đa chiều (</a:t>
                </a:r>
                <a14:m>
                  <m:oMath xmlns:m="http://schemas.openxmlformats.org/officeDocument/2006/math">
                    <m:sSubSup>
                      <m:sSubSupPr>
                        <m:ctrlPr>
                          <a:rPr lang="en-US" sz="1400" i="1">
                            <a:solidFill>
                              <a:schemeClr val="accent6">
                                <a:lumMod val="75000"/>
                              </a:schemeClr>
                            </a:solidFill>
                            <a:latin typeface="Cambria Math" panose="02040503050406030204" pitchFamily="18" charset="0"/>
                          </a:rPr>
                        </m:ctrlPr>
                      </m:sSubSupPr>
                      <m:e>
                        <m:r>
                          <a:rPr lang="en-US" sz="1400" i="1">
                            <a:solidFill>
                              <a:schemeClr val="accent6">
                                <a:lumMod val="75000"/>
                              </a:schemeClr>
                            </a:solidFill>
                            <a:latin typeface="Cambria Math" panose="02040503050406030204" pitchFamily="18" charset="0"/>
                          </a:rPr>
                          <m:t>𝜎</m:t>
                        </m:r>
                      </m:e>
                      <m:sub>
                        <m:r>
                          <a:rPr lang="en-US" sz="1400" i="1">
                            <a:solidFill>
                              <a:schemeClr val="accent6">
                                <a:lumMod val="75000"/>
                              </a:schemeClr>
                            </a:solidFill>
                            <a:latin typeface="Cambria Math" panose="02040503050406030204" pitchFamily="18" charset="0"/>
                          </a:rPr>
                          <m:t>𝑘</m:t>
                        </m:r>
                      </m:sub>
                      <m:sup>
                        <m:r>
                          <a:rPr lang="en-US" sz="1400" i="1">
                            <a:solidFill>
                              <a:schemeClr val="accent6">
                                <a:lumMod val="75000"/>
                              </a:schemeClr>
                            </a:solidFill>
                            <a:latin typeface="Cambria Math" panose="02040503050406030204" pitchFamily="18" charset="0"/>
                          </a:rPr>
                          <m:t>2</m:t>
                        </m:r>
                      </m:sup>
                    </m:sSubSup>
                    <m:r>
                      <a:rPr lang="vi-VN" sz="1400" b="0" i="1" smtClean="0">
                        <a:solidFill>
                          <a:schemeClr val="accent6">
                            <a:lumMod val="75000"/>
                          </a:schemeClr>
                        </a:solidFill>
                        <a:latin typeface="Cambria Math" panose="02040503050406030204" pitchFamily="18" charset="0"/>
                      </a:rPr>
                      <m:t> </m:t>
                    </m:r>
                    <m:r>
                      <m:rPr>
                        <m:sty m:val="p"/>
                      </m:rPr>
                      <a:rPr lang="vi-VN" sz="1400" b="0" i="1" smtClean="0">
                        <a:solidFill>
                          <a:schemeClr val="tx1"/>
                        </a:solidFill>
                        <a:latin typeface="Cambria Math" panose="02040503050406030204" pitchFamily="18" charset="0"/>
                      </a:rPr>
                      <m:t>th</m:t>
                    </m:r>
                    <m:r>
                      <a:rPr lang="vi-VN" sz="1400" b="0" i="1" smtClean="0">
                        <a:solidFill>
                          <a:schemeClr val="tx1"/>
                        </a:solidFill>
                        <a:latin typeface="Cambria Math" panose="02040503050406030204" pitchFamily="18" charset="0"/>
                      </a:rPr>
                      <m:t>à</m:t>
                    </m:r>
                    <m:r>
                      <m:rPr>
                        <m:sty m:val="p"/>
                      </m:rPr>
                      <a:rPr lang="vi-VN" sz="1400" b="0" i="1" smtClean="0">
                        <a:solidFill>
                          <a:schemeClr val="tx1"/>
                        </a:solidFill>
                        <a:latin typeface="Cambria Math" panose="02040503050406030204" pitchFamily="18" charset="0"/>
                      </a:rPr>
                      <m:t>nh</m:t>
                    </m:r>
                  </m:oMath>
                </a14:m>
                <a:r>
                  <a:rPr lang="vi-VN" sz="1400" dirty="0">
                    <a:solidFill>
                      <a:srgbClr val="444B52"/>
                    </a:solidFill>
                    <a:latin typeface="Arial"/>
                  </a:rPr>
                  <a:t> </a:t>
                </a:r>
                <a14:m>
                  <m:oMath xmlns:m="http://schemas.openxmlformats.org/officeDocument/2006/math">
                    <m:sSub>
                      <m:sSubPr>
                        <m:ctrlPr>
                          <a:rPr lang="en-US" sz="1400" i="1">
                            <a:solidFill>
                              <a:schemeClr val="accent6">
                                <a:lumMod val="75000"/>
                              </a:schemeClr>
                            </a:solidFill>
                            <a:latin typeface="Cambria Math" panose="02040503050406030204" pitchFamily="18" charset="0"/>
                          </a:rPr>
                        </m:ctrlPr>
                      </m:sSubPr>
                      <m:e>
                        <m:r>
                          <m:rPr>
                            <m:sty m:val="p"/>
                          </m:rPr>
                          <a:rPr lang="en-US" sz="1400" i="1">
                            <a:solidFill>
                              <a:schemeClr val="accent6">
                                <a:lumMod val="75000"/>
                              </a:schemeClr>
                            </a:solidFill>
                            <a:latin typeface="Cambria Math" panose="02040503050406030204" pitchFamily="18" charset="0"/>
                          </a:rPr>
                          <m:t>Σ</m:t>
                        </m:r>
                      </m:e>
                      <m:sub>
                        <m:r>
                          <a:rPr lang="en-US" sz="1400" i="1">
                            <a:solidFill>
                              <a:schemeClr val="accent6">
                                <a:lumMod val="75000"/>
                              </a:schemeClr>
                            </a:solidFill>
                            <a:latin typeface="Cambria Math" panose="02040503050406030204" pitchFamily="18" charset="0"/>
                          </a:rPr>
                          <m:t>𝑘</m:t>
                        </m:r>
                      </m:sub>
                    </m:sSub>
                  </m:oMath>
                </a14:m>
                <a:r>
                  <a:rPr lang="vi-VN" sz="1400" dirty="0">
                    <a:solidFill>
                      <a:srgbClr val="444B52"/>
                    </a:solidFill>
                    <a:latin typeface="Arial"/>
                  </a:rPr>
                  <a:t>):</a:t>
                </a:r>
              </a:p>
              <a:p>
                <a:pPr marL="285750" indent="-285750">
                  <a:spcAft>
                    <a:spcPts val="600"/>
                  </a:spcAft>
                  <a:buFontTx/>
                  <a:buChar char="-"/>
                </a:pPr>
                <a:endParaRPr lang="vi-VN" sz="1400" dirty="0">
                  <a:solidFill>
                    <a:srgbClr val="444B52"/>
                  </a:solidFill>
                  <a:latin typeface="Arial"/>
                </a:endParaRPr>
              </a:p>
              <a:p>
                <a:pPr marL="285750" indent="-285750">
                  <a:spcAft>
                    <a:spcPts val="600"/>
                  </a:spcAft>
                  <a:buFontTx/>
                  <a:buChar char="-"/>
                </a:pPr>
                <a:endParaRPr lang="vi-VN" sz="1400" dirty="0">
                  <a:solidFill>
                    <a:srgbClr val="444B52"/>
                  </a:solidFill>
                  <a:latin typeface="Arial"/>
                </a:endParaRPr>
              </a:p>
              <a:p>
                <a:pPr>
                  <a:spcAft>
                    <a:spcPts val="600"/>
                  </a:spcAft>
                </a:pPr>
                <a:endParaRPr lang="vi-VN" sz="1400" dirty="0">
                  <a:solidFill>
                    <a:srgbClr val="444B52"/>
                  </a:solidFill>
                  <a:latin typeface="Arial"/>
                </a:endParaRPr>
              </a:p>
            </p:txBody>
          </p:sp>
        </mc:Choice>
        <mc:Fallback xmlns="">
          <p:sp>
            <p:nvSpPr>
              <p:cNvPr id="11" name="TextBox 10">
                <a:extLst>
                  <a:ext uri="{FF2B5EF4-FFF2-40B4-BE49-F238E27FC236}">
                    <a16:creationId xmlns:a16="http://schemas.microsoft.com/office/drawing/2014/main" id="{672987EC-037D-D993-8F99-1DF2DD887D53}"/>
                  </a:ext>
                </a:extLst>
              </p:cNvPr>
              <p:cNvSpPr txBox="1">
                <a:spLocks noRot="1" noChangeAspect="1" noMove="1" noResize="1" noEditPoints="1" noAdjustHandles="1" noChangeArrowheads="1" noChangeShapeType="1" noTextEdit="1"/>
              </p:cNvSpPr>
              <p:nvPr/>
            </p:nvSpPr>
            <p:spPr>
              <a:xfrm>
                <a:off x="5625737" y="2263665"/>
                <a:ext cx="6565958" cy="3817905"/>
              </a:xfrm>
              <a:prstGeom prst="rect">
                <a:avLst/>
              </a:prstGeom>
              <a:blipFill>
                <a:blip r:embed="rId3"/>
                <a:stretch>
                  <a:fillRect l="-386" t="-33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82311620-169D-4847-915C-757D7226CE08}"/>
                  </a:ext>
                </a:extLst>
              </p:cNvPr>
              <p:cNvSpPr txBox="1"/>
              <p:nvPr/>
            </p:nvSpPr>
            <p:spPr>
              <a:xfrm>
                <a:off x="6026286" y="5243461"/>
                <a:ext cx="2470706" cy="605807"/>
              </a:xfrm>
              <a:prstGeom prst="rect">
                <a:avLst/>
              </a:prstGeom>
              <a:noFill/>
              <a:ln w="12700">
                <a:solidFill>
                  <a:schemeClr val="tx2"/>
                </a:solidFill>
              </a:ln>
            </p:spPr>
            <p:txBody>
              <a:bodyPr wrap="square" lIns="0" tIns="0" rIns="0" bIns="0" rtlCol="0">
                <a:spAutoFit/>
              </a:bodyPr>
              <a:lstStyle/>
              <a:p>
                <a:pPr/>
                <a14:m>
                  <m:oMathPara xmlns:m="http://schemas.openxmlformats.org/officeDocument/2006/math">
                    <m:oMath>
                      <m:r>
                        <m:rPr>
                          <m:sty m:val="p"/>
                        </m:rPr>
                        <a:rPr lang="vi-VN" sz="1400" i="1">
                          <a:latin typeface="Cambria Math" panose="02040503050406030204" pitchFamily="18" charset="0"/>
                        </a:rPr>
                        <m:t>GMM</m:t>
                      </m:r>
                      <m:d>
                        <m:dPr>
                          <m:ctrlPr>
                            <a:rPr lang="en-US" sz="1400" i="1">
                              <a:latin typeface="Cambria Math" panose="02040503050406030204" pitchFamily="18" charset="0"/>
                            </a:rPr>
                          </m:ctrlPr>
                        </m:dPr>
                        <m:e>
                          <m:r>
                            <a:rPr lang="en-US" sz="1400" i="1">
                              <a:latin typeface="Cambria Math" panose="02040503050406030204" pitchFamily="18" charset="0"/>
                            </a:rPr>
                            <m:t>𝑥</m:t>
                          </m:r>
                        </m:e>
                      </m:d>
                      <m:r>
                        <a:rPr lang="en-US" sz="1400" i="1">
                          <a:latin typeface="Cambria Math" panose="02040503050406030204" pitchFamily="18" charset="0"/>
                        </a:rPr>
                        <m:t>=</m:t>
                      </m:r>
                      <m:nary>
                        <m:naryPr>
                          <m:chr m:val="∑"/>
                          <m:limLoc m:val="undOvr"/>
                          <m:ctrlPr>
                            <a:rPr lang="en-US" sz="1400" i="1">
                              <a:latin typeface="Cambria Math" panose="02040503050406030204" pitchFamily="18" charset="0"/>
                            </a:rPr>
                          </m:ctrlPr>
                        </m:naryPr>
                        <m:sub>
                          <m:r>
                            <a:rPr lang="en-US" sz="1400" i="1">
                              <a:latin typeface="Cambria Math" panose="02040503050406030204" pitchFamily="18" charset="0"/>
                            </a:rPr>
                            <m:t>𝑘</m:t>
                          </m:r>
                          <m:r>
                            <a:rPr lang="en-US" sz="1400" i="1">
                              <a:latin typeface="Cambria Math" panose="02040503050406030204" pitchFamily="18" charset="0"/>
                            </a:rPr>
                            <m:t>=1</m:t>
                          </m:r>
                        </m:sub>
                        <m:sup>
                          <m:r>
                            <a:rPr lang="en-US" sz="1400" i="1">
                              <a:latin typeface="Cambria Math" panose="02040503050406030204" pitchFamily="18" charset="0"/>
                            </a:rPr>
                            <m:t>𝐾</m:t>
                          </m:r>
                        </m:sup>
                        <m:e>
                          <m:sSub>
                            <m:sSubPr>
                              <m:ctrlPr>
                                <a:rPr lang="en-US" sz="1400" i="1">
                                  <a:solidFill>
                                    <a:schemeClr val="tx2">
                                      <a:lumMod val="60000"/>
                                      <a:lumOff val="40000"/>
                                    </a:schemeClr>
                                  </a:solidFill>
                                  <a:latin typeface="Cambria Math" panose="02040503050406030204" pitchFamily="18" charset="0"/>
                                </a:rPr>
                              </m:ctrlPr>
                            </m:sSubPr>
                            <m:e>
                              <m:r>
                                <a:rPr lang="en-US" sz="1400" i="1">
                                  <a:solidFill>
                                    <a:schemeClr val="tx2">
                                      <a:lumMod val="60000"/>
                                      <a:lumOff val="40000"/>
                                    </a:schemeClr>
                                  </a:solidFill>
                                  <a:latin typeface="Cambria Math" panose="02040503050406030204" pitchFamily="18" charset="0"/>
                                </a:rPr>
                                <m:t>𝜋</m:t>
                              </m:r>
                            </m:e>
                            <m:sub>
                              <m:r>
                                <a:rPr lang="en-US" sz="1400" i="1">
                                  <a:solidFill>
                                    <a:schemeClr val="tx2">
                                      <a:lumMod val="60000"/>
                                      <a:lumOff val="40000"/>
                                    </a:schemeClr>
                                  </a:solidFill>
                                  <a:latin typeface="Cambria Math" panose="02040503050406030204" pitchFamily="18" charset="0"/>
                                </a:rPr>
                                <m:t>𝑘</m:t>
                              </m:r>
                            </m:sub>
                          </m:sSub>
                        </m:e>
                      </m:nary>
                      <m:r>
                        <a:rPr lang="en-US" sz="1400" i="1" smtClean="0">
                          <a:solidFill>
                            <a:schemeClr val="accent6">
                              <a:lumMod val="75000"/>
                            </a:schemeClr>
                          </a:solidFill>
                          <a:latin typeface="Cambria Math" panose="02040503050406030204" pitchFamily="18" charset="0"/>
                        </a:rPr>
                        <m:t>𝒩</m:t>
                      </m:r>
                      <m:d>
                        <m:dPr>
                          <m:ctrlPr>
                            <a:rPr lang="en-US" sz="1400" i="1">
                              <a:solidFill>
                                <a:schemeClr val="accent6">
                                  <a:lumMod val="75000"/>
                                </a:schemeClr>
                              </a:solidFill>
                              <a:latin typeface="Cambria Math" panose="02040503050406030204" pitchFamily="18" charset="0"/>
                            </a:rPr>
                          </m:ctrlPr>
                        </m:dPr>
                        <m:e>
                          <m:r>
                            <a:rPr lang="en-US" sz="1400" i="1">
                              <a:solidFill>
                                <a:schemeClr val="accent6">
                                  <a:lumMod val="75000"/>
                                </a:schemeClr>
                              </a:solidFill>
                              <a:latin typeface="Cambria Math" panose="02040503050406030204" pitchFamily="18" charset="0"/>
                            </a:rPr>
                            <m:t>𝑥</m:t>
                          </m:r>
                          <m:r>
                            <a:rPr lang="vi-VN" sz="1400" b="0" i="1" smtClean="0">
                              <a:solidFill>
                                <a:schemeClr val="accent6">
                                  <a:lumMod val="75000"/>
                                </a:schemeClr>
                              </a:solidFill>
                              <a:latin typeface="Cambria Math" panose="02040503050406030204" pitchFamily="18" charset="0"/>
                            </a:rPr>
                            <m:t> </m:t>
                          </m:r>
                          <m:r>
                            <a:rPr lang="en-US" sz="1400" i="1">
                              <a:solidFill>
                                <a:schemeClr val="accent6">
                                  <a:lumMod val="75000"/>
                                </a:schemeClr>
                              </a:solidFill>
                              <a:latin typeface="Cambria Math" panose="02040503050406030204" pitchFamily="18" charset="0"/>
                            </a:rPr>
                            <m:t>|</m:t>
                          </m:r>
                          <m:r>
                            <a:rPr lang="vi-VN" sz="1400" b="0" i="1" smtClean="0">
                              <a:solidFill>
                                <a:schemeClr val="accent6">
                                  <a:lumMod val="75000"/>
                                </a:schemeClr>
                              </a:solidFill>
                              <a:latin typeface="Cambria Math" panose="02040503050406030204" pitchFamily="18" charset="0"/>
                            </a:rPr>
                            <m:t> </m:t>
                          </m:r>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𝜇</m:t>
                              </m:r>
                            </m:e>
                            <m:sub>
                              <m:r>
                                <a:rPr lang="en-US" sz="1400" i="1">
                                  <a:solidFill>
                                    <a:schemeClr val="accent6">
                                      <a:lumMod val="75000"/>
                                    </a:schemeClr>
                                  </a:solidFill>
                                  <a:latin typeface="Cambria Math" panose="02040503050406030204" pitchFamily="18" charset="0"/>
                                </a:rPr>
                                <m:t>𝑘</m:t>
                              </m:r>
                            </m:sub>
                          </m:sSub>
                          <m:r>
                            <a:rPr lang="en-US" sz="1400" i="1">
                              <a:solidFill>
                                <a:schemeClr val="accent6">
                                  <a:lumMod val="75000"/>
                                </a:schemeClr>
                              </a:solidFill>
                              <a:latin typeface="Cambria Math" panose="02040503050406030204" pitchFamily="18" charset="0"/>
                            </a:rPr>
                            <m:t>,</m:t>
                          </m:r>
                          <m:sSub>
                            <m:sSubPr>
                              <m:ctrlPr>
                                <a:rPr lang="en-US" sz="1400" i="1">
                                  <a:solidFill>
                                    <a:schemeClr val="accent6">
                                      <a:lumMod val="75000"/>
                                    </a:schemeClr>
                                  </a:solidFill>
                                  <a:latin typeface="Cambria Math" panose="02040503050406030204" pitchFamily="18" charset="0"/>
                                </a:rPr>
                              </m:ctrlPr>
                            </m:sSubPr>
                            <m:e>
                              <m:r>
                                <m:rPr>
                                  <m:sty m:val="p"/>
                                </m:rPr>
                                <a:rPr lang="en-US" sz="1400" i="1">
                                  <a:solidFill>
                                    <a:schemeClr val="accent6">
                                      <a:lumMod val="75000"/>
                                    </a:schemeClr>
                                  </a:solidFill>
                                  <a:latin typeface="Cambria Math" panose="02040503050406030204" pitchFamily="18" charset="0"/>
                                </a:rPr>
                                <m:t>Σ</m:t>
                              </m:r>
                            </m:e>
                            <m:sub>
                              <m:r>
                                <a:rPr lang="en-US" sz="1400" i="1">
                                  <a:solidFill>
                                    <a:schemeClr val="accent6">
                                      <a:lumMod val="75000"/>
                                    </a:schemeClr>
                                  </a:solidFill>
                                  <a:latin typeface="Cambria Math" panose="02040503050406030204" pitchFamily="18" charset="0"/>
                                </a:rPr>
                                <m:t>𝑘</m:t>
                              </m:r>
                            </m:sub>
                          </m:sSub>
                        </m:e>
                      </m:d>
                    </m:oMath>
                  </m:oMathPara>
                </a14:m>
                <a:endParaRPr lang="en-VN" sz="1400" dirty="0"/>
              </a:p>
            </p:txBody>
          </p:sp>
        </mc:Choice>
        <mc:Fallback xmlns="">
          <p:sp>
            <p:nvSpPr>
              <p:cNvPr id="3" name="TextBox 2">
                <a:extLst>
                  <a:ext uri="{FF2B5EF4-FFF2-40B4-BE49-F238E27FC236}">
                    <a16:creationId xmlns:a16="http://schemas.microsoft.com/office/drawing/2014/main" id="{82311620-169D-4847-915C-757D7226CE08}"/>
                  </a:ext>
                </a:extLst>
              </p:cNvPr>
              <p:cNvSpPr txBox="1">
                <a:spLocks noRot="1" noChangeAspect="1" noMove="1" noResize="1" noEditPoints="1" noAdjustHandles="1" noChangeArrowheads="1" noChangeShapeType="1" noTextEdit="1"/>
              </p:cNvSpPr>
              <p:nvPr/>
            </p:nvSpPr>
            <p:spPr>
              <a:xfrm>
                <a:off x="6026286" y="5243461"/>
                <a:ext cx="2470706" cy="605807"/>
              </a:xfrm>
              <a:prstGeom prst="rect">
                <a:avLst/>
              </a:prstGeom>
              <a:blipFill>
                <a:blip r:embed="rId4"/>
                <a:stretch>
                  <a:fillRect l="-510" t="-110000" b="-172000"/>
                </a:stretch>
              </a:blipFill>
              <a:ln w="12700">
                <a:solidFill>
                  <a:schemeClr val="tx2"/>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B26E601-3E99-24F5-9064-26C343FB0930}"/>
                  </a:ext>
                </a:extLst>
              </p:cNvPr>
              <p:cNvSpPr txBox="1"/>
              <p:nvPr/>
            </p:nvSpPr>
            <p:spPr>
              <a:xfrm>
                <a:off x="6026286" y="4031356"/>
                <a:ext cx="2470706" cy="605807"/>
              </a:xfrm>
              <a:prstGeom prst="rect">
                <a:avLst/>
              </a:prstGeom>
              <a:noFill/>
              <a:ln w="12700">
                <a:solidFill>
                  <a:schemeClr val="tx2"/>
                </a:solidFill>
              </a:ln>
            </p:spPr>
            <p:txBody>
              <a:bodyPr wrap="square" lIns="0" tIns="0" rIns="0" bIns="0" rtlCol="0">
                <a:spAutoFit/>
              </a:bodyPr>
              <a:lstStyle/>
              <a:p>
                <a:pPr/>
                <a14:m>
                  <m:oMathPara xmlns:m="http://schemas.openxmlformats.org/officeDocument/2006/math">
                    <m:oMath>
                      <m:r>
                        <m:rPr>
                          <m:sty m:val="p"/>
                        </m:rPr>
                        <a:rPr lang="vi-VN" sz="1400" b="0" i="1" smtClean="0">
                          <a:latin typeface="Cambria Math" panose="02040503050406030204" pitchFamily="18" charset="0"/>
                        </a:rPr>
                        <m:t>GMM</m:t>
                      </m:r>
                      <m:d>
                        <m:dPr>
                          <m:ctrlPr>
                            <a:rPr lang="en-US" sz="1400" i="1">
                              <a:latin typeface="Cambria Math" panose="02040503050406030204" pitchFamily="18" charset="0"/>
                            </a:rPr>
                          </m:ctrlPr>
                        </m:dPr>
                        <m:e>
                          <m:r>
                            <a:rPr lang="en-US" sz="1400" i="1">
                              <a:latin typeface="Cambria Math" panose="02040503050406030204" pitchFamily="18" charset="0"/>
                            </a:rPr>
                            <m:t>𝑥</m:t>
                          </m:r>
                        </m:e>
                      </m:d>
                      <m:r>
                        <a:rPr lang="en-US" sz="1400" i="1">
                          <a:latin typeface="Cambria Math" panose="02040503050406030204" pitchFamily="18" charset="0"/>
                        </a:rPr>
                        <m:t>=</m:t>
                      </m:r>
                      <m:nary>
                        <m:naryPr>
                          <m:chr m:val="∑"/>
                          <m:limLoc m:val="undOvr"/>
                          <m:ctrlPr>
                            <a:rPr lang="en-US" sz="1400" i="1">
                              <a:latin typeface="Cambria Math" panose="02040503050406030204" pitchFamily="18" charset="0"/>
                            </a:rPr>
                          </m:ctrlPr>
                        </m:naryPr>
                        <m:sub>
                          <m:r>
                            <a:rPr lang="en-US" sz="1400" i="1">
                              <a:latin typeface="Cambria Math" panose="02040503050406030204" pitchFamily="18" charset="0"/>
                            </a:rPr>
                            <m:t>𝑘</m:t>
                          </m:r>
                          <m:r>
                            <a:rPr lang="en-US" sz="1400" i="1">
                              <a:latin typeface="Cambria Math" panose="02040503050406030204" pitchFamily="18" charset="0"/>
                            </a:rPr>
                            <m:t>=1</m:t>
                          </m:r>
                        </m:sub>
                        <m:sup>
                          <m:r>
                            <a:rPr lang="en-US" sz="1400" i="1">
                              <a:latin typeface="Cambria Math" panose="02040503050406030204" pitchFamily="18" charset="0"/>
                            </a:rPr>
                            <m:t>𝐾</m:t>
                          </m:r>
                        </m:sup>
                        <m:e>
                          <m:sSub>
                            <m:sSubPr>
                              <m:ctrlPr>
                                <a:rPr lang="en-US" sz="1400" i="1">
                                  <a:solidFill>
                                    <a:schemeClr val="tx2">
                                      <a:lumMod val="60000"/>
                                      <a:lumOff val="40000"/>
                                    </a:schemeClr>
                                  </a:solidFill>
                                  <a:latin typeface="Cambria Math" panose="02040503050406030204" pitchFamily="18" charset="0"/>
                                </a:rPr>
                              </m:ctrlPr>
                            </m:sSubPr>
                            <m:e>
                              <m:r>
                                <a:rPr lang="en-US" sz="1400" i="1">
                                  <a:solidFill>
                                    <a:schemeClr val="tx2">
                                      <a:lumMod val="60000"/>
                                      <a:lumOff val="40000"/>
                                    </a:schemeClr>
                                  </a:solidFill>
                                  <a:latin typeface="Cambria Math" panose="02040503050406030204" pitchFamily="18" charset="0"/>
                                </a:rPr>
                                <m:t>𝜋</m:t>
                              </m:r>
                            </m:e>
                            <m:sub>
                              <m:r>
                                <a:rPr lang="en-US" sz="1400" i="1">
                                  <a:solidFill>
                                    <a:schemeClr val="tx2">
                                      <a:lumMod val="60000"/>
                                      <a:lumOff val="40000"/>
                                    </a:schemeClr>
                                  </a:solidFill>
                                  <a:latin typeface="Cambria Math" panose="02040503050406030204" pitchFamily="18" charset="0"/>
                                </a:rPr>
                                <m:t>𝑘</m:t>
                              </m:r>
                            </m:sub>
                          </m:sSub>
                        </m:e>
                      </m:nary>
                      <m:r>
                        <a:rPr lang="en-US" sz="1400" i="1" smtClean="0">
                          <a:solidFill>
                            <a:schemeClr val="accent6">
                              <a:lumMod val="75000"/>
                            </a:schemeClr>
                          </a:solidFill>
                          <a:latin typeface="Cambria Math" panose="02040503050406030204" pitchFamily="18" charset="0"/>
                        </a:rPr>
                        <m:t>𝒩</m:t>
                      </m:r>
                      <m:d>
                        <m:dPr>
                          <m:ctrlPr>
                            <a:rPr lang="en-US" sz="1400" i="1">
                              <a:solidFill>
                                <a:schemeClr val="accent6">
                                  <a:lumMod val="75000"/>
                                </a:schemeClr>
                              </a:solidFill>
                              <a:latin typeface="Cambria Math" panose="02040503050406030204" pitchFamily="18" charset="0"/>
                            </a:rPr>
                          </m:ctrlPr>
                        </m:dPr>
                        <m:e>
                          <m:r>
                            <a:rPr lang="en-US" sz="1400" i="1">
                              <a:solidFill>
                                <a:schemeClr val="accent6">
                                  <a:lumMod val="75000"/>
                                </a:schemeClr>
                              </a:solidFill>
                              <a:latin typeface="Cambria Math" panose="02040503050406030204" pitchFamily="18" charset="0"/>
                            </a:rPr>
                            <m:t>𝑥</m:t>
                          </m:r>
                          <m:r>
                            <a:rPr lang="en-US" sz="1400" i="1">
                              <a:solidFill>
                                <a:schemeClr val="accent6">
                                  <a:lumMod val="75000"/>
                                </a:schemeClr>
                              </a:solidFill>
                              <a:latin typeface="Cambria Math" panose="02040503050406030204" pitchFamily="18" charset="0"/>
                            </a:rPr>
                            <m:t>∣</m:t>
                          </m:r>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𝜇</m:t>
                              </m:r>
                            </m:e>
                            <m:sub>
                              <m:r>
                                <a:rPr lang="en-US" sz="1400" i="1">
                                  <a:solidFill>
                                    <a:schemeClr val="accent6">
                                      <a:lumMod val="75000"/>
                                    </a:schemeClr>
                                  </a:solidFill>
                                  <a:latin typeface="Cambria Math" panose="02040503050406030204" pitchFamily="18" charset="0"/>
                                </a:rPr>
                                <m:t>𝑘</m:t>
                              </m:r>
                            </m:sub>
                          </m:sSub>
                          <m:r>
                            <a:rPr lang="en-US" sz="1400" i="1">
                              <a:solidFill>
                                <a:schemeClr val="accent6">
                                  <a:lumMod val="75000"/>
                                </a:schemeClr>
                              </a:solidFill>
                              <a:latin typeface="Cambria Math" panose="02040503050406030204" pitchFamily="18" charset="0"/>
                            </a:rPr>
                            <m:t>,</m:t>
                          </m:r>
                          <m:sSubSup>
                            <m:sSubSupPr>
                              <m:ctrlPr>
                                <a:rPr lang="en-US" sz="1400" i="1">
                                  <a:solidFill>
                                    <a:schemeClr val="accent6">
                                      <a:lumMod val="75000"/>
                                    </a:schemeClr>
                                  </a:solidFill>
                                  <a:latin typeface="Cambria Math" panose="02040503050406030204" pitchFamily="18" charset="0"/>
                                </a:rPr>
                              </m:ctrlPr>
                            </m:sSubSupPr>
                            <m:e>
                              <m:r>
                                <a:rPr lang="en-US" sz="1400" i="1">
                                  <a:solidFill>
                                    <a:schemeClr val="accent6">
                                      <a:lumMod val="75000"/>
                                    </a:schemeClr>
                                  </a:solidFill>
                                  <a:latin typeface="Cambria Math" panose="02040503050406030204" pitchFamily="18" charset="0"/>
                                </a:rPr>
                                <m:t>𝜎</m:t>
                              </m:r>
                            </m:e>
                            <m:sub>
                              <m:r>
                                <a:rPr lang="en-US" sz="1400" i="1">
                                  <a:solidFill>
                                    <a:schemeClr val="accent6">
                                      <a:lumMod val="75000"/>
                                    </a:schemeClr>
                                  </a:solidFill>
                                  <a:latin typeface="Cambria Math" panose="02040503050406030204" pitchFamily="18" charset="0"/>
                                </a:rPr>
                                <m:t>𝑘</m:t>
                              </m:r>
                            </m:sub>
                            <m:sup>
                              <m:r>
                                <a:rPr lang="en-US" sz="1400" i="1">
                                  <a:solidFill>
                                    <a:schemeClr val="accent6">
                                      <a:lumMod val="75000"/>
                                    </a:schemeClr>
                                  </a:solidFill>
                                  <a:latin typeface="Cambria Math" panose="02040503050406030204" pitchFamily="18" charset="0"/>
                                </a:rPr>
                                <m:t>2</m:t>
                              </m:r>
                            </m:sup>
                          </m:sSubSup>
                        </m:e>
                      </m:d>
                    </m:oMath>
                  </m:oMathPara>
                </a14:m>
                <a:endParaRPr lang="en-VN" sz="1400" dirty="0"/>
              </a:p>
            </p:txBody>
          </p:sp>
        </mc:Choice>
        <mc:Fallback xmlns="">
          <p:sp>
            <p:nvSpPr>
              <p:cNvPr id="12" name="TextBox 11">
                <a:extLst>
                  <a:ext uri="{FF2B5EF4-FFF2-40B4-BE49-F238E27FC236}">
                    <a16:creationId xmlns:a16="http://schemas.microsoft.com/office/drawing/2014/main" id="{0B26E601-3E99-24F5-9064-26C343FB0930}"/>
                  </a:ext>
                </a:extLst>
              </p:cNvPr>
              <p:cNvSpPr txBox="1">
                <a:spLocks noRot="1" noChangeAspect="1" noMove="1" noResize="1" noEditPoints="1" noAdjustHandles="1" noChangeArrowheads="1" noChangeShapeType="1" noTextEdit="1"/>
              </p:cNvSpPr>
              <p:nvPr/>
            </p:nvSpPr>
            <p:spPr>
              <a:xfrm>
                <a:off x="6026286" y="4031356"/>
                <a:ext cx="2470706" cy="605807"/>
              </a:xfrm>
              <a:prstGeom prst="rect">
                <a:avLst/>
              </a:prstGeom>
              <a:blipFill>
                <a:blip r:embed="rId5"/>
                <a:stretch>
                  <a:fillRect l="-1531" t="-108000" b="-172000"/>
                </a:stretch>
              </a:blipFill>
              <a:ln w="12700">
                <a:solidFill>
                  <a:schemeClr val="tx2"/>
                </a:solidFill>
              </a:ln>
            </p:spPr>
            <p:txBody>
              <a:bodyPr/>
              <a:lstStyle/>
              <a:p>
                <a:r>
                  <a:rPr lang="en-VN">
                    <a:noFill/>
                  </a:rPr>
                  <a:t> </a:t>
                </a:r>
              </a:p>
            </p:txBody>
          </p:sp>
        </mc:Fallback>
      </mc:AlternateContent>
      <p:sp>
        <p:nvSpPr>
          <p:cNvPr id="6" name="TextBox 5">
            <a:extLst>
              <a:ext uri="{FF2B5EF4-FFF2-40B4-BE49-F238E27FC236}">
                <a16:creationId xmlns:a16="http://schemas.microsoft.com/office/drawing/2014/main" id="{41933893-AE83-FC00-E012-BED7625BCEDA}"/>
              </a:ext>
            </a:extLst>
          </p:cNvPr>
          <p:cNvSpPr txBox="1"/>
          <p:nvPr/>
        </p:nvSpPr>
        <p:spPr>
          <a:xfrm>
            <a:off x="746072" y="6406735"/>
            <a:ext cx="4133591" cy="384721"/>
          </a:xfrm>
          <a:prstGeom prst="rect">
            <a:avLst/>
          </a:prstGeom>
          <a:noFill/>
        </p:spPr>
        <p:txBody>
          <a:bodyPr wrap="square">
            <a:spAutoFit/>
          </a:bodyPr>
          <a:lstStyle/>
          <a:p>
            <a:pPr algn="ctr">
              <a:spcAft>
                <a:spcPts val="600"/>
              </a:spcAft>
            </a:pPr>
            <a:r>
              <a:rPr lang="vi-VN" sz="700" b="1" dirty="0">
                <a:latin typeface="Arial"/>
              </a:rPr>
              <a:t>Mô hình GMM với dữ liệu 1 chiều</a:t>
            </a:r>
          </a:p>
          <a:p>
            <a:pPr algn="ctr">
              <a:spcAft>
                <a:spcPts val="600"/>
              </a:spcAft>
            </a:pPr>
            <a:r>
              <a:rPr lang="vi-VN" sz="700" b="1" dirty="0">
                <a:latin typeface="Arial"/>
              </a:rPr>
              <a:t>Các điểm dữ liệu nằm trải trên trục ngang</a:t>
            </a:r>
            <a:endParaRPr lang="vi-VN" sz="700" dirty="0">
              <a:latin typeface="Arial"/>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FC1ACFCA-4862-4660-AD97-5A7BF94CE0AD}"/>
                  </a:ext>
                </a:extLst>
              </p:cNvPr>
              <p:cNvSpPr txBox="1"/>
              <p:nvPr/>
            </p:nvSpPr>
            <p:spPr>
              <a:xfrm>
                <a:off x="8980277" y="4845523"/>
                <a:ext cx="851772" cy="605807"/>
              </a:xfrm>
              <a:prstGeom prst="rect">
                <a:avLst/>
              </a:prstGeom>
              <a:noFill/>
              <a:ln w="12700">
                <a:solidFill>
                  <a:schemeClr val="accent1"/>
                </a:solidFill>
              </a:ln>
            </p:spPr>
            <p:txBody>
              <a:bodyPr wrap="none" lIns="0" tIns="0" rIns="0" bIns="0" rtlCol="0">
                <a:spAutoFit/>
              </a:bodyPr>
              <a:lstStyle/>
              <a:p>
                <a:pPr/>
                <a14:m>
                  <m:oMathPara xmlns:m="http://schemas.openxmlformats.org/officeDocument/2006/math">
                    <m:oMath>
                      <m:nary>
                        <m:naryPr>
                          <m:chr m:val="∑"/>
                          <m:limLoc m:val="undOvr"/>
                          <m:ctrlPr>
                            <a:rPr lang="en-US" sz="1400" i="1">
                              <a:latin typeface="Cambria Math" panose="02040503050406030204" pitchFamily="18" charset="0"/>
                            </a:rPr>
                          </m:ctrlPr>
                        </m:naryPr>
                        <m:sub>
                          <m:r>
                            <a:rPr lang="en-US" sz="1400" i="1">
                              <a:latin typeface="Cambria Math" panose="02040503050406030204" pitchFamily="18" charset="0"/>
                            </a:rPr>
                            <m:t>𝑘</m:t>
                          </m:r>
                          <m:r>
                            <a:rPr lang="en-US" sz="1400" i="1">
                              <a:latin typeface="Cambria Math" panose="02040503050406030204" pitchFamily="18" charset="0"/>
                            </a:rPr>
                            <m:t>=1</m:t>
                          </m:r>
                        </m:sub>
                        <m:sup>
                          <m:r>
                            <a:rPr lang="en-US" sz="1400" i="1">
                              <a:latin typeface="Cambria Math" panose="02040503050406030204" pitchFamily="18" charset="0"/>
                            </a:rPr>
                            <m:t>𝐾</m:t>
                          </m:r>
                        </m:sup>
                        <m:e>
                          <m:sSub>
                            <m:sSubPr>
                              <m:ctrlPr>
                                <a:rPr lang="en-US" sz="1400" i="1">
                                  <a:solidFill>
                                    <a:schemeClr val="tx2">
                                      <a:lumMod val="60000"/>
                                      <a:lumOff val="40000"/>
                                    </a:schemeClr>
                                  </a:solidFill>
                                  <a:latin typeface="Cambria Math" panose="02040503050406030204" pitchFamily="18" charset="0"/>
                                </a:rPr>
                              </m:ctrlPr>
                            </m:sSubPr>
                            <m:e>
                              <m:r>
                                <a:rPr lang="en-US" sz="1400" i="1">
                                  <a:solidFill>
                                    <a:schemeClr val="tx2">
                                      <a:lumMod val="60000"/>
                                      <a:lumOff val="40000"/>
                                    </a:schemeClr>
                                  </a:solidFill>
                                  <a:latin typeface="Cambria Math" panose="02040503050406030204" pitchFamily="18" charset="0"/>
                                </a:rPr>
                                <m:t>𝜋</m:t>
                              </m:r>
                            </m:e>
                            <m:sub>
                              <m:r>
                                <a:rPr lang="en-US" sz="1400" i="1">
                                  <a:solidFill>
                                    <a:schemeClr val="tx2">
                                      <a:lumMod val="60000"/>
                                      <a:lumOff val="40000"/>
                                    </a:schemeClr>
                                  </a:solidFill>
                                  <a:latin typeface="Cambria Math" panose="02040503050406030204" pitchFamily="18" charset="0"/>
                                </a:rPr>
                                <m:t>𝑘</m:t>
                              </m:r>
                            </m:sub>
                          </m:sSub>
                        </m:e>
                      </m:nary>
                      <m:r>
                        <a:rPr lang="en-US" sz="1400" i="1">
                          <a:latin typeface="Cambria Math" panose="02040503050406030204" pitchFamily="18" charset="0"/>
                        </a:rPr>
                        <m:t>=1</m:t>
                      </m:r>
                    </m:oMath>
                  </m:oMathPara>
                </a14:m>
                <a:endParaRPr dirty="0"/>
              </a:p>
            </p:txBody>
          </p:sp>
        </mc:Choice>
        <mc:Fallback xmlns="">
          <p:sp>
            <p:nvSpPr>
              <p:cNvPr id="15" name="TextBox 14">
                <a:extLst>
                  <a:ext uri="{FF2B5EF4-FFF2-40B4-BE49-F238E27FC236}">
                    <a16:creationId xmlns:a16="http://schemas.microsoft.com/office/drawing/2014/main" id="{FC1ACFCA-4862-4660-AD97-5A7BF94CE0AD}"/>
                  </a:ext>
                </a:extLst>
              </p:cNvPr>
              <p:cNvSpPr txBox="1">
                <a:spLocks noRot="1" noChangeAspect="1" noMove="1" noResize="1" noEditPoints="1" noAdjustHandles="1" noChangeArrowheads="1" noChangeShapeType="1" noTextEdit="1"/>
              </p:cNvSpPr>
              <p:nvPr/>
            </p:nvSpPr>
            <p:spPr>
              <a:xfrm>
                <a:off x="8980277" y="4845523"/>
                <a:ext cx="851772" cy="605807"/>
              </a:xfrm>
              <a:prstGeom prst="rect">
                <a:avLst/>
              </a:prstGeom>
              <a:blipFill>
                <a:blip r:embed="rId6"/>
                <a:stretch>
                  <a:fillRect l="-73913" t="-112245" r="-4348" b="-175510"/>
                </a:stretch>
              </a:blipFill>
              <a:ln w="12700">
                <a:solidFill>
                  <a:schemeClr val="accent1"/>
                </a:solidFill>
              </a:ln>
            </p:spPr>
            <p:txBody>
              <a:bodyPr/>
              <a:lstStyle/>
              <a:p>
                <a:r>
                  <a:rPr lang="en-VN">
                    <a:noFill/>
                  </a:rPr>
                  <a:t> </a:t>
                </a:r>
              </a:p>
            </p:txBody>
          </p:sp>
        </mc:Fallback>
      </mc:AlternateContent>
      <p:sp>
        <p:nvSpPr>
          <p:cNvPr id="8" name="TextBox 7">
            <a:extLst>
              <a:ext uri="{FF2B5EF4-FFF2-40B4-BE49-F238E27FC236}">
                <a16:creationId xmlns:a16="http://schemas.microsoft.com/office/drawing/2014/main" id="{D92AFD56-2B0A-6C14-A821-ECDE5001701D}"/>
              </a:ext>
            </a:extLst>
          </p:cNvPr>
          <p:cNvSpPr txBox="1"/>
          <p:nvPr/>
        </p:nvSpPr>
        <p:spPr>
          <a:xfrm>
            <a:off x="8970787" y="4180372"/>
            <a:ext cx="870751" cy="307777"/>
          </a:xfrm>
          <a:prstGeom prst="rect">
            <a:avLst/>
          </a:prstGeom>
          <a:noFill/>
        </p:spPr>
        <p:txBody>
          <a:bodyPr wrap="none" rtlCol="0">
            <a:spAutoFit/>
          </a:bodyPr>
          <a:lstStyle/>
          <a:p>
            <a:r>
              <a:rPr lang="en-VN" sz="1400" dirty="0"/>
              <a:t>Điều kiện</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41AFD1F-9820-4A87-18E3-771AB6C0A065}"/>
                  </a:ext>
                </a:extLst>
              </p:cNvPr>
              <p:cNvSpPr txBox="1"/>
              <p:nvPr/>
            </p:nvSpPr>
            <p:spPr>
              <a:xfrm>
                <a:off x="8954501" y="4559114"/>
                <a:ext cx="903324" cy="215444"/>
              </a:xfrm>
              <a:prstGeom prst="rect">
                <a:avLst/>
              </a:prstGeom>
              <a:noFill/>
              <a:ln w="12700">
                <a:solidFill>
                  <a:schemeClr val="accent1"/>
                </a:solidFill>
              </a:ln>
            </p:spPr>
            <p:txBody>
              <a:bodyPr wrap="none" lIns="0" tIns="0" rIns="0" bIns="0" rtlCol="0">
                <a:spAutoFit/>
              </a:bodyPr>
              <a:lstStyle/>
              <a:p>
                <a:pPr/>
                <a14:m>
                  <m:oMathPara xmlns:m="http://schemas.openxmlformats.org/officeDocument/2006/math">
                    <m:oMath>
                      <m:r>
                        <a:rPr lang="en-US" sz="1400" i="1" smtClean="0">
                          <a:latin typeface="Cambria Math" panose="02040503050406030204" pitchFamily="18" charset="0"/>
                        </a:rPr>
                        <m:t>0≤</m:t>
                      </m:r>
                      <m:sSub>
                        <m:sSubPr>
                          <m:ctrlPr>
                            <a:rPr lang="en-US" sz="1400" i="1">
                              <a:solidFill>
                                <a:schemeClr val="tx2">
                                  <a:lumMod val="60000"/>
                                  <a:lumOff val="40000"/>
                                </a:schemeClr>
                              </a:solidFill>
                              <a:latin typeface="Cambria Math" panose="02040503050406030204" pitchFamily="18" charset="0"/>
                            </a:rPr>
                          </m:ctrlPr>
                        </m:sSubPr>
                        <m:e>
                          <m:r>
                            <a:rPr lang="en-US" sz="1400" i="1">
                              <a:solidFill>
                                <a:schemeClr val="tx2">
                                  <a:lumMod val="60000"/>
                                  <a:lumOff val="40000"/>
                                </a:schemeClr>
                              </a:solidFill>
                              <a:latin typeface="Cambria Math" panose="02040503050406030204" pitchFamily="18" charset="0"/>
                            </a:rPr>
                            <m:t>𝜋</m:t>
                          </m:r>
                        </m:e>
                        <m:sub>
                          <m:r>
                            <a:rPr lang="en-US" sz="1400" i="1">
                              <a:solidFill>
                                <a:schemeClr val="tx2">
                                  <a:lumMod val="60000"/>
                                  <a:lumOff val="40000"/>
                                </a:schemeClr>
                              </a:solidFill>
                              <a:latin typeface="Cambria Math" panose="02040503050406030204" pitchFamily="18" charset="0"/>
                            </a:rPr>
                            <m:t>𝑘</m:t>
                          </m:r>
                        </m:sub>
                      </m:sSub>
                      <m:r>
                        <a:rPr lang="en-US" sz="1400" i="1">
                          <a:latin typeface="Cambria Math" panose="02040503050406030204" pitchFamily="18" charset="0"/>
                        </a:rPr>
                        <m:t>≤1</m:t>
                      </m:r>
                    </m:oMath>
                  </m:oMathPara>
                </a14:m>
                <a:endParaRPr dirty="0"/>
              </a:p>
            </p:txBody>
          </p:sp>
        </mc:Choice>
        <mc:Fallback xmlns="">
          <p:sp>
            <p:nvSpPr>
              <p:cNvPr id="16" name="TextBox 15">
                <a:extLst>
                  <a:ext uri="{FF2B5EF4-FFF2-40B4-BE49-F238E27FC236}">
                    <a16:creationId xmlns:a16="http://schemas.microsoft.com/office/drawing/2014/main" id="{E41AFD1F-9820-4A87-18E3-771AB6C0A065}"/>
                  </a:ext>
                </a:extLst>
              </p:cNvPr>
              <p:cNvSpPr txBox="1">
                <a:spLocks noRot="1" noChangeAspect="1" noMove="1" noResize="1" noEditPoints="1" noAdjustHandles="1" noChangeArrowheads="1" noChangeShapeType="1" noTextEdit="1"/>
              </p:cNvSpPr>
              <p:nvPr/>
            </p:nvSpPr>
            <p:spPr>
              <a:xfrm>
                <a:off x="8954501" y="4559114"/>
                <a:ext cx="903324" cy="215444"/>
              </a:xfrm>
              <a:prstGeom prst="rect">
                <a:avLst/>
              </a:prstGeom>
              <a:blipFill>
                <a:blip r:embed="rId7"/>
                <a:stretch>
                  <a:fillRect l="-2740" r="-4110" b="-10526"/>
                </a:stretch>
              </a:blipFill>
              <a:ln w="12700">
                <a:solidFill>
                  <a:schemeClr val="accent1"/>
                </a:solidFill>
              </a:ln>
            </p:spPr>
            <p:txBody>
              <a:bodyPr/>
              <a:lstStyle/>
              <a:p>
                <a:r>
                  <a:rPr lang="en-VN">
                    <a:noFill/>
                  </a:rPr>
                  <a:t> </a:t>
                </a:r>
              </a:p>
            </p:txBody>
          </p:sp>
        </mc:Fallback>
      </mc:AlternateContent>
      <p:pic>
        <p:nvPicPr>
          <p:cNvPr id="5" name="Picture 4">
            <a:extLst>
              <a:ext uri="{FF2B5EF4-FFF2-40B4-BE49-F238E27FC236}">
                <a16:creationId xmlns:a16="http://schemas.microsoft.com/office/drawing/2014/main" id="{D519DBED-CA8B-34AE-69F5-45E7F837CFDB}"/>
              </a:ext>
            </a:extLst>
          </p:cNvPr>
          <p:cNvPicPr>
            <a:picLocks noChangeAspect="1"/>
          </p:cNvPicPr>
          <p:nvPr/>
        </p:nvPicPr>
        <p:blipFill>
          <a:blip r:embed="rId8"/>
          <a:stretch>
            <a:fillRect/>
          </a:stretch>
        </p:blipFill>
        <p:spPr>
          <a:xfrm>
            <a:off x="-1" y="2263665"/>
            <a:ext cx="5625738" cy="4181165"/>
          </a:xfrm>
          <a:prstGeom prst="rect">
            <a:avLst/>
          </a:prstGeom>
        </p:spPr>
      </p:pic>
      <p:sp>
        <p:nvSpPr>
          <p:cNvPr id="7" name="TextBox 6">
            <a:extLst>
              <a:ext uri="{FF2B5EF4-FFF2-40B4-BE49-F238E27FC236}">
                <a16:creationId xmlns:a16="http://schemas.microsoft.com/office/drawing/2014/main" id="{6E09E358-DD7C-786D-705F-402E9237CFD5}"/>
              </a:ext>
            </a:extLst>
          </p:cNvPr>
          <p:cNvSpPr txBox="1"/>
          <p:nvPr/>
        </p:nvSpPr>
        <p:spPr>
          <a:xfrm>
            <a:off x="364066" y="1267772"/>
            <a:ext cx="10961159" cy="892552"/>
          </a:xfrm>
          <a:prstGeom prst="rect">
            <a:avLst/>
          </a:prstGeom>
          <a:noFill/>
        </p:spPr>
        <p:txBody>
          <a:bodyPr wrap="square">
            <a:spAutoFit/>
          </a:bodyPr>
          <a:lstStyle/>
          <a:p>
            <a:pPr>
              <a:spcAft>
                <a:spcPts val="600"/>
              </a:spcAft>
            </a:pPr>
            <a:r>
              <a:rPr lang="vi-VN" sz="1400" b="1" dirty="0">
                <a:solidFill>
                  <a:srgbClr val="1B8A7A"/>
                </a:solidFill>
                <a:latin typeface="Arial"/>
              </a:rPr>
              <a:t>2.1. Gaussian Mixture Model (GMM) - </a:t>
            </a:r>
            <a:r>
              <a:rPr lang="vi-VN" sz="1000" b="1" dirty="0">
                <a:solidFill>
                  <a:schemeClr val="accent5">
                    <a:lumMod val="60000"/>
                    <a:lumOff val="40000"/>
                  </a:schemeClr>
                </a:solidFill>
                <a:latin typeface="Arial"/>
              </a:rPr>
              <a:t>Mô hình hỗn hợp phân phối chuẩn</a:t>
            </a:r>
          </a:p>
          <a:p>
            <a:pPr>
              <a:spcAft>
                <a:spcPts val="600"/>
              </a:spcAft>
            </a:pPr>
            <a:r>
              <a:rPr lang="vi-VN" sz="1400" b="1" dirty="0">
                <a:solidFill>
                  <a:schemeClr val="bg2">
                    <a:lumMod val="50000"/>
                  </a:schemeClr>
                </a:solidFill>
                <a:latin typeface="Arial"/>
              </a:rPr>
              <a:t>2.1.1. Tìm hàm số mô hình</a:t>
            </a:r>
            <a:endParaRPr lang="vi-VN" sz="1400" dirty="0">
              <a:solidFill>
                <a:schemeClr val="bg2">
                  <a:lumMod val="50000"/>
                </a:schemeClr>
              </a:solidFill>
              <a:latin typeface="Arial"/>
            </a:endParaRPr>
          </a:p>
          <a:p>
            <a:pPr>
              <a:spcAft>
                <a:spcPts val="600"/>
              </a:spcAft>
            </a:pPr>
            <a:r>
              <a:rPr lang="vi-VN" sz="1400" dirty="0">
                <a:solidFill>
                  <a:srgbClr val="444B52"/>
                </a:solidFill>
                <a:latin typeface="Arial"/>
              </a:rPr>
              <a:t>	- Là một mô hình (đường màu tím như đèo núi) kết hợp từ nhiều mô hình phân phối chuẩn (2 đường đỏ và xanh như cái chuông)</a:t>
            </a:r>
          </a:p>
        </p:txBody>
      </p:sp>
      <p:sp>
        <p:nvSpPr>
          <p:cNvPr id="17" name="TextBox 16">
            <a:extLst>
              <a:ext uri="{FF2B5EF4-FFF2-40B4-BE49-F238E27FC236}">
                <a16:creationId xmlns:a16="http://schemas.microsoft.com/office/drawing/2014/main" id="{E76ABF98-F558-2C63-3CA3-15C3065B3C7C}"/>
              </a:ext>
            </a:extLst>
          </p:cNvPr>
          <p:cNvSpPr txBox="1"/>
          <p:nvPr/>
        </p:nvSpPr>
        <p:spPr>
          <a:xfrm>
            <a:off x="5625737" y="6018647"/>
            <a:ext cx="3354540" cy="307777"/>
          </a:xfrm>
          <a:prstGeom prst="rect">
            <a:avLst/>
          </a:prstGeom>
          <a:noFill/>
        </p:spPr>
        <p:txBody>
          <a:bodyPr wrap="square">
            <a:spAutoFit/>
          </a:bodyPr>
          <a:lstStyle/>
          <a:p>
            <a:pPr>
              <a:spcAft>
                <a:spcPts val="600"/>
              </a:spcAft>
            </a:pPr>
            <a:r>
              <a:rPr lang="vi-VN" sz="1400" dirty="0">
                <a:solidFill>
                  <a:srgbClr val="444B52"/>
                </a:solidFill>
                <a:latin typeface="Arial"/>
              </a:rPr>
              <a:t>Áp dụng định lý </a:t>
            </a:r>
            <a:r>
              <a:rPr lang="vi-VN" sz="1400" b="1" dirty="0">
                <a:solidFill>
                  <a:srgbClr val="444B52"/>
                </a:solidFill>
                <a:latin typeface="Arial"/>
              </a:rPr>
              <a:t>Phân phối toàn phần</a:t>
            </a:r>
          </a:p>
        </p:txBody>
      </p:sp>
    </p:spTree>
    <p:extLst>
      <p:ext uri="{BB962C8B-B14F-4D97-AF65-F5344CB8AC3E}">
        <p14:creationId xmlns:p14="http://schemas.microsoft.com/office/powerpoint/2010/main" val="194556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23CC9-4ECB-3F7B-677A-BA91E70DD00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670C0BA-0538-44F4-E18B-05267506D4FE}"/>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94F84740-F2CB-8E00-6C35-7BB5041B0461}"/>
                  </a:ext>
                </a:extLst>
              </p:cNvPr>
              <p:cNvSpPr txBox="1"/>
              <p:nvPr/>
            </p:nvSpPr>
            <p:spPr>
              <a:xfrm>
                <a:off x="5625737" y="2263665"/>
                <a:ext cx="6565958" cy="3817905"/>
              </a:xfrm>
              <a:prstGeom prst="rect">
                <a:avLst/>
              </a:prstGeom>
              <a:noFill/>
            </p:spPr>
            <p:txBody>
              <a:bodyPr wrap="square">
                <a:spAutoFit/>
              </a:bodyPr>
              <a:lstStyle/>
              <a:p>
                <a:pPr>
                  <a:spcAft>
                    <a:spcPts val="600"/>
                  </a:spcAft>
                </a:pPr>
                <a:r>
                  <a:rPr lang="vi-VN" sz="1400" b="1" dirty="0">
                    <a:solidFill>
                      <a:srgbClr val="1B8A7A"/>
                    </a:solidFill>
                    <a:latin typeface="Arial"/>
                  </a:rPr>
                  <a:t>Hàm số mô hình GMM</a:t>
                </a:r>
              </a:p>
              <a:p>
                <a:pPr>
                  <a:spcAft>
                    <a:spcPts val="600"/>
                  </a:spcAft>
                </a:pPr>
                <a:r>
                  <a:rPr lang="vi-VN" sz="1400" dirty="0">
                    <a:solidFill>
                      <a:srgbClr val="444B52"/>
                    </a:solidFill>
                    <a:latin typeface="Arial"/>
                  </a:rPr>
                  <a:t>	</a:t>
                </a:r>
                <a:r>
                  <a:rPr lang="vi-VN" sz="1400" b="1" dirty="0">
                    <a:solidFill>
                      <a:srgbClr val="444B52"/>
                    </a:solidFill>
                    <a:latin typeface="Arial"/>
                  </a:rPr>
                  <a:t>GMM</a:t>
                </a:r>
                <a:r>
                  <a:rPr lang="vi-VN" sz="1400" dirty="0">
                    <a:solidFill>
                      <a:srgbClr val="444B52"/>
                    </a:solidFill>
                    <a:latin typeface="Arial"/>
                  </a:rPr>
                  <a:t> = </a:t>
                </a:r>
                <a:r>
                  <a:rPr lang="vi-VN" sz="1400" dirty="0">
                    <a:solidFill>
                      <a:schemeClr val="tx2">
                        <a:lumMod val="60000"/>
                        <a:lumOff val="40000"/>
                      </a:schemeClr>
                    </a:solidFill>
                    <a:highlight>
                      <a:srgbClr val="FFFF00"/>
                    </a:highlight>
                    <a:latin typeface="Arial"/>
                  </a:rPr>
                  <a:t>trọngSố</a:t>
                </a:r>
                <a:r>
                  <a:rPr lang="vi-VN" sz="1400" baseline="-25000" dirty="0">
                    <a:solidFill>
                      <a:schemeClr val="tx2">
                        <a:lumMod val="60000"/>
                        <a:lumOff val="40000"/>
                      </a:schemeClr>
                    </a:solidFill>
                    <a:highlight>
                      <a:srgbClr val="FFFF00"/>
                    </a:highlight>
                    <a:latin typeface="Arial"/>
                  </a:rPr>
                  <a:t>1 </a:t>
                </a:r>
                <a:r>
                  <a:rPr lang="vi-VN" sz="1400" dirty="0">
                    <a:highlight>
                      <a:srgbClr val="FFFF00"/>
                    </a:highlight>
                    <a:latin typeface="Arial"/>
                  </a:rPr>
                  <a:t>x</a:t>
                </a:r>
                <a:r>
                  <a:rPr lang="vi-VN" sz="1400" dirty="0">
                    <a:solidFill>
                      <a:schemeClr val="tx2">
                        <a:lumMod val="60000"/>
                        <a:lumOff val="40000"/>
                      </a:schemeClr>
                    </a:solidFill>
                    <a:highlight>
                      <a:srgbClr val="FFFF00"/>
                    </a:highlight>
                    <a:latin typeface="Arial"/>
                  </a:rPr>
                  <a:t> </a:t>
                </a:r>
                <a:r>
                  <a:rPr lang="vi-VN" sz="1400" dirty="0">
                    <a:solidFill>
                      <a:schemeClr val="accent6">
                        <a:lumMod val="75000"/>
                      </a:schemeClr>
                    </a:solidFill>
                    <a:highlight>
                      <a:srgbClr val="FFFF00"/>
                    </a:highlight>
                    <a:latin typeface="Arial"/>
                  </a:rPr>
                  <a:t>chuông</a:t>
                </a:r>
                <a:r>
                  <a:rPr lang="vi-VN" sz="1400" baseline="-25000" dirty="0">
                    <a:solidFill>
                      <a:schemeClr val="accent6">
                        <a:lumMod val="75000"/>
                      </a:schemeClr>
                    </a:solidFill>
                    <a:highlight>
                      <a:srgbClr val="FFFF00"/>
                    </a:highlight>
                    <a:latin typeface="Arial"/>
                  </a:rPr>
                  <a:t>1</a:t>
                </a:r>
                <a:r>
                  <a:rPr lang="vi-VN" sz="1400" dirty="0">
                    <a:solidFill>
                      <a:srgbClr val="444B52"/>
                    </a:solidFill>
                    <a:latin typeface="Arial"/>
                  </a:rPr>
                  <a:t> + </a:t>
                </a:r>
                <a:r>
                  <a:rPr lang="vi-VN" sz="1400" dirty="0">
                    <a:solidFill>
                      <a:schemeClr val="tx2">
                        <a:lumMod val="60000"/>
                        <a:lumOff val="40000"/>
                      </a:schemeClr>
                    </a:solidFill>
                    <a:highlight>
                      <a:srgbClr val="FFFF00"/>
                    </a:highlight>
                    <a:latin typeface="Arial"/>
                  </a:rPr>
                  <a:t>trọngSố</a:t>
                </a:r>
                <a:r>
                  <a:rPr lang="vi-VN" sz="1400" baseline="-25000" dirty="0">
                    <a:solidFill>
                      <a:schemeClr val="tx2">
                        <a:lumMod val="60000"/>
                        <a:lumOff val="40000"/>
                      </a:schemeClr>
                    </a:solidFill>
                    <a:highlight>
                      <a:srgbClr val="FFFF00"/>
                    </a:highlight>
                    <a:latin typeface="Arial"/>
                  </a:rPr>
                  <a:t>2 </a:t>
                </a:r>
                <a:r>
                  <a:rPr lang="vi-VN" sz="1400" dirty="0">
                    <a:highlight>
                      <a:srgbClr val="FFFF00"/>
                    </a:highlight>
                    <a:latin typeface="Arial"/>
                  </a:rPr>
                  <a:t>x</a:t>
                </a:r>
                <a:r>
                  <a:rPr lang="vi-VN" sz="1400" dirty="0">
                    <a:solidFill>
                      <a:schemeClr val="tx2">
                        <a:lumMod val="60000"/>
                        <a:lumOff val="40000"/>
                      </a:schemeClr>
                    </a:solidFill>
                    <a:highlight>
                      <a:srgbClr val="FFFF00"/>
                    </a:highlight>
                    <a:latin typeface="Arial"/>
                  </a:rPr>
                  <a:t> </a:t>
                </a:r>
                <a:r>
                  <a:rPr lang="vi-VN" sz="1400" dirty="0">
                    <a:solidFill>
                      <a:schemeClr val="accent6">
                        <a:lumMod val="75000"/>
                      </a:schemeClr>
                    </a:solidFill>
                    <a:highlight>
                      <a:srgbClr val="FFFF00"/>
                    </a:highlight>
                    <a:latin typeface="Arial"/>
                  </a:rPr>
                  <a:t>chuông</a:t>
                </a:r>
                <a:r>
                  <a:rPr lang="vi-VN" sz="1400" baseline="-25000" dirty="0">
                    <a:solidFill>
                      <a:schemeClr val="accent6">
                        <a:lumMod val="75000"/>
                      </a:schemeClr>
                    </a:solidFill>
                    <a:highlight>
                      <a:srgbClr val="FFFF00"/>
                    </a:highlight>
                    <a:latin typeface="Arial"/>
                  </a:rPr>
                  <a:t>2</a:t>
                </a:r>
                <a:r>
                  <a:rPr lang="vi-VN" sz="1400" dirty="0">
                    <a:solidFill>
                      <a:srgbClr val="444B52"/>
                    </a:solidFill>
                    <a:latin typeface="Arial"/>
                  </a:rPr>
                  <a:t> + … + </a:t>
                </a:r>
                <a:r>
                  <a:rPr lang="vi-VN" sz="1400" dirty="0">
                    <a:solidFill>
                      <a:schemeClr val="tx2">
                        <a:lumMod val="60000"/>
                        <a:lumOff val="40000"/>
                      </a:schemeClr>
                    </a:solidFill>
                    <a:highlight>
                      <a:srgbClr val="FFFF00"/>
                    </a:highlight>
                    <a:latin typeface="Arial"/>
                  </a:rPr>
                  <a:t>trọngSố</a:t>
                </a:r>
                <a:r>
                  <a:rPr lang="vi-VN" sz="1400" baseline="-25000" dirty="0">
                    <a:solidFill>
                      <a:schemeClr val="tx2">
                        <a:lumMod val="60000"/>
                        <a:lumOff val="40000"/>
                      </a:schemeClr>
                    </a:solidFill>
                    <a:highlight>
                      <a:srgbClr val="FFFF00"/>
                    </a:highlight>
                    <a:latin typeface="Arial"/>
                  </a:rPr>
                  <a:t>k </a:t>
                </a:r>
                <a:r>
                  <a:rPr lang="vi-VN" sz="1400" dirty="0">
                    <a:highlight>
                      <a:srgbClr val="FFFF00"/>
                    </a:highlight>
                    <a:latin typeface="Arial"/>
                  </a:rPr>
                  <a:t>x</a:t>
                </a:r>
                <a:r>
                  <a:rPr lang="vi-VN" sz="1400" dirty="0">
                    <a:solidFill>
                      <a:schemeClr val="tx2">
                        <a:lumMod val="60000"/>
                        <a:lumOff val="40000"/>
                      </a:schemeClr>
                    </a:solidFill>
                    <a:highlight>
                      <a:srgbClr val="FFFF00"/>
                    </a:highlight>
                    <a:latin typeface="Arial"/>
                  </a:rPr>
                  <a:t> </a:t>
                </a:r>
                <a:r>
                  <a:rPr lang="vi-VN" sz="1400" dirty="0">
                    <a:solidFill>
                      <a:schemeClr val="accent6">
                        <a:lumMod val="75000"/>
                      </a:schemeClr>
                    </a:solidFill>
                    <a:highlight>
                      <a:srgbClr val="FFFF00"/>
                    </a:highlight>
                    <a:latin typeface="Arial"/>
                  </a:rPr>
                  <a:t>chuông</a:t>
                </a:r>
                <a:r>
                  <a:rPr lang="vi-VN" sz="1400" baseline="-25000" dirty="0">
                    <a:solidFill>
                      <a:schemeClr val="accent6">
                        <a:lumMod val="75000"/>
                      </a:schemeClr>
                    </a:solidFill>
                    <a:highlight>
                      <a:srgbClr val="FFFF00"/>
                    </a:highlight>
                    <a:latin typeface="Arial"/>
                  </a:rPr>
                  <a:t>k</a:t>
                </a:r>
                <a:r>
                  <a:rPr lang="vi-VN" sz="1400" dirty="0">
                    <a:solidFill>
                      <a:schemeClr val="accent6">
                        <a:lumMod val="75000"/>
                      </a:schemeClr>
                    </a:solidFill>
                    <a:latin typeface="Arial"/>
                  </a:rPr>
                  <a:t> </a:t>
                </a:r>
              </a:p>
              <a:p>
                <a:pPr>
                  <a:spcAft>
                    <a:spcPts val="600"/>
                  </a:spcAft>
                </a:pPr>
                <a:r>
                  <a:rPr lang="vi-VN" sz="1400" dirty="0">
                    <a:solidFill>
                      <a:schemeClr val="tx2">
                        <a:lumMod val="60000"/>
                        <a:lumOff val="40000"/>
                      </a:schemeClr>
                    </a:solidFill>
                    <a:latin typeface="Arial"/>
                  </a:rPr>
                  <a:t>		</a:t>
                </a:r>
                <a:r>
                  <a:rPr lang="vi-VN" sz="1200" dirty="0">
                    <a:solidFill>
                      <a:schemeClr val="tx2">
                        <a:lumMod val="60000"/>
                        <a:lumOff val="40000"/>
                      </a:schemeClr>
                    </a:solidFill>
                    <a:latin typeface="Arial"/>
                  </a:rPr>
                  <a:t>trọngSố</a:t>
                </a:r>
                <a:r>
                  <a:rPr lang="vi-VN" sz="1200" baseline="-25000" dirty="0">
                    <a:solidFill>
                      <a:schemeClr val="tx2">
                        <a:lumMod val="60000"/>
                        <a:lumOff val="40000"/>
                      </a:schemeClr>
                    </a:solidFill>
                    <a:latin typeface="Arial"/>
                  </a:rPr>
                  <a:t>k</a:t>
                </a:r>
                <a:r>
                  <a:rPr lang="vi-VN" sz="1200" dirty="0">
                    <a:solidFill>
                      <a:schemeClr val="tx2">
                        <a:lumMod val="60000"/>
                        <a:lumOff val="40000"/>
                      </a:schemeClr>
                    </a:solidFill>
                    <a:latin typeface="Arial"/>
                  </a:rPr>
                  <a:t> </a:t>
                </a:r>
                <a:r>
                  <a:rPr lang="vi-VN" sz="1200" dirty="0">
                    <a:latin typeface="Arial"/>
                  </a:rPr>
                  <a:t>kí hiệu là Pi:</a:t>
                </a:r>
                <a:r>
                  <a:rPr lang="vi-VN" sz="1200" dirty="0">
                    <a:solidFill>
                      <a:schemeClr val="tx2">
                        <a:lumMod val="60000"/>
                        <a:lumOff val="40000"/>
                      </a:schemeClr>
                    </a:solidFill>
                    <a:latin typeface="Arial"/>
                  </a:rPr>
                  <a:t> </a:t>
                </a:r>
                <a14:m>
                  <m:oMath xmlns:m="http://schemas.openxmlformats.org/officeDocument/2006/math">
                    <m:sSub>
                      <m:sSubPr>
                        <m:ctrlPr>
                          <a:rPr lang="en-US" sz="1200" i="1">
                            <a:solidFill>
                              <a:schemeClr val="tx2">
                                <a:lumMod val="60000"/>
                                <a:lumOff val="40000"/>
                              </a:schemeClr>
                            </a:solidFill>
                            <a:latin typeface="Cambria Math" panose="02040503050406030204" pitchFamily="18" charset="0"/>
                          </a:rPr>
                        </m:ctrlPr>
                      </m:sSubPr>
                      <m:e>
                        <m:r>
                          <a:rPr lang="en-US" sz="1200" i="1">
                            <a:solidFill>
                              <a:schemeClr val="tx2">
                                <a:lumMod val="60000"/>
                                <a:lumOff val="40000"/>
                              </a:schemeClr>
                            </a:solidFill>
                            <a:latin typeface="Cambria Math" panose="02040503050406030204" pitchFamily="18" charset="0"/>
                          </a:rPr>
                          <m:t>𝜋</m:t>
                        </m:r>
                      </m:e>
                      <m:sub>
                        <m:r>
                          <a:rPr lang="en-US" sz="1200" i="1">
                            <a:solidFill>
                              <a:schemeClr val="tx2">
                                <a:lumMod val="60000"/>
                                <a:lumOff val="40000"/>
                              </a:schemeClr>
                            </a:solidFill>
                            <a:latin typeface="Cambria Math" panose="02040503050406030204" pitchFamily="18" charset="0"/>
                          </a:rPr>
                          <m:t>𝑘</m:t>
                        </m:r>
                      </m:sub>
                    </m:sSub>
                  </m:oMath>
                </a14:m>
                <a:r>
                  <a:rPr lang="vi-VN" sz="1200" b="1" dirty="0">
                    <a:solidFill>
                      <a:schemeClr val="accent6">
                        <a:lumMod val="75000"/>
                      </a:schemeClr>
                    </a:solidFill>
                    <a:latin typeface="Arial"/>
                  </a:rPr>
                  <a:t> </a:t>
                </a:r>
                <a:r>
                  <a:rPr lang="vi-VN" sz="1200" dirty="0">
                    <a:latin typeface="Arial"/>
                  </a:rPr>
                  <a:t>(</a:t>
                </a:r>
                <a:r>
                  <a:rPr lang="vi-VN" sz="1200" b="1" dirty="0">
                    <a:latin typeface="Arial"/>
                  </a:rPr>
                  <a:t>P</a:t>
                </a:r>
                <a:r>
                  <a:rPr lang="vi-VN" sz="1200" dirty="0">
                    <a:latin typeface="Arial"/>
                  </a:rPr>
                  <a:t>robability)</a:t>
                </a:r>
                <a:endParaRPr lang="vi-VN" sz="1200" b="1" dirty="0">
                  <a:solidFill>
                    <a:schemeClr val="accent6">
                      <a:lumMod val="75000"/>
                    </a:schemeClr>
                  </a:solidFill>
                  <a:latin typeface="Arial"/>
                </a:endParaRPr>
              </a:p>
              <a:p>
                <a:pPr>
                  <a:spcAft>
                    <a:spcPts val="600"/>
                  </a:spcAft>
                </a:pPr>
                <a:r>
                  <a:rPr lang="vi-VN" sz="1200" dirty="0">
                    <a:solidFill>
                      <a:schemeClr val="accent6">
                        <a:lumMod val="75000"/>
                      </a:schemeClr>
                    </a:solidFill>
                    <a:latin typeface="Arial"/>
                  </a:rPr>
                  <a:t>		chuông</a:t>
                </a:r>
                <a:r>
                  <a:rPr lang="vi-VN" sz="1200" baseline="-25000" dirty="0">
                    <a:solidFill>
                      <a:schemeClr val="accent6">
                        <a:lumMod val="75000"/>
                      </a:schemeClr>
                    </a:solidFill>
                    <a:latin typeface="Arial"/>
                  </a:rPr>
                  <a:t>k</a:t>
                </a:r>
                <a:r>
                  <a:rPr lang="vi-VN" sz="1200" dirty="0">
                    <a:solidFill>
                      <a:schemeClr val="accent6">
                        <a:lumMod val="75000"/>
                      </a:schemeClr>
                    </a:solidFill>
                    <a:latin typeface="Arial"/>
                  </a:rPr>
                  <a:t> </a:t>
                </a:r>
                <a:r>
                  <a:rPr lang="vi-VN" sz="1200" dirty="0">
                    <a:latin typeface="Arial"/>
                  </a:rPr>
                  <a:t>kí hiệu là N: </a:t>
                </a:r>
                <a14:m>
                  <m:oMath xmlns:m="http://schemas.openxmlformats.org/officeDocument/2006/math">
                    <m:r>
                      <a:rPr lang="en-US" sz="1200" i="1">
                        <a:solidFill>
                          <a:schemeClr val="accent6">
                            <a:lumMod val="75000"/>
                          </a:schemeClr>
                        </a:solidFill>
                        <a:latin typeface="Cambria Math" panose="02040503050406030204" pitchFamily="18" charset="0"/>
                      </a:rPr>
                      <m:t>𝒩</m:t>
                    </m:r>
                    <m:d>
                      <m:dPr>
                        <m:ctrlPr>
                          <a:rPr lang="en-US" sz="1200" i="1">
                            <a:solidFill>
                              <a:schemeClr val="accent6">
                                <a:lumMod val="75000"/>
                              </a:schemeClr>
                            </a:solidFill>
                            <a:latin typeface="Cambria Math" panose="02040503050406030204" pitchFamily="18" charset="0"/>
                          </a:rPr>
                        </m:ctrlPr>
                      </m:dPr>
                      <m:e>
                        <m:r>
                          <a:rPr lang="en-US" sz="1200" i="1">
                            <a:solidFill>
                              <a:schemeClr val="accent6">
                                <a:lumMod val="75000"/>
                              </a:schemeClr>
                            </a:solidFill>
                            <a:latin typeface="Cambria Math" panose="02040503050406030204" pitchFamily="18" charset="0"/>
                          </a:rPr>
                          <m:t>𝑥</m:t>
                        </m:r>
                        <m:r>
                          <a:rPr lang="en-US" sz="1200" i="1">
                            <a:solidFill>
                              <a:schemeClr val="accent6">
                                <a:lumMod val="75000"/>
                              </a:schemeClr>
                            </a:solidFill>
                            <a:latin typeface="Cambria Math" panose="02040503050406030204" pitchFamily="18" charset="0"/>
                          </a:rPr>
                          <m:t>∣</m:t>
                        </m:r>
                        <m:sSub>
                          <m:sSubPr>
                            <m:ctrlPr>
                              <a:rPr lang="en-US" sz="1200" i="1">
                                <a:solidFill>
                                  <a:schemeClr val="accent6">
                                    <a:lumMod val="75000"/>
                                  </a:schemeClr>
                                </a:solidFill>
                                <a:latin typeface="Cambria Math" panose="02040503050406030204" pitchFamily="18" charset="0"/>
                              </a:rPr>
                            </m:ctrlPr>
                          </m:sSubPr>
                          <m:e>
                            <m:r>
                              <a:rPr lang="en-US" sz="1200" i="1">
                                <a:solidFill>
                                  <a:schemeClr val="accent6">
                                    <a:lumMod val="75000"/>
                                  </a:schemeClr>
                                </a:solidFill>
                                <a:latin typeface="Cambria Math" panose="02040503050406030204" pitchFamily="18" charset="0"/>
                              </a:rPr>
                              <m:t>𝜇</m:t>
                            </m:r>
                          </m:e>
                          <m:sub>
                            <m:r>
                              <a:rPr lang="en-US" sz="1200" i="1">
                                <a:solidFill>
                                  <a:schemeClr val="accent6">
                                    <a:lumMod val="75000"/>
                                  </a:schemeClr>
                                </a:solidFill>
                                <a:latin typeface="Cambria Math" panose="02040503050406030204" pitchFamily="18" charset="0"/>
                              </a:rPr>
                              <m:t>𝑘</m:t>
                            </m:r>
                          </m:sub>
                        </m:sSub>
                        <m:r>
                          <a:rPr lang="en-US" sz="1200" i="1">
                            <a:solidFill>
                              <a:schemeClr val="accent6">
                                <a:lumMod val="75000"/>
                              </a:schemeClr>
                            </a:solidFill>
                            <a:latin typeface="Cambria Math" panose="02040503050406030204" pitchFamily="18" charset="0"/>
                          </a:rPr>
                          <m:t>,</m:t>
                        </m:r>
                        <m:sSubSup>
                          <m:sSubSupPr>
                            <m:ctrlPr>
                              <a:rPr lang="en-US" sz="1200" i="1">
                                <a:solidFill>
                                  <a:schemeClr val="accent6">
                                    <a:lumMod val="75000"/>
                                  </a:schemeClr>
                                </a:solidFill>
                                <a:latin typeface="Cambria Math" panose="02040503050406030204" pitchFamily="18" charset="0"/>
                              </a:rPr>
                            </m:ctrlPr>
                          </m:sSubSupPr>
                          <m:e>
                            <m:r>
                              <a:rPr lang="en-US" sz="1200" i="1">
                                <a:solidFill>
                                  <a:schemeClr val="accent6">
                                    <a:lumMod val="75000"/>
                                  </a:schemeClr>
                                </a:solidFill>
                                <a:latin typeface="Cambria Math" panose="02040503050406030204" pitchFamily="18" charset="0"/>
                              </a:rPr>
                              <m:t>𝜎</m:t>
                            </m:r>
                          </m:e>
                          <m:sub>
                            <m:r>
                              <a:rPr lang="en-US" sz="1200" i="1">
                                <a:solidFill>
                                  <a:schemeClr val="accent6">
                                    <a:lumMod val="75000"/>
                                  </a:schemeClr>
                                </a:solidFill>
                                <a:latin typeface="Cambria Math" panose="02040503050406030204" pitchFamily="18" charset="0"/>
                              </a:rPr>
                              <m:t>𝑘</m:t>
                            </m:r>
                          </m:sub>
                          <m:sup>
                            <m:r>
                              <a:rPr lang="en-US" sz="1200" i="1">
                                <a:solidFill>
                                  <a:schemeClr val="accent6">
                                    <a:lumMod val="75000"/>
                                  </a:schemeClr>
                                </a:solidFill>
                                <a:latin typeface="Cambria Math" panose="02040503050406030204" pitchFamily="18" charset="0"/>
                              </a:rPr>
                              <m:t>2</m:t>
                            </m:r>
                          </m:sup>
                        </m:sSubSup>
                      </m:e>
                    </m:d>
                  </m:oMath>
                </a14:m>
                <a:r>
                  <a:rPr lang="vi-VN" sz="1200" b="1" dirty="0">
                    <a:solidFill>
                      <a:schemeClr val="accent6">
                        <a:lumMod val="75000"/>
                      </a:schemeClr>
                    </a:solidFill>
                    <a:latin typeface="Arial"/>
                  </a:rPr>
                  <a:t> </a:t>
                </a:r>
                <a:r>
                  <a:rPr lang="vi-VN" sz="1200" dirty="0">
                    <a:latin typeface="Arial"/>
                  </a:rPr>
                  <a:t>(</a:t>
                </a:r>
                <a:r>
                  <a:rPr lang="vi-VN" sz="1200" b="1" dirty="0">
                    <a:latin typeface="Arial"/>
                  </a:rPr>
                  <a:t>N</a:t>
                </a:r>
                <a:r>
                  <a:rPr lang="vi-VN" sz="1200" dirty="0">
                    <a:latin typeface="Arial"/>
                  </a:rPr>
                  <a:t>ormal Distribution)</a:t>
                </a:r>
                <a:endParaRPr lang="vi-VN" sz="1200" b="1" dirty="0">
                  <a:solidFill>
                    <a:schemeClr val="accent6">
                      <a:lumMod val="75000"/>
                    </a:schemeClr>
                  </a:solidFill>
                  <a:latin typeface="Arial"/>
                </a:endParaRPr>
              </a:p>
              <a:p>
                <a:pPr>
                  <a:spcAft>
                    <a:spcPts val="600"/>
                  </a:spcAft>
                </a:pPr>
                <a:endParaRPr lang="vi-VN" sz="1400" b="1" dirty="0">
                  <a:solidFill>
                    <a:srgbClr val="1B8A7A"/>
                  </a:solidFill>
                  <a:latin typeface="Arial"/>
                </a:endParaRPr>
              </a:p>
              <a:p>
                <a:pPr>
                  <a:spcAft>
                    <a:spcPts val="600"/>
                  </a:spcAft>
                </a:pPr>
                <a:r>
                  <a:rPr lang="vi-VN" sz="1400" dirty="0">
                    <a:solidFill>
                      <a:srgbClr val="444B52"/>
                    </a:solidFill>
                    <a:latin typeface="Arial"/>
                  </a:rPr>
                  <a:t>- Dạng một chiều:</a:t>
                </a:r>
                <a:endParaRPr lang="vi-VN" sz="1400" b="1" dirty="0">
                  <a:solidFill>
                    <a:srgbClr val="1B8A7A"/>
                  </a:solidFill>
                  <a:latin typeface="Arial"/>
                </a:endParaRPr>
              </a:p>
              <a:p>
                <a:pPr>
                  <a:spcAft>
                    <a:spcPts val="600"/>
                  </a:spcAft>
                </a:pPr>
                <a:endParaRPr lang="vi-VN" sz="1400" b="1" dirty="0">
                  <a:solidFill>
                    <a:srgbClr val="1B8A7A"/>
                  </a:solidFill>
                  <a:latin typeface="Arial"/>
                </a:endParaRPr>
              </a:p>
              <a:p>
                <a:pPr>
                  <a:spcAft>
                    <a:spcPts val="600"/>
                  </a:spcAft>
                </a:pPr>
                <a:endParaRPr lang="vi-VN" sz="1400" b="1" dirty="0">
                  <a:solidFill>
                    <a:srgbClr val="1B8A7A"/>
                  </a:solidFill>
                  <a:latin typeface="Arial"/>
                </a:endParaRPr>
              </a:p>
              <a:p>
                <a:pPr>
                  <a:spcAft>
                    <a:spcPts val="600"/>
                  </a:spcAft>
                </a:pPr>
                <a:endParaRPr lang="vi-VN" sz="1400" b="1" dirty="0">
                  <a:solidFill>
                    <a:srgbClr val="1B8A7A"/>
                  </a:solidFill>
                  <a:latin typeface="Arial"/>
                </a:endParaRPr>
              </a:p>
              <a:p>
                <a:pPr>
                  <a:spcAft>
                    <a:spcPts val="600"/>
                  </a:spcAft>
                </a:pPr>
                <a:r>
                  <a:rPr lang="vi-VN" sz="1400" dirty="0">
                    <a:solidFill>
                      <a:srgbClr val="444B52"/>
                    </a:solidFill>
                    <a:latin typeface="Arial"/>
                  </a:rPr>
                  <a:t>- Dạng đa chiều (</a:t>
                </a:r>
                <a14:m>
                  <m:oMath xmlns:m="http://schemas.openxmlformats.org/officeDocument/2006/math">
                    <m:sSubSup>
                      <m:sSubSupPr>
                        <m:ctrlPr>
                          <a:rPr lang="en-US" sz="1400" i="1">
                            <a:solidFill>
                              <a:schemeClr val="accent6">
                                <a:lumMod val="75000"/>
                              </a:schemeClr>
                            </a:solidFill>
                            <a:latin typeface="Cambria Math" panose="02040503050406030204" pitchFamily="18" charset="0"/>
                          </a:rPr>
                        </m:ctrlPr>
                      </m:sSubSupPr>
                      <m:e>
                        <m:r>
                          <a:rPr lang="en-US" sz="1400" i="1">
                            <a:solidFill>
                              <a:schemeClr val="accent6">
                                <a:lumMod val="75000"/>
                              </a:schemeClr>
                            </a:solidFill>
                            <a:latin typeface="Cambria Math" panose="02040503050406030204" pitchFamily="18" charset="0"/>
                          </a:rPr>
                          <m:t>𝜎</m:t>
                        </m:r>
                      </m:e>
                      <m:sub>
                        <m:r>
                          <a:rPr lang="en-US" sz="1400" i="1">
                            <a:solidFill>
                              <a:schemeClr val="accent6">
                                <a:lumMod val="75000"/>
                              </a:schemeClr>
                            </a:solidFill>
                            <a:latin typeface="Cambria Math" panose="02040503050406030204" pitchFamily="18" charset="0"/>
                          </a:rPr>
                          <m:t>𝑘</m:t>
                        </m:r>
                      </m:sub>
                      <m:sup>
                        <m:r>
                          <a:rPr lang="en-US" sz="1400" i="1">
                            <a:solidFill>
                              <a:schemeClr val="accent6">
                                <a:lumMod val="75000"/>
                              </a:schemeClr>
                            </a:solidFill>
                            <a:latin typeface="Cambria Math" panose="02040503050406030204" pitchFamily="18" charset="0"/>
                          </a:rPr>
                          <m:t>2</m:t>
                        </m:r>
                      </m:sup>
                    </m:sSubSup>
                    <m:r>
                      <a:rPr lang="vi-VN" sz="1400" b="0" i="1" smtClean="0">
                        <a:solidFill>
                          <a:schemeClr val="accent6">
                            <a:lumMod val="75000"/>
                          </a:schemeClr>
                        </a:solidFill>
                        <a:latin typeface="Cambria Math" panose="02040503050406030204" pitchFamily="18" charset="0"/>
                      </a:rPr>
                      <m:t> </m:t>
                    </m:r>
                    <m:r>
                      <m:rPr>
                        <m:sty m:val="p"/>
                      </m:rPr>
                      <a:rPr lang="vi-VN" sz="1400" b="0" i="1" smtClean="0">
                        <a:solidFill>
                          <a:schemeClr val="tx1"/>
                        </a:solidFill>
                        <a:latin typeface="Cambria Math" panose="02040503050406030204" pitchFamily="18" charset="0"/>
                      </a:rPr>
                      <m:t>th</m:t>
                    </m:r>
                    <m:r>
                      <a:rPr lang="vi-VN" sz="1400" b="0" i="1" smtClean="0">
                        <a:solidFill>
                          <a:schemeClr val="tx1"/>
                        </a:solidFill>
                        <a:latin typeface="Cambria Math" panose="02040503050406030204" pitchFamily="18" charset="0"/>
                      </a:rPr>
                      <m:t>à</m:t>
                    </m:r>
                    <m:r>
                      <m:rPr>
                        <m:sty m:val="p"/>
                      </m:rPr>
                      <a:rPr lang="vi-VN" sz="1400" b="0" i="1" smtClean="0">
                        <a:solidFill>
                          <a:schemeClr val="tx1"/>
                        </a:solidFill>
                        <a:latin typeface="Cambria Math" panose="02040503050406030204" pitchFamily="18" charset="0"/>
                      </a:rPr>
                      <m:t>nh</m:t>
                    </m:r>
                  </m:oMath>
                </a14:m>
                <a:r>
                  <a:rPr lang="vi-VN" sz="1400" dirty="0">
                    <a:solidFill>
                      <a:srgbClr val="444B52"/>
                    </a:solidFill>
                    <a:latin typeface="Arial"/>
                  </a:rPr>
                  <a:t> </a:t>
                </a:r>
                <a14:m>
                  <m:oMath xmlns:m="http://schemas.openxmlformats.org/officeDocument/2006/math">
                    <m:sSub>
                      <m:sSubPr>
                        <m:ctrlPr>
                          <a:rPr lang="en-US" sz="1400" i="1">
                            <a:solidFill>
                              <a:schemeClr val="accent6">
                                <a:lumMod val="75000"/>
                              </a:schemeClr>
                            </a:solidFill>
                            <a:latin typeface="Cambria Math" panose="02040503050406030204" pitchFamily="18" charset="0"/>
                          </a:rPr>
                        </m:ctrlPr>
                      </m:sSubPr>
                      <m:e>
                        <m:r>
                          <m:rPr>
                            <m:sty m:val="p"/>
                          </m:rPr>
                          <a:rPr lang="en-US" sz="1400" i="1">
                            <a:solidFill>
                              <a:schemeClr val="accent6">
                                <a:lumMod val="75000"/>
                              </a:schemeClr>
                            </a:solidFill>
                            <a:latin typeface="Cambria Math" panose="02040503050406030204" pitchFamily="18" charset="0"/>
                          </a:rPr>
                          <m:t>Σ</m:t>
                        </m:r>
                      </m:e>
                      <m:sub>
                        <m:r>
                          <a:rPr lang="en-US" sz="1400" i="1">
                            <a:solidFill>
                              <a:schemeClr val="accent6">
                                <a:lumMod val="75000"/>
                              </a:schemeClr>
                            </a:solidFill>
                            <a:latin typeface="Cambria Math" panose="02040503050406030204" pitchFamily="18" charset="0"/>
                          </a:rPr>
                          <m:t>𝑘</m:t>
                        </m:r>
                      </m:sub>
                    </m:sSub>
                  </m:oMath>
                </a14:m>
                <a:r>
                  <a:rPr lang="vi-VN" sz="1400" dirty="0">
                    <a:solidFill>
                      <a:srgbClr val="444B52"/>
                    </a:solidFill>
                    <a:latin typeface="Arial"/>
                  </a:rPr>
                  <a:t>):</a:t>
                </a:r>
              </a:p>
              <a:p>
                <a:pPr marL="285750" indent="-285750">
                  <a:spcAft>
                    <a:spcPts val="600"/>
                  </a:spcAft>
                  <a:buFontTx/>
                  <a:buChar char="-"/>
                </a:pPr>
                <a:endParaRPr lang="vi-VN" sz="1400" dirty="0">
                  <a:solidFill>
                    <a:srgbClr val="444B52"/>
                  </a:solidFill>
                  <a:latin typeface="Arial"/>
                </a:endParaRPr>
              </a:p>
              <a:p>
                <a:pPr marL="285750" indent="-285750">
                  <a:spcAft>
                    <a:spcPts val="600"/>
                  </a:spcAft>
                  <a:buFontTx/>
                  <a:buChar char="-"/>
                </a:pPr>
                <a:endParaRPr lang="vi-VN" sz="1400" dirty="0">
                  <a:solidFill>
                    <a:srgbClr val="444B52"/>
                  </a:solidFill>
                  <a:latin typeface="Arial"/>
                </a:endParaRPr>
              </a:p>
              <a:p>
                <a:pPr>
                  <a:spcAft>
                    <a:spcPts val="600"/>
                  </a:spcAft>
                </a:pPr>
                <a:endParaRPr lang="vi-VN" sz="1400" dirty="0">
                  <a:solidFill>
                    <a:srgbClr val="444B52"/>
                  </a:solidFill>
                  <a:latin typeface="Arial"/>
                </a:endParaRPr>
              </a:p>
            </p:txBody>
          </p:sp>
        </mc:Choice>
        <mc:Fallback xmlns="">
          <p:sp>
            <p:nvSpPr>
              <p:cNvPr id="11" name="TextBox 10">
                <a:extLst>
                  <a:ext uri="{FF2B5EF4-FFF2-40B4-BE49-F238E27FC236}">
                    <a16:creationId xmlns:a16="http://schemas.microsoft.com/office/drawing/2014/main" id="{94F84740-F2CB-8E00-6C35-7BB5041B0461}"/>
                  </a:ext>
                </a:extLst>
              </p:cNvPr>
              <p:cNvSpPr txBox="1">
                <a:spLocks noRot="1" noChangeAspect="1" noMove="1" noResize="1" noEditPoints="1" noAdjustHandles="1" noChangeArrowheads="1" noChangeShapeType="1" noTextEdit="1"/>
              </p:cNvSpPr>
              <p:nvPr/>
            </p:nvSpPr>
            <p:spPr>
              <a:xfrm>
                <a:off x="5625737" y="2263665"/>
                <a:ext cx="6565958" cy="3817905"/>
              </a:xfrm>
              <a:prstGeom prst="rect">
                <a:avLst/>
              </a:prstGeom>
              <a:blipFill>
                <a:blip r:embed="rId3"/>
                <a:stretch>
                  <a:fillRect l="-386" t="-331"/>
                </a:stretch>
              </a:blipFill>
            </p:spPr>
            <p:txBody>
              <a:bodyPr/>
              <a:lstStyle/>
              <a:p>
                <a:r>
                  <a:rPr lang="en-VN">
                    <a:noFill/>
                  </a:rPr>
                  <a:t> </a:t>
                </a:r>
              </a:p>
            </p:txBody>
          </p:sp>
        </mc:Fallback>
      </mc:AlternateContent>
      <p:sp>
        <p:nvSpPr>
          <p:cNvPr id="6" name="TextBox 5">
            <a:extLst>
              <a:ext uri="{FF2B5EF4-FFF2-40B4-BE49-F238E27FC236}">
                <a16:creationId xmlns:a16="http://schemas.microsoft.com/office/drawing/2014/main" id="{0E8D11FF-B284-069B-5333-A9A4834A8F67}"/>
              </a:ext>
            </a:extLst>
          </p:cNvPr>
          <p:cNvSpPr txBox="1"/>
          <p:nvPr/>
        </p:nvSpPr>
        <p:spPr>
          <a:xfrm>
            <a:off x="746072" y="6406735"/>
            <a:ext cx="4133591" cy="384721"/>
          </a:xfrm>
          <a:prstGeom prst="rect">
            <a:avLst/>
          </a:prstGeom>
          <a:noFill/>
        </p:spPr>
        <p:txBody>
          <a:bodyPr wrap="square">
            <a:spAutoFit/>
          </a:bodyPr>
          <a:lstStyle/>
          <a:p>
            <a:pPr algn="ctr">
              <a:spcAft>
                <a:spcPts val="600"/>
              </a:spcAft>
            </a:pPr>
            <a:r>
              <a:rPr lang="vi-VN" sz="700" b="1" dirty="0">
                <a:latin typeface="Arial"/>
              </a:rPr>
              <a:t>Mô hình GMM với dữ liệu 1 chiều</a:t>
            </a:r>
          </a:p>
          <a:p>
            <a:pPr algn="ctr">
              <a:spcAft>
                <a:spcPts val="600"/>
              </a:spcAft>
            </a:pPr>
            <a:r>
              <a:rPr lang="vi-VN" sz="700" b="1" dirty="0">
                <a:latin typeface="Arial"/>
              </a:rPr>
              <a:t>Các điểm dữ liệu nằm trải trên trục ngang</a:t>
            </a:r>
            <a:endParaRPr lang="vi-VN" sz="700" dirty="0">
              <a:latin typeface="Arial"/>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389FB68B-B7C0-5E06-1FBC-2CAE937BAFDF}"/>
                  </a:ext>
                </a:extLst>
              </p:cNvPr>
              <p:cNvSpPr txBox="1"/>
              <p:nvPr/>
            </p:nvSpPr>
            <p:spPr>
              <a:xfrm>
                <a:off x="8980277" y="4845523"/>
                <a:ext cx="851772" cy="605807"/>
              </a:xfrm>
              <a:prstGeom prst="rect">
                <a:avLst/>
              </a:prstGeom>
              <a:noFill/>
              <a:ln w="12700">
                <a:solidFill>
                  <a:schemeClr val="accent1"/>
                </a:solidFill>
              </a:ln>
            </p:spPr>
            <p:txBody>
              <a:bodyPr wrap="none" lIns="0" tIns="0" rIns="0" bIns="0" rtlCol="0">
                <a:spAutoFit/>
              </a:bodyPr>
              <a:lstStyle/>
              <a:p>
                <a:pPr/>
                <a14:m>
                  <m:oMathPara xmlns:m="http://schemas.openxmlformats.org/officeDocument/2006/math">
                    <m:oMath>
                      <m:nary>
                        <m:naryPr>
                          <m:chr m:val="∑"/>
                          <m:limLoc m:val="undOvr"/>
                          <m:ctrlPr>
                            <a:rPr lang="en-US" sz="1400" i="1">
                              <a:latin typeface="Cambria Math" panose="02040503050406030204" pitchFamily="18" charset="0"/>
                            </a:rPr>
                          </m:ctrlPr>
                        </m:naryPr>
                        <m:sub>
                          <m:r>
                            <a:rPr lang="en-US" sz="1400" i="1">
                              <a:latin typeface="Cambria Math" panose="02040503050406030204" pitchFamily="18" charset="0"/>
                            </a:rPr>
                            <m:t>𝑘</m:t>
                          </m:r>
                          <m:r>
                            <a:rPr lang="en-US" sz="1400" i="1">
                              <a:latin typeface="Cambria Math" panose="02040503050406030204" pitchFamily="18" charset="0"/>
                            </a:rPr>
                            <m:t>=1</m:t>
                          </m:r>
                        </m:sub>
                        <m:sup>
                          <m:r>
                            <a:rPr lang="en-US" sz="1400" i="1">
                              <a:latin typeface="Cambria Math" panose="02040503050406030204" pitchFamily="18" charset="0"/>
                            </a:rPr>
                            <m:t>𝐾</m:t>
                          </m:r>
                        </m:sup>
                        <m:e>
                          <m:sSub>
                            <m:sSubPr>
                              <m:ctrlPr>
                                <a:rPr lang="en-US" sz="1400" i="1">
                                  <a:solidFill>
                                    <a:schemeClr val="tx2">
                                      <a:lumMod val="60000"/>
                                      <a:lumOff val="40000"/>
                                    </a:schemeClr>
                                  </a:solidFill>
                                  <a:latin typeface="Cambria Math" panose="02040503050406030204" pitchFamily="18" charset="0"/>
                                </a:rPr>
                              </m:ctrlPr>
                            </m:sSubPr>
                            <m:e>
                              <m:r>
                                <a:rPr lang="en-US" sz="1400" i="1">
                                  <a:solidFill>
                                    <a:schemeClr val="tx2">
                                      <a:lumMod val="60000"/>
                                      <a:lumOff val="40000"/>
                                    </a:schemeClr>
                                  </a:solidFill>
                                  <a:latin typeface="Cambria Math" panose="02040503050406030204" pitchFamily="18" charset="0"/>
                                </a:rPr>
                                <m:t>𝜋</m:t>
                              </m:r>
                            </m:e>
                            <m:sub>
                              <m:r>
                                <a:rPr lang="en-US" sz="1400" i="1">
                                  <a:solidFill>
                                    <a:schemeClr val="tx2">
                                      <a:lumMod val="60000"/>
                                      <a:lumOff val="40000"/>
                                    </a:schemeClr>
                                  </a:solidFill>
                                  <a:latin typeface="Cambria Math" panose="02040503050406030204" pitchFamily="18" charset="0"/>
                                </a:rPr>
                                <m:t>𝑘</m:t>
                              </m:r>
                            </m:sub>
                          </m:sSub>
                        </m:e>
                      </m:nary>
                      <m:r>
                        <a:rPr lang="en-US" sz="1400" i="1">
                          <a:latin typeface="Cambria Math" panose="02040503050406030204" pitchFamily="18" charset="0"/>
                        </a:rPr>
                        <m:t>=1</m:t>
                      </m:r>
                    </m:oMath>
                  </m:oMathPara>
                </a14:m>
                <a:endParaRPr dirty="0"/>
              </a:p>
            </p:txBody>
          </p:sp>
        </mc:Choice>
        <mc:Fallback xmlns="">
          <p:sp>
            <p:nvSpPr>
              <p:cNvPr id="15" name="TextBox 14">
                <a:extLst>
                  <a:ext uri="{FF2B5EF4-FFF2-40B4-BE49-F238E27FC236}">
                    <a16:creationId xmlns:a16="http://schemas.microsoft.com/office/drawing/2014/main" id="{389FB68B-B7C0-5E06-1FBC-2CAE937BAFDF}"/>
                  </a:ext>
                </a:extLst>
              </p:cNvPr>
              <p:cNvSpPr txBox="1">
                <a:spLocks noRot="1" noChangeAspect="1" noMove="1" noResize="1" noEditPoints="1" noAdjustHandles="1" noChangeArrowheads="1" noChangeShapeType="1" noTextEdit="1"/>
              </p:cNvSpPr>
              <p:nvPr/>
            </p:nvSpPr>
            <p:spPr>
              <a:xfrm>
                <a:off x="8980277" y="4845523"/>
                <a:ext cx="851772" cy="605807"/>
              </a:xfrm>
              <a:prstGeom prst="rect">
                <a:avLst/>
              </a:prstGeom>
              <a:blipFill>
                <a:blip r:embed="rId4"/>
                <a:stretch>
                  <a:fillRect l="-73913" t="-112245" r="-4348" b="-175510"/>
                </a:stretch>
              </a:blipFill>
              <a:ln w="12700">
                <a:solidFill>
                  <a:schemeClr val="accent1"/>
                </a:solidFill>
              </a:ln>
            </p:spPr>
            <p:txBody>
              <a:bodyPr/>
              <a:lstStyle/>
              <a:p>
                <a:r>
                  <a:rPr lang="en-VN">
                    <a:noFill/>
                  </a:rPr>
                  <a:t> </a:t>
                </a:r>
              </a:p>
            </p:txBody>
          </p:sp>
        </mc:Fallback>
      </mc:AlternateContent>
      <p:sp>
        <p:nvSpPr>
          <p:cNvPr id="8" name="TextBox 7">
            <a:extLst>
              <a:ext uri="{FF2B5EF4-FFF2-40B4-BE49-F238E27FC236}">
                <a16:creationId xmlns:a16="http://schemas.microsoft.com/office/drawing/2014/main" id="{0039329B-B3FE-D8D0-692D-977A2539E088}"/>
              </a:ext>
            </a:extLst>
          </p:cNvPr>
          <p:cNvSpPr txBox="1"/>
          <p:nvPr/>
        </p:nvSpPr>
        <p:spPr>
          <a:xfrm>
            <a:off x="8970787" y="4180372"/>
            <a:ext cx="870751" cy="307777"/>
          </a:xfrm>
          <a:prstGeom prst="rect">
            <a:avLst/>
          </a:prstGeom>
          <a:noFill/>
        </p:spPr>
        <p:txBody>
          <a:bodyPr wrap="none" rtlCol="0">
            <a:spAutoFit/>
          </a:bodyPr>
          <a:lstStyle/>
          <a:p>
            <a:r>
              <a:rPr lang="en-VN" sz="1400" dirty="0"/>
              <a:t>Điều kiện</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7BFD8A47-23DE-C849-9376-1317FFBF470B}"/>
                  </a:ext>
                </a:extLst>
              </p:cNvPr>
              <p:cNvSpPr txBox="1"/>
              <p:nvPr/>
            </p:nvSpPr>
            <p:spPr>
              <a:xfrm>
                <a:off x="8954501" y="4559114"/>
                <a:ext cx="903324" cy="215444"/>
              </a:xfrm>
              <a:prstGeom prst="rect">
                <a:avLst/>
              </a:prstGeom>
              <a:noFill/>
              <a:ln w="12700">
                <a:solidFill>
                  <a:schemeClr val="accent1"/>
                </a:solidFill>
              </a:ln>
            </p:spPr>
            <p:txBody>
              <a:bodyPr wrap="none" lIns="0" tIns="0" rIns="0" bIns="0" rtlCol="0">
                <a:spAutoFit/>
              </a:bodyPr>
              <a:lstStyle/>
              <a:p>
                <a:pPr/>
                <a14:m>
                  <m:oMathPara xmlns:m="http://schemas.openxmlformats.org/officeDocument/2006/math">
                    <m:oMath>
                      <m:r>
                        <a:rPr lang="en-US" sz="1400" i="1" smtClean="0">
                          <a:latin typeface="Cambria Math" panose="02040503050406030204" pitchFamily="18" charset="0"/>
                        </a:rPr>
                        <m:t>0≤</m:t>
                      </m:r>
                      <m:sSub>
                        <m:sSubPr>
                          <m:ctrlPr>
                            <a:rPr lang="en-US" sz="1400" i="1">
                              <a:solidFill>
                                <a:schemeClr val="tx2">
                                  <a:lumMod val="60000"/>
                                  <a:lumOff val="40000"/>
                                </a:schemeClr>
                              </a:solidFill>
                              <a:latin typeface="Cambria Math" panose="02040503050406030204" pitchFamily="18" charset="0"/>
                            </a:rPr>
                          </m:ctrlPr>
                        </m:sSubPr>
                        <m:e>
                          <m:r>
                            <a:rPr lang="en-US" sz="1400" i="1">
                              <a:solidFill>
                                <a:schemeClr val="tx2">
                                  <a:lumMod val="60000"/>
                                  <a:lumOff val="40000"/>
                                </a:schemeClr>
                              </a:solidFill>
                              <a:latin typeface="Cambria Math" panose="02040503050406030204" pitchFamily="18" charset="0"/>
                            </a:rPr>
                            <m:t>𝜋</m:t>
                          </m:r>
                        </m:e>
                        <m:sub>
                          <m:r>
                            <a:rPr lang="en-US" sz="1400" i="1">
                              <a:solidFill>
                                <a:schemeClr val="tx2">
                                  <a:lumMod val="60000"/>
                                  <a:lumOff val="40000"/>
                                </a:schemeClr>
                              </a:solidFill>
                              <a:latin typeface="Cambria Math" panose="02040503050406030204" pitchFamily="18" charset="0"/>
                            </a:rPr>
                            <m:t>𝑘</m:t>
                          </m:r>
                        </m:sub>
                      </m:sSub>
                      <m:r>
                        <a:rPr lang="en-US" sz="1400" i="1">
                          <a:latin typeface="Cambria Math" panose="02040503050406030204" pitchFamily="18" charset="0"/>
                        </a:rPr>
                        <m:t>≤1</m:t>
                      </m:r>
                    </m:oMath>
                  </m:oMathPara>
                </a14:m>
                <a:endParaRPr dirty="0"/>
              </a:p>
            </p:txBody>
          </p:sp>
        </mc:Choice>
        <mc:Fallback xmlns="">
          <p:sp>
            <p:nvSpPr>
              <p:cNvPr id="16" name="TextBox 15">
                <a:extLst>
                  <a:ext uri="{FF2B5EF4-FFF2-40B4-BE49-F238E27FC236}">
                    <a16:creationId xmlns:a16="http://schemas.microsoft.com/office/drawing/2014/main" id="{7BFD8A47-23DE-C849-9376-1317FFBF470B}"/>
                  </a:ext>
                </a:extLst>
              </p:cNvPr>
              <p:cNvSpPr txBox="1">
                <a:spLocks noRot="1" noChangeAspect="1" noMove="1" noResize="1" noEditPoints="1" noAdjustHandles="1" noChangeArrowheads="1" noChangeShapeType="1" noTextEdit="1"/>
              </p:cNvSpPr>
              <p:nvPr/>
            </p:nvSpPr>
            <p:spPr>
              <a:xfrm>
                <a:off x="8954501" y="4559114"/>
                <a:ext cx="903324" cy="215444"/>
              </a:xfrm>
              <a:prstGeom prst="rect">
                <a:avLst/>
              </a:prstGeom>
              <a:blipFill>
                <a:blip r:embed="rId5"/>
                <a:stretch>
                  <a:fillRect l="-2740" r="-4110" b="-10526"/>
                </a:stretch>
              </a:blipFill>
              <a:ln w="12700">
                <a:solidFill>
                  <a:schemeClr val="accent1"/>
                </a:solidFill>
              </a:ln>
            </p:spPr>
            <p:txBody>
              <a:bodyPr/>
              <a:lstStyle/>
              <a:p>
                <a:r>
                  <a:rPr lang="en-VN">
                    <a:noFill/>
                  </a:rPr>
                  <a:t> </a:t>
                </a:r>
              </a:p>
            </p:txBody>
          </p:sp>
        </mc:Fallback>
      </mc:AlternateContent>
      <p:pic>
        <p:nvPicPr>
          <p:cNvPr id="5" name="Picture 4">
            <a:extLst>
              <a:ext uri="{FF2B5EF4-FFF2-40B4-BE49-F238E27FC236}">
                <a16:creationId xmlns:a16="http://schemas.microsoft.com/office/drawing/2014/main" id="{C6A98D39-9CC9-5F18-5B74-119DE9D5A401}"/>
              </a:ext>
            </a:extLst>
          </p:cNvPr>
          <p:cNvPicPr>
            <a:picLocks noChangeAspect="1"/>
          </p:cNvPicPr>
          <p:nvPr/>
        </p:nvPicPr>
        <p:blipFill>
          <a:blip r:embed="rId6"/>
          <a:stretch>
            <a:fillRect/>
          </a:stretch>
        </p:blipFill>
        <p:spPr>
          <a:xfrm>
            <a:off x="-1" y="2263665"/>
            <a:ext cx="5625738" cy="4181165"/>
          </a:xfrm>
          <a:prstGeom prst="rect">
            <a:avLst/>
          </a:prstGeom>
        </p:spPr>
      </p:pic>
      <p:sp>
        <p:nvSpPr>
          <p:cNvPr id="9" name="TextBox 8">
            <a:extLst>
              <a:ext uri="{FF2B5EF4-FFF2-40B4-BE49-F238E27FC236}">
                <a16:creationId xmlns:a16="http://schemas.microsoft.com/office/drawing/2014/main" id="{5052CE4C-7BC3-D215-E82E-676A2DFE2A3F}"/>
              </a:ext>
            </a:extLst>
          </p:cNvPr>
          <p:cNvSpPr txBox="1"/>
          <p:nvPr/>
        </p:nvSpPr>
        <p:spPr>
          <a:xfrm>
            <a:off x="9327816" y="6341378"/>
            <a:ext cx="2124299" cy="307777"/>
          </a:xfrm>
          <a:prstGeom prst="rect">
            <a:avLst/>
          </a:prstGeom>
          <a:noFill/>
        </p:spPr>
        <p:txBody>
          <a:bodyPr wrap="none" rtlCol="0">
            <a:spAutoFit/>
          </a:bodyPr>
          <a:lstStyle/>
          <a:p>
            <a:r>
              <a:rPr lang="vi-VN" sz="1400" dirty="0"/>
              <a:t>Hàm số màu cam là gì?</a:t>
            </a:r>
            <a:endParaRPr lang="el-GR" sz="1400" dirty="0"/>
          </a:p>
        </p:txBody>
      </p:sp>
      <p:sp>
        <p:nvSpPr>
          <p:cNvPr id="10" name="Right Arrow 9">
            <a:extLst>
              <a:ext uri="{FF2B5EF4-FFF2-40B4-BE49-F238E27FC236}">
                <a16:creationId xmlns:a16="http://schemas.microsoft.com/office/drawing/2014/main" id="{7FAFBEEA-D89D-2AB5-C972-0BD1EA29B2C4}"/>
              </a:ext>
            </a:extLst>
          </p:cNvPr>
          <p:cNvSpPr/>
          <p:nvPr/>
        </p:nvSpPr>
        <p:spPr>
          <a:xfrm>
            <a:off x="11622034" y="6319626"/>
            <a:ext cx="350891" cy="384721"/>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004100B-4043-2FC3-982F-E02AC2458B4D}"/>
                  </a:ext>
                </a:extLst>
              </p:cNvPr>
              <p:cNvSpPr txBox="1"/>
              <p:nvPr/>
            </p:nvSpPr>
            <p:spPr>
              <a:xfrm>
                <a:off x="6026286" y="4031356"/>
                <a:ext cx="2470706" cy="605807"/>
              </a:xfrm>
              <a:prstGeom prst="rect">
                <a:avLst/>
              </a:prstGeom>
              <a:noFill/>
              <a:ln w="12700">
                <a:solidFill>
                  <a:schemeClr val="tx2"/>
                </a:solidFill>
              </a:ln>
            </p:spPr>
            <p:txBody>
              <a:bodyPr wrap="square" lIns="0" tIns="0" rIns="0" bIns="0" rtlCol="0">
                <a:spAutoFit/>
              </a:bodyPr>
              <a:lstStyle/>
              <a:p>
                <a:pPr/>
                <a14:m>
                  <m:oMathPara xmlns:m="http://schemas.openxmlformats.org/officeDocument/2006/math">
                    <m:oMath>
                      <m:r>
                        <m:rPr>
                          <m:sty m:val="p"/>
                        </m:rPr>
                        <a:rPr lang="vi-VN" sz="1400" b="0" i="1" smtClean="0">
                          <a:latin typeface="Cambria Math" panose="02040503050406030204" pitchFamily="18" charset="0"/>
                        </a:rPr>
                        <m:t>GMM</m:t>
                      </m:r>
                      <m:d>
                        <m:dPr>
                          <m:ctrlPr>
                            <a:rPr lang="en-US" sz="1400" i="1">
                              <a:latin typeface="Cambria Math" panose="02040503050406030204" pitchFamily="18" charset="0"/>
                            </a:rPr>
                          </m:ctrlPr>
                        </m:dPr>
                        <m:e>
                          <m:r>
                            <a:rPr lang="en-US" sz="1400" i="1">
                              <a:latin typeface="Cambria Math" panose="02040503050406030204" pitchFamily="18" charset="0"/>
                            </a:rPr>
                            <m:t>𝑥</m:t>
                          </m:r>
                        </m:e>
                      </m:d>
                      <m:r>
                        <a:rPr lang="en-US" sz="1400" i="1">
                          <a:latin typeface="Cambria Math" panose="02040503050406030204" pitchFamily="18" charset="0"/>
                        </a:rPr>
                        <m:t>=</m:t>
                      </m:r>
                      <m:nary>
                        <m:naryPr>
                          <m:chr m:val="∑"/>
                          <m:limLoc m:val="undOvr"/>
                          <m:ctrlPr>
                            <a:rPr lang="en-US" sz="1400" i="1">
                              <a:latin typeface="Cambria Math" panose="02040503050406030204" pitchFamily="18" charset="0"/>
                            </a:rPr>
                          </m:ctrlPr>
                        </m:naryPr>
                        <m:sub>
                          <m:r>
                            <a:rPr lang="en-US" sz="1400" i="1">
                              <a:latin typeface="Cambria Math" panose="02040503050406030204" pitchFamily="18" charset="0"/>
                            </a:rPr>
                            <m:t>𝑘</m:t>
                          </m:r>
                          <m:r>
                            <a:rPr lang="en-US" sz="1400" i="1">
                              <a:latin typeface="Cambria Math" panose="02040503050406030204" pitchFamily="18" charset="0"/>
                            </a:rPr>
                            <m:t>=1</m:t>
                          </m:r>
                        </m:sub>
                        <m:sup>
                          <m:r>
                            <a:rPr lang="en-US" sz="1400" i="1">
                              <a:latin typeface="Cambria Math" panose="02040503050406030204" pitchFamily="18" charset="0"/>
                            </a:rPr>
                            <m:t>𝐾</m:t>
                          </m:r>
                        </m:sup>
                        <m:e>
                          <m:sSub>
                            <m:sSubPr>
                              <m:ctrlPr>
                                <a:rPr lang="en-US" sz="1400" i="1">
                                  <a:solidFill>
                                    <a:schemeClr val="tx2">
                                      <a:lumMod val="60000"/>
                                      <a:lumOff val="40000"/>
                                    </a:schemeClr>
                                  </a:solidFill>
                                  <a:latin typeface="Cambria Math" panose="02040503050406030204" pitchFamily="18" charset="0"/>
                                </a:rPr>
                              </m:ctrlPr>
                            </m:sSubPr>
                            <m:e>
                              <m:r>
                                <a:rPr lang="en-US" sz="1400" i="1">
                                  <a:solidFill>
                                    <a:schemeClr val="tx2">
                                      <a:lumMod val="60000"/>
                                      <a:lumOff val="40000"/>
                                    </a:schemeClr>
                                  </a:solidFill>
                                  <a:latin typeface="Cambria Math" panose="02040503050406030204" pitchFamily="18" charset="0"/>
                                </a:rPr>
                                <m:t>𝜋</m:t>
                              </m:r>
                            </m:e>
                            <m:sub>
                              <m:r>
                                <a:rPr lang="en-US" sz="1400" i="1">
                                  <a:solidFill>
                                    <a:schemeClr val="tx2">
                                      <a:lumMod val="60000"/>
                                      <a:lumOff val="40000"/>
                                    </a:schemeClr>
                                  </a:solidFill>
                                  <a:latin typeface="Cambria Math" panose="02040503050406030204" pitchFamily="18" charset="0"/>
                                </a:rPr>
                                <m:t>𝑘</m:t>
                              </m:r>
                            </m:sub>
                          </m:sSub>
                        </m:e>
                      </m:nary>
                      <m:r>
                        <a:rPr lang="en-US" sz="1400" i="1" smtClean="0">
                          <a:solidFill>
                            <a:schemeClr val="accent6">
                              <a:lumMod val="75000"/>
                            </a:schemeClr>
                          </a:solidFill>
                          <a:latin typeface="Cambria Math" panose="02040503050406030204" pitchFamily="18" charset="0"/>
                        </a:rPr>
                        <m:t>𝒩</m:t>
                      </m:r>
                      <m:d>
                        <m:dPr>
                          <m:ctrlPr>
                            <a:rPr lang="en-US" sz="1400" i="1">
                              <a:solidFill>
                                <a:schemeClr val="accent6">
                                  <a:lumMod val="75000"/>
                                </a:schemeClr>
                              </a:solidFill>
                              <a:latin typeface="Cambria Math" panose="02040503050406030204" pitchFamily="18" charset="0"/>
                            </a:rPr>
                          </m:ctrlPr>
                        </m:dPr>
                        <m:e>
                          <m:r>
                            <a:rPr lang="en-US" sz="1400" i="1">
                              <a:solidFill>
                                <a:schemeClr val="accent6">
                                  <a:lumMod val="75000"/>
                                </a:schemeClr>
                              </a:solidFill>
                              <a:latin typeface="Cambria Math" panose="02040503050406030204" pitchFamily="18" charset="0"/>
                            </a:rPr>
                            <m:t>𝑥</m:t>
                          </m:r>
                          <m:r>
                            <a:rPr lang="en-US" sz="1400" i="1">
                              <a:solidFill>
                                <a:schemeClr val="accent6">
                                  <a:lumMod val="75000"/>
                                </a:schemeClr>
                              </a:solidFill>
                              <a:latin typeface="Cambria Math" panose="02040503050406030204" pitchFamily="18" charset="0"/>
                            </a:rPr>
                            <m:t>∣</m:t>
                          </m:r>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𝜇</m:t>
                              </m:r>
                            </m:e>
                            <m:sub>
                              <m:r>
                                <a:rPr lang="en-US" sz="1400" i="1">
                                  <a:solidFill>
                                    <a:schemeClr val="accent6">
                                      <a:lumMod val="75000"/>
                                    </a:schemeClr>
                                  </a:solidFill>
                                  <a:latin typeface="Cambria Math" panose="02040503050406030204" pitchFamily="18" charset="0"/>
                                </a:rPr>
                                <m:t>𝑘</m:t>
                              </m:r>
                            </m:sub>
                          </m:sSub>
                          <m:r>
                            <a:rPr lang="en-US" sz="1400" i="1">
                              <a:solidFill>
                                <a:schemeClr val="accent6">
                                  <a:lumMod val="75000"/>
                                </a:schemeClr>
                              </a:solidFill>
                              <a:latin typeface="Cambria Math" panose="02040503050406030204" pitchFamily="18" charset="0"/>
                            </a:rPr>
                            <m:t>,</m:t>
                          </m:r>
                          <m:sSubSup>
                            <m:sSubSupPr>
                              <m:ctrlPr>
                                <a:rPr lang="en-US" sz="1400" i="1">
                                  <a:solidFill>
                                    <a:schemeClr val="accent6">
                                      <a:lumMod val="75000"/>
                                    </a:schemeClr>
                                  </a:solidFill>
                                  <a:latin typeface="Cambria Math" panose="02040503050406030204" pitchFamily="18" charset="0"/>
                                </a:rPr>
                              </m:ctrlPr>
                            </m:sSubSupPr>
                            <m:e>
                              <m:r>
                                <a:rPr lang="en-US" sz="1400" i="1">
                                  <a:solidFill>
                                    <a:schemeClr val="accent6">
                                      <a:lumMod val="75000"/>
                                    </a:schemeClr>
                                  </a:solidFill>
                                  <a:latin typeface="Cambria Math" panose="02040503050406030204" pitchFamily="18" charset="0"/>
                                </a:rPr>
                                <m:t>𝜎</m:t>
                              </m:r>
                            </m:e>
                            <m:sub>
                              <m:r>
                                <a:rPr lang="en-US" sz="1400" i="1">
                                  <a:solidFill>
                                    <a:schemeClr val="accent6">
                                      <a:lumMod val="75000"/>
                                    </a:schemeClr>
                                  </a:solidFill>
                                  <a:latin typeface="Cambria Math" panose="02040503050406030204" pitchFamily="18" charset="0"/>
                                </a:rPr>
                                <m:t>𝑘</m:t>
                              </m:r>
                            </m:sub>
                            <m:sup>
                              <m:r>
                                <a:rPr lang="en-US" sz="1400" i="1">
                                  <a:solidFill>
                                    <a:schemeClr val="accent6">
                                      <a:lumMod val="75000"/>
                                    </a:schemeClr>
                                  </a:solidFill>
                                  <a:latin typeface="Cambria Math" panose="02040503050406030204" pitchFamily="18" charset="0"/>
                                </a:rPr>
                                <m:t>2</m:t>
                              </m:r>
                            </m:sup>
                          </m:sSubSup>
                        </m:e>
                      </m:d>
                    </m:oMath>
                  </m:oMathPara>
                </a14:m>
                <a:endParaRPr lang="en-VN" sz="1400" dirty="0"/>
              </a:p>
            </p:txBody>
          </p:sp>
        </mc:Choice>
        <mc:Fallback xmlns="">
          <p:sp>
            <p:nvSpPr>
              <p:cNvPr id="13" name="TextBox 12">
                <a:extLst>
                  <a:ext uri="{FF2B5EF4-FFF2-40B4-BE49-F238E27FC236}">
                    <a16:creationId xmlns:a16="http://schemas.microsoft.com/office/drawing/2014/main" id="{0004100B-4043-2FC3-982F-E02AC2458B4D}"/>
                  </a:ext>
                </a:extLst>
              </p:cNvPr>
              <p:cNvSpPr txBox="1">
                <a:spLocks noRot="1" noChangeAspect="1" noMove="1" noResize="1" noEditPoints="1" noAdjustHandles="1" noChangeArrowheads="1" noChangeShapeType="1" noTextEdit="1"/>
              </p:cNvSpPr>
              <p:nvPr/>
            </p:nvSpPr>
            <p:spPr>
              <a:xfrm>
                <a:off x="6026286" y="4031356"/>
                <a:ext cx="2470706" cy="605807"/>
              </a:xfrm>
              <a:prstGeom prst="rect">
                <a:avLst/>
              </a:prstGeom>
              <a:blipFill>
                <a:blip r:embed="rId7"/>
                <a:stretch>
                  <a:fillRect l="-1531" t="-108000" b="-172000"/>
                </a:stretch>
              </a:blipFill>
              <a:ln w="12700">
                <a:solidFill>
                  <a:schemeClr val="tx2"/>
                </a:solid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5AFA480-9790-F614-7DB0-B8E75A379E5E}"/>
                  </a:ext>
                </a:extLst>
              </p:cNvPr>
              <p:cNvSpPr txBox="1"/>
              <p:nvPr/>
            </p:nvSpPr>
            <p:spPr>
              <a:xfrm>
                <a:off x="6026286" y="5243461"/>
                <a:ext cx="2470706" cy="605807"/>
              </a:xfrm>
              <a:prstGeom prst="rect">
                <a:avLst/>
              </a:prstGeom>
              <a:noFill/>
              <a:ln w="12700">
                <a:solidFill>
                  <a:schemeClr val="tx2"/>
                </a:solidFill>
              </a:ln>
            </p:spPr>
            <p:txBody>
              <a:bodyPr wrap="square" lIns="0" tIns="0" rIns="0" bIns="0" rtlCol="0">
                <a:spAutoFit/>
              </a:bodyPr>
              <a:lstStyle/>
              <a:p>
                <a:pPr/>
                <a14:m>
                  <m:oMathPara xmlns:m="http://schemas.openxmlformats.org/officeDocument/2006/math">
                    <m:oMath>
                      <m:r>
                        <m:rPr>
                          <m:sty m:val="p"/>
                        </m:rPr>
                        <a:rPr lang="vi-VN" sz="1400" i="1">
                          <a:latin typeface="Cambria Math" panose="02040503050406030204" pitchFamily="18" charset="0"/>
                        </a:rPr>
                        <m:t>GMM</m:t>
                      </m:r>
                      <m:d>
                        <m:dPr>
                          <m:ctrlPr>
                            <a:rPr lang="en-US" sz="1400" i="1">
                              <a:latin typeface="Cambria Math" panose="02040503050406030204" pitchFamily="18" charset="0"/>
                            </a:rPr>
                          </m:ctrlPr>
                        </m:dPr>
                        <m:e>
                          <m:r>
                            <a:rPr lang="en-US" sz="1400" i="1">
                              <a:latin typeface="Cambria Math" panose="02040503050406030204" pitchFamily="18" charset="0"/>
                            </a:rPr>
                            <m:t>𝑥</m:t>
                          </m:r>
                        </m:e>
                      </m:d>
                      <m:r>
                        <a:rPr lang="en-US" sz="1400" i="1">
                          <a:latin typeface="Cambria Math" panose="02040503050406030204" pitchFamily="18" charset="0"/>
                        </a:rPr>
                        <m:t>=</m:t>
                      </m:r>
                      <m:nary>
                        <m:naryPr>
                          <m:chr m:val="∑"/>
                          <m:limLoc m:val="undOvr"/>
                          <m:ctrlPr>
                            <a:rPr lang="en-US" sz="1400" i="1">
                              <a:latin typeface="Cambria Math" panose="02040503050406030204" pitchFamily="18" charset="0"/>
                            </a:rPr>
                          </m:ctrlPr>
                        </m:naryPr>
                        <m:sub>
                          <m:r>
                            <a:rPr lang="en-US" sz="1400" i="1">
                              <a:latin typeface="Cambria Math" panose="02040503050406030204" pitchFamily="18" charset="0"/>
                            </a:rPr>
                            <m:t>𝑘</m:t>
                          </m:r>
                          <m:r>
                            <a:rPr lang="en-US" sz="1400" i="1">
                              <a:latin typeface="Cambria Math" panose="02040503050406030204" pitchFamily="18" charset="0"/>
                            </a:rPr>
                            <m:t>=1</m:t>
                          </m:r>
                        </m:sub>
                        <m:sup>
                          <m:r>
                            <a:rPr lang="en-US" sz="1400" i="1">
                              <a:latin typeface="Cambria Math" panose="02040503050406030204" pitchFamily="18" charset="0"/>
                            </a:rPr>
                            <m:t>𝐾</m:t>
                          </m:r>
                        </m:sup>
                        <m:e>
                          <m:sSub>
                            <m:sSubPr>
                              <m:ctrlPr>
                                <a:rPr lang="en-US" sz="1400" i="1">
                                  <a:solidFill>
                                    <a:schemeClr val="tx2">
                                      <a:lumMod val="60000"/>
                                      <a:lumOff val="40000"/>
                                    </a:schemeClr>
                                  </a:solidFill>
                                  <a:latin typeface="Cambria Math" panose="02040503050406030204" pitchFamily="18" charset="0"/>
                                </a:rPr>
                              </m:ctrlPr>
                            </m:sSubPr>
                            <m:e>
                              <m:r>
                                <a:rPr lang="en-US" sz="1400" i="1">
                                  <a:solidFill>
                                    <a:schemeClr val="tx2">
                                      <a:lumMod val="60000"/>
                                      <a:lumOff val="40000"/>
                                    </a:schemeClr>
                                  </a:solidFill>
                                  <a:latin typeface="Cambria Math" panose="02040503050406030204" pitchFamily="18" charset="0"/>
                                </a:rPr>
                                <m:t>𝜋</m:t>
                              </m:r>
                            </m:e>
                            <m:sub>
                              <m:r>
                                <a:rPr lang="en-US" sz="1400" i="1">
                                  <a:solidFill>
                                    <a:schemeClr val="tx2">
                                      <a:lumMod val="60000"/>
                                      <a:lumOff val="40000"/>
                                    </a:schemeClr>
                                  </a:solidFill>
                                  <a:latin typeface="Cambria Math" panose="02040503050406030204" pitchFamily="18" charset="0"/>
                                </a:rPr>
                                <m:t>𝑘</m:t>
                              </m:r>
                            </m:sub>
                          </m:sSub>
                        </m:e>
                      </m:nary>
                      <m:r>
                        <a:rPr lang="en-US" sz="1400" i="1" smtClean="0">
                          <a:solidFill>
                            <a:schemeClr val="accent6">
                              <a:lumMod val="75000"/>
                            </a:schemeClr>
                          </a:solidFill>
                          <a:latin typeface="Cambria Math" panose="02040503050406030204" pitchFamily="18" charset="0"/>
                        </a:rPr>
                        <m:t>𝒩</m:t>
                      </m:r>
                      <m:d>
                        <m:dPr>
                          <m:ctrlPr>
                            <a:rPr lang="en-US" sz="1400" i="1">
                              <a:solidFill>
                                <a:schemeClr val="accent6">
                                  <a:lumMod val="75000"/>
                                </a:schemeClr>
                              </a:solidFill>
                              <a:latin typeface="Cambria Math" panose="02040503050406030204" pitchFamily="18" charset="0"/>
                            </a:rPr>
                          </m:ctrlPr>
                        </m:dPr>
                        <m:e>
                          <m:r>
                            <a:rPr lang="en-US" sz="1400" i="1">
                              <a:solidFill>
                                <a:schemeClr val="accent6">
                                  <a:lumMod val="75000"/>
                                </a:schemeClr>
                              </a:solidFill>
                              <a:latin typeface="Cambria Math" panose="02040503050406030204" pitchFamily="18" charset="0"/>
                            </a:rPr>
                            <m:t>𝑥</m:t>
                          </m:r>
                          <m:r>
                            <a:rPr lang="vi-VN" sz="1400" b="0" i="1" smtClean="0">
                              <a:solidFill>
                                <a:schemeClr val="accent6">
                                  <a:lumMod val="75000"/>
                                </a:schemeClr>
                              </a:solidFill>
                              <a:latin typeface="Cambria Math" panose="02040503050406030204" pitchFamily="18" charset="0"/>
                            </a:rPr>
                            <m:t> </m:t>
                          </m:r>
                          <m:r>
                            <a:rPr lang="en-US" sz="1400" i="1">
                              <a:solidFill>
                                <a:schemeClr val="accent6">
                                  <a:lumMod val="75000"/>
                                </a:schemeClr>
                              </a:solidFill>
                              <a:latin typeface="Cambria Math" panose="02040503050406030204" pitchFamily="18" charset="0"/>
                            </a:rPr>
                            <m:t>|</m:t>
                          </m:r>
                          <m:r>
                            <a:rPr lang="vi-VN" sz="1400" b="0" i="1" smtClean="0">
                              <a:solidFill>
                                <a:schemeClr val="accent6">
                                  <a:lumMod val="75000"/>
                                </a:schemeClr>
                              </a:solidFill>
                              <a:latin typeface="Cambria Math" panose="02040503050406030204" pitchFamily="18" charset="0"/>
                            </a:rPr>
                            <m:t> </m:t>
                          </m:r>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𝜇</m:t>
                              </m:r>
                            </m:e>
                            <m:sub>
                              <m:r>
                                <a:rPr lang="en-US" sz="1400" i="1">
                                  <a:solidFill>
                                    <a:schemeClr val="accent6">
                                      <a:lumMod val="75000"/>
                                    </a:schemeClr>
                                  </a:solidFill>
                                  <a:latin typeface="Cambria Math" panose="02040503050406030204" pitchFamily="18" charset="0"/>
                                </a:rPr>
                                <m:t>𝑘</m:t>
                              </m:r>
                            </m:sub>
                          </m:sSub>
                          <m:r>
                            <a:rPr lang="en-US" sz="1400" i="1">
                              <a:solidFill>
                                <a:schemeClr val="accent6">
                                  <a:lumMod val="75000"/>
                                </a:schemeClr>
                              </a:solidFill>
                              <a:latin typeface="Cambria Math" panose="02040503050406030204" pitchFamily="18" charset="0"/>
                            </a:rPr>
                            <m:t>,</m:t>
                          </m:r>
                          <m:sSub>
                            <m:sSubPr>
                              <m:ctrlPr>
                                <a:rPr lang="en-US" sz="1400" i="1">
                                  <a:solidFill>
                                    <a:schemeClr val="accent6">
                                      <a:lumMod val="75000"/>
                                    </a:schemeClr>
                                  </a:solidFill>
                                  <a:latin typeface="Cambria Math" panose="02040503050406030204" pitchFamily="18" charset="0"/>
                                </a:rPr>
                              </m:ctrlPr>
                            </m:sSubPr>
                            <m:e>
                              <m:r>
                                <m:rPr>
                                  <m:sty m:val="p"/>
                                </m:rPr>
                                <a:rPr lang="en-US" sz="1400" i="1">
                                  <a:solidFill>
                                    <a:schemeClr val="accent6">
                                      <a:lumMod val="75000"/>
                                    </a:schemeClr>
                                  </a:solidFill>
                                  <a:latin typeface="Cambria Math" panose="02040503050406030204" pitchFamily="18" charset="0"/>
                                </a:rPr>
                                <m:t>Σ</m:t>
                              </m:r>
                            </m:e>
                            <m:sub>
                              <m:r>
                                <a:rPr lang="en-US" sz="1400" i="1">
                                  <a:solidFill>
                                    <a:schemeClr val="accent6">
                                      <a:lumMod val="75000"/>
                                    </a:schemeClr>
                                  </a:solidFill>
                                  <a:latin typeface="Cambria Math" panose="02040503050406030204" pitchFamily="18" charset="0"/>
                                </a:rPr>
                                <m:t>𝑘</m:t>
                              </m:r>
                            </m:sub>
                          </m:sSub>
                        </m:e>
                      </m:d>
                    </m:oMath>
                  </m:oMathPara>
                </a14:m>
                <a:endParaRPr lang="en-VN" sz="1400" dirty="0"/>
              </a:p>
            </p:txBody>
          </p:sp>
        </mc:Choice>
        <mc:Fallback xmlns="">
          <p:sp>
            <p:nvSpPr>
              <p:cNvPr id="14" name="TextBox 13">
                <a:extLst>
                  <a:ext uri="{FF2B5EF4-FFF2-40B4-BE49-F238E27FC236}">
                    <a16:creationId xmlns:a16="http://schemas.microsoft.com/office/drawing/2014/main" id="{D5AFA480-9790-F614-7DB0-B8E75A379E5E}"/>
                  </a:ext>
                </a:extLst>
              </p:cNvPr>
              <p:cNvSpPr txBox="1">
                <a:spLocks noRot="1" noChangeAspect="1" noMove="1" noResize="1" noEditPoints="1" noAdjustHandles="1" noChangeArrowheads="1" noChangeShapeType="1" noTextEdit="1"/>
              </p:cNvSpPr>
              <p:nvPr/>
            </p:nvSpPr>
            <p:spPr>
              <a:xfrm>
                <a:off x="6026286" y="5243461"/>
                <a:ext cx="2470706" cy="605807"/>
              </a:xfrm>
              <a:prstGeom prst="rect">
                <a:avLst/>
              </a:prstGeom>
              <a:blipFill>
                <a:blip r:embed="rId8"/>
                <a:stretch>
                  <a:fillRect l="-510" t="-110000" b="-172000"/>
                </a:stretch>
              </a:blipFill>
              <a:ln w="12700">
                <a:solidFill>
                  <a:schemeClr val="tx2"/>
                </a:solidFill>
              </a:ln>
            </p:spPr>
            <p:txBody>
              <a:bodyPr/>
              <a:lstStyle/>
              <a:p>
                <a:r>
                  <a:rPr lang="en-VN">
                    <a:noFill/>
                  </a:rPr>
                  <a:t> </a:t>
                </a:r>
              </a:p>
            </p:txBody>
          </p:sp>
        </mc:Fallback>
      </mc:AlternateContent>
      <p:sp>
        <p:nvSpPr>
          <p:cNvPr id="17" name="TextBox 16">
            <a:extLst>
              <a:ext uri="{FF2B5EF4-FFF2-40B4-BE49-F238E27FC236}">
                <a16:creationId xmlns:a16="http://schemas.microsoft.com/office/drawing/2014/main" id="{5686C780-095D-2AD3-2D3C-EF0DFF62ECED}"/>
              </a:ext>
            </a:extLst>
          </p:cNvPr>
          <p:cNvSpPr txBox="1"/>
          <p:nvPr/>
        </p:nvSpPr>
        <p:spPr>
          <a:xfrm>
            <a:off x="364066" y="1267772"/>
            <a:ext cx="10961159" cy="892552"/>
          </a:xfrm>
          <a:prstGeom prst="rect">
            <a:avLst/>
          </a:prstGeom>
          <a:noFill/>
        </p:spPr>
        <p:txBody>
          <a:bodyPr wrap="square">
            <a:spAutoFit/>
          </a:bodyPr>
          <a:lstStyle/>
          <a:p>
            <a:pPr>
              <a:spcAft>
                <a:spcPts val="600"/>
              </a:spcAft>
            </a:pPr>
            <a:r>
              <a:rPr lang="vi-VN" sz="1400" b="1" dirty="0">
                <a:solidFill>
                  <a:srgbClr val="1B8A7A"/>
                </a:solidFill>
                <a:latin typeface="Arial"/>
              </a:rPr>
              <a:t>2.1. Gaussian Mixture Model (GMM) - </a:t>
            </a:r>
            <a:r>
              <a:rPr lang="vi-VN" sz="1000" b="1" dirty="0">
                <a:solidFill>
                  <a:schemeClr val="accent5">
                    <a:lumMod val="60000"/>
                    <a:lumOff val="40000"/>
                  </a:schemeClr>
                </a:solidFill>
                <a:latin typeface="Arial"/>
              </a:rPr>
              <a:t>Mô hình hỗn hợp phân phối chuẩn</a:t>
            </a:r>
          </a:p>
          <a:p>
            <a:pPr>
              <a:spcAft>
                <a:spcPts val="600"/>
              </a:spcAft>
            </a:pPr>
            <a:r>
              <a:rPr lang="vi-VN" sz="1400" b="1" dirty="0">
                <a:solidFill>
                  <a:schemeClr val="bg2">
                    <a:lumMod val="50000"/>
                  </a:schemeClr>
                </a:solidFill>
                <a:latin typeface="Arial"/>
              </a:rPr>
              <a:t>2.1.1. Tìm hàm số mô hình</a:t>
            </a:r>
            <a:endParaRPr lang="vi-VN" sz="1400" dirty="0">
              <a:solidFill>
                <a:schemeClr val="bg2">
                  <a:lumMod val="50000"/>
                </a:schemeClr>
              </a:solidFill>
              <a:latin typeface="Arial"/>
            </a:endParaRPr>
          </a:p>
          <a:p>
            <a:pPr>
              <a:spcAft>
                <a:spcPts val="600"/>
              </a:spcAft>
            </a:pPr>
            <a:r>
              <a:rPr lang="vi-VN" sz="1400" dirty="0">
                <a:solidFill>
                  <a:srgbClr val="444B52"/>
                </a:solidFill>
                <a:latin typeface="Arial"/>
              </a:rPr>
              <a:t>	- Là một mô hình (đường màu tím như đèo núi) kết hợp từ nhiều mô hình phân phối chuẩn (2 đường đỏ và xanh như cái chuông)</a:t>
            </a:r>
          </a:p>
        </p:txBody>
      </p:sp>
      <p:sp>
        <p:nvSpPr>
          <p:cNvPr id="3" name="TextBox 2">
            <a:extLst>
              <a:ext uri="{FF2B5EF4-FFF2-40B4-BE49-F238E27FC236}">
                <a16:creationId xmlns:a16="http://schemas.microsoft.com/office/drawing/2014/main" id="{5B7E5D3B-7C5E-81E7-74A3-3D44C3C7A20D}"/>
              </a:ext>
            </a:extLst>
          </p:cNvPr>
          <p:cNvSpPr txBox="1"/>
          <p:nvPr/>
        </p:nvSpPr>
        <p:spPr>
          <a:xfrm>
            <a:off x="5625737" y="6018647"/>
            <a:ext cx="6138332" cy="307777"/>
          </a:xfrm>
          <a:prstGeom prst="rect">
            <a:avLst/>
          </a:prstGeom>
          <a:noFill/>
        </p:spPr>
        <p:txBody>
          <a:bodyPr wrap="square">
            <a:spAutoFit/>
          </a:bodyPr>
          <a:lstStyle/>
          <a:p>
            <a:pPr>
              <a:spcAft>
                <a:spcPts val="600"/>
              </a:spcAft>
            </a:pPr>
            <a:r>
              <a:rPr lang="vi-VN" sz="1400" dirty="0">
                <a:solidFill>
                  <a:srgbClr val="444B52"/>
                </a:solidFill>
                <a:latin typeface="Arial"/>
              </a:rPr>
              <a:t>Áp dụng định lý </a:t>
            </a:r>
            <a:r>
              <a:rPr lang="vi-VN" sz="1400" b="1" dirty="0">
                <a:solidFill>
                  <a:srgbClr val="444B52"/>
                </a:solidFill>
                <a:latin typeface="Arial"/>
              </a:rPr>
              <a:t>Phân phối toàn phần</a:t>
            </a:r>
          </a:p>
        </p:txBody>
      </p:sp>
    </p:spTree>
    <p:extLst>
      <p:ext uri="{BB962C8B-B14F-4D97-AF65-F5344CB8AC3E}">
        <p14:creationId xmlns:p14="http://schemas.microsoft.com/office/powerpoint/2010/main" val="8005268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2F6AC5-9372-43A9-FED1-331DF3854A8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6D36041-E1B3-9271-CA2B-6CBB974243D9}"/>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p:sp>
        <p:nvSpPr>
          <p:cNvPr id="10" name="TextBox 9">
            <a:extLst>
              <a:ext uri="{FF2B5EF4-FFF2-40B4-BE49-F238E27FC236}">
                <a16:creationId xmlns:a16="http://schemas.microsoft.com/office/drawing/2014/main" id="{CA3FAD9F-76DC-523E-3999-8EBF5954F3EA}"/>
              </a:ext>
            </a:extLst>
          </p:cNvPr>
          <p:cNvSpPr txBox="1"/>
          <p:nvPr/>
        </p:nvSpPr>
        <p:spPr>
          <a:xfrm>
            <a:off x="364067" y="1267772"/>
            <a:ext cx="6158653" cy="723275"/>
          </a:xfrm>
          <a:prstGeom prst="rect">
            <a:avLst/>
          </a:prstGeom>
          <a:noFill/>
        </p:spPr>
        <p:txBody>
          <a:bodyPr wrap="square">
            <a:spAutoFit/>
          </a:bodyPr>
          <a:lstStyle/>
          <a:p>
            <a:pPr>
              <a:spcAft>
                <a:spcPts val="600"/>
              </a:spcAft>
            </a:pPr>
            <a:r>
              <a:rPr lang="en-US" sz="1400" b="1" dirty="0" err="1">
                <a:solidFill>
                  <a:srgbClr val="1B8A7A"/>
                </a:solidFill>
                <a:latin typeface="Arial"/>
              </a:rPr>
              <a:t>Kiến</a:t>
            </a:r>
            <a:r>
              <a:rPr lang="en-US" sz="1400" b="1" dirty="0">
                <a:solidFill>
                  <a:srgbClr val="1B8A7A"/>
                </a:solidFill>
                <a:latin typeface="Arial"/>
              </a:rPr>
              <a:t> </a:t>
            </a:r>
            <a:r>
              <a:rPr lang="en-US" sz="1400" b="1" dirty="0" err="1">
                <a:solidFill>
                  <a:srgbClr val="1B8A7A"/>
                </a:solidFill>
                <a:latin typeface="Arial"/>
              </a:rPr>
              <a:t>thức</a:t>
            </a:r>
            <a:r>
              <a:rPr lang="en-US" sz="1400" b="1" dirty="0">
                <a:solidFill>
                  <a:srgbClr val="1B8A7A"/>
                </a:solidFill>
                <a:latin typeface="Arial"/>
              </a:rPr>
              <a:t> </a:t>
            </a:r>
            <a:r>
              <a:rPr lang="en-US" sz="1400" b="1" dirty="0" err="1">
                <a:solidFill>
                  <a:srgbClr val="1B8A7A"/>
                </a:solidFill>
                <a:latin typeface="Arial"/>
              </a:rPr>
              <a:t>nền</a:t>
            </a:r>
            <a:endParaRPr lang="en-US" sz="1400" b="1" dirty="0">
              <a:solidFill>
                <a:srgbClr val="1B8A7A"/>
              </a:solidFill>
              <a:latin typeface="Arial"/>
            </a:endParaRPr>
          </a:p>
          <a:p>
            <a:pPr>
              <a:spcAft>
                <a:spcPts val="600"/>
              </a:spcAft>
            </a:pPr>
            <a:r>
              <a:rPr lang="vi-VN" sz="1400" dirty="0">
                <a:solidFill>
                  <a:srgbClr val="444B52"/>
                </a:solidFill>
                <a:latin typeface="Arial"/>
              </a:rPr>
              <a:t>Phân phối chuẩn (hình cái chuông)</a:t>
            </a:r>
            <a:br>
              <a:rPr lang="vi-VN" sz="1400" dirty="0">
                <a:solidFill>
                  <a:srgbClr val="444B52"/>
                </a:solidFill>
                <a:latin typeface="Arial"/>
              </a:rPr>
            </a:br>
            <a:r>
              <a:rPr lang="vi-VN" sz="800" dirty="0">
                <a:solidFill>
                  <a:srgbClr val="444B52"/>
                </a:solidFill>
                <a:latin typeface="Arial"/>
              </a:rPr>
              <a:t>(nhiều tên gọi hàn lâm như </a:t>
            </a:r>
            <a:r>
              <a:rPr lang="vi-VN" sz="800" b="1" dirty="0">
                <a:solidFill>
                  <a:srgbClr val="444B52"/>
                </a:solidFill>
                <a:latin typeface="Arial"/>
              </a:rPr>
              <a:t>Hàm Phân phối chuẩn</a:t>
            </a:r>
            <a:r>
              <a:rPr lang="vi-VN" sz="800" dirty="0">
                <a:solidFill>
                  <a:srgbClr val="444B52"/>
                </a:solidFill>
                <a:latin typeface="Arial"/>
              </a:rPr>
              <a:t>, </a:t>
            </a:r>
            <a:r>
              <a:rPr lang="vi-VN" sz="800" b="1" dirty="0">
                <a:solidFill>
                  <a:srgbClr val="444B52"/>
                </a:solidFill>
                <a:latin typeface="Arial"/>
              </a:rPr>
              <a:t>Guassian</a:t>
            </a:r>
            <a:r>
              <a:rPr lang="vi-VN" sz="800" dirty="0">
                <a:solidFill>
                  <a:srgbClr val="444B52"/>
                </a:solidFill>
                <a:latin typeface="Arial"/>
              </a:rPr>
              <a:t>, </a:t>
            </a:r>
            <a:r>
              <a:rPr lang="vi-VN" sz="800" b="1" dirty="0">
                <a:solidFill>
                  <a:srgbClr val="444B52"/>
                </a:solidFill>
                <a:latin typeface="Arial"/>
              </a:rPr>
              <a:t>Normal Distribution</a:t>
            </a:r>
            <a:r>
              <a:rPr lang="vi-VN" sz="800" dirty="0">
                <a:solidFill>
                  <a:srgbClr val="444B52"/>
                </a:solidFill>
                <a:latin typeface="Arial"/>
              </a:rPr>
              <a:t>, </a:t>
            </a:r>
            <a:r>
              <a:rPr lang="vi-VN" sz="800" b="1" dirty="0">
                <a:solidFill>
                  <a:srgbClr val="444B52"/>
                </a:solidFill>
                <a:latin typeface="Arial"/>
              </a:rPr>
              <a:t>Bell Curve</a:t>
            </a:r>
            <a:r>
              <a:rPr lang="vi-VN" sz="800" dirty="0">
                <a:solidFill>
                  <a:srgbClr val="444B52"/>
                </a:solidFill>
                <a:latin typeface="Arial"/>
              </a:rPr>
              <a:t>)</a:t>
            </a:r>
            <a:endParaRPr lang="vi-VN" sz="1400" dirty="0">
              <a:solidFill>
                <a:srgbClr val="444B52"/>
              </a:solidFill>
              <a:latin typeface="Arial"/>
            </a:endParaRPr>
          </a:p>
        </p:txBody>
      </p:sp>
      <p:pic>
        <p:nvPicPr>
          <p:cNvPr id="8" name="Picture 7">
            <a:extLst>
              <a:ext uri="{FF2B5EF4-FFF2-40B4-BE49-F238E27FC236}">
                <a16:creationId xmlns:a16="http://schemas.microsoft.com/office/drawing/2014/main" id="{47AF6EB6-E406-5A97-2F63-AEE209F0A074}"/>
              </a:ext>
            </a:extLst>
          </p:cNvPr>
          <p:cNvPicPr>
            <a:picLocks noChangeAspect="1"/>
          </p:cNvPicPr>
          <p:nvPr/>
        </p:nvPicPr>
        <p:blipFill>
          <a:blip r:embed="rId3"/>
          <a:stretch>
            <a:fillRect/>
          </a:stretch>
        </p:blipFill>
        <p:spPr>
          <a:xfrm>
            <a:off x="187781" y="2207259"/>
            <a:ext cx="5593644" cy="4324035"/>
          </a:xfrm>
          <a:prstGeom prst="rect">
            <a:avLst/>
          </a:prstGeom>
        </p:spPr>
      </p:pic>
    </p:spTree>
    <p:extLst>
      <p:ext uri="{BB962C8B-B14F-4D97-AF65-F5344CB8AC3E}">
        <p14:creationId xmlns:p14="http://schemas.microsoft.com/office/powerpoint/2010/main" val="21118068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7D4C5-227F-55A5-FE34-0092344E0EA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D820331-3854-7358-CFB8-E01D11B4CC00}"/>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p:sp>
        <p:nvSpPr>
          <p:cNvPr id="10" name="TextBox 9">
            <a:extLst>
              <a:ext uri="{FF2B5EF4-FFF2-40B4-BE49-F238E27FC236}">
                <a16:creationId xmlns:a16="http://schemas.microsoft.com/office/drawing/2014/main" id="{A2293593-D64C-A0DB-AC19-C48BFAF8F3FE}"/>
              </a:ext>
            </a:extLst>
          </p:cNvPr>
          <p:cNvSpPr txBox="1"/>
          <p:nvPr/>
        </p:nvSpPr>
        <p:spPr>
          <a:xfrm>
            <a:off x="364067" y="1267772"/>
            <a:ext cx="6158653" cy="723275"/>
          </a:xfrm>
          <a:prstGeom prst="rect">
            <a:avLst/>
          </a:prstGeom>
          <a:noFill/>
        </p:spPr>
        <p:txBody>
          <a:bodyPr wrap="square">
            <a:spAutoFit/>
          </a:bodyPr>
          <a:lstStyle/>
          <a:p>
            <a:pPr>
              <a:spcAft>
                <a:spcPts val="600"/>
              </a:spcAft>
            </a:pPr>
            <a:r>
              <a:rPr lang="en-US" sz="1400" b="1" dirty="0" err="1">
                <a:solidFill>
                  <a:srgbClr val="1B8A7A"/>
                </a:solidFill>
                <a:latin typeface="Arial"/>
              </a:rPr>
              <a:t>Kiến</a:t>
            </a:r>
            <a:r>
              <a:rPr lang="en-US" sz="1400" b="1" dirty="0">
                <a:solidFill>
                  <a:srgbClr val="1B8A7A"/>
                </a:solidFill>
                <a:latin typeface="Arial"/>
              </a:rPr>
              <a:t> </a:t>
            </a:r>
            <a:r>
              <a:rPr lang="en-US" sz="1400" b="1" dirty="0" err="1">
                <a:solidFill>
                  <a:srgbClr val="1B8A7A"/>
                </a:solidFill>
                <a:latin typeface="Arial"/>
              </a:rPr>
              <a:t>thức</a:t>
            </a:r>
            <a:r>
              <a:rPr lang="en-US" sz="1400" b="1" dirty="0">
                <a:solidFill>
                  <a:srgbClr val="1B8A7A"/>
                </a:solidFill>
                <a:latin typeface="Arial"/>
              </a:rPr>
              <a:t> </a:t>
            </a:r>
            <a:r>
              <a:rPr lang="en-US" sz="1400" b="1" dirty="0" err="1">
                <a:solidFill>
                  <a:srgbClr val="1B8A7A"/>
                </a:solidFill>
                <a:latin typeface="Arial"/>
              </a:rPr>
              <a:t>nền</a:t>
            </a:r>
            <a:endParaRPr lang="en-US" sz="1400" b="1" dirty="0">
              <a:solidFill>
                <a:srgbClr val="1B8A7A"/>
              </a:solidFill>
              <a:latin typeface="Arial"/>
            </a:endParaRPr>
          </a:p>
          <a:p>
            <a:pPr>
              <a:spcAft>
                <a:spcPts val="600"/>
              </a:spcAft>
            </a:pPr>
            <a:r>
              <a:rPr lang="vi-VN" sz="1400" dirty="0">
                <a:solidFill>
                  <a:srgbClr val="444B52"/>
                </a:solidFill>
                <a:latin typeface="Arial"/>
              </a:rPr>
              <a:t>Phân phối chuẩn (hình cái chuông)</a:t>
            </a:r>
            <a:br>
              <a:rPr lang="vi-VN" sz="1400" dirty="0">
                <a:solidFill>
                  <a:srgbClr val="444B52"/>
                </a:solidFill>
                <a:latin typeface="Arial"/>
              </a:rPr>
            </a:br>
            <a:r>
              <a:rPr lang="vi-VN" sz="800" dirty="0">
                <a:solidFill>
                  <a:srgbClr val="444B52"/>
                </a:solidFill>
                <a:latin typeface="Arial"/>
              </a:rPr>
              <a:t>(nhiều tên gọi hàn lâm như </a:t>
            </a:r>
            <a:r>
              <a:rPr lang="vi-VN" sz="800" b="1" dirty="0">
                <a:solidFill>
                  <a:srgbClr val="444B52"/>
                </a:solidFill>
                <a:latin typeface="Arial"/>
              </a:rPr>
              <a:t>Hàm Phân phối chuẩn</a:t>
            </a:r>
            <a:r>
              <a:rPr lang="vi-VN" sz="800" dirty="0">
                <a:solidFill>
                  <a:srgbClr val="444B52"/>
                </a:solidFill>
                <a:latin typeface="Arial"/>
              </a:rPr>
              <a:t>, </a:t>
            </a:r>
            <a:r>
              <a:rPr lang="vi-VN" sz="800" b="1" dirty="0">
                <a:solidFill>
                  <a:srgbClr val="444B52"/>
                </a:solidFill>
                <a:latin typeface="Arial"/>
              </a:rPr>
              <a:t>Guassian</a:t>
            </a:r>
            <a:r>
              <a:rPr lang="vi-VN" sz="800" dirty="0">
                <a:solidFill>
                  <a:srgbClr val="444B52"/>
                </a:solidFill>
                <a:latin typeface="Arial"/>
              </a:rPr>
              <a:t>, </a:t>
            </a:r>
            <a:r>
              <a:rPr lang="vi-VN" sz="800" b="1" dirty="0">
                <a:solidFill>
                  <a:srgbClr val="444B52"/>
                </a:solidFill>
                <a:latin typeface="Arial"/>
              </a:rPr>
              <a:t>Normal Distribution</a:t>
            </a:r>
            <a:r>
              <a:rPr lang="vi-VN" sz="800" dirty="0">
                <a:solidFill>
                  <a:srgbClr val="444B52"/>
                </a:solidFill>
                <a:latin typeface="Arial"/>
              </a:rPr>
              <a:t>, </a:t>
            </a:r>
            <a:r>
              <a:rPr lang="vi-VN" sz="800" b="1" dirty="0">
                <a:solidFill>
                  <a:srgbClr val="444B52"/>
                </a:solidFill>
                <a:latin typeface="Arial"/>
              </a:rPr>
              <a:t>Bell Curve</a:t>
            </a:r>
            <a:r>
              <a:rPr lang="vi-VN" sz="800" dirty="0">
                <a:solidFill>
                  <a:srgbClr val="444B52"/>
                </a:solidFill>
                <a:latin typeface="Arial"/>
              </a:rPr>
              <a:t>)</a:t>
            </a:r>
            <a:endParaRPr lang="vi-VN" sz="1400" dirty="0">
              <a:solidFill>
                <a:srgbClr val="444B52"/>
              </a:solidFill>
              <a:latin typeface="Arial"/>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DF33DD75-A15E-38CE-DB56-62C781F82286}"/>
                  </a:ext>
                </a:extLst>
              </p:cNvPr>
              <p:cNvSpPr txBox="1"/>
              <p:nvPr/>
            </p:nvSpPr>
            <p:spPr>
              <a:xfrm>
                <a:off x="6448730" y="2055439"/>
                <a:ext cx="3352953" cy="479618"/>
              </a:xfrm>
              <a:prstGeom prst="rect">
                <a:avLst/>
              </a:prstGeom>
              <a:noFill/>
              <a:ln w="12700">
                <a:noFill/>
              </a:ln>
            </p:spPr>
            <p:txBody>
              <a:bodyPr wrap="square" lIns="0" tIns="0" rIns="0" bIns="0" rtlCol="0">
                <a:spAutoFit/>
              </a:bodyPr>
              <a:lstStyle/>
              <a:p>
                <a:pPr/>
                <a14:m>
                  <m:oMathPara xmlns:m="http://schemas.openxmlformats.org/officeDocument/2006/math">
                    <m:oMath>
                      <m:r>
                        <a:rPr lang="en-US" sz="1400" b="0" i="1" smtClean="0">
                          <a:solidFill>
                            <a:schemeClr val="accent6">
                              <a:lumMod val="75000"/>
                            </a:schemeClr>
                          </a:solidFill>
                          <a:latin typeface="Cambria Math" panose="02040503050406030204" pitchFamily="18" charset="0"/>
                        </a:rPr>
                        <m:t>𝒩</m:t>
                      </m:r>
                      <m:d>
                        <m:dPr>
                          <m:ctrlPr>
                            <a:rPr lang="en-VN" sz="1400" b="0" i="1" smtClean="0">
                              <a:solidFill>
                                <a:schemeClr val="accent6">
                                  <a:lumMod val="75000"/>
                                </a:schemeClr>
                              </a:solidFill>
                              <a:latin typeface="Cambria Math" panose="02040503050406030204" pitchFamily="18" charset="0"/>
                            </a:rPr>
                          </m:ctrlPr>
                        </m:dPr>
                        <m:e>
                          <m:r>
                            <a:rPr lang="en-VN" sz="1400" b="0" i="1" smtClean="0">
                              <a:solidFill>
                                <a:schemeClr val="accent6">
                                  <a:lumMod val="75000"/>
                                </a:schemeClr>
                              </a:solidFill>
                              <a:latin typeface="Cambria Math" panose="02040503050406030204" pitchFamily="18" charset="0"/>
                            </a:rPr>
                            <m:t>𝑥</m:t>
                          </m:r>
                          <m:r>
                            <a:rPr lang="vi-VN" sz="1400" b="0" i="0" smtClean="0">
                              <a:solidFill>
                                <a:schemeClr val="accent6">
                                  <a:lumMod val="75000"/>
                                </a:schemeClr>
                              </a:solidFill>
                              <a:latin typeface="Cambria Math" panose="02040503050406030204" pitchFamily="18" charset="0"/>
                            </a:rPr>
                            <m:t> </m:t>
                          </m:r>
                          <m:r>
                            <a:rPr lang="en-VN" sz="1400" b="0" i="0">
                              <a:solidFill>
                                <a:schemeClr val="accent6">
                                  <a:lumMod val="75000"/>
                                </a:schemeClr>
                              </a:solidFill>
                              <a:latin typeface="Cambria Math" panose="02040503050406030204" pitchFamily="18" charset="0"/>
                            </a:rPr>
                            <m:t>|</m:t>
                          </m:r>
                          <m:r>
                            <a:rPr lang="vi-VN" sz="1400" b="0" i="0" smtClean="0">
                              <a:solidFill>
                                <a:schemeClr val="accent6">
                                  <a:lumMod val="75000"/>
                                </a:schemeClr>
                              </a:solidFill>
                              <a:latin typeface="Cambria Math" panose="02040503050406030204" pitchFamily="18" charset="0"/>
                            </a:rPr>
                            <m:t> </m:t>
                          </m:r>
                          <m:r>
                            <a:rPr lang="en-VN" sz="1400" b="0" i="1" smtClean="0">
                              <a:solidFill>
                                <a:schemeClr val="accent6">
                                  <a:lumMod val="75000"/>
                                </a:schemeClr>
                              </a:solidFill>
                              <a:latin typeface="Cambria Math" panose="02040503050406030204" pitchFamily="18" charset="0"/>
                            </a:rPr>
                            <m:t>𝜇</m:t>
                          </m:r>
                          <m:r>
                            <a:rPr lang="en-VN" sz="1400" b="0" i="0">
                              <a:solidFill>
                                <a:schemeClr val="accent6">
                                  <a:lumMod val="75000"/>
                                </a:schemeClr>
                              </a:solidFill>
                              <a:latin typeface="Cambria Math" panose="02040503050406030204" pitchFamily="18" charset="0"/>
                            </a:rPr>
                            <m:t>,</m:t>
                          </m:r>
                          <m:sSup>
                            <m:sSupPr>
                              <m:ctrlPr>
                                <a:rPr lang="en-VN" sz="1400" b="0" i="1" smtClean="0">
                                  <a:solidFill>
                                    <a:schemeClr val="accent6">
                                      <a:lumMod val="75000"/>
                                    </a:schemeClr>
                                  </a:solidFill>
                                  <a:latin typeface="Cambria Math" panose="02040503050406030204" pitchFamily="18" charset="0"/>
                                </a:rPr>
                              </m:ctrlPr>
                            </m:sSupPr>
                            <m:e>
                              <m:r>
                                <a:rPr lang="en-VN" sz="1400" b="0" i="1" smtClean="0">
                                  <a:solidFill>
                                    <a:schemeClr val="accent6">
                                      <a:lumMod val="75000"/>
                                    </a:schemeClr>
                                  </a:solidFill>
                                  <a:latin typeface="Cambria Math" panose="02040503050406030204" pitchFamily="18" charset="0"/>
                                </a:rPr>
                                <m:t>𝜎</m:t>
                              </m:r>
                            </m:e>
                            <m:sup>
                              <m:r>
                                <a:rPr lang="en-VN" sz="1400" b="0" i="0">
                                  <a:solidFill>
                                    <a:schemeClr val="accent6">
                                      <a:lumMod val="75000"/>
                                    </a:schemeClr>
                                  </a:solidFill>
                                  <a:latin typeface="Cambria Math" panose="02040503050406030204" pitchFamily="18" charset="0"/>
                                </a:rPr>
                                <m:t>2</m:t>
                              </m:r>
                            </m:sup>
                          </m:sSup>
                        </m:e>
                      </m:d>
                      <m:r>
                        <a:rPr lang="en-VN" sz="1400" b="0" i="0">
                          <a:latin typeface="Cambria Math" panose="02040503050406030204" pitchFamily="18" charset="0"/>
                        </a:rPr>
                        <m:t>=</m:t>
                      </m:r>
                      <m:f>
                        <m:fPr>
                          <m:ctrlPr>
                            <a:rPr lang="en-VN" sz="1400" b="0" i="0">
                              <a:latin typeface="Cambria Math" panose="02040503050406030204" pitchFamily="18" charset="0"/>
                            </a:rPr>
                          </m:ctrlPr>
                        </m:fPr>
                        <m:num>
                          <m:r>
                            <a:rPr lang="en-VN" sz="1400" b="0" i="0">
                              <a:latin typeface="Cambria Math" panose="02040503050406030204" pitchFamily="18" charset="0"/>
                            </a:rPr>
                            <m:t>1</m:t>
                          </m:r>
                        </m:num>
                        <m:den>
                          <m:r>
                            <a:rPr lang="en-VN" sz="1400" b="0" i="1" smtClean="0">
                              <a:solidFill>
                                <a:srgbClr val="00B050"/>
                              </a:solidFill>
                              <a:latin typeface="Cambria Math" panose="02040503050406030204" pitchFamily="18" charset="0"/>
                            </a:rPr>
                            <m:t>𝜎</m:t>
                          </m:r>
                          <m:rad>
                            <m:radPr>
                              <m:degHide m:val="on"/>
                              <m:ctrlPr>
                                <a:rPr lang="en-VN" sz="1400" i="1">
                                  <a:latin typeface="Cambria Math" panose="02040503050406030204" pitchFamily="18" charset="0"/>
                                </a:rPr>
                              </m:ctrlPr>
                            </m:radPr>
                            <m:deg/>
                            <m:e>
                              <m:r>
                                <a:rPr lang="en-VN" sz="1400" b="0" i="0">
                                  <a:latin typeface="Cambria Math" panose="02040503050406030204" pitchFamily="18" charset="0"/>
                                </a:rPr>
                                <m:t>2</m:t>
                              </m:r>
                              <m:r>
                                <a:rPr lang="en-VN" sz="1400" b="0" i="1">
                                  <a:latin typeface="Cambria Math" panose="02040503050406030204" pitchFamily="18" charset="0"/>
                                </a:rPr>
                                <m:t>𝜋</m:t>
                              </m:r>
                            </m:e>
                          </m:rad>
                        </m:den>
                      </m:f>
                      <m:sSup>
                        <m:sSupPr>
                          <m:ctrlPr>
                            <a:rPr lang="en-VN" sz="1400" b="0" i="1">
                              <a:latin typeface="Cambria Math" panose="02040503050406030204" pitchFamily="18" charset="0"/>
                            </a:rPr>
                          </m:ctrlPr>
                        </m:sSupPr>
                        <m:e>
                          <m:r>
                            <a:rPr lang="en-VN" sz="1400" b="0" i="1">
                              <a:latin typeface="Cambria Math" panose="02040503050406030204" pitchFamily="18" charset="0"/>
                            </a:rPr>
                            <m:t>𝑒</m:t>
                          </m:r>
                        </m:e>
                        <m:sup>
                          <m:r>
                            <a:rPr lang="en-VN" sz="1400" b="0" i="0">
                              <a:latin typeface="Cambria Math" panose="02040503050406030204" pitchFamily="18" charset="0"/>
                            </a:rPr>
                            <m:t>−</m:t>
                          </m:r>
                          <m:f>
                            <m:fPr>
                              <m:ctrlPr>
                                <a:rPr lang="en-VN" sz="1400" b="0" i="1" smtClean="0">
                                  <a:solidFill>
                                    <a:schemeClr val="accent6">
                                      <a:lumMod val="75000"/>
                                    </a:schemeClr>
                                  </a:solidFill>
                                  <a:latin typeface="Cambria Math" panose="02040503050406030204" pitchFamily="18" charset="0"/>
                                </a:rPr>
                              </m:ctrlPr>
                            </m:fPr>
                            <m:num>
                              <m:sSup>
                                <m:sSupPr>
                                  <m:ctrlPr>
                                    <a:rPr lang="en-VN" sz="1400" b="0" i="1" smtClean="0">
                                      <a:solidFill>
                                        <a:schemeClr val="accent6">
                                          <a:lumMod val="75000"/>
                                        </a:schemeClr>
                                      </a:solidFill>
                                      <a:latin typeface="Cambria Math" panose="02040503050406030204" pitchFamily="18" charset="0"/>
                                    </a:rPr>
                                  </m:ctrlPr>
                                </m:sSupPr>
                                <m:e>
                                  <m:d>
                                    <m:dPr>
                                      <m:ctrlPr>
                                        <a:rPr lang="en-VN" sz="1400" b="0" i="1" smtClean="0">
                                          <a:solidFill>
                                            <a:schemeClr val="accent6">
                                              <a:lumMod val="75000"/>
                                            </a:schemeClr>
                                          </a:solidFill>
                                          <a:latin typeface="Cambria Math" panose="02040503050406030204" pitchFamily="18" charset="0"/>
                                        </a:rPr>
                                      </m:ctrlPr>
                                    </m:dPr>
                                    <m:e>
                                      <m:r>
                                        <a:rPr lang="en-VN" sz="1400" b="0" i="1" smtClean="0">
                                          <a:solidFill>
                                            <a:schemeClr val="accent6">
                                              <a:lumMod val="75000"/>
                                            </a:schemeClr>
                                          </a:solidFill>
                                          <a:latin typeface="Cambria Math" panose="02040503050406030204" pitchFamily="18" charset="0"/>
                                        </a:rPr>
                                        <m:t>𝑥</m:t>
                                      </m:r>
                                      <m:r>
                                        <a:rPr lang="en-VN" sz="1400" b="0" i="0">
                                          <a:solidFill>
                                            <a:schemeClr val="tx1"/>
                                          </a:solidFill>
                                          <a:latin typeface="Cambria Math" panose="02040503050406030204" pitchFamily="18" charset="0"/>
                                        </a:rPr>
                                        <m:t>−</m:t>
                                      </m:r>
                                      <m:r>
                                        <a:rPr lang="en-VN" sz="1400" b="0" i="1" smtClean="0">
                                          <a:solidFill>
                                            <a:schemeClr val="tx2">
                                              <a:lumMod val="60000"/>
                                              <a:lumOff val="40000"/>
                                            </a:schemeClr>
                                          </a:solidFill>
                                          <a:latin typeface="Cambria Math" panose="02040503050406030204" pitchFamily="18" charset="0"/>
                                        </a:rPr>
                                        <m:t>𝜇</m:t>
                                      </m:r>
                                    </m:e>
                                  </m:d>
                                </m:e>
                                <m:sup>
                                  <m:r>
                                    <a:rPr lang="en-VN" sz="1400" b="0" i="0">
                                      <a:latin typeface="Cambria Math" panose="02040503050406030204" pitchFamily="18" charset="0"/>
                                    </a:rPr>
                                    <m:t>2</m:t>
                                  </m:r>
                                </m:sup>
                              </m:sSup>
                            </m:num>
                            <m:den>
                              <m:r>
                                <a:rPr lang="en-VN" sz="1400" b="0" i="0">
                                  <a:latin typeface="Cambria Math" panose="02040503050406030204" pitchFamily="18" charset="0"/>
                                </a:rPr>
                                <m:t>2</m:t>
                              </m:r>
                              <m:sSup>
                                <m:sSupPr>
                                  <m:ctrlPr>
                                    <a:rPr lang="en-VN" sz="1400" b="0" i="1" smtClean="0">
                                      <a:solidFill>
                                        <a:srgbClr val="00B050"/>
                                      </a:solidFill>
                                      <a:latin typeface="Cambria Math" panose="02040503050406030204" pitchFamily="18" charset="0"/>
                                    </a:rPr>
                                  </m:ctrlPr>
                                </m:sSupPr>
                                <m:e>
                                  <m:r>
                                    <a:rPr lang="en-VN" sz="1400" b="0" i="1" smtClean="0">
                                      <a:solidFill>
                                        <a:srgbClr val="00B050"/>
                                      </a:solidFill>
                                      <a:latin typeface="Cambria Math" panose="02040503050406030204" pitchFamily="18" charset="0"/>
                                    </a:rPr>
                                    <m:t>𝜎</m:t>
                                  </m:r>
                                </m:e>
                                <m:sup>
                                  <m:r>
                                    <a:rPr lang="en-VN" sz="1400" b="0" i="0">
                                      <a:solidFill>
                                        <a:schemeClr val="tx1"/>
                                      </a:solidFill>
                                      <a:latin typeface="Cambria Math" panose="02040503050406030204" pitchFamily="18" charset="0"/>
                                    </a:rPr>
                                    <m:t>2</m:t>
                                  </m:r>
                                </m:sup>
                              </m:sSup>
                            </m:den>
                          </m:f>
                        </m:sup>
                      </m:sSup>
                    </m:oMath>
                  </m:oMathPara>
                </a14:m>
                <a:endParaRPr lang="en-VN" sz="1400" dirty="0"/>
              </a:p>
            </p:txBody>
          </p:sp>
        </mc:Choice>
        <mc:Fallback>
          <p:sp>
            <p:nvSpPr>
              <p:cNvPr id="14" name="TextBox 13">
                <a:extLst>
                  <a:ext uri="{FF2B5EF4-FFF2-40B4-BE49-F238E27FC236}">
                    <a16:creationId xmlns:a16="http://schemas.microsoft.com/office/drawing/2014/main" id="{DF33DD75-A15E-38CE-DB56-62C781F82286}"/>
                  </a:ext>
                </a:extLst>
              </p:cNvPr>
              <p:cNvSpPr txBox="1">
                <a:spLocks noRot="1" noChangeAspect="1" noMove="1" noResize="1" noEditPoints="1" noAdjustHandles="1" noChangeArrowheads="1" noChangeShapeType="1" noTextEdit="1"/>
              </p:cNvSpPr>
              <p:nvPr/>
            </p:nvSpPr>
            <p:spPr>
              <a:xfrm>
                <a:off x="6448730" y="2055439"/>
                <a:ext cx="3352953" cy="479618"/>
              </a:xfrm>
              <a:prstGeom prst="rect">
                <a:avLst/>
              </a:prstGeom>
              <a:blipFill>
                <a:blip r:embed="rId3"/>
                <a:stretch>
                  <a:fillRect b="-10256"/>
                </a:stretch>
              </a:blipFill>
              <a:ln w="12700">
                <a:noFill/>
              </a:ln>
            </p:spPr>
            <p:txBody>
              <a:bodyPr/>
              <a:lstStyle/>
              <a:p>
                <a:r>
                  <a:rPr lang="en-VN">
                    <a:noFill/>
                  </a:rPr>
                  <a:t> </a:t>
                </a:r>
              </a:p>
            </p:txBody>
          </p:sp>
        </mc:Fallback>
      </mc:AlternateContent>
      <p:sp>
        <p:nvSpPr>
          <p:cNvPr id="34" name="TextBox 33">
            <a:extLst>
              <a:ext uri="{FF2B5EF4-FFF2-40B4-BE49-F238E27FC236}">
                <a16:creationId xmlns:a16="http://schemas.microsoft.com/office/drawing/2014/main" id="{B8C2F9CA-7241-4B8F-081A-2A85C5366544}"/>
              </a:ext>
            </a:extLst>
          </p:cNvPr>
          <p:cNvSpPr txBox="1"/>
          <p:nvPr/>
        </p:nvSpPr>
        <p:spPr>
          <a:xfrm>
            <a:off x="6096000" y="1296106"/>
            <a:ext cx="1997650" cy="307777"/>
          </a:xfrm>
          <a:prstGeom prst="rect">
            <a:avLst/>
          </a:prstGeom>
          <a:noFill/>
        </p:spPr>
        <p:txBody>
          <a:bodyPr wrap="square">
            <a:spAutoFit/>
          </a:bodyPr>
          <a:lstStyle/>
          <a:p>
            <a:pPr>
              <a:spcAft>
                <a:spcPts val="600"/>
              </a:spcAft>
            </a:pPr>
            <a:r>
              <a:rPr lang="en-US" sz="1400" b="1" dirty="0">
                <a:solidFill>
                  <a:srgbClr val="1B8A7A"/>
                </a:solidFill>
                <a:latin typeface="Arial"/>
              </a:rPr>
              <a:t>Công </a:t>
            </a:r>
            <a:r>
              <a:rPr lang="en-US" sz="1400" b="1" dirty="0" err="1">
                <a:solidFill>
                  <a:srgbClr val="1B8A7A"/>
                </a:solidFill>
                <a:latin typeface="Arial"/>
              </a:rPr>
              <a:t>thức</a:t>
            </a:r>
            <a:r>
              <a:rPr lang="en-US" sz="1400" b="1" dirty="0">
                <a:solidFill>
                  <a:srgbClr val="1B8A7A"/>
                </a:solidFill>
                <a:latin typeface="Arial"/>
              </a:rPr>
              <a:t> </a:t>
            </a:r>
          </a:p>
        </p:txBody>
      </p:sp>
      <p:pic>
        <p:nvPicPr>
          <p:cNvPr id="8" name="Picture 7">
            <a:extLst>
              <a:ext uri="{FF2B5EF4-FFF2-40B4-BE49-F238E27FC236}">
                <a16:creationId xmlns:a16="http://schemas.microsoft.com/office/drawing/2014/main" id="{089C776F-2EB2-72B1-935B-7C84A1E9A5AF}"/>
              </a:ext>
            </a:extLst>
          </p:cNvPr>
          <p:cNvPicPr>
            <a:picLocks noChangeAspect="1"/>
          </p:cNvPicPr>
          <p:nvPr/>
        </p:nvPicPr>
        <p:blipFill>
          <a:blip r:embed="rId4"/>
          <a:stretch>
            <a:fillRect/>
          </a:stretch>
        </p:blipFill>
        <p:spPr>
          <a:xfrm>
            <a:off x="187781" y="2207259"/>
            <a:ext cx="5593644" cy="4324035"/>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AC8D10C-0A4C-210D-2CDB-913DBB0120A7}"/>
                  </a:ext>
                </a:extLst>
              </p:cNvPr>
              <p:cNvSpPr txBox="1"/>
              <p:nvPr/>
            </p:nvSpPr>
            <p:spPr>
              <a:xfrm>
                <a:off x="6336587" y="1697423"/>
                <a:ext cx="4343148" cy="307777"/>
              </a:xfrm>
              <a:prstGeom prst="rect">
                <a:avLst/>
              </a:prstGeom>
              <a:noFill/>
            </p:spPr>
            <p:txBody>
              <a:bodyPr wrap="square">
                <a:spAutoFit/>
              </a:bodyPr>
              <a:lstStyle/>
              <a:p>
                <a:pPr>
                  <a:spcAft>
                    <a:spcPts val="600"/>
                  </a:spcAft>
                </a:pPr>
                <a:r>
                  <a:rPr lang="en-US" sz="1400" b="1" dirty="0">
                    <a:solidFill>
                      <a:srgbClr val="1B8A7A"/>
                    </a:solidFill>
                    <a:highlight>
                      <a:srgbClr val="FFFF00"/>
                    </a:highlight>
                    <a:latin typeface="Arial"/>
                  </a:rPr>
                  <a:t>Hàm </a:t>
                </a:r>
                <a:r>
                  <a:rPr lang="en-US" sz="1400" b="1" dirty="0" err="1">
                    <a:solidFill>
                      <a:srgbClr val="1B8A7A"/>
                    </a:solidFill>
                    <a:highlight>
                      <a:srgbClr val="FFFF00"/>
                    </a:highlight>
                    <a:latin typeface="Arial"/>
                  </a:rPr>
                  <a:t>phân</a:t>
                </a:r>
                <a:r>
                  <a:rPr lang="en-US" sz="1400" b="1" dirty="0">
                    <a:solidFill>
                      <a:srgbClr val="1B8A7A"/>
                    </a:solidFill>
                    <a:highlight>
                      <a:srgbClr val="FFFF00"/>
                    </a:highlight>
                    <a:latin typeface="Arial"/>
                  </a:rPr>
                  <a:t> </a:t>
                </a:r>
                <a:r>
                  <a:rPr lang="en-US" sz="1400" b="1" dirty="0" err="1">
                    <a:solidFill>
                      <a:srgbClr val="1B8A7A"/>
                    </a:solidFill>
                    <a:highlight>
                      <a:srgbClr val="FFFF00"/>
                    </a:highlight>
                    <a:latin typeface="Arial"/>
                  </a:rPr>
                  <a:t>phối</a:t>
                </a:r>
                <a:r>
                  <a:rPr lang="en-US" sz="1400" b="1" dirty="0">
                    <a:solidFill>
                      <a:srgbClr val="1B8A7A"/>
                    </a:solidFill>
                    <a:highlight>
                      <a:srgbClr val="FFFF00"/>
                    </a:highlight>
                    <a:latin typeface="Arial"/>
                  </a:rPr>
                  <a:t> </a:t>
                </a:r>
                <a:r>
                  <a:rPr lang="en-US" sz="1400" b="1" dirty="0" err="1">
                    <a:solidFill>
                      <a:srgbClr val="1B8A7A"/>
                    </a:solidFill>
                    <a:highlight>
                      <a:srgbClr val="FFFF00"/>
                    </a:highlight>
                    <a:latin typeface="Arial"/>
                  </a:rPr>
                  <a:t>chuẩn</a:t>
                </a:r>
                <a:r>
                  <a:rPr lang="en-US" sz="1400" b="1" dirty="0">
                    <a:solidFill>
                      <a:srgbClr val="1B8A7A"/>
                    </a:solidFill>
                    <a:latin typeface="Arial"/>
                  </a:rPr>
                  <a:t> (</a:t>
                </a:r>
                <a14:m>
                  <m:oMath xmlns:m="http://schemas.openxmlformats.org/officeDocument/2006/math">
                    <m:r>
                      <a:rPr lang="en-VN" sz="1400" i="1">
                        <a:solidFill>
                          <a:schemeClr val="accent6">
                            <a:lumMod val="75000"/>
                          </a:schemeClr>
                        </a:solidFill>
                        <a:latin typeface="Cambria Math" panose="02040503050406030204" pitchFamily="18" charset="0"/>
                      </a:rPr>
                      <m:t>𝑥</m:t>
                    </m:r>
                  </m:oMath>
                </a14:m>
                <a:r>
                  <a:rPr lang="en-US" sz="1400" b="1" dirty="0">
                    <a:solidFill>
                      <a:srgbClr val="1B8A7A"/>
                    </a:solidFill>
                    <a:latin typeface="Arial"/>
                  </a:rPr>
                  <a:t> </a:t>
                </a:r>
                <a:r>
                  <a:rPr lang="en-US" sz="1400" b="1" dirty="0" err="1">
                    <a:solidFill>
                      <a:srgbClr val="1B8A7A"/>
                    </a:solidFill>
                    <a:latin typeface="Arial"/>
                  </a:rPr>
                  <a:t>là</a:t>
                </a:r>
                <a:r>
                  <a:rPr lang="en-US" sz="1400" b="1" dirty="0">
                    <a:solidFill>
                      <a:srgbClr val="1B8A7A"/>
                    </a:solidFill>
                    <a:latin typeface="Arial"/>
                  </a:rPr>
                  <a:t> </a:t>
                </a:r>
                <a:r>
                  <a:rPr lang="en-US" sz="1400" b="1" dirty="0" err="1">
                    <a:solidFill>
                      <a:srgbClr val="1B8A7A"/>
                    </a:solidFill>
                    <a:latin typeface="Arial"/>
                  </a:rPr>
                  <a:t>ẩn</a:t>
                </a:r>
                <a:r>
                  <a:rPr lang="en-US" sz="1400" b="1" dirty="0">
                    <a:solidFill>
                      <a:srgbClr val="1B8A7A"/>
                    </a:solidFill>
                    <a:latin typeface="Arial"/>
                  </a:rPr>
                  <a:t>, </a:t>
                </a:r>
                <a14:m>
                  <m:oMath xmlns:m="http://schemas.openxmlformats.org/officeDocument/2006/math">
                    <m:r>
                      <a:rPr lang="en-VN" sz="1400" i="1">
                        <a:solidFill>
                          <a:schemeClr val="tx2">
                            <a:lumMod val="60000"/>
                            <a:lumOff val="40000"/>
                          </a:schemeClr>
                        </a:solidFill>
                        <a:latin typeface="Cambria Math" panose="02040503050406030204" pitchFamily="18" charset="0"/>
                      </a:rPr>
                      <m:t>𝜇</m:t>
                    </m:r>
                  </m:oMath>
                </a14:m>
                <a:r>
                  <a:rPr lang="en-US" sz="1400" b="1" dirty="0">
                    <a:solidFill>
                      <a:srgbClr val="1B8A7A"/>
                    </a:solidFill>
                    <a:latin typeface="Arial"/>
                  </a:rPr>
                  <a:t> và </a:t>
                </a:r>
                <a14:m>
                  <m:oMath xmlns:m="http://schemas.openxmlformats.org/officeDocument/2006/math">
                    <m:r>
                      <a:rPr lang="en-VN" sz="1400" i="1">
                        <a:solidFill>
                          <a:srgbClr val="00B050"/>
                        </a:solidFill>
                        <a:latin typeface="Cambria Math" panose="02040503050406030204" pitchFamily="18" charset="0"/>
                      </a:rPr>
                      <m:t>𝜎</m:t>
                    </m:r>
                  </m:oMath>
                </a14:m>
                <a:r>
                  <a:rPr lang="en-US" sz="1400" b="1" dirty="0">
                    <a:solidFill>
                      <a:srgbClr val="1B8A7A"/>
                    </a:solidFill>
                    <a:latin typeface="Arial"/>
                  </a:rPr>
                  <a:t> </a:t>
                </a:r>
                <a:r>
                  <a:rPr lang="en-US" sz="1400" b="1" dirty="0" err="1">
                    <a:solidFill>
                      <a:srgbClr val="1B8A7A"/>
                    </a:solidFill>
                    <a:latin typeface="Arial"/>
                  </a:rPr>
                  <a:t>cố</a:t>
                </a:r>
                <a:r>
                  <a:rPr lang="en-US" sz="1400" b="1" dirty="0">
                    <a:solidFill>
                      <a:srgbClr val="1B8A7A"/>
                    </a:solidFill>
                    <a:latin typeface="Arial"/>
                  </a:rPr>
                  <a:t> </a:t>
                </a:r>
                <a:r>
                  <a:rPr lang="en-US" sz="1400" b="1" dirty="0" err="1">
                    <a:solidFill>
                      <a:srgbClr val="1B8A7A"/>
                    </a:solidFill>
                    <a:latin typeface="Arial"/>
                  </a:rPr>
                  <a:t>định</a:t>
                </a:r>
                <a:r>
                  <a:rPr lang="en-US" sz="1400" b="1" dirty="0">
                    <a:solidFill>
                      <a:srgbClr val="1B8A7A"/>
                    </a:solidFill>
                    <a:latin typeface="Arial"/>
                  </a:rPr>
                  <a:t>)</a:t>
                </a:r>
              </a:p>
            </p:txBody>
          </p:sp>
        </mc:Choice>
        <mc:Fallback xmlns="">
          <p:sp>
            <p:nvSpPr>
              <p:cNvPr id="3" name="TextBox 2">
                <a:extLst>
                  <a:ext uri="{FF2B5EF4-FFF2-40B4-BE49-F238E27FC236}">
                    <a16:creationId xmlns:a16="http://schemas.microsoft.com/office/drawing/2014/main" id="{7F6B7882-6AB1-7B23-938A-E8D1ED26D273}"/>
                  </a:ext>
                </a:extLst>
              </p:cNvPr>
              <p:cNvSpPr txBox="1">
                <a:spLocks noRot="1" noChangeAspect="1" noMove="1" noResize="1" noEditPoints="1" noAdjustHandles="1" noChangeArrowheads="1" noChangeShapeType="1" noTextEdit="1"/>
              </p:cNvSpPr>
              <p:nvPr/>
            </p:nvSpPr>
            <p:spPr>
              <a:xfrm>
                <a:off x="6336587" y="1697423"/>
                <a:ext cx="4343148" cy="307777"/>
              </a:xfrm>
              <a:prstGeom prst="rect">
                <a:avLst/>
              </a:prstGeom>
              <a:blipFill>
                <a:blip r:embed="rId5"/>
                <a:stretch>
                  <a:fillRect l="-292" t="-4000" b="-2400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EFEAD909-E816-0D7D-2963-7858CF6B4665}"/>
                  </a:ext>
                </a:extLst>
              </p:cNvPr>
              <p:cNvSpPr txBox="1"/>
              <p:nvPr/>
            </p:nvSpPr>
            <p:spPr>
              <a:xfrm>
                <a:off x="6898932" y="3213677"/>
                <a:ext cx="3603057" cy="307777"/>
              </a:xfrm>
              <a:prstGeom prst="rect">
                <a:avLst/>
              </a:prstGeom>
              <a:noFill/>
            </p:spPr>
            <p:txBody>
              <a:bodyPr wrap="square">
                <a:spAutoFit/>
              </a:bodyPr>
              <a:lstStyle/>
              <a:p>
                <a14:m>
                  <m:oMath xmlns:m="http://schemas.openxmlformats.org/officeDocument/2006/math">
                    <m:r>
                      <a:rPr lang="en-VN" sz="1400" b="0" i="1">
                        <a:solidFill>
                          <a:schemeClr val="tx2">
                            <a:lumMod val="60000"/>
                            <a:lumOff val="40000"/>
                          </a:schemeClr>
                        </a:solidFill>
                        <a:latin typeface="Cambria Math" panose="02040503050406030204" pitchFamily="18" charset="0"/>
                      </a:rPr>
                      <m:t>𝜇</m:t>
                    </m:r>
                  </m:oMath>
                </a14:m>
                <a:r>
                  <a:rPr lang="vi-VN" sz="1400" dirty="0">
                    <a:solidFill>
                      <a:srgbClr val="444B52"/>
                    </a:solidFill>
                    <a:latin typeface="Arial"/>
                  </a:rPr>
                  <a:t>: Giá trị trung bình </a:t>
                </a:r>
                <a:r>
                  <a:rPr lang="vi-VN" sz="1400" dirty="0">
                    <a:solidFill>
                      <a:srgbClr val="444B52"/>
                    </a:solidFill>
                    <a:latin typeface="Arial"/>
                    <a:sym typeface="Wingdings" pitchFamily="2" charset="2"/>
                  </a:rPr>
                  <a:t>(</a:t>
                </a:r>
                <a:r>
                  <a:rPr lang="vi-VN" sz="1400" dirty="0">
                    <a:solidFill>
                      <a:schemeClr val="tx2">
                        <a:lumMod val="60000"/>
                        <a:lumOff val="40000"/>
                      </a:schemeClr>
                    </a:solidFill>
                    <a:latin typeface="Arial"/>
                  </a:rPr>
                  <a:t>Tâm chuông</a:t>
                </a:r>
                <a:r>
                  <a:rPr lang="vi-VN" sz="1400" dirty="0">
                    <a:solidFill>
                      <a:srgbClr val="444B52"/>
                    </a:solidFill>
                    <a:latin typeface="Arial"/>
                  </a:rPr>
                  <a:t>)</a:t>
                </a:r>
                <a:endParaRPr lang="en-VN" dirty="0"/>
              </a:p>
            </p:txBody>
          </p:sp>
        </mc:Choice>
        <mc:Fallback>
          <p:sp>
            <p:nvSpPr>
              <p:cNvPr id="9" name="TextBox 8">
                <a:extLst>
                  <a:ext uri="{FF2B5EF4-FFF2-40B4-BE49-F238E27FC236}">
                    <a16:creationId xmlns:a16="http://schemas.microsoft.com/office/drawing/2014/main" id="{EFEAD909-E816-0D7D-2963-7858CF6B4665}"/>
                  </a:ext>
                </a:extLst>
              </p:cNvPr>
              <p:cNvSpPr txBox="1">
                <a:spLocks noRot="1" noChangeAspect="1" noMove="1" noResize="1" noEditPoints="1" noAdjustHandles="1" noChangeArrowheads="1" noChangeShapeType="1" noTextEdit="1"/>
              </p:cNvSpPr>
              <p:nvPr/>
            </p:nvSpPr>
            <p:spPr>
              <a:xfrm>
                <a:off x="6898932" y="3213677"/>
                <a:ext cx="3603057" cy="307777"/>
              </a:xfrm>
              <a:prstGeom prst="rect">
                <a:avLst/>
              </a:prstGeom>
              <a:blipFill>
                <a:blip r:embed="rId6"/>
                <a:stretch>
                  <a:fillRect t="-3846" b="-15385"/>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86E697AB-ABE1-D6FE-EEA4-9836CDEBF1B3}"/>
                  </a:ext>
                </a:extLst>
              </p:cNvPr>
              <p:cNvSpPr txBox="1"/>
              <p:nvPr/>
            </p:nvSpPr>
            <p:spPr>
              <a:xfrm>
                <a:off x="6898932" y="3516329"/>
                <a:ext cx="3603057" cy="307777"/>
              </a:xfrm>
              <a:prstGeom prst="rect">
                <a:avLst/>
              </a:prstGeom>
              <a:noFill/>
            </p:spPr>
            <p:txBody>
              <a:bodyPr wrap="square">
                <a:spAutoFit/>
              </a:bodyPr>
              <a:lstStyle/>
              <a:p>
                <a14:m>
                  <m:oMath xmlns:m="http://schemas.openxmlformats.org/officeDocument/2006/math">
                    <m:r>
                      <a:rPr lang="en-US" sz="1400" b="0" i="1" dirty="0" smtClean="0">
                        <a:solidFill>
                          <a:srgbClr val="00B050"/>
                        </a:solidFill>
                        <a:latin typeface="Cambria Math" panose="02040503050406030204" pitchFamily="18" charset="0"/>
                      </a:rPr>
                      <m:t>𝜎</m:t>
                    </m:r>
                  </m:oMath>
                </a14:m>
                <a:r>
                  <a:rPr lang="vi-VN" sz="1400" dirty="0">
                    <a:solidFill>
                      <a:srgbClr val="444B52"/>
                    </a:solidFill>
                    <a:latin typeface="Arial"/>
                  </a:rPr>
                  <a:t>: Độ lệch chuẩn (</a:t>
                </a:r>
                <a:r>
                  <a:rPr lang="vi-VN" sz="1400" dirty="0">
                    <a:solidFill>
                      <a:srgbClr val="00B050"/>
                    </a:solidFill>
                    <a:latin typeface="Arial"/>
                  </a:rPr>
                  <a:t>Độ gầy/mập chuông</a:t>
                </a:r>
                <a:r>
                  <a:rPr lang="vi-VN" sz="1400" dirty="0">
                    <a:solidFill>
                      <a:srgbClr val="444B52"/>
                    </a:solidFill>
                    <a:latin typeface="Arial"/>
                  </a:rPr>
                  <a:t>)</a:t>
                </a:r>
                <a:endParaRPr lang="en-VN" dirty="0"/>
              </a:p>
            </p:txBody>
          </p:sp>
        </mc:Choice>
        <mc:Fallback>
          <p:sp>
            <p:nvSpPr>
              <p:cNvPr id="11" name="TextBox 10">
                <a:extLst>
                  <a:ext uri="{FF2B5EF4-FFF2-40B4-BE49-F238E27FC236}">
                    <a16:creationId xmlns:a16="http://schemas.microsoft.com/office/drawing/2014/main" id="{86E697AB-ABE1-D6FE-EEA4-9836CDEBF1B3}"/>
                  </a:ext>
                </a:extLst>
              </p:cNvPr>
              <p:cNvSpPr txBox="1">
                <a:spLocks noRot="1" noChangeAspect="1" noMove="1" noResize="1" noEditPoints="1" noAdjustHandles="1" noChangeArrowheads="1" noChangeShapeType="1" noTextEdit="1"/>
              </p:cNvSpPr>
              <p:nvPr/>
            </p:nvSpPr>
            <p:spPr>
              <a:xfrm>
                <a:off x="6898932" y="3516329"/>
                <a:ext cx="3603057" cy="307777"/>
              </a:xfrm>
              <a:prstGeom prst="rect">
                <a:avLst/>
              </a:prstGeom>
              <a:blipFill>
                <a:blip r:embed="rId7"/>
                <a:stretch>
                  <a:fillRect t="-4000" b="-2000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82C7F382-A2CF-9B0D-0038-CA0465EEE089}"/>
                  </a:ext>
                </a:extLst>
              </p:cNvPr>
              <p:cNvSpPr txBox="1"/>
              <p:nvPr/>
            </p:nvSpPr>
            <p:spPr>
              <a:xfrm>
                <a:off x="7030720" y="2559639"/>
                <a:ext cx="4301049" cy="518347"/>
              </a:xfrm>
              <a:prstGeom prst="rect">
                <a:avLst/>
              </a:prstGeom>
              <a:noFill/>
            </p:spPr>
            <p:txBody>
              <a:bodyPr wrap="none" lIns="0" tIns="0" rIns="0" bIns="0" rtlCol="0">
                <a:spAutoFit/>
              </a:bodyPr>
              <a:lstStyle/>
              <a:p>
                <a14:m>
                  <m:oMathPara xmlns:m="http://schemas.openxmlformats.org/officeDocument/2006/math">
                    <m:oMath>
                      <m:r>
                        <a:rPr lang="en-US" sz="1400" b="0" i="1" smtClean="0">
                          <a:solidFill>
                            <a:schemeClr val="accent6">
                              <a:lumMod val="75000"/>
                            </a:schemeClr>
                          </a:solidFill>
                          <a:latin typeface="Cambria Math" panose="02040503050406030204" pitchFamily="18" charset="0"/>
                        </a:rPr>
                        <m:t>𝒩</m:t>
                      </m:r>
                      <m:d>
                        <m:dPr>
                          <m:ctrlPr>
                            <a:rPr lang="en-US" sz="1400" b="0" i="1">
                              <a:solidFill>
                                <a:schemeClr val="accent6">
                                  <a:lumMod val="75000"/>
                                </a:schemeClr>
                              </a:solidFill>
                              <a:latin typeface="Cambria Math" panose="02040503050406030204" pitchFamily="18" charset="0"/>
                            </a:rPr>
                          </m:ctrlPr>
                        </m:dPr>
                        <m:e>
                          <m:r>
                            <a:rPr lang="en-US" sz="1400" b="0" i="1">
                              <a:solidFill>
                                <a:schemeClr val="accent6">
                                  <a:lumMod val="75000"/>
                                </a:schemeClr>
                              </a:solidFill>
                              <a:latin typeface="Cambria Math" panose="02040503050406030204" pitchFamily="18" charset="0"/>
                            </a:rPr>
                            <m:t>𝑥</m:t>
                          </m:r>
                          <m:r>
                            <a:rPr lang="vi-VN" sz="1400" b="0" i="1" smtClean="0">
                              <a:solidFill>
                                <a:schemeClr val="accent6">
                                  <a:lumMod val="75000"/>
                                </a:schemeClr>
                              </a:solidFill>
                              <a:latin typeface="Cambria Math" panose="02040503050406030204" pitchFamily="18" charset="0"/>
                            </a:rPr>
                            <m:t> </m:t>
                          </m:r>
                          <m:r>
                            <a:rPr lang="en-VN" sz="1400" b="0">
                              <a:solidFill>
                                <a:schemeClr val="accent6">
                                  <a:lumMod val="75000"/>
                                </a:schemeClr>
                              </a:solidFill>
                              <a:latin typeface="Cambria Math" panose="02040503050406030204" pitchFamily="18" charset="0"/>
                            </a:rPr>
                            <m:t>|</m:t>
                          </m:r>
                          <m:r>
                            <a:rPr lang="vi-VN" sz="1400" b="0" i="0" smtClean="0">
                              <a:solidFill>
                                <a:schemeClr val="accent6">
                                  <a:lumMod val="75000"/>
                                </a:schemeClr>
                              </a:solidFill>
                              <a:latin typeface="Cambria Math" panose="02040503050406030204" pitchFamily="18" charset="0"/>
                            </a:rPr>
                            <m:t> </m:t>
                          </m:r>
                          <m:r>
                            <a:rPr lang="en-US" sz="1400" b="0" i="1">
                              <a:solidFill>
                                <a:schemeClr val="accent6">
                                  <a:lumMod val="75000"/>
                                </a:schemeClr>
                              </a:solidFill>
                              <a:latin typeface="Cambria Math" panose="02040503050406030204" pitchFamily="18" charset="0"/>
                            </a:rPr>
                            <m:t>𝜇</m:t>
                          </m:r>
                          <m:r>
                            <a:rPr lang="en-US" sz="1400" b="0" i="1">
                              <a:solidFill>
                                <a:schemeClr val="accent6">
                                  <a:lumMod val="75000"/>
                                </a:schemeClr>
                              </a:solidFill>
                              <a:latin typeface="Cambria Math" panose="02040503050406030204" pitchFamily="18" charset="0"/>
                            </a:rPr>
                            <m:t>,</m:t>
                          </m:r>
                          <m:r>
                            <a:rPr lang="en-US" sz="1400" b="0" i="1">
                              <a:solidFill>
                                <a:schemeClr val="accent6">
                                  <a:lumMod val="75000"/>
                                </a:schemeClr>
                              </a:solidFill>
                              <a:latin typeface="Cambria Math" panose="02040503050406030204" pitchFamily="18" charset="0"/>
                            </a:rPr>
                            <m:t>𝛴</m:t>
                          </m:r>
                        </m:e>
                      </m:d>
                      <m:r>
                        <a:rPr lang="en-US" sz="1400" b="0" i="1">
                          <a:latin typeface="Cambria Math" panose="02040503050406030204" pitchFamily="18" charset="0"/>
                        </a:rPr>
                        <m:t>=</m:t>
                      </m:r>
                      <m:f>
                        <m:fPr>
                          <m:ctrlPr>
                            <a:rPr lang="en-US" sz="1400" b="0" i="1">
                              <a:latin typeface="Cambria Math" panose="02040503050406030204" pitchFamily="18" charset="0"/>
                            </a:rPr>
                          </m:ctrlPr>
                        </m:fPr>
                        <m:num>
                          <m:r>
                            <a:rPr lang="en-US" sz="1400" b="0" i="1">
                              <a:latin typeface="Cambria Math" panose="02040503050406030204" pitchFamily="18" charset="0"/>
                            </a:rPr>
                            <m:t>1</m:t>
                          </m:r>
                        </m:num>
                        <m:den>
                          <m:rad>
                            <m:radPr>
                              <m:degHide m:val="on"/>
                              <m:ctrlPr>
                                <a:rPr lang="en-US" sz="1400" i="1">
                                  <a:latin typeface="Cambria Math" panose="02040503050406030204" pitchFamily="18" charset="0"/>
                                </a:rPr>
                              </m:ctrlPr>
                            </m:radPr>
                            <m:deg/>
                            <m:e>
                              <m:sSup>
                                <m:sSupPr>
                                  <m:ctrlPr>
                                    <a:rPr lang="en-US" sz="1400" i="1">
                                      <a:latin typeface="Cambria Math" panose="02040503050406030204" pitchFamily="18" charset="0"/>
                                    </a:rPr>
                                  </m:ctrlPr>
                                </m:sSupPr>
                                <m:e>
                                  <m:d>
                                    <m:dPr>
                                      <m:ctrlPr>
                                        <a:rPr lang="en-US" sz="1400" b="0" i="1">
                                          <a:latin typeface="Cambria Math" panose="02040503050406030204" pitchFamily="18" charset="0"/>
                                        </a:rPr>
                                      </m:ctrlPr>
                                    </m:dPr>
                                    <m:e>
                                      <m:r>
                                        <a:rPr lang="en-US" sz="1400" b="0" i="1">
                                          <a:latin typeface="Cambria Math" panose="02040503050406030204" pitchFamily="18" charset="0"/>
                                        </a:rPr>
                                        <m:t>2</m:t>
                                      </m:r>
                                      <m:r>
                                        <a:rPr lang="en-US" sz="1400" b="0" i="1">
                                          <a:latin typeface="Cambria Math" panose="02040503050406030204" pitchFamily="18" charset="0"/>
                                        </a:rPr>
                                        <m:t>𝜋</m:t>
                                      </m:r>
                                    </m:e>
                                  </m:d>
                                </m:e>
                                <m:sup>
                                  <m:r>
                                    <a:rPr lang="en-US" sz="1400" b="0" i="1">
                                      <a:latin typeface="Cambria Math" panose="02040503050406030204" pitchFamily="18" charset="0"/>
                                    </a:rPr>
                                    <m:t>𝑘</m:t>
                                  </m:r>
                                </m:sup>
                              </m:sSup>
                              <m:d>
                                <m:dPr>
                                  <m:begChr m:val="|"/>
                                  <m:endChr m:val="|"/>
                                  <m:ctrlPr>
                                    <a:rPr lang="en-US" sz="1400" b="0" i="1" smtClean="0">
                                      <a:solidFill>
                                        <a:srgbClr val="00B050"/>
                                      </a:solidFill>
                                      <a:latin typeface="Cambria Math" panose="02040503050406030204" pitchFamily="18" charset="0"/>
                                    </a:rPr>
                                  </m:ctrlPr>
                                </m:dPr>
                                <m:e>
                                  <m:r>
                                    <a:rPr lang="en-US" sz="1400" b="0" i="1" smtClean="0">
                                      <a:solidFill>
                                        <a:srgbClr val="00B050"/>
                                      </a:solidFill>
                                      <a:latin typeface="Cambria Math" panose="02040503050406030204" pitchFamily="18" charset="0"/>
                                    </a:rPr>
                                    <m:t>𝛴</m:t>
                                  </m:r>
                                </m:e>
                              </m:d>
                            </m:e>
                          </m:rad>
                        </m:den>
                      </m:f>
                      <m:func>
                        <m:funcPr>
                          <m:ctrlPr>
                            <a:rPr lang="en-US" sz="1400" b="0" i="1">
                              <a:latin typeface="Cambria Math" panose="02040503050406030204" pitchFamily="18" charset="0"/>
                            </a:rPr>
                          </m:ctrlPr>
                        </m:funcPr>
                        <m:fName>
                          <m:r>
                            <a:rPr lang="en-US" sz="1400" b="0" i="1">
                              <a:latin typeface="Cambria Math" panose="02040503050406030204" pitchFamily="18" charset="0"/>
                            </a:rPr>
                            <m:t>𝑒𝑥𝑝</m:t>
                          </m:r>
                        </m:fName>
                        <m:e>
                          <m:d>
                            <m:dPr>
                              <m:ctrlPr>
                                <a:rPr lang="en-US" sz="1400" b="0" i="1">
                                  <a:latin typeface="Cambria Math" panose="02040503050406030204" pitchFamily="18" charset="0"/>
                                </a:rPr>
                              </m:ctrlPr>
                            </m:dPr>
                            <m:e>
                              <m:r>
                                <a:rPr lang="en-US" sz="1400" b="0" i="1">
                                  <a:latin typeface="Cambria Math" panose="02040503050406030204" pitchFamily="18" charset="0"/>
                                </a:rPr>
                                <m:t>−</m:t>
                              </m:r>
                              <m:f>
                                <m:fPr>
                                  <m:ctrlPr>
                                    <a:rPr lang="en-US" sz="1400" b="0" i="1">
                                      <a:latin typeface="Cambria Math" panose="02040503050406030204" pitchFamily="18" charset="0"/>
                                    </a:rPr>
                                  </m:ctrlPr>
                                </m:fPr>
                                <m:num>
                                  <m:r>
                                    <a:rPr lang="en-US" sz="1400" b="0" i="1">
                                      <a:latin typeface="Cambria Math" panose="02040503050406030204" pitchFamily="18" charset="0"/>
                                    </a:rPr>
                                    <m:t>1</m:t>
                                  </m:r>
                                </m:num>
                                <m:den>
                                  <m:r>
                                    <a:rPr lang="en-US" sz="1400" b="0" i="1">
                                      <a:latin typeface="Cambria Math" panose="02040503050406030204" pitchFamily="18" charset="0"/>
                                    </a:rPr>
                                    <m:t>2</m:t>
                                  </m:r>
                                </m:den>
                              </m:f>
                              <m:sSup>
                                <m:sSupPr>
                                  <m:ctrlPr>
                                    <a:rPr lang="en-US" sz="1400" i="1">
                                      <a:latin typeface="Cambria Math" panose="02040503050406030204" pitchFamily="18" charset="0"/>
                                    </a:rPr>
                                  </m:ctrlPr>
                                </m:sSupPr>
                                <m:e>
                                  <m:d>
                                    <m:dPr>
                                      <m:ctrlPr>
                                        <a:rPr lang="en-US" sz="1400" b="0" i="1">
                                          <a:latin typeface="Cambria Math" panose="02040503050406030204" pitchFamily="18" charset="0"/>
                                        </a:rPr>
                                      </m:ctrlPr>
                                    </m:dPr>
                                    <m:e>
                                      <m:r>
                                        <a:rPr lang="en-US" sz="1400" b="0" i="1">
                                          <a:latin typeface="Cambria Math" panose="02040503050406030204" pitchFamily="18" charset="0"/>
                                        </a:rPr>
                                        <m:t>𝑥</m:t>
                                      </m:r>
                                      <m:r>
                                        <a:rPr lang="en-US" sz="1400" b="0" i="1">
                                          <a:latin typeface="Cambria Math" panose="02040503050406030204" pitchFamily="18" charset="0"/>
                                        </a:rPr>
                                        <m:t>−</m:t>
                                      </m:r>
                                      <m:r>
                                        <a:rPr lang="en-US" sz="1400" b="0" i="1" smtClean="0">
                                          <a:solidFill>
                                            <a:srgbClr val="0070C0"/>
                                          </a:solidFill>
                                          <a:latin typeface="Cambria Math" panose="02040503050406030204" pitchFamily="18" charset="0"/>
                                        </a:rPr>
                                        <m:t>𝜇</m:t>
                                      </m:r>
                                    </m:e>
                                  </m:d>
                                </m:e>
                                <m:sup>
                                  <m:r>
                                    <a:rPr lang="en-US" sz="1400" b="0" i="1">
                                      <a:latin typeface="Cambria Math" panose="02040503050406030204" pitchFamily="18" charset="0"/>
                                    </a:rPr>
                                    <m:t>𝑇</m:t>
                                  </m:r>
                                </m:sup>
                              </m:sSup>
                              <m:sSup>
                                <m:sSupPr>
                                  <m:ctrlPr>
                                    <a:rPr lang="en-US" sz="1400" b="0" i="1" smtClean="0">
                                      <a:solidFill>
                                        <a:srgbClr val="00B050"/>
                                      </a:solidFill>
                                      <a:latin typeface="Cambria Math" panose="02040503050406030204" pitchFamily="18" charset="0"/>
                                    </a:rPr>
                                  </m:ctrlPr>
                                </m:sSupPr>
                                <m:e>
                                  <m:r>
                                    <a:rPr lang="en-US" sz="1400" b="0" i="1" smtClean="0">
                                      <a:solidFill>
                                        <a:srgbClr val="00B050"/>
                                      </a:solidFill>
                                      <a:latin typeface="Cambria Math" panose="02040503050406030204" pitchFamily="18" charset="0"/>
                                    </a:rPr>
                                    <m:t>𝛴</m:t>
                                  </m:r>
                                </m:e>
                                <m:sup>
                                  <m:r>
                                    <a:rPr lang="en-US" sz="1400" b="0" i="1">
                                      <a:latin typeface="Cambria Math" panose="02040503050406030204" pitchFamily="18" charset="0"/>
                                    </a:rPr>
                                    <m:t>−1</m:t>
                                  </m:r>
                                </m:sup>
                              </m:sSup>
                              <m:d>
                                <m:dPr>
                                  <m:ctrlPr>
                                    <a:rPr lang="en-US" sz="1400" b="0" i="1">
                                      <a:latin typeface="Cambria Math" panose="02040503050406030204" pitchFamily="18" charset="0"/>
                                    </a:rPr>
                                  </m:ctrlPr>
                                </m:dPr>
                                <m:e>
                                  <m:r>
                                    <a:rPr lang="en-US" sz="1400" b="0" i="1">
                                      <a:latin typeface="Cambria Math" panose="02040503050406030204" pitchFamily="18" charset="0"/>
                                    </a:rPr>
                                    <m:t>𝑥</m:t>
                                  </m:r>
                                  <m:r>
                                    <a:rPr lang="en-US" sz="1400" b="0" i="1">
                                      <a:latin typeface="Cambria Math" panose="02040503050406030204" pitchFamily="18" charset="0"/>
                                    </a:rPr>
                                    <m:t>−</m:t>
                                  </m:r>
                                  <m:r>
                                    <a:rPr lang="en-US" sz="1400" b="0" i="1" smtClean="0">
                                      <a:solidFill>
                                        <a:srgbClr val="0070C0"/>
                                      </a:solidFill>
                                      <a:latin typeface="Cambria Math" panose="02040503050406030204" pitchFamily="18" charset="0"/>
                                    </a:rPr>
                                    <m:t>𝜇</m:t>
                                  </m:r>
                                </m:e>
                              </m:d>
                            </m:e>
                          </m:d>
                        </m:e>
                      </m:func>
                    </m:oMath>
                  </m:oMathPara>
                </a14:m>
                <a:endParaRPr lang="en-VN" sz="1400" dirty="0"/>
              </a:p>
            </p:txBody>
          </p:sp>
        </mc:Choice>
        <mc:Fallback>
          <p:sp>
            <p:nvSpPr>
              <p:cNvPr id="20" name="TextBox 19">
                <a:extLst>
                  <a:ext uri="{FF2B5EF4-FFF2-40B4-BE49-F238E27FC236}">
                    <a16:creationId xmlns:a16="http://schemas.microsoft.com/office/drawing/2014/main" id="{82C7F382-A2CF-9B0D-0038-CA0465EEE089}"/>
                  </a:ext>
                </a:extLst>
              </p:cNvPr>
              <p:cNvSpPr txBox="1">
                <a:spLocks noRot="1" noChangeAspect="1" noMove="1" noResize="1" noEditPoints="1" noAdjustHandles="1" noChangeArrowheads="1" noChangeShapeType="1" noTextEdit="1"/>
              </p:cNvSpPr>
              <p:nvPr/>
            </p:nvSpPr>
            <p:spPr>
              <a:xfrm>
                <a:off x="7030720" y="2559639"/>
                <a:ext cx="4301049" cy="518347"/>
              </a:xfrm>
              <a:prstGeom prst="rect">
                <a:avLst/>
              </a:prstGeom>
              <a:blipFill>
                <a:blip r:embed="rId8"/>
                <a:stretch>
                  <a:fillRect l="-294" b="-2381"/>
                </a:stretch>
              </a:blipFill>
            </p:spPr>
            <p:txBody>
              <a:bodyPr/>
              <a:lstStyle/>
              <a:p>
                <a:r>
                  <a:rPr lang="en-VN">
                    <a:noFill/>
                  </a:rPr>
                  <a:t> </a:t>
                </a:r>
              </a:p>
            </p:txBody>
          </p:sp>
        </mc:Fallback>
      </mc:AlternateContent>
    </p:spTree>
    <p:extLst>
      <p:ext uri="{BB962C8B-B14F-4D97-AF65-F5344CB8AC3E}">
        <p14:creationId xmlns:p14="http://schemas.microsoft.com/office/powerpoint/2010/main" val="32825686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4F733-C276-1EC8-B8E6-C564B3E7AC8B}"/>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6FE02BEE-0160-7FCF-D209-08DE78D845BE}"/>
                  </a:ext>
                </a:extLst>
              </p:cNvPr>
              <p:cNvSpPr txBox="1"/>
              <p:nvPr/>
            </p:nvSpPr>
            <p:spPr>
              <a:xfrm>
                <a:off x="6095847" y="4200075"/>
                <a:ext cx="5820076" cy="815608"/>
              </a:xfrm>
              <a:prstGeom prst="rect">
                <a:avLst/>
              </a:prstGeom>
              <a:noFill/>
            </p:spPr>
            <p:txBody>
              <a:bodyPr wrap="square">
                <a:spAutoFit/>
              </a:bodyPr>
              <a:lstStyle/>
              <a:p>
                <a:pPr>
                  <a:spcAft>
                    <a:spcPts val="600"/>
                  </a:spcAft>
                </a:pPr>
                <a:r>
                  <a:rPr lang="vi-VN" sz="1400" b="1" dirty="0">
                    <a:solidFill>
                      <a:srgbClr val="1B8A7A"/>
                    </a:solidFill>
                    <a:latin typeface="Arial"/>
                  </a:rPr>
                  <a:t>Vấn đề</a:t>
                </a:r>
                <a:endParaRPr lang="vi-VN" sz="1400" dirty="0">
                  <a:solidFill>
                    <a:srgbClr val="444B52"/>
                  </a:solidFill>
                  <a:latin typeface="Arial"/>
                </a:endParaRPr>
              </a:p>
              <a:p>
                <a:pPr>
                  <a:spcAft>
                    <a:spcPts val="600"/>
                  </a:spcAft>
                </a:pPr>
                <a:r>
                  <a:rPr lang="vi-VN" sz="1400" dirty="0">
                    <a:solidFill>
                      <a:srgbClr val="444B52"/>
                    </a:solidFill>
                    <a:latin typeface="Arial"/>
                  </a:rPr>
                  <a:t>Cho sẵn tập </a:t>
                </a:r>
                <a:br>
                  <a:rPr lang="vi-VN" sz="1400" dirty="0">
                    <a:solidFill>
                      <a:srgbClr val="444B52"/>
                    </a:solidFill>
                    <a:latin typeface="Arial"/>
                  </a:rPr>
                </a:br>
                <a:r>
                  <a:rPr lang="vi-VN" sz="1400" dirty="0">
                    <a:solidFill>
                      <a:srgbClr val="444B52"/>
                    </a:solidFill>
                    <a:latin typeface="Arial"/>
                  </a:rPr>
                  <a:t>Làm sao “vẽ cái chuông cho khớp” với tập </a:t>
                </a:r>
                <a14:m>
                  <m:oMath xmlns:m="http://schemas.openxmlformats.org/officeDocument/2006/math">
                    <m:r>
                      <a:rPr lang="en-US" sz="1400" i="1" smtClean="0">
                        <a:solidFill>
                          <a:schemeClr val="accent6">
                            <a:lumMod val="75000"/>
                          </a:schemeClr>
                        </a:solidFill>
                        <a:latin typeface="Cambria Math" panose="02040503050406030204" pitchFamily="18" charset="0"/>
                      </a:rPr>
                      <m:t>𝑥</m:t>
                    </m:r>
                  </m:oMath>
                </a14:m>
                <a:r>
                  <a:rPr lang="vi-VN" sz="1400" dirty="0">
                    <a:solidFill>
                      <a:srgbClr val="444B52"/>
                    </a:solidFill>
                    <a:latin typeface="Arial"/>
                  </a:rPr>
                  <a:t> ?</a:t>
                </a:r>
              </a:p>
            </p:txBody>
          </p:sp>
        </mc:Choice>
        <mc:Fallback>
          <p:sp>
            <p:nvSpPr>
              <p:cNvPr id="13" name="TextBox 12">
                <a:extLst>
                  <a:ext uri="{FF2B5EF4-FFF2-40B4-BE49-F238E27FC236}">
                    <a16:creationId xmlns:a16="http://schemas.microsoft.com/office/drawing/2014/main" id="{6FE02BEE-0160-7FCF-D209-08DE78D845BE}"/>
                  </a:ext>
                </a:extLst>
              </p:cNvPr>
              <p:cNvSpPr txBox="1">
                <a:spLocks noRot="1" noChangeAspect="1" noMove="1" noResize="1" noEditPoints="1" noAdjustHandles="1" noChangeArrowheads="1" noChangeShapeType="1" noTextEdit="1"/>
              </p:cNvSpPr>
              <p:nvPr/>
            </p:nvSpPr>
            <p:spPr>
              <a:xfrm>
                <a:off x="6095847" y="4200075"/>
                <a:ext cx="5820076" cy="815608"/>
              </a:xfrm>
              <a:prstGeom prst="rect">
                <a:avLst/>
              </a:prstGeom>
              <a:blipFill>
                <a:blip r:embed="rId3"/>
                <a:stretch>
                  <a:fillRect l="-436" t="-1515" b="-4545"/>
                </a:stretch>
              </a:blipFill>
            </p:spPr>
            <p:txBody>
              <a:bodyPr/>
              <a:lstStyle/>
              <a:p>
                <a:r>
                  <a:rPr lang="en-VN">
                    <a:noFill/>
                  </a:rPr>
                  <a:t> </a:t>
                </a:r>
              </a:p>
            </p:txBody>
          </p:sp>
        </mc:Fallback>
      </mc:AlternateContent>
      <p:sp>
        <p:nvSpPr>
          <p:cNvPr id="2" name="Rectangle 1">
            <a:extLst>
              <a:ext uri="{FF2B5EF4-FFF2-40B4-BE49-F238E27FC236}">
                <a16:creationId xmlns:a16="http://schemas.microsoft.com/office/drawing/2014/main" id="{DE6A83A2-F5D7-6111-738B-7D67450451BD}"/>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p:sp>
        <p:nvSpPr>
          <p:cNvPr id="10" name="TextBox 9">
            <a:extLst>
              <a:ext uri="{FF2B5EF4-FFF2-40B4-BE49-F238E27FC236}">
                <a16:creationId xmlns:a16="http://schemas.microsoft.com/office/drawing/2014/main" id="{0CC81279-7EA9-F7D6-019D-5F52619F083B}"/>
              </a:ext>
            </a:extLst>
          </p:cNvPr>
          <p:cNvSpPr txBox="1"/>
          <p:nvPr/>
        </p:nvSpPr>
        <p:spPr>
          <a:xfrm>
            <a:off x="364067" y="1267772"/>
            <a:ext cx="6158653" cy="723275"/>
          </a:xfrm>
          <a:prstGeom prst="rect">
            <a:avLst/>
          </a:prstGeom>
          <a:noFill/>
        </p:spPr>
        <p:txBody>
          <a:bodyPr wrap="square">
            <a:spAutoFit/>
          </a:bodyPr>
          <a:lstStyle/>
          <a:p>
            <a:pPr>
              <a:spcAft>
                <a:spcPts val="600"/>
              </a:spcAft>
            </a:pPr>
            <a:r>
              <a:rPr lang="en-US" sz="1400" b="1" dirty="0" err="1">
                <a:solidFill>
                  <a:srgbClr val="1B8A7A"/>
                </a:solidFill>
                <a:latin typeface="Arial"/>
              </a:rPr>
              <a:t>Kiến</a:t>
            </a:r>
            <a:r>
              <a:rPr lang="en-US" sz="1400" b="1" dirty="0">
                <a:solidFill>
                  <a:srgbClr val="1B8A7A"/>
                </a:solidFill>
                <a:latin typeface="Arial"/>
              </a:rPr>
              <a:t> </a:t>
            </a:r>
            <a:r>
              <a:rPr lang="en-US" sz="1400" b="1" dirty="0" err="1">
                <a:solidFill>
                  <a:srgbClr val="1B8A7A"/>
                </a:solidFill>
                <a:latin typeface="Arial"/>
              </a:rPr>
              <a:t>thức</a:t>
            </a:r>
            <a:r>
              <a:rPr lang="en-US" sz="1400" b="1" dirty="0">
                <a:solidFill>
                  <a:srgbClr val="1B8A7A"/>
                </a:solidFill>
                <a:latin typeface="Arial"/>
              </a:rPr>
              <a:t> </a:t>
            </a:r>
            <a:r>
              <a:rPr lang="en-US" sz="1400" b="1" dirty="0" err="1">
                <a:solidFill>
                  <a:srgbClr val="1B8A7A"/>
                </a:solidFill>
                <a:latin typeface="Arial"/>
              </a:rPr>
              <a:t>nền</a:t>
            </a:r>
            <a:endParaRPr lang="en-US" sz="1400" b="1" dirty="0">
              <a:solidFill>
                <a:srgbClr val="1B8A7A"/>
              </a:solidFill>
              <a:latin typeface="Arial"/>
            </a:endParaRPr>
          </a:p>
          <a:p>
            <a:pPr>
              <a:spcAft>
                <a:spcPts val="600"/>
              </a:spcAft>
            </a:pPr>
            <a:r>
              <a:rPr lang="vi-VN" sz="1400" dirty="0">
                <a:solidFill>
                  <a:srgbClr val="444B52"/>
                </a:solidFill>
                <a:latin typeface="Arial"/>
              </a:rPr>
              <a:t>Phân phối chuẩn (hình cái chuông)</a:t>
            </a:r>
            <a:br>
              <a:rPr lang="vi-VN" sz="1400" dirty="0">
                <a:solidFill>
                  <a:srgbClr val="444B52"/>
                </a:solidFill>
                <a:latin typeface="Arial"/>
              </a:rPr>
            </a:br>
            <a:r>
              <a:rPr lang="vi-VN" sz="800" dirty="0">
                <a:solidFill>
                  <a:srgbClr val="444B52"/>
                </a:solidFill>
                <a:latin typeface="Arial"/>
              </a:rPr>
              <a:t>(nhiều tên gọi hàn lâm như </a:t>
            </a:r>
            <a:r>
              <a:rPr lang="vi-VN" sz="800" b="1" dirty="0">
                <a:solidFill>
                  <a:srgbClr val="444B52"/>
                </a:solidFill>
                <a:latin typeface="Arial"/>
              </a:rPr>
              <a:t>Hàm Phân phối chuẩn</a:t>
            </a:r>
            <a:r>
              <a:rPr lang="vi-VN" sz="800" dirty="0">
                <a:solidFill>
                  <a:srgbClr val="444B52"/>
                </a:solidFill>
                <a:latin typeface="Arial"/>
              </a:rPr>
              <a:t>, </a:t>
            </a:r>
            <a:r>
              <a:rPr lang="vi-VN" sz="800" b="1" dirty="0">
                <a:solidFill>
                  <a:srgbClr val="444B52"/>
                </a:solidFill>
                <a:latin typeface="Arial"/>
              </a:rPr>
              <a:t>Guassian</a:t>
            </a:r>
            <a:r>
              <a:rPr lang="vi-VN" sz="800" dirty="0">
                <a:solidFill>
                  <a:srgbClr val="444B52"/>
                </a:solidFill>
                <a:latin typeface="Arial"/>
              </a:rPr>
              <a:t>, </a:t>
            </a:r>
            <a:r>
              <a:rPr lang="vi-VN" sz="800" b="1" dirty="0">
                <a:solidFill>
                  <a:srgbClr val="444B52"/>
                </a:solidFill>
                <a:latin typeface="Arial"/>
              </a:rPr>
              <a:t>Normal Distribution</a:t>
            </a:r>
            <a:r>
              <a:rPr lang="vi-VN" sz="800" dirty="0">
                <a:solidFill>
                  <a:srgbClr val="444B52"/>
                </a:solidFill>
                <a:latin typeface="Arial"/>
              </a:rPr>
              <a:t>, </a:t>
            </a:r>
            <a:r>
              <a:rPr lang="vi-VN" sz="800" b="1" dirty="0">
                <a:solidFill>
                  <a:srgbClr val="444B52"/>
                </a:solidFill>
                <a:latin typeface="Arial"/>
              </a:rPr>
              <a:t>Bell Curve</a:t>
            </a:r>
            <a:r>
              <a:rPr lang="vi-VN" sz="800" dirty="0">
                <a:solidFill>
                  <a:srgbClr val="444B52"/>
                </a:solidFill>
                <a:latin typeface="Arial"/>
              </a:rPr>
              <a:t>)</a:t>
            </a:r>
            <a:endParaRPr lang="vi-VN" sz="1400" dirty="0">
              <a:solidFill>
                <a:srgbClr val="444B52"/>
              </a:solidFill>
              <a:latin typeface="Arial"/>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F66E978C-6621-CEBF-F920-D11D6A338BE7}"/>
                  </a:ext>
                </a:extLst>
              </p:cNvPr>
              <p:cNvSpPr txBox="1"/>
              <p:nvPr/>
            </p:nvSpPr>
            <p:spPr>
              <a:xfrm>
                <a:off x="6448730" y="2055439"/>
                <a:ext cx="3352953" cy="479618"/>
              </a:xfrm>
              <a:prstGeom prst="rect">
                <a:avLst/>
              </a:prstGeom>
              <a:noFill/>
              <a:ln w="12700">
                <a:noFill/>
              </a:ln>
            </p:spPr>
            <p:txBody>
              <a:bodyPr wrap="square" lIns="0" tIns="0" rIns="0" bIns="0" rtlCol="0">
                <a:spAutoFit/>
              </a:bodyPr>
              <a:lstStyle/>
              <a:p>
                <a:pPr/>
                <a14:m>
                  <m:oMathPara xmlns:m="http://schemas.openxmlformats.org/officeDocument/2006/math">
                    <m:oMath>
                      <m:r>
                        <a:rPr lang="en-US" sz="1400" b="0" i="1" smtClean="0">
                          <a:solidFill>
                            <a:schemeClr val="accent6">
                              <a:lumMod val="75000"/>
                            </a:schemeClr>
                          </a:solidFill>
                          <a:latin typeface="Cambria Math" panose="02040503050406030204" pitchFamily="18" charset="0"/>
                        </a:rPr>
                        <m:t>𝒩</m:t>
                      </m:r>
                      <m:d>
                        <m:dPr>
                          <m:ctrlPr>
                            <a:rPr lang="en-VN" sz="1400" b="0" i="1" smtClean="0">
                              <a:solidFill>
                                <a:schemeClr val="accent6">
                                  <a:lumMod val="75000"/>
                                </a:schemeClr>
                              </a:solidFill>
                              <a:latin typeface="Cambria Math" panose="02040503050406030204" pitchFamily="18" charset="0"/>
                            </a:rPr>
                          </m:ctrlPr>
                        </m:dPr>
                        <m:e>
                          <m:r>
                            <a:rPr lang="en-VN" sz="1400" b="0" i="1" smtClean="0">
                              <a:solidFill>
                                <a:schemeClr val="accent6">
                                  <a:lumMod val="75000"/>
                                </a:schemeClr>
                              </a:solidFill>
                              <a:latin typeface="Cambria Math" panose="02040503050406030204" pitchFamily="18" charset="0"/>
                            </a:rPr>
                            <m:t>𝑥</m:t>
                          </m:r>
                          <m:r>
                            <a:rPr lang="vi-VN" sz="1400" b="0" i="0" smtClean="0">
                              <a:solidFill>
                                <a:schemeClr val="accent6">
                                  <a:lumMod val="75000"/>
                                </a:schemeClr>
                              </a:solidFill>
                              <a:latin typeface="Cambria Math" panose="02040503050406030204" pitchFamily="18" charset="0"/>
                            </a:rPr>
                            <m:t> </m:t>
                          </m:r>
                          <m:r>
                            <a:rPr lang="en-VN" sz="1400" b="0" i="0">
                              <a:solidFill>
                                <a:schemeClr val="accent6">
                                  <a:lumMod val="75000"/>
                                </a:schemeClr>
                              </a:solidFill>
                              <a:latin typeface="Cambria Math" panose="02040503050406030204" pitchFamily="18" charset="0"/>
                            </a:rPr>
                            <m:t>|</m:t>
                          </m:r>
                          <m:r>
                            <a:rPr lang="vi-VN" sz="1400" b="0" i="0" smtClean="0">
                              <a:solidFill>
                                <a:schemeClr val="accent6">
                                  <a:lumMod val="75000"/>
                                </a:schemeClr>
                              </a:solidFill>
                              <a:latin typeface="Cambria Math" panose="02040503050406030204" pitchFamily="18" charset="0"/>
                            </a:rPr>
                            <m:t> </m:t>
                          </m:r>
                          <m:r>
                            <a:rPr lang="en-VN" sz="1400" b="0" i="1" smtClean="0">
                              <a:solidFill>
                                <a:schemeClr val="accent6">
                                  <a:lumMod val="75000"/>
                                </a:schemeClr>
                              </a:solidFill>
                              <a:latin typeface="Cambria Math" panose="02040503050406030204" pitchFamily="18" charset="0"/>
                            </a:rPr>
                            <m:t>𝜇</m:t>
                          </m:r>
                          <m:r>
                            <a:rPr lang="en-VN" sz="1400" b="0" i="0">
                              <a:solidFill>
                                <a:schemeClr val="accent6">
                                  <a:lumMod val="75000"/>
                                </a:schemeClr>
                              </a:solidFill>
                              <a:latin typeface="Cambria Math" panose="02040503050406030204" pitchFamily="18" charset="0"/>
                            </a:rPr>
                            <m:t>,</m:t>
                          </m:r>
                          <m:sSup>
                            <m:sSupPr>
                              <m:ctrlPr>
                                <a:rPr lang="en-VN" sz="1400" b="0" i="1" smtClean="0">
                                  <a:solidFill>
                                    <a:schemeClr val="accent6">
                                      <a:lumMod val="75000"/>
                                    </a:schemeClr>
                                  </a:solidFill>
                                  <a:latin typeface="Cambria Math" panose="02040503050406030204" pitchFamily="18" charset="0"/>
                                </a:rPr>
                              </m:ctrlPr>
                            </m:sSupPr>
                            <m:e>
                              <m:r>
                                <a:rPr lang="en-VN" sz="1400" b="0" i="1" smtClean="0">
                                  <a:solidFill>
                                    <a:schemeClr val="accent6">
                                      <a:lumMod val="75000"/>
                                    </a:schemeClr>
                                  </a:solidFill>
                                  <a:latin typeface="Cambria Math" panose="02040503050406030204" pitchFamily="18" charset="0"/>
                                </a:rPr>
                                <m:t>𝜎</m:t>
                              </m:r>
                            </m:e>
                            <m:sup>
                              <m:r>
                                <a:rPr lang="en-VN" sz="1400" b="0" i="0">
                                  <a:solidFill>
                                    <a:schemeClr val="accent6">
                                      <a:lumMod val="75000"/>
                                    </a:schemeClr>
                                  </a:solidFill>
                                  <a:latin typeface="Cambria Math" panose="02040503050406030204" pitchFamily="18" charset="0"/>
                                </a:rPr>
                                <m:t>2</m:t>
                              </m:r>
                            </m:sup>
                          </m:sSup>
                        </m:e>
                      </m:d>
                      <m:r>
                        <a:rPr lang="en-VN" sz="1400" b="0" i="0">
                          <a:latin typeface="Cambria Math" panose="02040503050406030204" pitchFamily="18" charset="0"/>
                        </a:rPr>
                        <m:t>=</m:t>
                      </m:r>
                      <m:f>
                        <m:fPr>
                          <m:ctrlPr>
                            <a:rPr lang="en-VN" sz="1400" b="0" i="0">
                              <a:latin typeface="Cambria Math" panose="02040503050406030204" pitchFamily="18" charset="0"/>
                            </a:rPr>
                          </m:ctrlPr>
                        </m:fPr>
                        <m:num>
                          <m:r>
                            <a:rPr lang="en-VN" sz="1400" b="0" i="0">
                              <a:latin typeface="Cambria Math" panose="02040503050406030204" pitchFamily="18" charset="0"/>
                            </a:rPr>
                            <m:t>1</m:t>
                          </m:r>
                        </m:num>
                        <m:den>
                          <m:r>
                            <a:rPr lang="en-VN" sz="1400" b="0" i="1" smtClean="0">
                              <a:solidFill>
                                <a:srgbClr val="00B050"/>
                              </a:solidFill>
                              <a:latin typeface="Cambria Math" panose="02040503050406030204" pitchFamily="18" charset="0"/>
                            </a:rPr>
                            <m:t>𝜎</m:t>
                          </m:r>
                          <m:rad>
                            <m:radPr>
                              <m:degHide m:val="on"/>
                              <m:ctrlPr>
                                <a:rPr lang="en-VN" sz="1400" i="1">
                                  <a:latin typeface="Cambria Math" panose="02040503050406030204" pitchFamily="18" charset="0"/>
                                </a:rPr>
                              </m:ctrlPr>
                            </m:radPr>
                            <m:deg/>
                            <m:e>
                              <m:r>
                                <a:rPr lang="en-VN" sz="1400" b="0" i="0">
                                  <a:latin typeface="Cambria Math" panose="02040503050406030204" pitchFamily="18" charset="0"/>
                                </a:rPr>
                                <m:t>2</m:t>
                              </m:r>
                              <m:r>
                                <a:rPr lang="en-VN" sz="1400" b="0" i="1">
                                  <a:latin typeface="Cambria Math" panose="02040503050406030204" pitchFamily="18" charset="0"/>
                                </a:rPr>
                                <m:t>𝜋</m:t>
                              </m:r>
                            </m:e>
                          </m:rad>
                        </m:den>
                      </m:f>
                      <m:sSup>
                        <m:sSupPr>
                          <m:ctrlPr>
                            <a:rPr lang="en-VN" sz="1400" b="0" i="1">
                              <a:latin typeface="Cambria Math" panose="02040503050406030204" pitchFamily="18" charset="0"/>
                            </a:rPr>
                          </m:ctrlPr>
                        </m:sSupPr>
                        <m:e>
                          <m:r>
                            <a:rPr lang="en-VN" sz="1400" b="0" i="1">
                              <a:latin typeface="Cambria Math" panose="02040503050406030204" pitchFamily="18" charset="0"/>
                            </a:rPr>
                            <m:t>𝑒</m:t>
                          </m:r>
                        </m:e>
                        <m:sup>
                          <m:r>
                            <a:rPr lang="en-VN" sz="1400" b="0" i="0">
                              <a:latin typeface="Cambria Math" panose="02040503050406030204" pitchFamily="18" charset="0"/>
                            </a:rPr>
                            <m:t>−</m:t>
                          </m:r>
                          <m:f>
                            <m:fPr>
                              <m:ctrlPr>
                                <a:rPr lang="en-VN" sz="1400" b="0" i="1" smtClean="0">
                                  <a:solidFill>
                                    <a:schemeClr val="accent6">
                                      <a:lumMod val="75000"/>
                                    </a:schemeClr>
                                  </a:solidFill>
                                  <a:latin typeface="Cambria Math" panose="02040503050406030204" pitchFamily="18" charset="0"/>
                                </a:rPr>
                              </m:ctrlPr>
                            </m:fPr>
                            <m:num>
                              <m:sSup>
                                <m:sSupPr>
                                  <m:ctrlPr>
                                    <a:rPr lang="en-VN" sz="1400" b="0" i="1" smtClean="0">
                                      <a:solidFill>
                                        <a:schemeClr val="accent6">
                                          <a:lumMod val="75000"/>
                                        </a:schemeClr>
                                      </a:solidFill>
                                      <a:latin typeface="Cambria Math" panose="02040503050406030204" pitchFamily="18" charset="0"/>
                                    </a:rPr>
                                  </m:ctrlPr>
                                </m:sSupPr>
                                <m:e>
                                  <m:d>
                                    <m:dPr>
                                      <m:ctrlPr>
                                        <a:rPr lang="en-VN" sz="1400" b="0" i="1" smtClean="0">
                                          <a:solidFill>
                                            <a:schemeClr val="accent6">
                                              <a:lumMod val="75000"/>
                                            </a:schemeClr>
                                          </a:solidFill>
                                          <a:latin typeface="Cambria Math" panose="02040503050406030204" pitchFamily="18" charset="0"/>
                                        </a:rPr>
                                      </m:ctrlPr>
                                    </m:dPr>
                                    <m:e>
                                      <m:r>
                                        <a:rPr lang="en-VN" sz="1400" b="0" i="1" smtClean="0">
                                          <a:solidFill>
                                            <a:schemeClr val="accent6">
                                              <a:lumMod val="75000"/>
                                            </a:schemeClr>
                                          </a:solidFill>
                                          <a:latin typeface="Cambria Math" panose="02040503050406030204" pitchFamily="18" charset="0"/>
                                        </a:rPr>
                                        <m:t>𝑥</m:t>
                                      </m:r>
                                      <m:r>
                                        <a:rPr lang="en-VN" sz="1400" b="0" i="0">
                                          <a:solidFill>
                                            <a:schemeClr val="tx1"/>
                                          </a:solidFill>
                                          <a:latin typeface="Cambria Math" panose="02040503050406030204" pitchFamily="18" charset="0"/>
                                        </a:rPr>
                                        <m:t>−</m:t>
                                      </m:r>
                                      <m:r>
                                        <a:rPr lang="en-VN" sz="1400" b="0" i="1" smtClean="0">
                                          <a:solidFill>
                                            <a:schemeClr val="tx2">
                                              <a:lumMod val="60000"/>
                                              <a:lumOff val="40000"/>
                                            </a:schemeClr>
                                          </a:solidFill>
                                          <a:latin typeface="Cambria Math" panose="02040503050406030204" pitchFamily="18" charset="0"/>
                                        </a:rPr>
                                        <m:t>𝜇</m:t>
                                      </m:r>
                                    </m:e>
                                  </m:d>
                                </m:e>
                                <m:sup>
                                  <m:r>
                                    <a:rPr lang="en-VN" sz="1400" b="0" i="0">
                                      <a:latin typeface="Cambria Math" panose="02040503050406030204" pitchFamily="18" charset="0"/>
                                    </a:rPr>
                                    <m:t>2</m:t>
                                  </m:r>
                                </m:sup>
                              </m:sSup>
                            </m:num>
                            <m:den>
                              <m:r>
                                <a:rPr lang="en-VN" sz="1400" b="0" i="0">
                                  <a:latin typeface="Cambria Math" panose="02040503050406030204" pitchFamily="18" charset="0"/>
                                </a:rPr>
                                <m:t>2</m:t>
                              </m:r>
                              <m:sSup>
                                <m:sSupPr>
                                  <m:ctrlPr>
                                    <a:rPr lang="en-VN" sz="1400" b="0" i="1" smtClean="0">
                                      <a:solidFill>
                                        <a:srgbClr val="00B050"/>
                                      </a:solidFill>
                                      <a:latin typeface="Cambria Math" panose="02040503050406030204" pitchFamily="18" charset="0"/>
                                    </a:rPr>
                                  </m:ctrlPr>
                                </m:sSupPr>
                                <m:e>
                                  <m:r>
                                    <a:rPr lang="en-VN" sz="1400" b="0" i="1" smtClean="0">
                                      <a:solidFill>
                                        <a:srgbClr val="00B050"/>
                                      </a:solidFill>
                                      <a:latin typeface="Cambria Math" panose="02040503050406030204" pitchFamily="18" charset="0"/>
                                    </a:rPr>
                                    <m:t>𝜎</m:t>
                                  </m:r>
                                </m:e>
                                <m:sup>
                                  <m:r>
                                    <a:rPr lang="en-VN" sz="1400" b="0" i="0">
                                      <a:solidFill>
                                        <a:schemeClr val="tx1"/>
                                      </a:solidFill>
                                      <a:latin typeface="Cambria Math" panose="02040503050406030204" pitchFamily="18" charset="0"/>
                                    </a:rPr>
                                    <m:t>2</m:t>
                                  </m:r>
                                </m:sup>
                              </m:sSup>
                            </m:den>
                          </m:f>
                        </m:sup>
                      </m:sSup>
                    </m:oMath>
                  </m:oMathPara>
                </a14:m>
                <a:endParaRPr lang="en-VN" sz="1400" dirty="0"/>
              </a:p>
            </p:txBody>
          </p:sp>
        </mc:Choice>
        <mc:Fallback>
          <p:sp>
            <p:nvSpPr>
              <p:cNvPr id="14" name="TextBox 13">
                <a:extLst>
                  <a:ext uri="{FF2B5EF4-FFF2-40B4-BE49-F238E27FC236}">
                    <a16:creationId xmlns:a16="http://schemas.microsoft.com/office/drawing/2014/main" id="{F66E978C-6621-CEBF-F920-D11D6A338BE7}"/>
                  </a:ext>
                </a:extLst>
              </p:cNvPr>
              <p:cNvSpPr txBox="1">
                <a:spLocks noRot="1" noChangeAspect="1" noMove="1" noResize="1" noEditPoints="1" noAdjustHandles="1" noChangeArrowheads="1" noChangeShapeType="1" noTextEdit="1"/>
              </p:cNvSpPr>
              <p:nvPr/>
            </p:nvSpPr>
            <p:spPr>
              <a:xfrm>
                <a:off x="6448730" y="2055439"/>
                <a:ext cx="3352953" cy="479618"/>
              </a:xfrm>
              <a:prstGeom prst="rect">
                <a:avLst/>
              </a:prstGeom>
              <a:blipFill>
                <a:blip r:embed="rId4"/>
                <a:stretch>
                  <a:fillRect b="-10256"/>
                </a:stretch>
              </a:blipFill>
              <a:ln w="12700">
                <a:noFill/>
              </a:ln>
            </p:spPr>
            <p:txBody>
              <a:bodyPr/>
              <a:lstStyle/>
              <a:p>
                <a:r>
                  <a:rPr lang="en-VN">
                    <a:noFill/>
                  </a:rPr>
                  <a:t> </a:t>
                </a:r>
              </a:p>
            </p:txBody>
          </p:sp>
        </mc:Fallback>
      </mc:AlternateContent>
      <p:sp>
        <p:nvSpPr>
          <p:cNvPr id="34" name="TextBox 33">
            <a:extLst>
              <a:ext uri="{FF2B5EF4-FFF2-40B4-BE49-F238E27FC236}">
                <a16:creationId xmlns:a16="http://schemas.microsoft.com/office/drawing/2014/main" id="{37CA7F70-6470-1A9D-E429-2F332E5775BD}"/>
              </a:ext>
            </a:extLst>
          </p:cNvPr>
          <p:cNvSpPr txBox="1"/>
          <p:nvPr/>
        </p:nvSpPr>
        <p:spPr>
          <a:xfrm>
            <a:off x="6096000" y="1296106"/>
            <a:ext cx="1997650" cy="307777"/>
          </a:xfrm>
          <a:prstGeom prst="rect">
            <a:avLst/>
          </a:prstGeom>
          <a:noFill/>
        </p:spPr>
        <p:txBody>
          <a:bodyPr wrap="square">
            <a:spAutoFit/>
          </a:bodyPr>
          <a:lstStyle/>
          <a:p>
            <a:pPr>
              <a:spcAft>
                <a:spcPts val="600"/>
              </a:spcAft>
            </a:pPr>
            <a:r>
              <a:rPr lang="en-US" sz="1400" b="1" dirty="0">
                <a:solidFill>
                  <a:srgbClr val="1B8A7A"/>
                </a:solidFill>
                <a:latin typeface="Arial"/>
              </a:rPr>
              <a:t>Công </a:t>
            </a:r>
            <a:r>
              <a:rPr lang="en-US" sz="1400" b="1" dirty="0" err="1">
                <a:solidFill>
                  <a:srgbClr val="1B8A7A"/>
                </a:solidFill>
                <a:latin typeface="Arial"/>
              </a:rPr>
              <a:t>thức</a:t>
            </a:r>
            <a:r>
              <a:rPr lang="en-US" sz="1400" b="1" dirty="0">
                <a:solidFill>
                  <a:srgbClr val="1B8A7A"/>
                </a:solidFill>
                <a:latin typeface="Arial"/>
              </a:rPr>
              <a:t> </a:t>
            </a:r>
          </a:p>
        </p:txBody>
      </p:sp>
      <p:pic>
        <p:nvPicPr>
          <p:cNvPr id="8" name="Picture 7">
            <a:extLst>
              <a:ext uri="{FF2B5EF4-FFF2-40B4-BE49-F238E27FC236}">
                <a16:creationId xmlns:a16="http://schemas.microsoft.com/office/drawing/2014/main" id="{B37990CF-E629-BC1D-1A42-42D688FD6D94}"/>
              </a:ext>
            </a:extLst>
          </p:cNvPr>
          <p:cNvPicPr>
            <a:picLocks noChangeAspect="1"/>
          </p:cNvPicPr>
          <p:nvPr/>
        </p:nvPicPr>
        <p:blipFill>
          <a:blip r:embed="rId5"/>
          <a:stretch>
            <a:fillRect/>
          </a:stretch>
        </p:blipFill>
        <p:spPr>
          <a:xfrm>
            <a:off x="187781" y="2207259"/>
            <a:ext cx="5593644" cy="4324035"/>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EBAA56F-760B-0B74-1474-0FCE69CA8B76}"/>
                  </a:ext>
                </a:extLst>
              </p:cNvPr>
              <p:cNvSpPr txBox="1"/>
              <p:nvPr/>
            </p:nvSpPr>
            <p:spPr>
              <a:xfrm>
                <a:off x="6336587" y="1697423"/>
                <a:ext cx="4343148" cy="307777"/>
              </a:xfrm>
              <a:prstGeom prst="rect">
                <a:avLst/>
              </a:prstGeom>
              <a:noFill/>
            </p:spPr>
            <p:txBody>
              <a:bodyPr wrap="square">
                <a:spAutoFit/>
              </a:bodyPr>
              <a:lstStyle/>
              <a:p>
                <a:pPr>
                  <a:spcAft>
                    <a:spcPts val="600"/>
                  </a:spcAft>
                </a:pPr>
                <a:r>
                  <a:rPr lang="en-US" sz="1400" b="1" dirty="0">
                    <a:solidFill>
                      <a:srgbClr val="1B8A7A"/>
                    </a:solidFill>
                    <a:highlight>
                      <a:srgbClr val="FFFF00"/>
                    </a:highlight>
                    <a:latin typeface="Arial"/>
                  </a:rPr>
                  <a:t>Hàm </a:t>
                </a:r>
                <a:r>
                  <a:rPr lang="en-US" sz="1400" b="1" dirty="0" err="1">
                    <a:solidFill>
                      <a:srgbClr val="1B8A7A"/>
                    </a:solidFill>
                    <a:highlight>
                      <a:srgbClr val="FFFF00"/>
                    </a:highlight>
                    <a:latin typeface="Arial"/>
                  </a:rPr>
                  <a:t>phân</a:t>
                </a:r>
                <a:r>
                  <a:rPr lang="en-US" sz="1400" b="1" dirty="0">
                    <a:solidFill>
                      <a:srgbClr val="1B8A7A"/>
                    </a:solidFill>
                    <a:highlight>
                      <a:srgbClr val="FFFF00"/>
                    </a:highlight>
                    <a:latin typeface="Arial"/>
                  </a:rPr>
                  <a:t> </a:t>
                </a:r>
                <a:r>
                  <a:rPr lang="en-US" sz="1400" b="1" dirty="0" err="1">
                    <a:solidFill>
                      <a:srgbClr val="1B8A7A"/>
                    </a:solidFill>
                    <a:highlight>
                      <a:srgbClr val="FFFF00"/>
                    </a:highlight>
                    <a:latin typeface="Arial"/>
                  </a:rPr>
                  <a:t>phối</a:t>
                </a:r>
                <a:r>
                  <a:rPr lang="en-US" sz="1400" b="1" dirty="0">
                    <a:solidFill>
                      <a:srgbClr val="1B8A7A"/>
                    </a:solidFill>
                    <a:highlight>
                      <a:srgbClr val="FFFF00"/>
                    </a:highlight>
                    <a:latin typeface="Arial"/>
                  </a:rPr>
                  <a:t> </a:t>
                </a:r>
                <a:r>
                  <a:rPr lang="en-US" sz="1400" b="1" dirty="0" err="1">
                    <a:solidFill>
                      <a:srgbClr val="1B8A7A"/>
                    </a:solidFill>
                    <a:highlight>
                      <a:srgbClr val="FFFF00"/>
                    </a:highlight>
                    <a:latin typeface="Arial"/>
                  </a:rPr>
                  <a:t>chuẩn</a:t>
                </a:r>
                <a:r>
                  <a:rPr lang="en-US" sz="1400" b="1" dirty="0">
                    <a:solidFill>
                      <a:srgbClr val="1B8A7A"/>
                    </a:solidFill>
                    <a:latin typeface="Arial"/>
                  </a:rPr>
                  <a:t> (</a:t>
                </a:r>
                <a14:m>
                  <m:oMath xmlns:m="http://schemas.openxmlformats.org/officeDocument/2006/math">
                    <m:r>
                      <a:rPr lang="en-VN" sz="1400" i="1">
                        <a:solidFill>
                          <a:schemeClr val="accent6">
                            <a:lumMod val="75000"/>
                          </a:schemeClr>
                        </a:solidFill>
                        <a:latin typeface="Cambria Math" panose="02040503050406030204" pitchFamily="18" charset="0"/>
                      </a:rPr>
                      <m:t>𝑥</m:t>
                    </m:r>
                  </m:oMath>
                </a14:m>
                <a:r>
                  <a:rPr lang="en-US" sz="1400" b="1" dirty="0">
                    <a:solidFill>
                      <a:srgbClr val="1B8A7A"/>
                    </a:solidFill>
                    <a:latin typeface="Arial"/>
                  </a:rPr>
                  <a:t> </a:t>
                </a:r>
                <a:r>
                  <a:rPr lang="en-US" sz="1400" b="1" dirty="0" err="1">
                    <a:solidFill>
                      <a:srgbClr val="1B8A7A"/>
                    </a:solidFill>
                    <a:latin typeface="Arial"/>
                  </a:rPr>
                  <a:t>là</a:t>
                </a:r>
                <a:r>
                  <a:rPr lang="en-US" sz="1400" b="1" dirty="0">
                    <a:solidFill>
                      <a:srgbClr val="1B8A7A"/>
                    </a:solidFill>
                    <a:latin typeface="Arial"/>
                  </a:rPr>
                  <a:t> </a:t>
                </a:r>
                <a:r>
                  <a:rPr lang="en-US" sz="1400" b="1" dirty="0" err="1">
                    <a:solidFill>
                      <a:srgbClr val="1B8A7A"/>
                    </a:solidFill>
                    <a:latin typeface="Arial"/>
                  </a:rPr>
                  <a:t>ẩn</a:t>
                </a:r>
                <a:r>
                  <a:rPr lang="en-US" sz="1400" b="1" dirty="0">
                    <a:solidFill>
                      <a:srgbClr val="1B8A7A"/>
                    </a:solidFill>
                    <a:latin typeface="Arial"/>
                  </a:rPr>
                  <a:t>, </a:t>
                </a:r>
                <a14:m>
                  <m:oMath xmlns:m="http://schemas.openxmlformats.org/officeDocument/2006/math">
                    <m:r>
                      <a:rPr lang="en-VN" sz="1400" i="1">
                        <a:solidFill>
                          <a:schemeClr val="tx2">
                            <a:lumMod val="60000"/>
                            <a:lumOff val="40000"/>
                          </a:schemeClr>
                        </a:solidFill>
                        <a:latin typeface="Cambria Math" panose="02040503050406030204" pitchFamily="18" charset="0"/>
                      </a:rPr>
                      <m:t>𝜇</m:t>
                    </m:r>
                  </m:oMath>
                </a14:m>
                <a:r>
                  <a:rPr lang="en-US" sz="1400" b="1" dirty="0">
                    <a:solidFill>
                      <a:srgbClr val="1B8A7A"/>
                    </a:solidFill>
                    <a:latin typeface="Arial"/>
                  </a:rPr>
                  <a:t> và </a:t>
                </a:r>
                <a14:m>
                  <m:oMath xmlns:m="http://schemas.openxmlformats.org/officeDocument/2006/math">
                    <m:r>
                      <a:rPr lang="en-VN" sz="1400" i="1">
                        <a:solidFill>
                          <a:srgbClr val="00B050"/>
                        </a:solidFill>
                        <a:latin typeface="Cambria Math" panose="02040503050406030204" pitchFamily="18" charset="0"/>
                      </a:rPr>
                      <m:t>𝜎</m:t>
                    </m:r>
                  </m:oMath>
                </a14:m>
                <a:r>
                  <a:rPr lang="en-US" sz="1400" b="1" dirty="0">
                    <a:solidFill>
                      <a:srgbClr val="1B8A7A"/>
                    </a:solidFill>
                    <a:latin typeface="Arial"/>
                  </a:rPr>
                  <a:t> </a:t>
                </a:r>
                <a:r>
                  <a:rPr lang="en-US" sz="1400" b="1" dirty="0" err="1">
                    <a:solidFill>
                      <a:srgbClr val="1B8A7A"/>
                    </a:solidFill>
                    <a:latin typeface="Arial"/>
                  </a:rPr>
                  <a:t>cố</a:t>
                </a:r>
                <a:r>
                  <a:rPr lang="en-US" sz="1400" b="1" dirty="0">
                    <a:solidFill>
                      <a:srgbClr val="1B8A7A"/>
                    </a:solidFill>
                    <a:latin typeface="Arial"/>
                  </a:rPr>
                  <a:t> </a:t>
                </a:r>
                <a:r>
                  <a:rPr lang="en-US" sz="1400" b="1" dirty="0" err="1">
                    <a:solidFill>
                      <a:srgbClr val="1B8A7A"/>
                    </a:solidFill>
                    <a:latin typeface="Arial"/>
                  </a:rPr>
                  <a:t>định</a:t>
                </a:r>
                <a:r>
                  <a:rPr lang="en-US" sz="1400" b="1" dirty="0">
                    <a:solidFill>
                      <a:srgbClr val="1B8A7A"/>
                    </a:solidFill>
                    <a:latin typeface="Arial"/>
                  </a:rPr>
                  <a:t>)</a:t>
                </a:r>
              </a:p>
            </p:txBody>
          </p:sp>
        </mc:Choice>
        <mc:Fallback xmlns="">
          <p:sp>
            <p:nvSpPr>
              <p:cNvPr id="3" name="TextBox 2">
                <a:extLst>
                  <a:ext uri="{FF2B5EF4-FFF2-40B4-BE49-F238E27FC236}">
                    <a16:creationId xmlns:a16="http://schemas.microsoft.com/office/drawing/2014/main" id="{7F6B7882-6AB1-7B23-938A-E8D1ED26D273}"/>
                  </a:ext>
                </a:extLst>
              </p:cNvPr>
              <p:cNvSpPr txBox="1">
                <a:spLocks noRot="1" noChangeAspect="1" noMove="1" noResize="1" noEditPoints="1" noAdjustHandles="1" noChangeArrowheads="1" noChangeShapeType="1" noTextEdit="1"/>
              </p:cNvSpPr>
              <p:nvPr/>
            </p:nvSpPr>
            <p:spPr>
              <a:xfrm>
                <a:off x="6336587" y="1697423"/>
                <a:ext cx="4343148" cy="307777"/>
              </a:xfrm>
              <a:prstGeom prst="rect">
                <a:avLst/>
              </a:prstGeom>
              <a:blipFill>
                <a:blip r:embed="rId6"/>
                <a:stretch>
                  <a:fillRect l="-292" t="-4000" b="-2400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5C445DBC-2ECD-B52C-4F3D-D57A40EBED3B}"/>
                  </a:ext>
                </a:extLst>
              </p:cNvPr>
              <p:cNvSpPr txBox="1"/>
              <p:nvPr/>
            </p:nvSpPr>
            <p:spPr>
              <a:xfrm>
                <a:off x="6898932" y="3213677"/>
                <a:ext cx="3603057" cy="307777"/>
              </a:xfrm>
              <a:prstGeom prst="rect">
                <a:avLst/>
              </a:prstGeom>
              <a:noFill/>
            </p:spPr>
            <p:txBody>
              <a:bodyPr wrap="square">
                <a:spAutoFit/>
              </a:bodyPr>
              <a:lstStyle/>
              <a:p>
                <a14:m>
                  <m:oMath xmlns:m="http://schemas.openxmlformats.org/officeDocument/2006/math">
                    <m:r>
                      <a:rPr lang="en-VN" sz="1400" b="0" i="1">
                        <a:solidFill>
                          <a:schemeClr val="tx2">
                            <a:lumMod val="60000"/>
                            <a:lumOff val="40000"/>
                          </a:schemeClr>
                        </a:solidFill>
                        <a:latin typeface="Cambria Math" panose="02040503050406030204" pitchFamily="18" charset="0"/>
                      </a:rPr>
                      <m:t>𝜇</m:t>
                    </m:r>
                  </m:oMath>
                </a14:m>
                <a:r>
                  <a:rPr lang="vi-VN" sz="1400" dirty="0">
                    <a:solidFill>
                      <a:srgbClr val="444B52"/>
                    </a:solidFill>
                    <a:latin typeface="Arial"/>
                  </a:rPr>
                  <a:t>: Giá trị trung bình </a:t>
                </a:r>
                <a:r>
                  <a:rPr lang="vi-VN" sz="1400" dirty="0">
                    <a:solidFill>
                      <a:srgbClr val="444B52"/>
                    </a:solidFill>
                    <a:latin typeface="Arial"/>
                    <a:sym typeface="Wingdings" pitchFamily="2" charset="2"/>
                  </a:rPr>
                  <a:t>(</a:t>
                </a:r>
                <a:r>
                  <a:rPr lang="vi-VN" sz="1400" dirty="0">
                    <a:solidFill>
                      <a:schemeClr val="tx2">
                        <a:lumMod val="60000"/>
                        <a:lumOff val="40000"/>
                      </a:schemeClr>
                    </a:solidFill>
                    <a:latin typeface="Arial"/>
                  </a:rPr>
                  <a:t>Tâm chuông</a:t>
                </a:r>
                <a:r>
                  <a:rPr lang="vi-VN" sz="1400" dirty="0">
                    <a:solidFill>
                      <a:srgbClr val="444B52"/>
                    </a:solidFill>
                    <a:latin typeface="Arial"/>
                  </a:rPr>
                  <a:t>)</a:t>
                </a:r>
                <a:endParaRPr lang="en-VN" dirty="0"/>
              </a:p>
            </p:txBody>
          </p:sp>
        </mc:Choice>
        <mc:Fallback>
          <p:sp>
            <p:nvSpPr>
              <p:cNvPr id="9" name="TextBox 8">
                <a:extLst>
                  <a:ext uri="{FF2B5EF4-FFF2-40B4-BE49-F238E27FC236}">
                    <a16:creationId xmlns:a16="http://schemas.microsoft.com/office/drawing/2014/main" id="{5C445DBC-2ECD-B52C-4F3D-D57A40EBED3B}"/>
                  </a:ext>
                </a:extLst>
              </p:cNvPr>
              <p:cNvSpPr txBox="1">
                <a:spLocks noRot="1" noChangeAspect="1" noMove="1" noResize="1" noEditPoints="1" noAdjustHandles="1" noChangeArrowheads="1" noChangeShapeType="1" noTextEdit="1"/>
              </p:cNvSpPr>
              <p:nvPr/>
            </p:nvSpPr>
            <p:spPr>
              <a:xfrm>
                <a:off x="6898932" y="3213677"/>
                <a:ext cx="3603057" cy="307777"/>
              </a:xfrm>
              <a:prstGeom prst="rect">
                <a:avLst/>
              </a:prstGeom>
              <a:blipFill>
                <a:blip r:embed="rId7"/>
                <a:stretch>
                  <a:fillRect t="-3846" b="-15385"/>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D35E5193-F3EF-2D74-518D-67859315819F}"/>
                  </a:ext>
                </a:extLst>
              </p:cNvPr>
              <p:cNvSpPr txBox="1"/>
              <p:nvPr/>
            </p:nvSpPr>
            <p:spPr>
              <a:xfrm>
                <a:off x="6898932" y="3516329"/>
                <a:ext cx="3603057" cy="307777"/>
              </a:xfrm>
              <a:prstGeom prst="rect">
                <a:avLst/>
              </a:prstGeom>
              <a:noFill/>
            </p:spPr>
            <p:txBody>
              <a:bodyPr wrap="square">
                <a:spAutoFit/>
              </a:bodyPr>
              <a:lstStyle/>
              <a:p>
                <a14:m>
                  <m:oMath xmlns:m="http://schemas.openxmlformats.org/officeDocument/2006/math">
                    <m:r>
                      <a:rPr lang="en-US" sz="1400" b="0" i="1" dirty="0" smtClean="0">
                        <a:solidFill>
                          <a:srgbClr val="00B050"/>
                        </a:solidFill>
                        <a:latin typeface="Cambria Math" panose="02040503050406030204" pitchFamily="18" charset="0"/>
                      </a:rPr>
                      <m:t>𝜎</m:t>
                    </m:r>
                  </m:oMath>
                </a14:m>
                <a:r>
                  <a:rPr lang="vi-VN" sz="1400" dirty="0">
                    <a:solidFill>
                      <a:srgbClr val="444B52"/>
                    </a:solidFill>
                    <a:latin typeface="Arial"/>
                  </a:rPr>
                  <a:t>: Độ lệch chuẩn (</a:t>
                </a:r>
                <a:r>
                  <a:rPr lang="vi-VN" sz="1400" dirty="0">
                    <a:solidFill>
                      <a:srgbClr val="00B050"/>
                    </a:solidFill>
                    <a:latin typeface="Arial"/>
                  </a:rPr>
                  <a:t>Độ gầy/mập chuông</a:t>
                </a:r>
                <a:r>
                  <a:rPr lang="vi-VN" sz="1400" dirty="0">
                    <a:solidFill>
                      <a:srgbClr val="444B52"/>
                    </a:solidFill>
                    <a:latin typeface="Arial"/>
                  </a:rPr>
                  <a:t>)</a:t>
                </a:r>
                <a:endParaRPr lang="en-VN" dirty="0"/>
              </a:p>
            </p:txBody>
          </p:sp>
        </mc:Choice>
        <mc:Fallback>
          <p:sp>
            <p:nvSpPr>
              <p:cNvPr id="11" name="TextBox 10">
                <a:extLst>
                  <a:ext uri="{FF2B5EF4-FFF2-40B4-BE49-F238E27FC236}">
                    <a16:creationId xmlns:a16="http://schemas.microsoft.com/office/drawing/2014/main" id="{D35E5193-F3EF-2D74-518D-67859315819F}"/>
                  </a:ext>
                </a:extLst>
              </p:cNvPr>
              <p:cNvSpPr txBox="1">
                <a:spLocks noRot="1" noChangeAspect="1" noMove="1" noResize="1" noEditPoints="1" noAdjustHandles="1" noChangeArrowheads="1" noChangeShapeType="1" noTextEdit="1"/>
              </p:cNvSpPr>
              <p:nvPr/>
            </p:nvSpPr>
            <p:spPr>
              <a:xfrm>
                <a:off x="6898932" y="3516329"/>
                <a:ext cx="3603057" cy="307777"/>
              </a:xfrm>
              <a:prstGeom prst="rect">
                <a:avLst/>
              </a:prstGeom>
              <a:blipFill>
                <a:blip r:embed="rId8"/>
                <a:stretch>
                  <a:fillRect t="-4000" b="-2000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0126C448-DDFF-4E54-F717-502FEA3A5889}"/>
                  </a:ext>
                </a:extLst>
              </p:cNvPr>
              <p:cNvSpPr txBox="1"/>
              <p:nvPr/>
            </p:nvSpPr>
            <p:spPr>
              <a:xfrm>
                <a:off x="7182182" y="4507906"/>
                <a:ext cx="1899751" cy="215444"/>
              </a:xfrm>
              <a:prstGeom prst="rect">
                <a:avLst/>
              </a:prstGeom>
              <a:noFill/>
            </p:spPr>
            <p:txBody>
              <a:bodyPr wrap="none" lIns="0" tIns="0" rIns="0" bIns="0" rtlCol="0">
                <a:spAutoFit/>
              </a:bodyPr>
              <a:lstStyle/>
              <a:p>
                <a:pPr/>
                <a14:m>
                  <m:oMathPara xmlns:m="http://schemas.openxmlformats.org/officeDocument/2006/math">
                    <m:oMath>
                      <m:r>
                        <a:rPr lang="en-US" sz="1400" i="1" smtClean="0">
                          <a:solidFill>
                            <a:schemeClr val="accent6">
                              <a:lumMod val="75000"/>
                            </a:schemeClr>
                          </a:solidFill>
                          <a:latin typeface="Cambria Math" panose="02040503050406030204" pitchFamily="18" charset="0"/>
                        </a:rPr>
                        <m:t>𝑥</m:t>
                      </m:r>
                      <m:r>
                        <a:rPr lang="en-US" sz="1400" i="1" smtClean="0">
                          <a:solidFill>
                            <a:schemeClr val="accent6">
                              <a:lumMod val="75000"/>
                            </a:schemeClr>
                          </a:solidFill>
                          <a:latin typeface="Cambria Math" panose="02040503050406030204" pitchFamily="18" charset="0"/>
                        </a:rPr>
                        <m:t>=</m:t>
                      </m:r>
                      <m:d>
                        <m:dPr>
                          <m:ctrlPr>
                            <a:rPr lang="en-US" sz="1400" i="1">
                              <a:solidFill>
                                <a:schemeClr val="accent6">
                                  <a:lumMod val="75000"/>
                                </a:schemeClr>
                              </a:solidFill>
                              <a:latin typeface="Cambria Math" panose="02040503050406030204" pitchFamily="18" charset="0"/>
                            </a:rPr>
                          </m:ctrlPr>
                        </m:dPr>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𝑥</m:t>
                              </m:r>
                            </m:e>
                            <m:sub>
                              <m:r>
                                <a:rPr lang="en-US" sz="1400" i="1">
                                  <a:solidFill>
                                    <a:schemeClr val="accent6">
                                      <a:lumMod val="75000"/>
                                    </a:schemeClr>
                                  </a:solidFill>
                                  <a:latin typeface="Cambria Math" panose="02040503050406030204" pitchFamily="18" charset="0"/>
                                </a:rPr>
                                <m:t>1</m:t>
                              </m:r>
                            </m:sub>
                          </m:sSub>
                          <m:r>
                            <a:rPr lang="en-US" sz="1400" i="1">
                              <a:solidFill>
                                <a:schemeClr val="accent6">
                                  <a:lumMod val="75000"/>
                                </a:schemeClr>
                              </a:solidFill>
                              <a:latin typeface="Cambria Math" panose="02040503050406030204" pitchFamily="18" charset="0"/>
                            </a:rPr>
                            <m:t>,</m:t>
                          </m:r>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𝑥</m:t>
                              </m:r>
                            </m:e>
                            <m:sub>
                              <m:r>
                                <a:rPr lang="en-US" sz="1400" i="1">
                                  <a:solidFill>
                                    <a:schemeClr val="accent6">
                                      <a:lumMod val="75000"/>
                                    </a:schemeClr>
                                  </a:solidFill>
                                  <a:latin typeface="Cambria Math" panose="02040503050406030204" pitchFamily="18" charset="0"/>
                                </a:rPr>
                                <m:t>2</m:t>
                              </m:r>
                            </m:sub>
                          </m:sSub>
                          <m:r>
                            <a:rPr lang="en-US" sz="1400" i="1">
                              <a:solidFill>
                                <a:schemeClr val="accent6">
                                  <a:lumMod val="75000"/>
                                </a:schemeClr>
                              </a:solidFill>
                              <a:latin typeface="Cambria Math" panose="02040503050406030204" pitchFamily="18" charset="0"/>
                            </a:rPr>
                            <m:t>,…,</m:t>
                          </m:r>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𝑥</m:t>
                              </m:r>
                            </m:e>
                            <m:sub>
                              <m:r>
                                <a:rPr lang="en-US" sz="1400" i="1">
                                  <a:solidFill>
                                    <a:schemeClr val="accent6">
                                      <a:lumMod val="75000"/>
                                    </a:schemeClr>
                                  </a:solidFill>
                                  <a:latin typeface="Cambria Math" panose="02040503050406030204" pitchFamily="18" charset="0"/>
                                </a:rPr>
                                <m:t>𝑁</m:t>
                              </m:r>
                            </m:sub>
                          </m:sSub>
                        </m:e>
                      </m:d>
                      <m:r>
                        <a:rPr lang="en-US" sz="1400" i="1">
                          <a:latin typeface="Cambria Math" panose="02040503050406030204" pitchFamily="18" charset="0"/>
                        </a:rPr>
                        <m:t>∈</m:t>
                      </m:r>
                      <m:sSup>
                        <m:sSupPr>
                          <m:ctrlPr>
                            <a:rPr lang="en-US" sz="1400" i="1">
                              <a:latin typeface="Cambria Math" panose="02040503050406030204" pitchFamily="18" charset="0"/>
                            </a:rPr>
                          </m:ctrlPr>
                        </m:sSupPr>
                        <m:e>
                          <m:r>
                            <a:rPr lang="en-US" sz="1400" i="1">
                              <a:latin typeface="Cambria Math" panose="02040503050406030204" pitchFamily="18" charset="0"/>
                            </a:rPr>
                            <m:t>ℝ</m:t>
                          </m:r>
                        </m:e>
                        <m:sup>
                          <m:r>
                            <a:rPr lang="en-US" sz="1400" i="1">
                              <a:latin typeface="Cambria Math" panose="02040503050406030204" pitchFamily="18" charset="0"/>
                            </a:rPr>
                            <m:t>𝑁</m:t>
                          </m:r>
                        </m:sup>
                      </m:sSup>
                    </m:oMath>
                  </m:oMathPara>
                </a14:m>
                <a:endParaRPr dirty="0"/>
              </a:p>
            </p:txBody>
          </p:sp>
        </mc:Choice>
        <mc:Fallback>
          <p:sp>
            <p:nvSpPr>
              <p:cNvPr id="18" name="TextBox 17">
                <a:extLst>
                  <a:ext uri="{FF2B5EF4-FFF2-40B4-BE49-F238E27FC236}">
                    <a16:creationId xmlns:a16="http://schemas.microsoft.com/office/drawing/2014/main" id="{0126C448-DDFF-4E54-F717-502FEA3A5889}"/>
                  </a:ext>
                </a:extLst>
              </p:cNvPr>
              <p:cNvSpPr txBox="1">
                <a:spLocks noRot="1" noChangeAspect="1" noMove="1" noResize="1" noEditPoints="1" noAdjustHandles="1" noChangeArrowheads="1" noChangeShapeType="1" noTextEdit="1"/>
              </p:cNvSpPr>
              <p:nvPr/>
            </p:nvSpPr>
            <p:spPr>
              <a:xfrm>
                <a:off x="7182182" y="4507906"/>
                <a:ext cx="1899751" cy="215444"/>
              </a:xfrm>
              <a:prstGeom prst="rect">
                <a:avLst/>
              </a:prstGeom>
              <a:blipFill>
                <a:blip r:embed="rId9"/>
                <a:stretch>
                  <a:fillRect l="-662" b="-11111"/>
                </a:stretch>
              </a:blipFill>
            </p:spPr>
            <p:txBody>
              <a:bodyPr/>
              <a:lstStyle/>
              <a:p>
                <a:r>
                  <a:rPr lang="en-VN">
                    <a:noFill/>
                  </a:rPr>
                  <a:t> </a:t>
                </a:r>
              </a:p>
            </p:txBody>
          </p:sp>
        </mc:Fallback>
      </mc:AlternateContent>
      <p:sp>
        <p:nvSpPr>
          <p:cNvPr id="12" name="TextBox 11">
            <a:extLst>
              <a:ext uri="{FF2B5EF4-FFF2-40B4-BE49-F238E27FC236}">
                <a16:creationId xmlns:a16="http://schemas.microsoft.com/office/drawing/2014/main" id="{9A901F7B-2B18-AA7B-1F4A-1E25BCCF0BFF}"/>
              </a:ext>
            </a:extLst>
          </p:cNvPr>
          <p:cNvSpPr txBox="1"/>
          <p:nvPr/>
        </p:nvSpPr>
        <p:spPr>
          <a:xfrm>
            <a:off x="7911966" y="5977288"/>
            <a:ext cx="184731" cy="369332"/>
          </a:xfrm>
          <a:prstGeom prst="rect">
            <a:avLst/>
          </a:prstGeom>
          <a:noFill/>
        </p:spPr>
        <p:txBody>
          <a:bodyPr wrap="none" rtlCol="0">
            <a:spAutoFit/>
          </a:bodyPr>
          <a:lstStyle/>
          <a:p>
            <a:endParaRPr lang="en-VN" dirty="0"/>
          </a:p>
        </p:txBody>
      </p:sp>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7FDDC789-C43F-12F3-2F31-24A589817671}"/>
                  </a:ext>
                </a:extLst>
              </p:cNvPr>
              <p:cNvSpPr txBox="1"/>
              <p:nvPr/>
            </p:nvSpPr>
            <p:spPr>
              <a:xfrm>
                <a:off x="7030720" y="2559639"/>
                <a:ext cx="4301049" cy="518347"/>
              </a:xfrm>
              <a:prstGeom prst="rect">
                <a:avLst/>
              </a:prstGeom>
              <a:noFill/>
            </p:spPr>
            <p:txBody>
              <a:bodyPr wrap="none" lIns="0" tIns="0" rIns="0" bIns="0" rtlCol="0">
                <a:spAutoFit/>
              </a:bodyPr>
              <a:lstStyle/>
              <a:p>
                <a14:m>
                  <m:oMathPara xmlns:m="http://schemas.openxmlformats.org/officeDocument/2006/math">
                    <m:oMath>
                      <m:r>
                        <a:rPr lang="en-US" sz="1400" b="0" i="1" smtClean="0">
                          <a:solidFill>
                            <a:schemeClr val="accent6">
                              <a:lumMod val="75000"/>
                            </a:schemeClr>
                          </a:solidFill>
                          <a:latin typeface="Cambria Math" panose="02040503050406030204" pitchFamily="18" charset="0"/>
                        </a:rPr>
                        <m:t>𝒩</m:t>
                      </m:r>
                      <m:d>
                        <m:dPr>
                          <m:ctrlPr>
                            <a:rPr lang="en-US" sz="1400" b="0" i="1">
                              <a:solidFill>
                                <a:schemeClr val="accent6">
                                  <a:lumMod val="75000"/>
                                </a:schemeClr>
                              </a:solidFill>
                              <a:latin typeface="Cambria Math" panose="02040503050406030204" pitchFamily="18" charset="0"/>
                            </a:rPr>
                          </m:ctrlPr>
                        </m:dPr>
                        <m:e>
                          <m:r>
                            <a:rPr lang="en-US" sz="1400" b="0" i="1">
                              <a:solidFill>
                                <a:schemeClr val="accent6">
                                  <a:lumMod val="75000"/>
                                </a:schemeClr>
                              </a:solidFill>
                              <a:latin typeface="Cambria Math" panose="02040503050406030204" pitchFamily="18" charset="0"/>
                            </a:rPr>
                            <m:t>𝑥</m:t>
                          </m:r>
                          <m:r>
                            <a:rPr lang="vi-VN" sz="1400" b="0" i="1" smtClean="0">
                              <a:solidFill>
                                <a:schemeClr val="accent6">
                                  <a:lumMod val="75000"/>
                                </a:schemeClr>
                              </a:solidFill>
                              <a:latin typeface="Cambria Math" panose="02040503050406030204" pitchFamily="18" charset="0"/>
                            </a:rPr>
                            <m:t> </m:t>
                          </m:r>
                          <m:r>
                            <a:rPr lang="en-VN" sz="1400" b="0">
                              <a:solidFill>
                                <a:schemeClr val="accent6">
                                  <a:lumMod val="75000"/>
                                </a:schemeClr>
                              </a:solidFill>
                              <a:latin typeface="Cambria Math" panose="02040503050406030204" pitchFamily="18" charset="0"/>
                            </a:rPr>
                            <m:t>|</m:t>
                          </m:r>
                          <m:r>
                            <a:rPr lang="vi-VN" sz="1400" b="0" i="0" smtClean="0">
                              <a:solidFill>
                                <a:schemeClr val="accent6">
                                  <a:lumMod val="75000"/>
                                </a:schemeClr>
                              </a:solidFill>
                              <a:latin typeface="Cambria Math" panose="02040503050406030204" pitchFamily="18" charset="0"/>
                            </a:rPr>
                            <m:t> </m:t>
                          </m:r>
                          <m:r>
                            <a:rPr lang="en-US" sz="1400" b="0" i="1">
                              <a:solidFill>
                                <a:schemeClr val="accent6">
                                  <a:lumMod val="75000"/>
                                </a:schemeClr>
                              </a:solidFill>
                              <a:latin typeface="Cambria Math" panose="02040503050406030204" pitchFamily="18" charset="0"/>
                            </a:rPr>
                            <m:t>𝜇</m:t>
                          </m:r>
                          <m:r>
                            <a:rPr lang="en-US" sz="1400" b="0" i="1">
                              <a:solidFill>
                                <a:schemeClr val="accent6">
                                  <a:lumMod val="75000"/>
                                </a:schemeClr>
                              </a:solidFill>
                              <a:latin typeface="Cambria Math" panose="02040503050406030204" pitchFamily="18" charset="0"/>
                            </a:rPr>
                            <m:t>,</m:t>
                          </m:r>
                          <m:r>
                            <a:rPr lang="en-US" sz="1400" b="0" i="1">
                              <a:solidFill>
                                <a:schemeClr val="accent6">
                                  <a:lumMod val="75000"/>
                                </a:schemeClr>
                              </a:solidFill>
                              <a:latin typeface="Cambria Math" panose="02040503050406030204" pitchFamily="18" charset="0"/>
                            </a:rPr>
                            <m:t>𝛴</m:t>
                          </m:r>
                        </m:e>
                      </m:d>
                      <m:r>
                        <a:rPr lang="en-US" sz="1400" b="0" i="1">
                          <a:latin typeface="Cambria Math" panose="02040503050406030204" pitchFamily="18" charset="0"/>
                        </a:rPr>
                        <m:t>=</m:t>
                      </m:r>
                      <m:f>
                        <m:fPr>
                          <m:ctrlPr>
                            <a:rPr lang="en-US" sz="1400" b="0" i="1">
                              <a:latin typeface="Cambria Math" panose="02040503050406030204" pitchFamily="18" charset="0"/>
                            </a:rPr>
                          </m:ctrlPr>
                        </m:fPr>
                        <m:num>
                          <m:r>
                            <a:rPr lang="en-US" sz="1400" b="0" i="1">
                              <a:latin typeface="Cambria Math" panose="02040503050406030204" pitchFamily="18" charset="0"/>
                            </a:rPr>
                            <m:t>1</m:t>
                          </m:r>
                        </m:num>
                        <m:den>
                          <m:rad>
                            <m:radPr>
                              <m:degHide m:val="on"/>
                              <m:ctrlPr>
                                <a:rPr lang="en-US" sz="1400" i="1">
                                  <a:latin typeface="Cambria Math" panose="02040503050406030204" pitchFamily="18" charset="0"/>
                                </a:rPr>
                              </m:ctrlPr>
                            </m:radPr>
                            <m:deg/>
                            <m:e>
                              <m:sSup>
                                <m:sSupPr>
                                  <m:ctrlPr>
                                    <a:rPr lang="en-US" sz="1400" i="1">
                                      <a:latin typeface="Cambria Math" panose="02040503050406030204" pitchFamily="18" charset="0"/>
                                    </a:rPr>
                                  </m:ctrlPr>
                                </m:sSupPr>
                                <m:e>
                                  <m:d>
                                    <m:dPr>
                                      <m:ctrlPr>
                                        <a:rPr lang="en-US" sz="1400" b="0" i="1">
                                          <a:latin typeface="Cambria Math" panose="02040503050406030204" pitchFamily="18" charset="0"/>
                                        </a:rPr>
                                      </m:ctrlPr>
                                    </m:dPr>
                                    <m:e>
                                      <m:r>
                                        <a:rPr lang="en-US" sz="1400" b="0" i="1">
                                          <a:latin typeface="Cambria Math" panose="02040503050406030204" pitchFamily="18" charset="0"/>
                                        </a:rPr>
                                        <m:t>2</m:t>
                                      </m:r>
                                      <m:r>
                                        <a:rPr lang="en-US" sz="1400" b="0" i="1">
                                          <a:latin typeface="Cambria Math" panose="02040503050406030204" pitchFamily="18" charset="0"/>
                                        </a:rPr>
                                        <m:t>𝜋</m:t>
                                      </m:r>
                                    </m:e>
                                  </m:d>
                                </m:e>
                                <m:sup>
                                  <m:r>
                                    <a:rPr lang="en-US" sz="1400" b="0" i="1">
                                      <a:latin typeface="Cambria Math" panose="02040503050406030204" pitchFamily="18" charset="0"/>
                                    </a:rPr>
                                    <m:t>𝑘</m:t>
                                  </m:r>
                                </m:sup>
                              </m:sSup>
                              <m:d>
                                <m:dPr>
                                  <m:begChr m:val="|"/>
                                  <m:endChr m:val="|"/>
                                  <m:ctrlPr>
                                    <a:rPr lang="en-US" sz="1400" b="0" i="1" smtClean="0">
                                      <a:solidFill>
                                        <a:srgbClr val="00B050"/>
                                      </a:solidFill>
                                      <a:latin typeface="Cambria Math" panose="02040503050406030204" pitchFamily="18" charset="0"/>
                                    </a:rPr>
                                  </m:ctrlPr>
                                </m:dPr>
                                <m:e>
                                  <m:r>
                                    <a:rPr lang="en-US" sz="1400" b="0" i="1" smtClean="0">
                                      <a:solidFill>
                                        <a:srgbClr val="00B050"/>
                                      </a:solidFill>
                                      <a:latin typeface="Cambria Math" panose="02040503050406030204" pitchFamily="18" charset="0"/>
                                    </a:rPr>
                                    <m:t>𝛴</m:t>
                                  </m:r>
                                </m:e>
                              </m:d>
                            </m:e>
                          </m:rad>
                        </m:den>
                      </m:f>
                      <m:func>
                        <m:funcPr>
                          <m:ctrlPr>
                            <a:rPr lang="en-US" sz="1400" b="0" i="1">
                              <a:latin typeface="Cambria Math" panose="02040503050406030204" pitchFamily="18" charset="0"/>
                            </a:rPr>
                          </m:ctrlPr>
                        </m:funcPr>
                        <m:fName>
                          <m:r>
                            <a:rPr lang="en-US" sz="1400" b="0" i="1">
                              <a:latin typeface="Cambria Math" panose="02040503050406030204" pitchFamily="18" charset="0"/>
                            </a:rPr>
                            <m:t>𝑒𝑥𝑝</m:t>
                          </m:r>
                        </m:fName>
                        <m:e>
                          <m:d>
                            <m:dPr>
                              <m:ctrlPr>
                                <a:rPr lang="en-US" sz="1400" b="0" i="1">
                                  <a:latin typeface="Cambria Math" panose="02040503050406030204" pitchFamily="18" charset="0"/>
                                </a:rPr>
                              </m:ctrlPr>
                            </m:dPr>
                            <m:e>
                              <m:r>
                                <a:rPr lang="en-US" sz="1400" b="0" i="1">
                                  <a:latin typeface="Cambria Math" panose="02040503050406030204" pitchFamily="18" charset="0"/>
                                </a:rPr>
                                <m:t>−</m:t>
                              </m:r>
                              <m:f>
                                <m:fPr>
                                  <m:ctrlPr>
                                    <a:rPr lang="en-US" sz="1400" b="0" i="1">
                                      <a:latin typeface="Cambria Math" panose="02040503050406030204" pitchFamily="18" charset="0"/>
                                    </a:rPr>
                                  </m:ctrlPr>
                                </m:fPr>
                                <m:num>
                                  <m:r>
                                    <a:rPr lang="en-US" sz="1400" b="0" i="1">
                                      <a:latin typeface="Cambria Math" panose="02040503050406030204" pitchFamily="18" charset="0"/>
                                    </a:rPr>
                                    <m:t>1</m:t>
                                  </m:r>
                                </m:num>
                                <m:den>
                                  <m:r>
                                    <a:rPr lang="en-US" sz="1400" b="0" i="1">
                                      <a:latin typeface="Cambria Math" panose="02040503050406030204" pitchFamily="18" charset="0"/>
                                    </a:rPr>
                                    <m:t>2</m:t>
                                  </m:r>
                                </m:den>
                              </m:f>
                              <m:sSup>
                                <m:sSupPr>
                                  <m:ctrlPr>
                                    <a:rPr lang="en-US" sz="1400" i="1">
                                      <a:latin typeface="Cambria Math" panose="02040503050406030204" pitchFamily="18" charset="0"/>
                                    </a:rPr>
                                  </m:ctrlPr>
                                </m:sSupPr>
                                <m:e>
                                  <m:d>
                                    <m:dPr>
                                      <m:ctrlPr>
                                        <a:rPr lang="en-US" sz="1400" b="0" i="1">
                                          <a:latin typeface="Cambria Math" panose="02040503050406030204" pitchFamily="18" charset="0"/>
                                        </a:rPr>
                                      </m:ctrlPr>
                                    </m:dPr>
                                    <m:e>
                                      <m:r>
                                        <a:rPr lang="en-US" sz="1400" b="0" i="1">
                                          <a:latin typeface="Cambria Math" panose="02040503050406030204" pitchFamily="18" charset="0"/>
                                        </a:rPr>
                                        <m:t>𝑥</m:t>
                                      </m:r>
                                      <m:r>
                                        <a:rPr lang="en-US" sz="1400" b="0" i="1">
                                          <a:latin typeface="Cambria Math" panose="02040503050406030204" pitchFamily="18" charset="0"/>
                                        </a:rPr>
                                        <m:t>−</m:t>
                                      </m:r>
                                      <m:r>
                                        <a:rPr lang="en-US" sz="1400" b="0" i="1" smtClean="0">
                                          <a:solidFill>
                                            <a:srgbClr val="0070C0"/>
                                          </a:solidFill>
                                          <a:latin typeface="Cambria Math" panose="02040503050406030204" pitchFamily="18" charset="0"/>
                                        </a:rPr>
                                        <m:t>𝜇</m:t>
                                      </m:r>
                                    </m:e>
                                  </m:d>
                                </m:e>
                                <m:sup>
                                  <m:r>
                                    <a:rPr lang="en-US" sz="1400" b="0" i="1">
                                      <a:latin typeface="Cambria Math" panose="02040503050406030204" pitchFamily="18" charset="0"/>
                                    </a:rPr>
                                    <m:t>𝑇</m:t>
                                  </m:r>
                                </m:sup>
                              </m:sSup>
                              <m:sSup>
                                <m:sSupPr>
                                  <m:ctrlPr>
                                    <a:rPr lang="en-US" sz="1400" b="0" i="1" smtClean="0">
                                      <a:solidFill>
                                        <a:srgbClr val="00B050"/>
                                      </a:solidFill>
                                      <a:latin typeface="Cambria Math" panose="02040503050406030204" pitchFamily="18" charset="0"/>
                                    </a:rPr>
                                  </m:ctrlPr>
                                </m:sSupPr>
                                <m:e>
                                  <m:r>
                                    <a:rPr lang="en-US" sz="1400" b="0" i="1" smtClean="0">
                                      <a:solidFill>
                                        <a:srgbClr val="00B050"/>
                                      </a:solidFill>
                                      <a:latin typeface="Cambria Math" panose="02040503050406030204" pitchFamily="18" charset="0"/>
                                    </a:rPr>
                                    <m:t>𝛴</m:t>
                                  </m:r>
                                </m:e>
                                <m:sup>
                                  <m:r>
                                    <a:rPr lang="en-US" sz="1400" b="0" i="1">
                                      <a:latin typeface="Cambria Math" panose="02040503050406030204" pitchFamily="18" charset="0"/>
                                    </a:rPr>
                                    <m:t>−1</m:t>
                                  </m:r>
                                </m:sup>
                              </m:sSup>
                              <m:d>
                                <m:dPr>
                                  <m:ctrlPr>
                                    <a:rPr lang="en-US" sz="1400" b="0" i="1">
                                      <a:latin typeface="Cambria Math" panose="02040503050406030204" pitchFamily="18" charset="0"/>
                                    </a:rPr>
                                  </m:ctrlPr>
                                </m:dPr>
                                <m:e>
                                  <m:r>
                                    <a:rPr lang="en-US" sz="1400" b="0" i="1">
                                      <a:latin typeface="Cambria Math" panose="02040503050406030204" pitchFamily="18" charset="0"/>
                                    </a:rPr>
                                    <m:t>𝑥</m:t>
                                  </m:r>
                                  <m:r>
                                    <a:rPr lang="en-US" sz="1400" b="0" i="1">
                                      <a:latin typeface="Cambria Math" panose="02040503050406030204" pitchFamily="18" charset="0"/>
                                    </a:rPr>
                                    <m:t>−</m:t>
                                  </m:r>
                                  <m:r>
                                    <a:rPr lang="en-US" sz="1400" b="0" i="1" smtClean="0">
                                      <a:solidFill>
                                        <a:srgbClr val="0070C0"/>
                                      </a:solidFill>
                                      <a:latin typeface="Cambria Math" panose="02040503050406030204" pitchFamily="18" charset="0"/>
                                    </a:rPr>
                                    <m:t>𝜇</m:t>
                                  </m:r>
                                </m:e>
                              </m:d>
                            </m:e>
                          </m:d>
                        </m:e>
                      </m:func>
                    </m:oMath>
                  </m:oMathPara>
                </a14:m>
                <a:endParaRPr lang="en-VN" sz="1400" dirty="0"/>
              </a:p>
            </p:txBody>
          </p:sp>
        </mc:Choice>
        <mc:Fallback>
          <p:sp>
            <p:nvSpPr>
              <p:cNvPr id="20" name="TextBox 19">
                <a:extLst>
                  <a:ext uri="{FF2B5EF4-FFF2-40B4-BE49-F238E27FC236}">
                    <a16:creationId xmlns:a16="http://schemas.microsoft.com/office/drawing/2014/main" id="{7FDDC789-C43F-12F3-2F31-24A589817671}"/>
                  </a:ext>
                </a:extLst>
              </p:cNvPr>
              <p:cNvSpPr txBox="1">
                <a:spLocks noRot="1" noChangeAspect="1" noMove="1" noResize="1" noEditPoints="1" noAdjustHandles="1" noChangeArrowheads="1" noChangeShapeType="1" noTextEdit="1"/>
              </p:cNvSpPr>
              <p:nvPr/>
            </p:nvSpPr>
            <p:spPr>
              <a:xfrm>
                <a:off x="7030720" y="2559639"/>
                <a:ext cx="4301049" cy="518347"/>
              </a:xfrm>
              <a:prstGeom prst="rect">
                <a:avLst/>
              </a:prstGeom>
              <a:blipFill>
                <a:blip r:embed="rId10"/>
                <a:stretch>
                  <a:fillRect l="-294" b="-2381"/>
                </a:stretch>
              </a:blipFill>
            </p:spPr>
            <p:txBody>
              <a:bodyPr/>
              <a:lstStyle/>
              <a:p>
                <a:r>
                  <a:rPr lang="en-VN">
                    <a:noFill/>
                  </a:rPr>
                  <a:t> </a:t>
                </a:r>
              </a:p>
            </p:txBody>
          </p:sp>
        </mc:Fallback>
      </mc:AlternateContent>
    </p:spTree>
    <p:extLst>
      <p:ext uri="{BB962C8B-B14F-4D97-AF65-F5344CB8AC3E}">
        <p14:creationId xmlns:p14="http://schemas.microsoft.com/office/powerpoint/2010/main" val="10459036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7D242-F453-41FC-B20C-D7D8039332E6}"/>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654AD13C-CEA6-DEDE-2163-5425B50F1C32}"/>
                  </a:ext>
                </a:extLst>
              </p:cNvPr>
              <p:cNvSpPr txBox="1"/>
              <p:nvPr/>
            </p:nvSpPr>
            <p:spPr>
              <a:xfrm>
                <a:off x="6095847" y="4200075"/>
                <a:ext cx="5820076" cy="1107996"/>
              </a:xfrm>
              <a:prstGeom prst="rect">
                <a:avLst/>
              </a:prstGeom>
              <a:noFill/>
            </p:spPr>
            <p:txBody>
              <a:bodyPr wrap="square">
                <a:spAutoFit/>
              </a:bodyPr>
              <a:lstStyle/>
              <a:p>
                <a:pPr>
                  <a:spcAft>
                    <a:spcPts val="600"/>
                  </a:spcAft>
                </a:pPr>
                <a:r>
                  <a:rPr lang="vi-VN" sz="1400" b="1" dirty="0">
                    <a:solidFill>
                      <a:srgbClr val="1B8A7A"/>
                    </a:solidFill>
                    <a:latin typeface="Arial"/>
                  </a:rPr>
                  <a:t>Vấn đề</a:t>
                </a:r>
                <a:endParaRPr lang="vi-VN" sz="1400" dirty="0">
                  <a:solidFill>
                    <a:srgbClr val="444B52"/>
                  </a:solidFill>
                  <a:latin typeface="Arial"/>
                </a:endParaRPr>
              </a:p>
              <a:p>
                <a:pPr>
                  <a:spcAft>
                    <a:spcPts val="600"/>
                  </a:spcAft>
                </a:pPr>
                <a:r>
                  <a:rPr lang="vi-VN" sz="1400" dirty="0">
                    <a:solidFill>
                      <a:srgbClr val="444B52"/>
                    </a:solidFill>
                    <a:latin typeface="Arial"/>
                  </a:rPr>
                  <a:t>Cho sẵn tập </a:t>
                </a:r>
                <a:br>
                  <a:rPr lang="vi-VN" sz="1400" dirty="0">
                    <a:solidFill>
                      <a:srgbClr val="444B52"/>
                    </a:solidFill>
                    <a:latin typeface="Arial"/>
                  </a:rPr>
                </a:br>
                <a:r>
                  <a:rPr lang="vi-VN" sz="1400" dirty="0">
                    <a:solidFill>
                      <a:srgbClr val="444B52"/>
                    </a:solidFill>
                    <a:latin typeface="Arial"/>
                  </a:rPr>
                  <a:t>Làm sao “vẽ cái chuông cho khớp” với tập </a:t>
                </a:r>
                <a14:m>
                  <m:oMath xmlns:m="http://schemas.openxmlformats.org/officeDocument/2006/math">
                    <m:r>
                      <a:rPr lang="en-US" sz="1400" i="1" smtClean="0">
                        <a:solidFill>
                          <a:schemeClr val="accent6">
                            <a:lumMod val="75000"/>
                          </a:schemeClr>
                        </a:solidFill>
                        <a:latin typeface="Cambria Math" panose="02040503050406030204" pitchFamily="18" charset="0"/>
                      </a:rPr>
                      <m:t>𝑥</m:t>
                    </m:r>
                  </m:oMath>
                </a14:m>
                <a:r>
                  <a:rPr lang="vi-VN" sz="1400" dirty="0">
                    <a:solidFill>
                      <a:srgbClr val="444B52"/>
                    </a:solidFill>
                    <a:latin typeface="Arial"/>
                  </a:rPr>
                  <a:t> ?</a:t>
                </a:r>
              </a:p>
              <a:p>
                <a:pPr>
                  <a:spcAft>
                    <a:spcPts val="600"/>
                  </a:spcAft>
                </a:pPr>
                <a:r>
                  <a:rPr lang="vi-VN" sz="1400" b="1" dirty="0">
                    <a:solidFill>
                      <a:srgbClr val="444B52"/>
                    </a:solidFill>
                    <a:latin typeface="Arial"/>
                    <a:sym typeface="Wingdings" pitchFamily="2" charset="2"/>
                  </a:rPr>
                  <a:t> Tìm</a:t>
                </a:r>
                <a14:m>
                  <m:oMath xmlns:m="http://schemas.openxmlformats.org/officeDocument/2006/math">
                    <m:r>
                      <a:rPr lang="vi-VN" sz="1400" b="1" i="0" smtClean="0">
                        <a:solidFill>
                          <a:schemeClr val="tx2">
                            <a:lumMod val="60000"/>
                            <a:lumOff val="40000"/>
                          </a:schemeClr>
                        </a:solidFill>
                        <a:latin typeface="Cambria Math" panose="02040503050406030204" pitchFamily="18" charset="0"/>
                      </a:rPr>
                      <m:t> </m:t>
                    </m:r>
                    <m:r>
                      <a:rPr lang="en-VN" sz="1400" i="1">
                        <a:solidFill>
                          <a:schemeClr val="tx2">
                            <a:lumMod val="60000"/>
                            <a:lumOff val="40000"/>
                          </a:schemeClr>
                        </a:solidFill>
                        <a:latin typeface="Cambria Math" panose="02040503050406030204" pitchFamily="18" charset="0"/>
                      </a:rPr>
                      <m:t>𝜇</m:t>
                    </m:r>
                  </m:oMath>
                </a14:m>
                <a:r>
                  <a:rPr lang="vi-VN" sz="1400" b="1" dirty="0">
                    <a:solidFill>
                      <a:srgbClr val="444B52"/>
                    </a:solidFill>
                    <a:latin typeface="Arial"/>
                    <a:sym typeface="Wingdings" pitchFamily="2" charset="2"/>
                  </a:rPr>
                  <a:t> và </a:t>
                </a:r>
                <a14:m>
                  <m:oMath xmlns:m="http://schemas.openxmlformats.org/officeDocument/2006/math">
                    <m:r>
                      <a:rPr lang="en-US" sz="1400" i="1" dirty="0">
                        <a:solidFill>
                          <a:srgbClr val="00B050"/>
                        </a:solidFill>
                        <a:latin typeface="Cambria Math" panose="02040503050406030204" pitchFamily="18" charset="0"/>
                      </a:rPr>
                      <m:t>𝜎</m:t>
                    </m:r>
                  </m:oMath>
                </a14:m>
                <a:r>
                  <a:rPr lang="vi-VN" sz="1400" b="1" dirty="0">
                    <a:solidFill>
                      <a:srgbClr val="444B52"/>
                    </a:solidFill>
                    <a:latin typeface="Arial"/>
                    <a:sym typeface="Wingdings" pitchFamily="2" charset="2"/>
                  </a:rPr>
                  <a:t> để </a:t>
                </a:r>
                <a:r>
                  <a:rPr lang="vi-VN" sz="1400" b="1" dirty="0">
                    <a:highlight>
                      <a:srgbClr val="FFFF00"/>
                    </a:highlight>
                    <a:latin typeface="Arial"/>
                    <a:sym typeface="Wingdings" pitchFamily="2" charset="2"/>
                  </a:rPr>
                  <a:t>hàm hợp lý</a:t>
                </a:r>
                <a:r>
                  <a:rPr lang="vi-VN" sz="1400" b="1" dirty="0">
                    <a:latin typeface="Arial"/>
                    <a:sym typeface="Wingdings" pitchFamily="2" charset="2"/>
                  </a:rPr>
                  <a:t> đạt cực đại</a:t>
                </a:r>
                <a:endParaRPr lang="vi-VN" sz="1400" b="1" dirty="0">
                  <a:solidFill>
                    <a:srgbClr val="444B52"/>
                  </a:solidFill>
                  <a:latin typeface="Arial"/>
                </a:endParaRPr>
              </a:p>
            </p:txBody>
          </p:sp>
        </mc:Choice>
        <mc:Fallback>
          <p:sp>
            <p:nvSpPr>
              <p:cNvPr id="13" name="TextBox 12">
                <a:extLst>
                  <a:ext uri="{FF2B5EF4-FFF2-40B4-BE49-F238E27FC236}">
                    <a16:creationId xmlns:a16="http://schemas.microsoft.com/office/drawing/2014/main" id="{654AD13C-CEA6-DEDE-2163-5425B50F1C32}"/>
                  </a:ext>
                </a:extLst>
              </p:cNvPr>
              <p:cNvSpPr txBox="1">
                <a:spLocks noRot="1" noChangeAspect="1" noMove="1" noResize="1" noEditPoints="1" noAdjustHandles="1" noChangeArrowheads="1" noChangeShapeType="1" noTextEdit="1"/>
              </p:cNvSpPr>
              <p:nvPr/>
            </p:nvSpPr>
            <p:spPr>
              <a:xfrm>
                <a:off x="6095847" y="4200075"/>
                <a:ext cx="5820076" cy="1107996"/>
              </a:xfrm>
              <a:prstGeom prst="rect">
                <a:avLst/>
              </a:prstGeom>
              <a:blipFill>
                <a:blip r:embed="rId3"/>
                <a:stretch>
                  <a:fillRect l="-436" t="-1124" b="-3371"/>
                </a:stretch>
              </a:blipFill>
            </p:spPr>
            <p:txBody>
              <a:bodyPr/>
              <a:lstStyle/>
              <a:p>
                <a:r>
                  <a:rPr lang="en-VN">
                    <a:noFill/>
                  </a:rPr>
                  <a:t> </a:t>
                </a:r>
              </a:p>
            </p:txBody>
          </p:sp>
        </mc:Fallback>
      </mc:AlternateContent>
      <p:sp>
        <p:nvSpPr>
          <p:cNvPr id="2" name="Rectangle 1">
            <a:extLst>
              <a:ext uri="{FF2B5EF4-FFF2-40B4-BE49-F238E27FC236}">
                <a16:creationId xmlns:a16="http://schemas.microsoft.com/office/drawing/2014/main" id="{79F170C2-1994-125A-B740-0641CAB13FE1}"/>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p:sp>
        <p:nvSpPr>
          <p:cNvPr id="10" name="TextBox 9">
            <a:extLst>
              <a:ext uri="{FF2B5EF4-FFF2-40B4-BE49-F238E27FC236}">
                <a16:creationId xmlns:a16="http://schemas.microsoft.com/office/drawing/2014/main" id="{852DAFB2-C1A5-0980-BEC0-7FC02DDB4661}"/>
              </a:ext>
            </a:extLst>
          </p:cNvPr>
          <p:cNvSpPr txBox="1"/>
          <p:nvPr/>
        </p:nvSpPr>
        <p:spPr>
          <a:xfrm>
            <a:off x="364067" y="1267772"/>
            <a:ext cx="6158653" cy="723275"/>
          </a:xfrm>
          <a:prstGeom prst="rect">
            <a:avLst/>
          </a:prstGeom>
          <a:noFill/>
        </p:spPr>
        <p:txBody>
          <a:bodyPr wrap="square">
            <a:spAutoFit/>
          </a:bodyPr>
          <a:lstStyle/>
          <a:p>
            <a:pPr>
              <a:spcAft>
                <a:spcPts val="600"/>
              </a:spcAft>
            </a:pPr>
            <a:r>
              <a:rPr lang="en-US" sz="1400" b="1" dirty="0" err="1">
                <a:solidFill>
                  <a:srgbClr val="1B8A7A"/>
                </a:solidFill>
                <a:latin typeface="Arial"/>
              </a:rPr>
              <a:t>Kiến</a:t>
            </a:r>
            <a:r>
              <a:rPr lang="en-US" sz="1400" b="1" dirty="0">
                <a:solidFill>
                  <a:srgbClr val="1B8A7A"/>
                </a:solidFill>
                <a:latin typeface="Arial"/>
              </a:rPr>
              <a:t> </a:t>
            </a:r>
            <a:r>
              <a:rPr lang="en-US" sz="1400" b="1" dirty="0" err="1">
                <a:solidFill>
                  <a:srgbClr val="1B8A7A"/>
                </a:solidFill>
                <a:latin typeface="Arial"/>
              </a:rPr>
              <a:t>thức</a:t>
            </a:r>
            <a:r>
              <a:rPr lang="en-US" sz="1400" b="1" dirty="0">
                <a:solidFill>
                  <a:srgbClr val="1B8A7A"/>
                </a:solidFill>
                <a:latin typeface="Arial"/>
              </a:rPr>
              <a:t> </a:t>
            </a:r>
            <a:r>
              <a:rPr lang="en-US" sz="1400" b="1" dirty="0" err="1">
                <a:solidFill>
                  <a:srgbClr val="1B8A7A"/>
                </a:solidFill>
                <a:latin typeface="Arial"/>
              </a:rPr>
              <a:t>nền</a:t>
            </a:r>
            <a:endParaRPr lang="en-US" sz="1400" b="1" dirty="0">
              <a:solidFill>
                <a:srgbClr val="1B8A7A"/>
              </a:solidFill>
              <a:latin typeface="Arial"/>
            </a:endParaRPr>
          </a:p>
          <a:p>
            <a:pPr>
              <a:spcAft>
                <a:spcPts val="600"/>
              </a:spcAft>
            </a:pPr>
            <a:r>
              <a:rPr lang="vi-VN" sz="1400" dirty="0">
                <a:solidFill>
                  <a:srgbClr val="444B52"/>
                </a:solidFill>
                <a:latin typeface="Arial"/>
              </a:rPr>
              <a:t>Phân phối chuẩn (hình cái chuông)</a:t>
            </a:r>
            <a:br>
              <a:rPr lang="vi-VN" sz="1400" dirty="0">
                <a:solidFill>
                  <a:srgbClr val="444B52"/>
                </a:solidFill>
                <a:latin typeface="Arial"/>
              </a:rPr>
            </a:br>
            <a:r>
              <a:rPr lang="vi-VN" sz="800" dirty="0">
                <a:solidFill>
                  <a:srgbClr val="444B52"/>
                </a:solidFill>
                <a:latin typeface="Arial"/>
              </a:rPr>
              <a:t>(nhiều tên gọi hàn lâm như </a:t>
            </a:r>
            <a:r>
              <a:rPr lang="vi-VN" sz="800" b="1" dirty="0">
                <a:solidFill>
                  <a:srgbClr val="444B52"/>
                </a:solidFill>
                <a:latin typeface="Arial"/>
              </a:rPr>
              <a:t>Hàm Phân phối chuẩn</a:t>
            </a:r>
            <a:r>
              <a:rPr lang="vi-VN" sz="800" dirty="0">
                <a:solidFill>
                  <a:srgbClr val="444B52"/>
                </a:solidFill>
                <a:latin typeface="Arial"/>
              </a:rPr>
              <a:t>, </a:t>
            </a:r>
            <a:r>
              <a:rPr lang="vi-VN" sz="800" b="1" dirty="0">
                <a:solidFill>
                  <a:srgbClr val="444B52"/>
                </a:solidFill>
                <a:latin typeface="Arial"/>
              </a:rPr>
              <a:t>Guassian</a:t>
            </a:r>
            <a:r>
              <a:rPr lang="vi-VN" sz="800" dirty="0">
                <a:solidFill>
                  <a:srgbClr val="444B52"/>
                </a:solidFill>
                <a:latin typeface="Arial"/>
              </a:rPr>
              <a:t>, </a:t>
            </a:r>
            <a:r>
              <a:rPr lang="vi-VN" sz="800" b="1" dirty="0">
                <a:solidFill>
                  <a:srgbClr val="444B52"/>
                </a:solidFill>
                <a:latin typeface="Arial"/>
              </a:rPr>
              <a:t>Normal Distribution</a:t>
            </a:r>
            <a:r>
              <a:rPr lang="vi-VN" sz="800" dirty="0">
                <a:solidFill>
                  <a:srgbClr val="444B52"/>
                </a:solidFill>
                <a:latin typeface="Arial"/>
              </a:rPr>
              <a:t>, </a:t>
            </a:r>
            <a:r>
              <a:rPr lang="vi-VN" sz="800" b="1" dirty="0">
                <a:solidFill>
                  <a:srgbClr val="444B52"/>
                </a:solidFill>
                <a:latin typeface="Arial"/>
              </a:rPr>
              <a:t>Bell Curve</a:t>
            </a:r>
            <a:r>
              <a:rPr lang="vi-VN" sz="800" dirty="0">
                <a:solidFill>
                  <a:srgbClr val="444B52"/>
                </a:solidFill>
                <a:latin typeface="Arial"/>
              </a:rPr>
              <a:t>)</a:t>
            </a:r>
            <a:endParaRPr lang="vi-VN" sz="1400" dirty="0">
              <a:solidFill>
                <a:srgbClr val="444B52"/>
              </a:solidFill>
              <a:latin typeface="Arial"/>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4C16D6C6-C63B-80F1-238C-D1278D4D30EE}"/>
                  </a:ext>
                </a:extLst>
              </p:cNvPr>
              <p:cNvSpPr txBox="1"/>
              <p:nvPr/>
            </p:nvSpPr>
            <p:spPr>
              <a:xfrm>
                <a:off x="6448730" y="2055439"/>
                <a:ext cx="3352953" cy="479618"/>
              </a:xfrm>
              <a:prstGeom prst="rect">
                <a:avLst/>
              </a:prstGeom>
              <a:noFill/>
              <a:ln w="12700">
                <a:noFill/>
              </a:ln>
            </p:spPr>
            <p:txBody>
              <a:bodyPr wrap="square" lIns="0" tIns="0" rIns="0" bIns="0" rtlCol="0">
                <a:spAutoFit/>
              </a:bodyPr>
              <a:lstStyle/>
              <a:p>
                <a:pPr/>
                <a14:m>
                  <m:oMathPara xmlns:m="http://schemas.openxmlformats.org/officeDocument/2006/math">
                    <m:oMath>
                      <m:r>
                        <a:rPr lang="en-US" sz="1400" b="0" i="1" smtClean="0">
                          <a:solidFill>
                            <a:schemeClr val="accent6">
                              <a:lumMod val="75000"/>
                            </a:schemeClr>
                          </a:solidFill>
                          <a:latin typeface="Cambria Math" panose="02040503050406030204" pitchFamily="18" charset="0"/>
                        </a:rPr>
                        <m:t>𝒩</m:t>
                      </m:r>
                      <m:d>
                        <m:dPr>
                          <m:ctrlPr>
                            <a:rPr lang="en-VN" sz="1400" b="0" i="1" smtClean="0">
                              <a:solidFill>
                                <a:schemeClr val="accent6">
                                  <a:lumMod val="75000"/>
                                </a:schemeClr>
                              </a:solidFill>
                              <a:latin typeface="Cambria Math" panose="02040503050406030204" pitchFamily="18" charset="0"/>
                            </a:rPr>
                          </m:ctrlPr>
                        </m:dPr>
                        <m:e>
                          <m:r>
                            <a:rPr lang="en-VN" sz="1400" b="0" i="1" smtClean="0">
                              <a:solidFill>
                                <a:schemeClr val="accent6">
                                  <a:lumMod val="75000"/>
                                </a:schemeClr>
                              </a:solidFill>
                              <a:latin typeface="Cambria Math" panose="02040503050406030204" pitchFamily="18" charset="0"/>
                            </a:rPr>
                            <m:t>𝑥</m:t>
                          </m:r>
                          <m:r>
                            <a:rPr lang="vi-VN" sz="1400" b="0" i="0" smtClean="0">
                              <a:solidFill>
                                <a:schemeClr val="accent6">
                                  <a:lumMod val="75000"/>
                                </a:schemeClr>
                              </a:solidFill>
                              <a:latin typeface="Cambria Math" panose="02040503050406030204" pitchFamily="18" charset="0"/>
                            </a:rPr>
                            <m:t> </m:t>
                          </m:r>
                          <m:r>
                            <a:rPr lang="en-VN" sz="1400" b="0" i="0">
                              <a:solidFill>
                                <a:schemeClr val="accent6">
                                  <a:lumMod val="75000"/>
                                </a:schemeClr>
                              </a:solidFill>
                              <a:latin typeface="Cambria Math" panose="02040503050406030204" pitchFamily="18" charset="0"/>
                            </a:rPr>
                            <m:t>|</m:t>
                          </m:r>
                          <m:r>
                            <a:rPr lang="vi-VN" sz="1400" b="0" i="0" smtClean="0">
                              <a:solidFill>
                                <a:schemeClr val="accent6">
                                  <a:lumMod val="75000"/>
                                </a:schemeClr>
                              </a:solidFill>
                              <a:latin typeface="Cambria Math" panose="02040503050406030204" pitchFamily="18" charset="0"/>
                            </a:rPr>
                            <m:t> </m:t>
                          </m:r>
                          <m:r>
                            <a:rPr lang="en-VN" sz="1400" b="0" i="1" smtClean="0">
                              <a:solidFill>
                                <a:schemeClr val="accent6">
                                  <a:lumMod val="75000"/>
                                </a:schemeClr>
                              </a:solidFill>
                              <a:latin typeface="Cambria Math" panose="02040503050406030204" pitchFamily="18" charset="0"/>
                            </a:rPr>
                            <m:t>𝜇</m:t>
                          </m:r>
                          <m:r>
                            <a:rPr lang="en-VN" sz="1400" b="0" i="0">
                              <a:solidFill>
                                <a:schemeClr val="accent6">
                                  <a:lumMod val="75000"/>
                                </a:schemeClr>
                              </a:solidFill>
                              <a:latin typeface="Cambria Math" panose="02040503050406030204" pitchFamily="18" charset="0"/>
                            </a:rPr>
                            <m:t>,</m:t>
                          </m:r>
                          <m:sSup>
                            <m:sSupPr>
                              <m:ctrlPr>
                                <a:rPr lang="en-VN" sz="1400" b="0" i="1" smtClean="0">
                                  <a:solidFill>
                                    <a:schemeClr val="accent6">
                                      <a:lumMod val="75000"/>
                                    </a:schemeClr>
                                  </a:solidFill>
                                  <a:latin typeface="Cambria Math" panose="02040503050406030204" pitchFamily="18" charset="0"/>
                                </a:rPr>
                              </m:ctrlPr>
                            </m:sSupPr>
                            <m:e>
                              <m:r>
                                <a:rPr lang="en-VN" sz="1400" b="0" i="1" smtClean="0">
                                  <a:solidFill>
                                    <a:schemeClr val="accent6">
                                      <a:lumMod val="75000"/>
                                    </a:schemeClr>
                                  </a:solidFill>
                                  <a:latin typeface="Cambria Math" panose="02040503050406030204" pitchFamily="18" charset="0"/>
                                </a:rPr>
                                <m:t>𝜎</m:t>
                              </m:r>
                            </m:e>
                            <m:sup>
                              <m:r>
                                <a:rPr lang="en-VN" sz="1400" b="0" i="0">
                                  <a:solidFill>
                                    <a:schemeClr val="accent6">
                                      <a:lumMod val="75000"/>
                                    </a:schemeClr>
                                  </a:solidFill>
                                  <a:latin typeface="Cambria Math" panose="02040503050406030204" pitchFamily="18" charset="0"/>
                                </a:rPr>
                                <m:t>2</m:t>
                              </m:r>
                            </m:sup>
                          </m:sSup>
                        </m:e>
                      </m:d>
                      <m:r>
                        <a:rPr lang="en-VN" sz="1400" b="0" i="0">
                          <a:latin typeface="Cambria Math" panose="02040503050406030204" pitchFamily="18" charset="0"/>
                        </a:rPr>
                        <m:t>=</m:t>
                      </m:r>
                      <m:f>
                        <m:fPr>
                          <m:ctrlPr>
                            <a:rPr lang="en-VN" sz="1400" b="0" i="0">
                              <a:latin typeface="Cambria Math" panose="02040503050406030204" pitchFamily="18" charset="0"/>
                            </a:rPr>
                          </m:ctrlPr>
                        </m:fPr>
                        <m:num>
                          <m:r>
                            <a:rPr lang="en-VN" sz="1400" b="0" i="0">
                              <a:latin typeface="Cambria Math" panose="02040503050406030204" pitchFamily="18" charset="0"/>
                            </a:rPr>
                            <m:t>1</m:t>
                          </m:r>
                        </m:num>
                        <m:den>
                          <m:r>
                            <a:rPr lang="en-VN" sz="1400" b="0" i="1" smtClean="0">
                              <a:solidFill>
                                <a:srgbClr val="00B050"/>
                              </a:solidFill>
                              <a:latin typeface="Cambria Math" panose="02040503050406030204" pitchFamily="18" charset="0"/>
                            </a:rPr>
                            <m:t>𝜎</m:t>
                          </m:r>
                          <m:rad>
                            <m:radPr>
                              <m:degHide m:val="on"/>
                              <m:ctrlPr>
                                <a:rPr lang="en-VN" sz="1400" i="1">
                                  <a:latin typeface="Cambria Math" panose="02040503050406030204" pitchFamily="18" charset="0"/>
                                </a:rPr>
                              </m:ctrlPr>
                            </m:radPr>
                            <m:deg/>
                            <m:e>
                              <m:r>
                                <a:rPr lang="en-VN" sz="1400" b="0" i="0">
                                  <a:latin typeface="Cambria Math" panose="02040503050406030204" pitchFamily="18" charset="0"/>
                                </a:rPr>
                                <m:t>2</m:t>
                              </m:r>
                              <m:r>
                                <a:rPr lang="en-VN" sz="1400" b="0" i="1">
                                  <a:latin typeface="Cambria Math" panose="02040503050406030204" pitchFamily="18" charset="0"/>
                                </a:rPr>
                                <m:t>𝜋</m:t>
                              </m:r>
                            </m:e>
                          </m:rad>
                        </m:den>
                      </m:f>
                      <m:sSup>
                        <m:sSupPr>
                          <m:ctrlPr>
                            <a:rPr lang="en-VN" sz="1400" b="0" i="1">
                              <a:latin typeface="Cambria Math" panose="02040503050406030204" pitchFamily="18" charset="0"/>
                            </a:rPr>
                          </m:ctrlPr>
                        </m:sSupPr>
                        <m:e>
                          <m:r>
                            <a:rPr lang="en-VN" sz="1400" b="0" i="1">
                              <a:latin typeface="Cambria Math" panose="02040503050406030204" pitchFamily="18" charset="0"/>
                            </a:rPr>
                            <m:t>𝑒</m:t>
                          </m:r>
                        </m:e>
                        <m:sup>
                          <m:r>
                            <a:rPr lang="en-VN" sz="1400" b="0" i="0">
                              <a:latin typeface="Cambria Math" panose="02040503050406030204" pitchFamily="18" charset="0"/>
                            </a:rPr>
                            <m:t>−</m:t>
                          </m:r>
                          <m:f>
                            <m:fPr>
                              <m:ctrlPr>
                                <a:rPr lang="en-VN" sz="1400" b="0" i="1" smtClean="0">
                                  <a:solidFill>
                                    <a:schemeClr val="accent6">
                                      <a:lumMod val="75000"/>
                                    </a:schemeClr>
                                  </a:solidFill>
                                  <a:latin typeface="Cambria Math" panose="02040503050406030204" pitchFamily="18" charset="0"/>
                                </a:rPr>
                              </m:ctrlPr>
                            </m:fPr>
                            <m:num>
                              <m:sSup>
                                <m:sSupPr>
                                  <m:ctrlPr>
                                    <a:rPr lang="en-VN" sz="1400" b="0" i="1" smtClean="0">
                                      <a:solidFill>
                                        <a:schemeClr val="accent6">
                                          <a:lumMod val="75000"/>
                                        </a:schemeClr>
                                      </a:solidFill>
                                      <a:latin typeface="Cambria Math" panose="02040503050406030204" pitchFamily="18" charset="0"/>
                                    </a:rPr>
                                  </m:ctrlPr>
                                </m:sSupPr>
                                <m:e>
                                  <m:d>
                                    <m:dPr>
                                      <m:ctrlPr>
                                        <a:rPr lang="en-VN" sz="1400" b="0" i="1" smtClean="0">
                                          <a:solidFill>
                                            <a:schemeClr val="accent6">
                                              <a:lumMod val="75000"/>
                                            </a:schemeClr>
                                          </a:solidFill>
                                          <a:latin typeface="Cambria Math" panose="02040503050406030204" pitchFamily="18" charset="0"/>
                                        </a:rPr>
                                      </m:ctrlPr>
                                    </m:dPr>
                                    <m:e>
                                      <m:r>
                                        <a:rPr lang="en-VN" sz="1400" b="0" i="1" smtClean="0">
                                          <a:solidFill>
                                            <a:schemeClr val="accent6">
                                              <a:lumMod val="75000"/>
                                            </a:schemeClr>
                                          </a:solidFill>
                                          <a:latin typeface="Cambria Math" panose="02040503050406030204" pitchFamily="18" charset="0"/>
                                        </a:rPr>
                                        <m:t>𝑥</m:t>
                                      </m:r>
                                      <m:r>
                                        <a:rPr lang="en-VN" sz="1400" b="0" i="0">
                                          <a:solidFill>
                                            <a:schemeClr val="tx1"/>
                                          </a:solidFill>
                                          <a:latin typeface="Cambria Math" panose="02040503050406030204" pitchFamily="18" charset="0"/>
                                        </a:rPr>
                                        <m:t>−</m:t>
                                      </m:r>
                                      <m:r>
                                        <a:rPr lang="en-VN" sz="1400" b="0" i="1" smtClean="0">
                                          <a:solidFill>
                                            <a:schemeClr val="tx2">
                                              <a:lumMod val="60000"/>
                                              <a:lumOff val="40000"/>
                                            </a:schemeClr>
                                          </a:solidFill>
                                          <a:latin typeface="Cambria Math" panose="02040503050406030204" pitchFamily="18" charset="0"/>
                                        </a:rPr>
                                        <m:t>𝜇</m:t>
                                      </m:r>
                                    </m:e>
                                  </m:d>
                                </m:e>
                                <m:sup>
                                  <m:r>
                                    <a:rPr lang="en-VN" sz="1400" b="0" i="0">
                                      <a:latin typeface="Cambria Math" panose="02040503050406030204" pitchFamily="18" charset="0"/>
                                    </a:rPr>
                                    <m:t>2</m:t>
                                  </m:r>
                                </m:sup>
                              </m:sSup>
                            </m:num>
                            <m:den>
                              <m:r>
                                <a:rPr lang="en-VN" sz="1400" b="0" i="0">
                                  <a:latin typeface="Cambria Math" panose="02040503050406030204" pitchFamily="18" charset="0"/>
                                </a:rPr>
                                <m:t>2</m:t>
                              </m:r>
                              <m:sSup>
                                <m:sSupPr>
                                  <m:ctrlPr>
                                    <a:rPr lang="en-VN" sz="1400" b="0" i="1" smtClean="0">
                                      <a:solidFill>
                                        <a:srgbClr val="00B050"/>
                                      </a:solidFill>
                                      <a:latin typeface="Cambria Math" panose="02040503050406030204" pitchFamily="18" charset="0"/>
                                    </a:rPr>
                                  </m:ctrlPr>
                                </m:sSupPr>
                                <m:e>
                                  <m:r>
                                    <a:rPr lang="en-VN" sz="1400" b="0" i="1" smtClean="0">
                                      <a:solidFill>
                                        <a:srgbClr val="00B050"/>
                                      </a:solidFill>
                                      <a:latin typeface="Cambria Math" panose="02040503050406030204" pitchFamily="18" charset="0"/>
                                    </a:rPr>
                                    <m:t>𝜎</m:t>
                                  </m:r>
                                </m:e>
                                <m:sup>
                                  <m:r>
                                    <a:rPr lang="en-VN" sz="1400" b="0" i="0">
                                      <a:solidFill>
                                        <a:schemeClr val="tx1"/>
                                      </a:solidFill>
                                      <a:latin typeface="Cambria Math" panose="02040503050406030204" pitchFamily="18" charset="0"/>
                                    </a:rPr>
                                    <m:t>2</m:t>
                                  </m:r>
                                </m:sup>
                              </m:sSup>
                            </m:den>
                          </m:f>
                        </m:sup>
                      </m:sSup>
                    </m:oMath>
                  </m:oMathPara>
                </a14:m>
                <a:endParaRPr lang="en-VN" sz="1400" dirty="0"/>
              </a:p>
            </p:txBody>
          </p:sp>
        </mc:Choice>
        <mc:Fallback>
          <p:sp>
            <p:nvSpPr>
              <p:cNvPr id="14" name="TextBox 13">
                <a:extLst>
                  <a:ext uri="{FF2B5EF4-FFF2-40B4-BE49-F238E27FC236}">
                    <a16:creationId xmlns:a16="http://schemas.microsoft.com/office/drawing/2014/main" id="{4C16D6C6-C63B-80F1-238C-D1278D4D30EE}"/>
                  </a:ext>
                </a:extLst>
              </p:cNvPr>
              <p:cNvSpPr txBox="1">
                <a:spLocks noRot="1" noChangeAspect="1" noMove="1" noResize="1" noEditPoints="1" noAdjustHandles="1" noChangeArrowheads="1" noChangeShapeType="1" noTextEdit="1"/>
              </p:cNvSpPr>
              <p:nvPr/>
            </p:nvSpPr>
            <p:spPr>
              <a:xfrm>
                <a:off x="6448730" y="2055439"/>
                <a:ext cx="3352953" cy="479618"/>
              </a:xfrm>
              <a:prstGeom prst="rect">
                <a:avLst/>
              </a:prstGeom>
              <a:blipFill>
                <a:blip r:embed="rId4"/>
                <a:stretch>
                  <a:fillRect b="-10256"/>
                </a:stretch>
              </a:blipFill>
              <a:ln w="12700">
                <a:noFill/>
              </a:ln>
            </p:spPr>
            <p:txBody>
              <a:bodyPr/>
              <a:lstStyle/>
              <a:p>
                <a:r>
                  <a:rPr lang="en-VN">
                    <a:noFill/>
                  </a:rPr>
                  <a:t> </a:t>
                </a:r>
              </a:p>
            </p:txBody>
          </p:sp>
        </mc:Fallback>
      </mc:AlternateContent>
      <p:sp>
        <p:nvSpPr>
          <p:cNvPr id="34" name="TextBox 33">
            <a:extLst>
              <a:ext uri="{FF2B5EF4-FFF2-40B4-BE49-F238E27FC236}">
                <a16:creationId xmlns:a16="http://schemas.microsoft.com/office/drawing/2014/main" id="{2D0ED8C6-D25F-A2D4-B1B9-8DB1E14BC4CD}"/>
              </a:ext>
            </a:extLst>
          </p:cNvPr>
          <p:cNvSpPr txBox="1"/>
          <p:nvPr/>
        </p:nvSpPr>
        <p:spPr>
          <a:xfrm>
            <a:off x="6096000" y="1296106"/>
            <a:ext cx="1997650" cy="307777"/>
          </a:xfrm>
          <a:prstGeom prst="rect">
            <a:avLst/>
          </a:prstGeom>
          <a:noFill/>
        </p:spPr>
        <p:txBody>
          <a:bodyPr wrap="square">
            <a:spAutoFit/>
          </a:bodyPr>
          <a:lstStyle/>
          <a:p>
            <a:pPr>
              <a:spcAft>
                <a:spcPts val="600"/>
              </a:spcAft>
            </a:pPr>
            <a:r>
              <a:rPr lang="en-US" sz="1400" b="1" dirty="0">
                <a:solidFill>
                  <a:srgbClr val="1B8A7A"/>
                </a:solidFill>
                <a:latin typeface="Arial"/>
              </a:rPr>
              <a:t>Công </a:t>
            </a:r>
            <a:r>
              <a:rPr lang="en-US" sz="1400" b="1" dirty="0" err="1">
                <a:solidFill>
                  <a:srgbClr val="1B8A7A"/>
                </a:solidFill>
                <a:latin typeface="Arial"/>
              </a:rPr>
              <a:t>thức</a:t>
            </a:r>
            <a:r>
              <a:rPr lang="en-US" sz="1400" b="1" dirty="0">
                <a:solidFill>
                  <a:srgbClr val="1B8A7A"/>
                </a:solidFill>
                <a:latin typeface="Arial"/>
              </a:rPr>
              <a:t> </a:t>
            </a:r>
          </a:p>
        </p:txBody>
      </p:sp>
      <p:pic>
        <p:nvPicPr>
          <p:cNvPr id="8" name="Picture 7">
            <a:extLst>
              <a:ext uri="{FF2B5EF4-FFF2-40B4-BE49-F238E27FC236}">
                <a16:creationId xmlns:a16="http://schemas.microsoft.com/office/drawing/2014/main" id="{21AC7D1F-DA47-4D46-98DD-843349C5271D}"/>
              </a:ext>
            </a:extLst>
          </p:cNvPr>
          <p:cNvPicPr>
            <a:picLocks noChangeAspect="1"/>
          </p:cNvPicPr>
          <p:nvPr/>
        </p:nvPicPr>
        <p:blipFill>
          <a:blip r:embed="rId5"/>
          <a:stretch>
            <a:fillRect/>
          </a:stretch>
        </p:blipFill>
        <p:spPr>
          <a:xfrm>
            <a:off x="187781" y="2207259"/>
            <a:ext cx="5593644" cy="4324035"/>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198D55E1-67FF-86F7-6C17-CBA2FB4B1094}"/>
                  </a:ext>
                </a:extLst>
              </p:cNvPr>
              <p:cNvSpPr txBox="1"/>
              <p:nvPr/>
            </p:nvSpPr>
            <p:spPr>
              <a:xfrm>
                <a:off x="6336587" y="1697423"/>
                <a:ext cx="4343148" cy="307777"/>
              </a:xfrm>
              <a:prstGeom prst="rect">
                <a:avLst/>
              </a:prstGeom>
              <a:noFill/>
            </p:spPr>
            <p:txBody>
              <a:bodyPr wrap="square">
                <a:spAutoFit/>
              </a:bodyPr>
              <a:lstStyle/>
              <a:p>
                <a:pPr>
                  <a:spcAft>
                    <a:spcPts val="600"/>
                  </a:spcAft>
                </a:pPr>
                <a:r>
                  <a:rPr lang="en-US" sz="1400" b="1" dirty="0">
                    <a:solidFill>
                      <a:srgbClr val="1B8A7A"/>
                    </a:solidFill>
                    <a:highlight>
                      <a:srgbClr val="FFFF00"/>
                    </a:highlight>
                    <a:latin typeface="Arial"/>
                  </a:rPr>
                  <a:t>Hàm </a:t>
                </a:r>
                <a:r>
                  <a:rPr lang="en-US" sz="1400" b="1" dirty="0" err="1">
                    <a:solidFill>
                      <a:srgbClr val="1B8A7A"/>
                    </a:solidFill>
                    <a:highlight>
                      <a:srgbClr val="FFFF00"/>
                    </a:highlight>
                    <a:latin typeface="Arial"/>
                  </a:rPr>
                  <a:t>phân</a:t>
                </a:r>
                <a:r>
                  <a:rPr lang="en-US" sz="1400" b="1" dirty="0">
                    <a:solidFill>
                      <a:srgbClr val="1B8A7A"/>
                    </a:solidFill>
                    <a:highlight>
                      <a:srgbClr val="FFFF00"/>
                    </a:highlight>
                    <a:latin typeface="Arial"/>
                  </a:rPr>
                  <a:t> </a:t>
                </a:r>
                <a:r>
                  <a:rPr lang="en-US" sz="1400" b="1" dirty="0" err="1">
                    <a:solidFill>
                      <a:srgbClr val="1B8A7A"/>
                    </a:solidFill>
                    <a:highlight>
                      <a:srgbClr val="FFFF00"/>
                    </a:highlight>
                    <a:latin typeface="Arial"/>
                  </a:rPr>
                  <a:t>phối</a:t>
                </a:r>
                <a:r>
                  <a:rPr lang="en-US" sz="1400" b="1" dirty="0">
                    <a:solidFill>
                      <a:srgbClr val="1B8A7A"/>
                    </a:solidFill>
                    <a:highlight>
                      <a:srgbClr val="FFFF00"/>
                    </a:highlight>
                    <a:latin typeface="Arial"/>
                  </a:rPr>
                  <a:t> </a:t>
                </a:r>
                <a:r>
                  <a:rPr lang="en-US" sz="1400" b="1" dirty="0" err="1">
                    <a:solidFill>
                      <a:srgbClr val="1B8A7A"/>
                    </a:solidFill>
                    <a:highlight>
                      <a:srgbClr val="FFFF00"/>
                    </a:highlight>
                    <a:latin typeface="Arial"/>
                  </a:rPr>
                  <a:t>chuẩn</a:t>
                </a:r>
                <a:r>
                  <a:rPr lang="en-US" sz="1400" b="1" dirty="0">
                    <a:solidFill>
                      <a:srgbClr val="1B8A7A"/>
                    </a:solidFill>
                    <a:latin typeface="Arial"/>
                  </a:rPr>
                  <a:t> (</a:t>
                </a:r>
                <a14:m>
                  <m:oMath xmlns:m="http://schemas.openxmlformats.org/officeDocument/2006/math">
                    <m:r>
                      <a:rPr lang="en-VN" sz="1400" i="1">
                        <a:solidFill>
                          <a:schemeClr val="accent6">
                            <a:lumMod val="75000"/>
                          </a:schemeClr>
                        </a:solidFill>
                        <a:latin typeface="Cambria Math" panose="02040503050406030204" pitchFamily="18" charset="0"/>
                      </a:rPr>
                      <m:t>𝑥</m:t>
                    </m:r>
                  </m:oMath>
                </a14:m>
                <a:r>
                  <a:rPr lang="en-US" sz="1400" b="1" dirty="0">
                    <a:solidFill>
                      <a:srgbClr val="1B8A7A"/>
                    </a:solidFill>
                    <a:latin typeface="Arial"/>
                  </a:rPr>
                  <a:t> </a:t>
                </a:r>
                <a:r>
                  <a:rPr lang="en-US" sz="1400" b="1" dirty="0" err="1">
                    <a:solidFill>
                      <a:srgbClr val="1B8A7A"/>
                    </a:solidFill>
                    <a:latin typeface="Arial"/>
                  </a:rPr>
                  <a:t>là</a:t>
                </a:r>
                <a:r>
                  <a:rPr lang="en-US" sz="1400" b="1" dirty="0">
                    <a:solidFill>
                      <a:srgbClr val="1B8A7A"/>
                    </a:solidFill>
                    <a:latin typeface="Arial"/>
                  </a:rPr>
                  <a:t> </a:t>
                </a:r>
                <a:r>
                  <a:rPr lang="en-US" sz="1400" b="1" dirty="0" err="1">
                    <a:solidFill>
                      <a:srgbClr val="1B8A7A"/>
                    </a:solidFill>
                    <a:latin typeface="Arial"/>
                  </a:rPr>
                  <a:t>ẩn</a:t>
                </a:r>
                <a:r>
                  <a:rPr lang="en-US" sz="1400" b="1" dirty="0">
                    <a:solidFill>
                      <a:srgbClr val="1B8A7A"/>
                    </a:solidFill>
                    <a:latin typeface="Arial"/>
                  </a:rPr>
                  <a:t>, </a:t>
                </a:r>
                <a14:m>
                  <m:oMath xmlns:m="http://schemas.openxmlformats.org/officeDocument/2006/math">
                    <m:r>
                      <a:rPr lang="en-VN" sz="1400" i="1">
                        <a:solidFill>
                          <a:schemeClr val="tx2">
                            <a:lumMod val="60000"/>
                            <a:lumOff val="40000"/>
                          </a:schemeClr>
                        </a:solidFill>
                        <a:latin typeface="Cambria Math" panose="02040503050406030204" pitchFamily="18" charset="0"/>
                      </a:rPr>
                      <m:t>𝜇</m:t>
                    </m:r>
                  </m:oMath>
                </a14:m>
                <a:r>
                  <a:rPr lang="en-US" sz="1400" b="1" dirty="0">
                    <a:solidFill>
                      <a:srgbClr val="1B8A7A"/>
                    </a:solidFill>
                    <a:latin typeface="Arial"/>
                  </a:rPr>
                  <a:t> và </a:t>
                </a:r>
                <a14:m>
                  <m:oMath xmlns:m="http://schemas.openxmlformats.org/officeDocument/2006/math">
                    <m:r>
                      <a:rPr lang="en-VN" sz="1400" i="1">
                        <a:solidFill>
                          <a:srgbClr val="00B050"/>
                        </a:solidFill>
                        <a:latin typeface="Cambria Math" panose="02040503050406030204" pitchFamily="18" charset="0"/>
                      </a:rPr>
                      <m:t>𝜎</m:t>
                    </m:r>
                  </m:oMath>
                </a14:m>
                <a:r>
                  <a:rPr lang="en-US" sz="1400" b="1" dirty="0">
                    <a:solidFill>
                      <a:srgbClr val="1B8A7A"/>
                    </a:solidFill>
                    <a:latin typeface="Arial"/>
                  </a:rPr>
                  <a:t> </a:t>
                </a:r>
                <a:r>
                  <a:rPr lang="en-US" sz="1400" b="1" dirty="0" err="1">
                    <a:solidFill>
                      <a:srgbClr val="1B8A7A"/>
                    </a:solidFill>
                    <a:latin typeface="Arial"/>
                  </a:rPr>
                  <a:t>cố</a:t>
                </a:r>
                <a:r>
                  <a:rPr lang="en-US" sz="1400" b="1" dirty="0">
                    <a:solidFill>
                      <a:srgbClr val="1B8A7A"/>
                    </a:solidFill>
                    <a:latin typeface="Arial"/>
                  </a:rPr>
                  <a:t> </a:t>
                </a:r>
                <a:r>
                  <a:rPr lang="en-US" sz="1400" b="1" dirty="0" err="1">
                    <a:solidFill>
                      <a:srgbClr val="1B8A7A"/>
                    </a:solidFill>
                    <a:latin typeface="Arial"/>
                  </a:rPr>
                  <a:t>định</a:t>
                </a:r>
                <a:r>
                  <a:rPr lang="en-US" sz="1400" b="1" dirty="0">
                    <a:solidFill>
                      <a:srgbClr val="1B8A7A"/>
                    </a:solidFill>
                    <a:latin typeface="Arial"/>
                  </a:rPr>
                  <a:t>)</a:t>
                </a:r>
              </a:p>
            </p:txBody>
          </p:sp>
        </mc:Choice>
        <mc:Fallback xmlns="">
          <p:sp>
            <p:nvSpPr>
              <p:cNvPr id="3" name="TextBox 2">
                <a:extLst>
                  <a:ext uri="{FF2B5EF4-FFF2-40B4-BE49-F238E27FC236}">
                    <a16:creationId xmlns:a16="http://schemas.microsoft.com/office/drawing/2014/main" id="{7F6B7882-6AB1-7B23-938A-E8D1ED26D273}"/>
                  </a:ext>
                </a:extLst>
              </p:cNvPr>
              <p:cNvSpPr txBox="1">
                <a:spLocks noRot="1" noChangeAspect="1" noMove="1" noResize="1" noEditPoints="1" noAdjustHandles="1" noChangeArrowheads="1" noChangeShapeType="1" noTextEdit="1"/>
              </p:cNvSpPr>
              <p:nvPr/>
            </p:nvSpPr>
            <p:spPr>
              <a:xfrm>
                <a:off x="6336587" y="1697423"/>
                <a:ext cx="4343148" cy="307777"/>
              </a:xfrm>
              <a:prstGeom prst="rect">
                <a:avLst/>
              </a:prstGeom>
              <a:blipFill>
                <a:blip r:embed="rId6"/>
                <a:stretch>
                  <a:fillRect l="-292" t="-4000" b="-2400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0EEFBD37-CF75-821C-286E-E3E2126F6C68}"/>
                  </a:ext>
                </a:extLst>
              </p:cNvPr>
              <p:cNvSpPr txBox="1"/>
              <p:nvPr/>
            </p:nvSpPr>
            <p:spPr>
              <a:xfrm>
                <a:off x="6898932" y="3213677"/>
                <a:ext cx="3603057" cy="307777"/>
              </a:xfrm>
              <a:prstGeom prst="rect">
                <a:avLst/>
              </a:prstGeom>
              <a:noFill/>
            </p:spPr>
            <p:txBody>
              <a:bodyPr wrap="square">
                <a:spAutoFit/>
              </a:bodyPr>
              <a:lstStyle/>
              <a:p>
                <a14:m>
                  <m:oMath xmlns:m="http://schemas.openxmlformats.org/officeDocument/2006/math">
                    <m:r>
                      <a:rPr lang="en-VN" sz="1400" b="0" i="1">
                        <a:solidFill>
                          <a:schemeClr val="tx2">
                            <a:lumMod val="60000"/>
                            <a:lumOff val="40000"/>
                          </a:schemeClr>
                        </a:solidFill>
                        <a:latin typeface="Cambria Math" panose="02040503050406030204" pitchFamily="18" charset="0"/>
                      </a:rPr>
                      <m:t>𝜇</m:t>
                    </m:r>
                  </m:oMath>
                </a14:m>
                <a:r>
                  <a:rPr lang="vi-VN" sz="1400" dirty="0">
                    <a:solidFill>
                      <a:srgbClr val="444B52"/>
                    </a:solidFill>
                    <a:latin typeface="Arial"/>
                  </a:rPr>
                  <a:t>: Giá trị trung bình </a:t>
                </a:r>
                <a:r>
                  <a:rPr lang="vi-VN" sz="1400" dirty="0">
                    <a:solidFill>
                      <a:srgbClr val="444B52"/>
                    </a:solidFill>
                    <a:latin typeface="Arial"/>
                    <a:sym typeface="Wingdings" pitchFamily="2" charset="2"/>
                  </a:rPr>
                  <a:t>(</a:t>
                </a:r>
                <a:r>
                  <a:rPr lang="vi-VN" sz="1400" dirty="0">
                    <a:solidFill>
                      <a:schemeClr val="tx2">
                        <a:lumMod val="60000"/>
                        <a:lumOff val="40000"/>
                      </a:schemeClr>
                    </a:solidFill>
                    <a:latin typeface="Arial"/>
                  </a:rPr>
                  <a:t>Tâm chuông</a:t>
                </a:r>
                <a:r>
                  <a:rPr lang="vi-VN" sz="1400" dirty="0">
                    <a:solidFill>
                      <a:srgbClr val="444B52"/>
                    </a:solidFill>
                    <a:latin typeface="Arial"/>
                  </a:rPr>
                  <a:t>)</a:t>
                </a:r>
                <a:endParaRPr lang="en-VN" dirty="0"/>
              </a:p>
            </p:txBody>
          </p:sp>
        </mc:Choice>
        <mc:Fallback>
          <p:sp>
            <p:nvSpPr>
              <p:cNvPr id="9" name="TextBox 8">
                <a:extLst>
                  <a:ext uri="{FF2B5EF4-FFF2-40B4-BE49-F238E27FC236}">
                    <a16:creationId xmlns:a16="http://schemas.microsoft.com/office/drawing/2014/main" id="{0EEFBD37-CF75-821C-286E-E3E2126F6C68}"/>
                  </a:ext>
                </a:extLst>
              </p:cNvPr>
              <p:cNvSpPr txBox="1">
                <a:spLocks noRot="1" noChangeAspect="1" noMove="1" noResize="1" noEditPoints="1" noAdjustHandles="1" noChangeArrowheads="1" noChangeShapeType="1" noTextEdit="1"/>
              </p:cNvSpPr>
              <p:nvPr/>
            </p:nvSpPr>
            <p:spPr>
              <a:xfrm>
                <a:off x="6898932" y="3213677"/>
                <a:ext cx="3603057" cy="307777"/>
              </a:xfrm>
              <a:prstGeom prst="rect">
                <a:avLst/>
              </a:prstGeom>
              <a:blipFill>
                <a:blip r:embed="rId7"/>
                <a:stretch>
                  <a:fillRect t="-3846" b="-15385"/>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35D50679-F892-E3E3-7EB3-77360D86905C}"/>
                  </a:ext>
                </a:extLst>
              </p:cNvPr>
              <p:cNvSpPr txBox="1"/>
              <p:nvPr/>
            </p:nvSpPr>
            <p:spPr>
              <a:xfrm>
                <a:off x="6898932" y="3516329"/>
                <a:ext cx="3603057" cy="307777"/>
              </a:xfrm>
              <a:prstGeom prst="rect">
                <a:avLst/>
              </a:prstGeom>
              <a:noFill/>
            </p:spPr>
            <p:txBody>
              <a:bodyPr wrap="square">
                <a:spAutoFit/>
              </a:bodyPr>
              <a:lstStyle/>
              <a:p>
                <a14:m>
                  <m:oMath xmlns:m="http://schemas.openxmlformats.org/officeDocument/2006/math">
                    <m:r>
                      <a:rPr lang="en-US" sz="1400" b="0" i="1" dirty="0" smtClean="0">
                        <a:solidFill>
                          <a:srgbClr val="00B050"/>
                        </a:solidFill>
                        <a:latin typeface="Cambria Math" panose="02040503050406030204" pitchFamily="18" charset="0"/>
                      </a:rPr>
                      <m:t>𝜎</m:t>
                    </m:r>
                  </m:oMath>
                </a14:m>
                <a:r>
                  <a:rPr lang="vi-VN" sz="1400" dirty="0">
                    <a:solidFill>
                      <a:srgbClr val="444B52"/>
                    </a:solidFill>
                    <a:latin typeface="Arial"/>
                  </a:rPr>
                  <a:t>: Độ lệch chuẩn (</a:t>
                </a:r>
                <a:r>
                  <a:rPr lang="vi-VN" sz="1400" dirty="0">
                    <a:solidFill>
                      <a:srgbClr val="00B050"/>
                    </a:solidFill>
                    <a:latin typeface="Arial"/>
                  </a:rPr>
                  <a:t>Độ gầy/mập chuông</a:t>
                </a:r>
                <a:r>
                  <a:rPr lang="vi-VN" sz="1400" dirty="0">
                    <a:solidFill>
                      <a:srgbClr val="444B52"/>
                    </a:solidFill>
                    <a:latin typeface="Arial"/>
                  </a:rPr>
                  <a:t>)</a:t>
                </a:r>
                <a:endParaRPr lang="en-VN" dirty="0"/>
              </a:p>
            </p:txBody>
          </p:sp>
        </mc:Choice>
        <mc:Fallback>
          <p:sp>
            <p:nvSpPr>
              <p:cNvPr id="11" name="TextBox 10">
                <a:extLst>
                  <a:ext uri="{FF2B5EF4-FFF2-40B4-BE49-F238E27FC236}">
                    <a16:creationId xmlns:a16="http://schemas.microsoft.com/office/drawing/2014/main" id="{35D50679-F892-E3E3-7EB3-77360D86905C}"/>
                  </a:ext>
                </a:extLst>
              </p:cNvPr>
              <p:cNvSpPr txBox="1">
                <a:spLocks noRot="1" noChangeAspect="1" noMove="1" noResize="1" noEditPoints="1" noAdjustHandles="1" noChangeArrowheads="1" noChangeShapeType="1" noTextEdit="1"/>
              </p:cNvSpPr>
              <p:nvPr/>
            </p:nvSpPr>
            <p:spPr>
              <a:xfrm>
                <a:off x="6898932" y="3516329"/>
                <a:ext cx="3603057" cy="307777"/>
              </a:xfrm>
              <a:prstGeom prst="rect">
                <a:avLst/>
              </a:prstGeom>
              <a:blipFill>
                <a:blip r:embed="rId8"/>
                <a:stretch>
                  <a:fillRect t="-4000" b="-2000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75A6D5D5-92B9-A53D-DA82-C23684079988}"/>
                  </a:ext>
                </a:extLst>
              </p:cNvPr>
              <p:cNvSpPr txBox="1"/>
              <p:nvPr/>
            </p:nvSpPr>
            <p:spPr>
              <a:xfrm>
                <a:off x="7182182" y="4507906"/>
                <a:ext cx="1899751" cy="215444"/>
              </a:xfrm>
              <a:prstGeom prst="rect">
                <a:avLst/>
              </a:prstGeom>
              <a:noFill/>
            </p:spPr>
            <p:txBody>
              <a:bodyPr wrap="none" lIns="0" tIns="0" rIns="0" bIns="0" rtlCol="0">
                <a:spAutoFit/>
              </a:bodyPr>
              <a:lstStyle/>
              <a:p>
                <a:pPr/>
                <a14:m>
                  <m:oMathPara xmlns:m="http://schemas.openxmlformats.org/officeDocument/2006/math">
                    <m:oMath>
                      <m:r>
                        <a:rPr lang="en-US" sz="1400" i="1" smtClean="0">
                          <a:solidFill>
                            <a:schemeClr val="accent6">
                              <a:lumMod val="75000"/>
                            </a:schemeClr>
                          </a:solidFill>
                          <a:latin typeface="Cambria Math" panose="02040503050406030204" pitchFamily="18" charset="0"/>
                        </a:rPr>
                        <m:t>𝑥</m:t>
                      </m:r>
                      <m:r>
                        <a:rPr lang="en-US" sz="1400" i="1" smtClean="0">
                          <a:solidFill>
                            <a:schemeClr val="accent6">
                              <a:lumMod val="75000"/>
                            </a:schemeClr>
                          </a:solidFill>
                          <a:latin typeface="Cambria Math" panose="02040503050406030204" pitchFamily="18" charset="0"/>
                        </a:rPr>
                        <m:t>=</m:t>
                      </m:r>
                      <m:d>
                        <m:dPr>
                          <m:ctrlPr>
                            <a:rPr lang="en-US" sz="1400" i="1">
                              <a:solidFill>
                                <a:schemeClr val="accent6">
                                  <a:lumMod val="75000"/>
                                </a:schemeClr>
                              </a:solidFill>
                              <a:latin typeface="Cambria Math" panose="02040503050406030204" pitchFamily="18" charset="0"/>
                            </a:rPr>
                          </m:ctrlPr>
                        </m:dPr>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𝑥</m:t>
                              </m:r>
                            </m:e>
                            <m:sub>
                              <m:r>
                                <a:rPr lang="en-US" sz="1400" i="1">
                                  <a:solidFill>
                                    <a:schemeClr val="accent6">
                                      <a:lumMod val="75000"/>
                                    </a:schemeClr>
                                  </a:solidFill>
                                  <a:latin typeface="Cambria Math" panose="02040503050406030204" pitchFamily="18" charset="0"/>
                                </a:rPr>
                                <m:t>1</m:t>
                              </m:r>
                            </m:sub>
                          </m:sSub>
                          <m:r>
                            <a:rPr lang="en-US" sz="1400" i="1">
                              <a:solidFill>
                                <a:schemeClr val="accent6">
                                  <a:lumMod val="75000"/>
                                </a:schemeClr>
                              </a:solidFill>
                              <a:latin typeface="Cambria Math" panose="02040503050406030204" pitchFamily="18" charset="0"/>
                            </a:rPr>
                            <m:t>,</m:t>
                          </m:r>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𝑥</m:t>
                              </m:r>
                            </m:e>
                            <m:sub>
                              <m:r>
                                <a:rPr lang="en-US" sz="1400" i="1">
                                  <a:solidFill>
                                    <a:schemeClr val="accent6">
                                      <a:lumMod val="75000"/>
                                    </a:schemeClr>
                                  </a:solidFill>
                                  <a:latin typeface="Cambria Math" panose="02040503050406030204" pitchFamily="18" charset="0"/>
                                </a:rPr>
                                <m:t>2</m:t>
                              </m:r>
                            </m:sub>
                          </m:sSub>
                          <m:r>
                            <a:rPr lang="en-US" sz="1400" i="1">
                              <a:solidFill>
                                <a:schemeClr val="accent6">
                                  <a:lumMod val="75000"/>
                                </a:schemeClr>
                              </a:solidFill>
                              <a:latin typeface="Cambria Math" panose="02040503050406030204" pitchFamily="18" charset="0"/>
                            </a:rPr>
                            <m:t>,…,</m:t>
                          </m:r>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𝑥</m:t>
                              </m:r>
                            </m:e>
                            <m:sub>
                              <m:r>
                                <a:rPr lang="en-US" sz="1400" i="1">
                                  <a:solidFill>
                                    <a:schemeClr val="accent6">
                                      <a:lumMod val="75000"/>
                                    </a:schemeClr>
                                  </a:solidFill>
                                  <a:latin typeface="Cambria Math" panose="02040503050406030204" pitchFamily="18" charset="0"/>
                                </a:rPr>
                                <m:t>𝑁</m:t>
                              </m:r>
                            </m:sub>
                          </m:sSub>
                        </m:e>
                      </m:d>
                      <m:r>
                        <a:rPr lang="en-US" sz="1400" i="1">
                          <a:latin typeface="Cambria Math" panose="02040503050406030204" pitchFamily="18" charset="0"/>
                        </a:rPr>
                        <m:t>∈</m:t>
                      </m:r>
                      <m:sSup>
                        <m:sSupPr>
                          <m:ctrlPr>
                            <a:rPr lang="en-US" sz="1400" i="1">
                              <a:latin typeface="Cambria Math" panose="02040503050406030204" pitchFamily="18" charset="0"/>
                            </a:rPr>
                          </m:ctrlPr>
                        </m:sSupPr>
                        <m:e>
                          <m:r>
                            <a:rPr lang="en-US" sz="1400" i="1">
                              <a:latin typeface="Cambria Math" panose="02040503050406030204" pitchFamily="18" charset="0"/>
                            </a:rPr>
                            <m:t>ℝ</m:t>
                          </m:r>
                        </m:e>
                        <m:sup>
                          <m:r>
                            <a:rPr lang="en-US" sz="1400" i="1">
                              <a:latin typeface="Cambria Math" panose="02040503050406030204" pitchFamily="18" charset="0"/>
                            </a:rPr>
                            <m:t>𝑁</m:t>
                          </m:r>
                        </m:sup>
                      </m:sSup>
                    </m:oMath>
                  </m:oMathPara>
                </a14:m>
                <a:endParaRPr dirty="0"/>
              </a:p>
            </p:txBody>
          </p:sp>
        </mc:Choice>
        <mc:Fallback>
          <p:sp>
            <p:nvSpPr>
              <p:cNvPr id="18" name="TextBox 17">
                <a:extLst>
                  <a:ext uri="{FF2B5EF4-FFF2-40B4-BE49-F238E27FC236}">
                    <a16:creationId xmlns:a16="http://schemas.microsoft.com/office/drawing/2014/main" id="{75A6D5D5-92B9-A53D-DA82-C23684079988}"/>
                  </a:ext>
                </a:extLst>
              </p:cNvPr>
              <p:cNvSpPr txBox="1">
                <a:spLocks noRot="1" noChangeAspect="1" noMove="1" noResize="1" noEditPoints="1" noAdjustHandles="1" noChangeArrowheads="1" noChangeShapeType="1" noTextEdit="1"/>
              </p:cNvSpPr>
              <p:nvPr/>
            </p:nvSpPr>
            <p:spPr>
              <a:xfrm>
                <a:off x="7182182" y="4507906"/>
                <a:ext cx="1899751" cy="215444"/>
              </a:xfrm>
              <a:prstGeom prst="rect">
                <a:avLst/>
              </a:prstGeom>
              <a:blipFill>
                <a:blip r:embed="rId9"/>
                <a:stretch>
                  <a:fillRect l="-662" b="-11111"/>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9C3379ED-7329-15BB-C660-5C7D23B9D699}"/>
                  </a:ext>
                </a:extLst>
              </p:cNvPr>
              <p:cNvSpPr txBox="1"/>
              <p:nvPr/>
            </p:nvSpPr>
            <p:spPr>
              <a:xfrm>
                <a:off x="6336587" y="5343445"/>
                <a:ext cx="4377332" cy="492443"/>
              </a:xfrm>
              <a:prstGeom prst="rect">
                <a:avLst/>
              </a:prstGeom>
              <a:noFill/>
            </p:spPr>
            <p:txBody>
              <a:bodyPr wrap="square">
                <a:spAutoFit/>
              </a:bodyPr>
              <a:lstStyle/>
              <a:p>
                <a:r>
                  <a:rPr lang="en-US" sz="1400" b="1" dirty="0" err="1">
                    <a:solidFill>
                      <a:srgbClr val="1B8A7A"/>
                    </a:solidFill>
                    <a:highlight>
                      <a:srgbClr val="FFFF00"/>
                    </a:highlight>
                    <a:latin typeface="Arial"/>
                  </a:rPr>
                  <a:t>Hàm</a:t>
                </a:r>
                <a:r>
                  <a:rPr lang="en-US" sz="1400" b="1" dirty="0">
                    <a:solidFill>
                      <a:srgbClr val="1B8A7A"/>
                    </a:solidFill>
                    <a:highlight>
                      <a:srgbClr val="FFFF00"/>
                    </a:highlight>
                    <a:latin typeface="Arial"/>
                  </a:rPr>
                  <a:t> </a:t>
                </a:r>
                <a:r>
                  <a:rPr lang="en-US" sz="1400" b="1" dirty="0" err="1">
                    <a:solidFill>
                      <a:srgbClr val="1B8A7A"/>
                    </a:solidFill>
                    <a:highlight>
                      <a:srgbClr val="FFFF00"/>
                    </a:highlight>
                    <a:latin typeface="Arial"/>
                  </a:rPr>
                  <a:t>hợp</a:t>
                </a:r>
                <a:r>
                  <a:rPr lang="en-US" sz="1400" b="1" dirty="0">
                    <a:solidFill>
                      <a:srgbClr val="1B8A7A"/>
                    </a:solidFill>
                    <a:highlight>
                      <a:srgbClr val="FFFF00"/>
                    </a:highlight>
                    <a:latin typeface="Arial"/>
                  </a:rPr>
                  <a:t> </a:t>
                </a:r>
                <a:r>
                  <a:rPr lang="en-US" sz="1400" b="1" dirty="0" err="1">
                    <a:solidFill>
                      <a:srgbClr val="1B8A7A"/>
                    </a:solidFill>
                    <a:highlight>
                      <a:srgbClr val="FFFF00"/>
                    </a:highlight>
                    <a:latin typeface="Arial"/>
                  </a:rPr>
                  <a:t>lý</a:t>
                </a:r>
                <a:r>
                  <a:rPr lang="en-US" sz="1400" b="1" dirty="0">
                    <a:solidFill>
                      <a:srgbClr val="1B8A7A"/>
                    </a:solidFill>
                    <a:latin typeface="Arial"/>
                  </a:rPr>
                  <a:t> (</a:t>
                </a:r>
                <a14:m>
                  <m:oMath xmlns:m="http://schemas.openxmlformats.org/officeDocument/2006/math">
                    <m:r>
                      <a:rPr lang="en-VN" sz="1400" i="1">
                        <a:solidFill>
                          <a:schemeClr val="accent6">
                            <a:lumMod val="75000"/>
                          </a:schemeClr>
                        </a:solidFill>
                        <a:latin typeface="Cambria Math" panose="02040503050406030204" pitchFamily="18" charset="0"/>
                      </a:rPr>
                      <m:t>𝑥</m:t>
                    </m:r>
                  </m:oMath>
                </a14:m>
                <a:r>
                  <a:rPr lang="en-US" sz="1400" b="1" dirty="0">
                    <a:solidFill>
                      <a:srgbClr val="1B8A7A"/>
                    </a:solidFill>
                    <a:latin typeface="Arial"/>
                  </a:rPr>
                  <a:t> </a:t>
                </a:r>
                <a:r>
                  <a:rPr lang="en-US" sz="1400" b="1" dirty="0" err="1">
                    <a:solidFill>
                      <a:srgbClr val="1B8A7A"/>
                    </a:solidFill>
                    <a:latin typeface="Arial"/>
                  </a:rPr>
                  <a:t>cố</a:t>
                </a:r>
                <a:r>
                  <a:rPr lang="en-US" sz="1400" b="1" dirty="0">
                    <a:solidFill>
                      <a:srgbClr val="1B8A7A"/>
                    </a:solidFill>
                    <a:latin typeface="Arial"/>
                  </a:rPr>
                  <a:t> </a:t>
                </a:r>
                <a:r>
                  <a:rPr lang="en-US" sz="1400" b="1" dirty="0" err="1">
                    <a:solidFill>
                      <a:srgbClr val="1B8A7A"/>
                    </a:solidFill>
                    <a:latin typeface="Arial"/>
                  </a:rPr>
                  <a:t>định</a:t>
                </a:r>
                <a:r>
                  <a:rPr lang="en-US" sz="1400" b="1" dirty="0">
                    <a:solidFill>
                      <a:srgbClr val="1B8A7A"/>
                    </a:solidFill>
                    <a:latin typeface="Arial"/>
                  </a:rPr>
                  <a:t>, </a:t>
                </a:r>
                <a14:m>
                  <m:oMath xmlns:m="http://schemas.openxmlformats.org/officeDocument/2006/math">
                    <m:r>
                      <a:rPr lang="en-VN" sz="1400" i="1">
                        <a:solidFill>
                          <a:schemeClr val="tx2">
                            <a:lumMod val="60000"/>
                            <a:lumOff val="40000"/>
                          </a:schemeClr>
                        </a:solidFill>
                        <a:latin typeface="Cambria Math" panose="02040503050406030204" pitchFamily="18" charset="0"/>
                      </a:rPr>
                      <m:t>𝜇</m:t>
                    </m:r>
                  </m:oMath>
                </a14:m>
                <a:r>
                  <a:rPr lang="en-US" sz="1400" b="1" dirty="0">
                    <a:solidFill>
                      <a:srgbClr val="1B8A7A"/>
                    </a:solidFill>
                    <a:latin typeface="Arial"/>
                  </a:rPr>
                  <a:t> và </a:t>
                </a:r>
                <a14:m>
                  <m:oMath xmlns:m="http://schemas.openxmlformats.org/officeDocument/2006/math">
                    <m:r>
                      <a:rPr lang="en-VN" sz="1400" i="1">
                        <a:solidFill>
                          <a:srgbClr val="00B050"/>
                        </a:solidFill>
                        <a:latin typeface="Cambria Math" panose="02040503050406030204" pitchFamily="18" charset="0"/>
                      </a:rPr>
                      <m:t>𝜎</m:t>
                    </m:r>
                  </m:oMath>
                </a14:m>
                <a:r>
                  <a:rPr lang="en-US" sz="1400" b="1" dirty="0">
                    <a:solidFill>
                      <a:srgbClr val="1B8A7A"/>
                    </a:solidFill>
                    <a:latin typeface="Arial"/>
                  </a:rPr>
                  <a:t> </a:t>
                </a:r>
                <a:r>
                  <a:rPr lang="en-US" sz="1400" b="1" dirty="0" err="1">
                    <a:solidFill>
                      <a:srgbClr val="1B8A7A"/>
                    </a:solidFill>
                    <a:latin typeface="Arial"/>
                  </a:rPr>
                  <a:t>là</a:t>
                </a:r>
                <a:r>
                  <a:rPr lang="en-US" sz="1400" b="1" dirty="0">
                    <a:solidFill>
                      <a:srgbClr val="1B8A7A"/>
                    </a:solidFill>
                    <a:latin typeface="Arial"/>
                  </a:rPr>
                  <a:t> </a:t>
                </a:r>
                <a:r>
                  <a:rPr lang="en-US" sz="1400" b="1" dirty="0" err="1">
                    <a:solidFill>
                      <a:srgbClr val="1B8A7A"/>
                    </a:solidFill>
                    <a:latin typeface="Arial"/>
                  </a:rPr>
                  <a:t>ẩn</a:t>
                </a:r>
                <a:r>
                  <a:rPr lang="en-US" sz="1400" b="1" dirty="0">
                    <a:solidFill>
                      <a:srgbClr val="1B8A7A"/>
                    </a:solidFill>
                    <a:latin typeface="Arial"/>
                  </a:rPr>
                  <a:t>)</a:t>
                </a:r>
                <a:br>
                  <a:rPr lang="vi-VN" sz="1400" b="1" dirty="0">
                    <a:highlight>
                      <a:srgbClr val="FFFF00"/>
                    </a:highlight>
                    <a:latin typeface="Arial"/>
                    <a:sym typeface="Wingdings" pitchFamily="2" charset="2"/>
                  </a:rPr>
                </a:br>
                <a:r>
                  <a:rPr lang="vi-VN" sz="1100" dirty="0">
                    <a:highlight>
                      <a:srgbClr val="00FFFF"/>
                    </a:highlight>
                    <a:latin typeface="Arial"/>
                    <a:sym typeface="Wingdings" pitchFamily="2" charset="2"/>
                  </a:rPr>
                  <a:t>(tích các đường cao chiếu từ mỗi điểm x lên hình chuông)</a:t>
                </a:r>
                <a:endParaRPr lang="en-VN" dirty="0">
                  <a:highlight>
                    <a:srgbClr val="00FFFF"/>
                  </a:highlight>
                </a:endParaRPr>
              </a:p>
            </p:txBody>
          </p:sp>
        </mc:Choice>
        <mc:Fallback>
          <p:sp>
            <p:nvSpPr>
              <p:cNvPr id="5" name="TextBox 4">
                <a:extLst>
                  <a:ext uri="{FF2B5EF4-FFF2-40B4-BE49-F238E27FC236}">
                    <a16:creationId xmlns:a16="http://schemas.microsoft.com/office/drawing/2014/main" id="{9C3379ED-7329-15BB-C660-5C7D23B9D699}"/>
                  </a:ext>
                </a:extLst>
              </p:cNvPr>
              <p:cNvSpPr txBox="1">
                <a:spLocks noRot="1" noChangeAspect="1" noMove="1" noResize="1" noEditPoints="1" noAdjustHandles="1" noChangeArrowheads="1" noChangeShapeType="1" noTextEdit="1"/>
              </p:cNvSpPr>
              <p:nvPr/>
            </p:nvSpPr>
            <p:spPr>
              <a:xfrm>
                <a:off x="6336587" y="5343445"/>
                <a:ext cx="4377332" cy="492443"/>
              </a:xfrm>
              <a:prstGeom prst="rect">
                <a:avLst/>
              </a:prstGeom>
              <a:blipFill>
                <a:blip r:embed="rId10"/>
                <a:stretch>
                  <a:fillRect l="-289" b="-5000"/>
                </a:stretch>
              </a:blipFill>
            </p:spPr>
            <p:txBody>
              <a:bodyPr/>
              <a:lstStyle/>
              <a:p>
                <a:r>
                  <a:rPr lang="en-VN">
                    <a:noFill/>
                  </a:rPr>
                  <a:t> </a:t>
                </a:r>
              </a:p>
            </p:txBody>
          </p:sp>
        </mc:Fallback>
      </mc:AlternateContent>
      <p:sp>
        <p:nvSpPr>
          <p:cNvPr id="12" name="TextBox 11">
            <a:extLst>
              <a:ext uri="{FF2B5EF4-FFF2-40B4-BE49-F238E27FC236}">
                <a16:creationId xmlns:a16="http://schemas.microsoft.com/office/drawing/2014/main" id="{60FAC885-28BD-6188-FF82-F9686D8BCC84}"/>
              </a:ext>
            </a:extLst>
          </p:cNvPr>
          <p:cNvSpPr txBox="1"/>
          <p:nvPr/>
        </p:nvSpPr>
        <p:spPr>
          <a:xfrm>
            <a:off x="7911966" y="5977288"/>
            <a:ext cx="184731" cy="369332"/>
          </a:xfrm>
          <a:prstGeom prst="rect">
            <a:avLst/>
          </a:prstGeom>
          <a:noFill/>
        </p:spPr>
        <p:txBody>
          <a:bodyPr wrap="none" rtlCol="0">
            <a:spAutoFit/>
          </a:bodyPr>
          <a:lstStyle/>
          <a:p>
            <a:endParaRPr lang="en-VN" dirty="0"/>
          </a:p>
        </p:txBody>
      </p:sp>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B4AD8A6F-C963-BF6E-F776-934B9CD61B01}"/>
                  </a:ext>
                </a:extLst>
              </p:cNvPr>
              <p:cNvSpPr txBox="1"/>
              <p:nvPr/>
            </p:nvSpPr>
            <p:spPr>
              <a:xfrm>
                <a:off x="6448730" y="5940244"/>
                <a:ext cx="3470177" cy="871201"/>
              </a:xfrm>
              <a:prstGeom prst="rect">
                <a:avLst/>
              </a:prstGeom>
              <a:noFill/>
              <a:ln w="12700">
                <a:solidFill>
                  <a:schemeClr val="accent1"/>
                </a:solidFill>
              </a:ln>
            </p:spPr>
            <p:txBody>
              <a:bodyPr wrap="square">
                <a:spAutoFit/>
              </a:bodyPr>
              <a:lstStyle/>
              <a:p>
                <a:pPr/>
                <a14:m>
                  <m:oMathPara xmlns:m="http://schemas.openxmlformats.org/officeDocument/2006/math">
                    <m:oMath>
                      <m:r>
                        <a:rPr lang="en-VN" i="1" smtClean="0">
                          <a:solidFill>
                            <a:schemeClr val="tx1"/>
                          </a:solidFill>
                          <a:latin typeface="Cambria Math" panose="02040503050406030204" pitchFamily="18" charset="0"/>
                        </a:rPr>
                        <m:t>𝐿</m:t>
                      </m:r>
                      <m:d>
                        <m:dPr>
                          <m:ctrlPr>
                            <a:rPr lang="en-VN" i="1" smtClean="0">
                              <a:solidFill>
                                <a:schemeClr val="tx1"/>
                              </a:solidFill>
                              <a:latin typeface="Cambria Math" panose="02040503050406030204" pitchFamily="18" charset="0"/>
                            </a:rPr>
                          </m:ctrlPr>
                        </m:dPr>
                        <m:e>
                          <m:r>
                            <a:rPr lang="en-VN" i="1" smtClean="0">
                              <a:solidFill>
                                <a:schemeClr val="tx1"/>
                              </a:solidFill>
                              <a:latin typeface="Cambria Math" panose="02040503050406030204" pitchFamily="18" charset="0"/>
                            </a:rPr>
                            <m:t>𝜇</m:t>
                          </m:r>
                          <m:r>
                            <a:rPr lang="en-VN" i="0">
                              <a:solidFill>
                                <a:schemeClr val="tx1"/>
                              </a:solidFill>
                              <a:latin typeface="Cambria Math" panose="02040503050406030204" pitchFamily="18" charset="0"/>
                            </a:rPr>
                            <m:t>,</m:t>
                          </m:r>
                          <m:sSup>
                            <m:sSupPr>
                              <m:ctrlPr>
                                <a:rPr lang="en-VN" i="1" smtClean="0">
                                  <a:solidFill>
                                    <a:schemeClr val="tx1"/>
                                  </a:solidFill>
                                  <a:latin typeface="Cambria Math" panose="02040503050406030204" pitchFamily="18" charset="0"/>
                                </a:rPr>
                              </m:ctrlPr>
                            </m:sSupPr>
                            <m:e>
                              <m:r>
                                <a:rPr lang="en-VN" i="1" smtClean="0">
                                  <a:solidFill>
                                    <a:schemeClr val="tx1"/>
                                  </a:solidFill>
                                  <a:latin typeface="Cambria Math" panose="02040503050406030204" pitchFamily="18" charset="0"/>
                                </a:rPr>
                                <m:t>𝜎</m:t>
                              </m:r>
                            </m:e>
                            <m:sup>
                              <m:r>
                                <a:rPr lang="en-VN" i="0">
                                  <a:solidFill>
                                    <a:schemeClr val="tx1"/>
                                  </a:solidFill>
                                  <a:latin typeface="Cambria Math" panose="02040503050406030204" pitchFamily="18" charset="0"/>
                                </a:rPr>
                                <m:t>2</m:t>
                              </m:r>
                            </m:sup>
                          </m:sSup>
                          <m:r>
                            <a:rPr lang="en-VN" i="0">
                              <a:solidFill>
                                <a:schemeClr val="tx1"/>
                              </a:solidFill>
                              <a:latin typeface="Cambria Math" panose="02040503050406030204" pitchFamily="18" charset="0"/>
                            </a:rPr>
                            <m:t>∣</m:t>
                          </m:r>
                          <m:r>
                            <a:rPr lang="en-VN" i="1" smtClean="0">
                              <a:solidFill>
                                <a:schemeClr val="tx1"/>
                              </a:solidFill>
                              <a:latin typeface="Cambria Math" panose="02040503050406030204" pitchFamily="18" charset="0"/>
                            </a:rPr>
                            <m:t>𝑥</m:t>
                          </m:r>
                        </m:e>
                      </m:d>
                      <m:r>
                        <a:rPr lang="en-VN" i="0">
                          <a:solidFill>
                            <a:schemeClr val="tx1"/>
                          </a:solidFill>
                          <a:latin typeface="Cambria Math" panose="02040503050406030204" pitchFamily="18" charset="0"/>
                        </a:rPr>
                        <m:t>=</m:t>
                      </m:r>
                      <m:nary>
                        <m:naryPr>
                          <m:chr m:val="∏"/>
                          <m:limLoc m:val="undOvr"/>
                          <m:ctrlPr>
                            <a:rPr lang="en-VN" i="1">
                              <a:latin typeface="Cambria Math" panose="02040503050406030204" pitchFamily="18" charset="0"/>
                            </a:rPr>
                          </m:ctrlPr>
                        </m:naryPr>
                        <m:sub>
                          <m:r>
                            <a:rPr lang="en-VN" i="1">
                              <a:latin typeface="Cambria Math" panose="02040503050406030204" pitchFamily="18" charset="0"/>
                            </a:rPr>
                            <m:t>𝑛</m:t>
                          </m:r>
                          <m:r>
                            <a:rPr lang="en-VN">
                              <a:latin typeface="Cambria Math" panose="02040503050406030204" pitchFamily="18" charset="0"/>
                            </a:rPr>
                            <m:t>=1</m:t>
                          </m:r>
                        </m:sub>
                        <m:sup>
                          <m:r>
                            <a:rPr lang="en-VN" i="1">
                              <a:latin typeface="Cambria Math" panose="02040503050406030204" pitchFamily="18" charset="0"/>
                            </a:rPr>
                            <m:t>𝑁</m:t>
                          </m:r>
                        </m:sup>
                        <m:e>
                          <m:r>
                            <a:rPr lang="en-VN" i="0" smtClean="0">
                              <a:solidFill>
                                <a:schemeClr val="accent6">
                                  <a:lumMod val="75000"/>
                                </a:schemeClr>
                              </a:solidFill>
                              <a:latin typeface="Cambria Math" panose="02040503050406030204" pitchFamily="18" charset="0"/>
                            </a:rPr>
                            <m:t>𝒩</m:t>
                          </m:r>
                        </m:e>
                      </m:nary>
                      <m:d>
                        <m:dPr>
                          <m:ctrlPr>
                            <a:rPr lang="en-VN" i="1">
                              <a:solidFill>
                                <a:schemeClr val="accent6">
                                  <a:lumMod val="75000"/>
                                </a:schemeClr>
                              </a:solidFill>
                              <a:latin typeface="Cambria Math" panose="02040503050406030204" pitchFamily="18" charset="0"/>
                            </a:rPr>
                          </m:ctrlPr>
                        </m:dPr>
                        <m:e>
                          <m:sSub>
                            <m:sSubPr>
                              <m:ctrlPr>
                                <a:rPr lang="en-VN" i="1">
                                  <a:solidFill>
                                    <a:schemeClr val="accent6">
                                      <a:lumMod val="75000"/>
                                    </a:schemeClr>
                                  </a:solidFill>
                                  <a:latin typeface="Cambria Math" panose="02040503050406030204" pitchFamily="18" charset="0"/>
                                </a:rPr>
                              </m:ctrlPr>
                            </m:sSubPr>
                            <m:e>
                              <m:r>
                                <a:rPr lang="en-VN" i="1">
                                  <a:solidFill>
                                    <a:schemeClr val="accent6">
                                      <a:lumMod val="75000"/>
                                    </a:schemeClr>
                                  </a:solidFill>
                                  <a:latin typeface="Cambria Math" panose="02040503050406030204" pitchFamily="18" charset="0"/>
                                </a:rPr>
                                <m:t>𝑥</m:t>
                              </m:r>
                            </m:e>
                            <m:sub>
                              <m:r>
                                <a:rPr lang="en-VN" i="1">
                                  <a:solidFill>
                                    <a:schemeClr val="accent6">
                                      <a:lumMod val="75000"/>
                                    </a:schemeClr>
                                  </a:solidFill>
                                  <a:latin typeface="Cambria Math" panose="02040503050406030204" pitchFamily="18" charset="0"/>
                                </a:rPr>
                                <m:t>𝑛</m:t>
                              </m:r>
                            </m:sub>
                          </m:sSub>
                          <m:r>
                            <a:rPr lang="en-VN" i="0">
                              <a:solidFill>
                                <a:schemeClr val="accent6">
                                  <a:lumMod val="75000"/>
                                </a:schemeClr>
                              </a:solidFill>
                              <a:latin typeface="Cambria Math" panose="02040503050406030204" pitchFamily="18" charset="0"/>
                            </a:rPr>
                            <m:t>∣</m:t>
                          </m:r>
                          <m:r>
                            <a:rPr lang="en-VN" i="1">
                              <a:solidFill>
                                <a:schemeClr val="accent6">
                                  <a:lumMod val="75000"/>
                                </a:schemeClr>
                              </a:solidFill>
                              <a:latin typeface="Cambria Math" panose="02040503050406030204" pitchFamily="18" charset="0"/>
                            </a:rPr>
                            <m:t>𝜇</m:t>
                          </m:r>
                          <m:r>
                            <a:rPr lang="en-VN" i="0">
                              <a:solidFill>
                                <a:schemeClr val="accent6">
                                  <a:lumMod val="75000"/>
                                </a:schemeClr>
                              </a:solidFill>
                              <a:latin typeface="Cambria Math" panose="02040503050406030204" pitchFamily="18" charset="0"/>
                            </a:rPr>
                            <m:t>,</m:t>
                          </m:r>
                          <m:sSup>
                            <m:sSupPr>
                              <m:ctrlPr>
                                <a:rPr lang="en-VN" i="1">
                                  <a:solidFill>
                                    <a:schemeClr val="accent6">
                                      <a:lumMod val="75000"/>
                                    </a:schemeClr>
                                  </a:solidFill>
                                  <a:latin typeface="Cambria Math" panose="02040503050406030204" pitchFamily="18" charset="0"/>
                                </a:rPr>
                              </m:ctrlPr>
                            </m:sSupPr>
                            <m:e>
                              <m:r>
                                <a:rPr lang="en-VN" i="1">
                                  <a:solidFill>
                                    <a:schemeClr val="accent6">
                                      <a:lumMod val="75000"/>
                                    </a:schemeClr>
                                  </a:solidFill>
                                  <a:latin typeface="Cambria Math" panose="02040503050406030204" pitchFamily="18" charset="0"/>
                                </a:rPr>
                                <m:t>𝜎</m:t>
                              </m:r>
                            </m:e>
                            <m:sup>
                              <m:r>
                                <a:rPr lang="en-VN" i="0">
                                  <a:solidFill>
                                    <a:schemeClr val="accent6">
                                      <a:lumMod val="75000"/>
                                    </a:schemeClr>
                                  </a:solidFill>
                                  <a:latin typeface="Cambria Math" panose="02040503050406030204" pitchFamily="18" charset="0"/>
                                </a:rPr>
                                <m:t>2</m:t>
                              </m:r>
                            </m:sup>
                          </m:sSup>
                        </m:e>
                      </m:d>
                    </m:oMath>
                  </m:oMathPara>
                </a14:m>
                <a:endParaRPr lang="en-VN" dirty="0"/>
              </a:p>
            </p:txBody>
          </p:sp>
        </mc:Choice>
        <mc:Fallback>
          <p:sp>
            <p:nvSpPr>
              <p:cNvPr id="16" name="TextBox 15">
                <a:extLst>
                  <a:ext uri="{FF2B5EF4-FFF2-40B4-BE49-F238E27FC236}">
                    <a16:creationId xmlns:a16="http://schemas.microsoft.com/office/drawing/2014/main" id="{B4AD8A6F-C963-BF6E-F776-934B9CD61B01}"/>
                  </a:ext>
                </a:extLst>
              </p:cNvPr>
              <p:cNvSpPr txBox="1">
                <a:spLocks noRot="1" noChangeAspect="1" noMove="1" noResize="1" noEditPoints="1" noAdjustHandles="1" noChangeArrowheads="1" noChangeShapeType="1" noTextEdit="1"/>
              </p:cNvSpPr>
              <p:nvPr/>
            </p:nvSpPr>
            <p:spPr>
              <a:xfrm>
                <a:off x="6448730" y="5940244"/>
                <a:ext cx="3470177" cy="871201"/>
              </a:xfrm>
              <a:prstGeom prst="rect">
                <a:avLst/>
              </a:prstGeom>
              <a:blipFill>
                <a:blip r:embed="rId11"/>
                <a:stretch>
                  <a:fillRect t="-92857" b="-148571"/>
                </a:stretch>
              </a:blipFill>
              <a:ln w="12700">
                <a:solidFill>
                  <a:schemeClr val="accent1"/>
                </a:solidFill>
              </a:ln>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D9868F4E-F3E9-2889-63B3-B43A20ACE9B9}"/>
                  </a:ext>
                </a:extLst>
              </p:cNvPr>
              <p:cNvSpPr txBox="1"/>
              <p:nvPr/>
            </p:nvSpPr>
            <p:spPr>
              <a:xfrm>
                <a:off x="7030720" y="2559639"/>
                <a:ext cx="4301049" cy="518347"/>
              </a:xfrm>
              <a:prstGeom prst="rect">
                <a:avLst/>
              </a:prstGeom>
              <a:noFill/>
            </p:spPr>
            <p:txBody>
              <a:bodyPr wrap="none" lIns="0" tIns="0" rIns="0" bIns="0" rtlCol="0">
                <a:spAutoFit/>
              </a:bodyPr>
              <a:lstStyle/>
              <a:p>
                <a14:m>
                  <m:oMathPara xmlns:m="http://schemas.openxmlformats.org/officeDocument/2006/math">
                    <m:oMath>
                      <m:r>
                        <a:rPr lang="en-US" sz="1400" b="0" i="1" smtClean="0">
                          <a:solidFill>
                            <a:schemeClr val="accent6">
                              <a:lumMod val="75000"/>
                            </a:schemeClr>
                          </a:solidFill>
                          <a:latin typeface="Cambria Math" panose="02040503050406030204" pitchFamily="18" charset="0"/>
                        </a:rPr>
                        <m:t>𝒩</m:t>
                      </m:r>
                      <m:d>
                        <m:dPr>
                          <m:ctrlPr>
                            <a:rPr lang="en-US" sz="1400" b="0" i="1">
                              <a:solidFill>
                                <a:schemeClr val="accent6">
                                  <a:lumMod val="75000"/>
                                </a:schemeClr>
                              </a:solidFill>
                              <a:latin typeface="Cambria Math" panose="02040503050406030204" pitchFamily="18" charset="0"/>
                            </a:rPr>
                          </m:ctrlPr>
                        </m:dPr>
                        <m:e>
                          <m:r>
                            <a:rPr lang="en-US" sz="1400" b="0" i="1">
                              <a:solidFill>
                                <a:schemeClr val="accent6">
                                  <a:lumMod val="75000"/>
                                </a:schemeClr>
                              </a:solidFill>
                              <a:latin typeface="Cambria Math" panose="02040503050406030204" pitchFamily="18" charset="0"/>
                            </a:rPr>
                            <m:t>𝑥</m:t>
                          </m:r>
                          <m:r>
                            <a:rPr lang="vi-VN" sz="1400" b="0" i="1" smtClean="0">
                              <a:solidFill>
                                <a:schemeClr val="accent6">
                                  <a:lumMod val="75000"/>
                                </a:schemeClr>
                              </a:solidFill>
                              <a:latin typeface="Cambria Math" panose="02040503050406030204" pitchFamily="18" charset="0"/>
                            </a:rPr>
                            <m:t> </m:t>
                          </m:r>
                          <m:r>
                            <a:rPr lang="en-VN" sz="1400" b="0">
                              <a:solidFill>
                                <a:schemeClr val="accent6">
                                  <a:lumMod val="75000"/>
                                </a:schemeClr>
                              </a:solidFill>
                              <a:latin typeface="Cambria Math" panose="02040503050406030204" pitchFamily="18" charset="0"/>
                            </a:rPr>
                            <m:t>|</m:t>
                          </m:r>
                          <m:r>
                            <a:rPr lang="vi-VN" sz="1400" b="0" i="0" smtClean="0">
                              <a:solidFill>
                                <a:schemeClr val="accent6">
                                  <a:lumMod val="75000"/>
                                </a:schemeClr>
                              </a:solidFill>
                              <a:latin typeface="Cambria Math" panose="02040503050406030204" pitchFamily="18" charset="0"/>
                            </a:rPr>
                            <m:t> </m:t>
                          </m:r>
                          <m:r>
                            <a:rPr lang="en-US" sz="1400" b="0" i="1">
                              <a:solidFill>
                                <a:schemeClr val="accent6">
                                  <a:lumMod val="75000"/>
                                </a:schemeClr>
                              </a:solidFill>
                              <a:latin typeface="Cambria Math" panose="02040503050406030204" pitchFamily="18" charset="0"/>
                            </a:rPr>
                            <m:t>𝜇</m:t>
                          </m:r>
                          <m:r>
                            <a:rPr lang="en-US" sz="1400" b="0" i="1">
                              <a:solidFill>
                                <a:schemeClr val="accent6">
                                  <a:lumMod val="75000"/>
                                </a:schemeClr>
                              </a:solidFill>
                              <a:latin typeface="Cambria Math" panose="02040503050406030204" pitchFamily="18" charset="0"/>
                            </a:rPr>
                            <m:t>,</m:t>
                          </m:r>
                          <m:r>
                            <a:rPr lang="en-US" sz="1400" b="0" i="1">
                              <a:solidFill>
                                <a:schemeClr val="accent6">
                                  <a:lumMod val="75000"/>
                                </a:schemeClr>
                              </a:solidFill>
                              <a:latin typeface="Cambria Math" panose="02040503050406030204" pitchFamily="18" charset="0"/>
                            </a:rPr>
                            <m:t>𝛴</m:t>
                          </m:r>
                        </m:e>
                      </m:d>
                      <m:r>
                        <a:rPr lang="en-US" sz="1400" b="0" i="1">
                          <a:latin typeface="Cambria Math" panose="02040503050406030204" pitchFamily="18" charset="0"/>
                        </a:rPr>
                        <m:t>=</m:t>
                      </m:r>
                      <m:f>
                        <m:fPr>
                          <m:ctrlPr>
                            <a:rPr lang="en-US" sz="1400" b="0" i="1">
                              <a:latin typeface="Cambria Math" panose="02040503050406030204" pitchFamily="18" charset="0"/>
                            </a:rPr>
                          </m:ctrlPr>
                        </m:fPr>
                        <m:num>
                          <m:r>
                            <a:rPr lang="en-US" sz="1400" b="0" i="1">
                              <a:latin typeface="Cambria Math" panose="02040503050406030204" pitchFamily="18" charset="0"/>
                            </a:rPr>
                            <m:t>1</m:t>
                          </m:r>
                        </m:num>
                        <m:den>
                          <m:rad>
                            <m:radPr>
                              <m:degHide m:val="on"/>
                              <m:ctrlPr>
                                <a:rPr lang="en-US" sz="1400" i="1">
                                  <a:latin typeface="Cambria Math" panose="02040503050406030204" pitchFamily="18" charset="0"/>
                                </a:rPr>
                              </m:ctrlPr>
                            </m:radPr>
                            <m:deg/>
                            <m:e>
                              <m:sSup>
                                <m:sSupPr>
                                  <m:ctrlPr>
                                    <a:rPr lang="en-US" sz="1400" i="1">
                                      <a:latin typeface="Cambria Math" panose="02040503050406030204" pitchFamily="18" charset="0"/>
                                    </a:rPr>
                                  </m:ctrlPr>
                                </m:sSupPr>
                                <m:e>
                                  <m:d>
                                    <m:dPr>
                                      <m:ctrlPr>
                                        <a:rPr lang="en-US" sz="1400" b="0" i="1">
                                          <a:latin typeface="Cambria Math" panose="02040503050406030204" pitchFamily="18" charset="0"/>
                                        </a:rPr>
                                      </m:ctrlPr>
                                    </m:dPr>
                                    <m:e>
                                      <m:r>
                                        <a:rPr lang="en-US" sz="1400" b="0" i="1">
                                          <a:latin typeface="Cambria Math" panose="02040503050406030204" pitchFamily="18" charset="0"/>
                                        </a:rPr>
                                        <m:t>2</m:t>
                                      </m:r>
                                      <m:r>
                                        <a:rPr lang="en-US" sz="1400" b="0" i="1">
                                          <a:latin typeface="Cambria Math" panose="02040503050406030204" pitchFamily="18" charset="0"/>
                                        </a:rPr>
                                        <m:t>𝜋</m:t>
                                      </m:r>
                                    </m:e>
                                  </m:d>
                                </m:e>
                                <m:sup>
                                  <m:r>
                                    <a:rPr lang="en-US" sz="1400" b="0" i="1">
                                      <a:latin typeface="Cambria Math" panose="02040503050406030204" pitchFamily="18" charset="0"/>
                                    </a:rPr>
                                    <m:t>𝑘</m:t>
                                  </m:r>
                                </m:sup>
                              </m:sSup>
                              <m:d>
                                <m:dPr>
                                  <m:begChr m:val="|"/>
                                  <m:endChr m:val="|"/>
                                  <m:ctrlPr>
                                    <a:rPr lang="en-US" sz="1400" b="0" i="1" smtClean="0">
                                      <a:solidFill>
                                        <a:srgbClr val="00B050"/>
                                      </a:solidFill>
                                      <a:latin typeface="Cambria Math" panose="02040503050406030204" pitchFamily="18" charset="0"/>
                                    </a:rPr>
                                  </m:ctrlPr>
                                </m:dPr>
                                <m:e>
                                  <m:r>
                                    <a:rPr lang="en-US" sz="1400" b="0" i="1" smtClean="0">
                                      <a:solidFill>
                                        <a:srgbClr val="00B050"/>
                                      </a:solidFill>
                                      <a:latin typeface="Cambria Math" panose="02040503050406030204" pitchFamily="18" charset="0"/>
                                    </a:rPr>
                                    <m:t>𝛴</m:t>
                                  </m:r>
                                </m:e>
                              </m:d>
                            </m:e>
                          </m:rad>
                        </m:den>
                      </m:f>
                      <m:func>
                        <m:funcPr>
                          <m:ctrlPr>
                            <a:rPr lang="en-US" sz="1400" b="0" i="1">
                              <a:latin typeface="Cambria Math" panose="02040503050406030204" pitchFamily="18" charset="0"/>
                            </a:rPr>
                          </m:ctrlPr>
                        </m:funcPr>
                        <m:fName>
                          <m:r>
                            <a:rPr lang="en-US" sz="1400" b="0" i="1">
                              <a:latin typeface="Cambria Math" panose="02040503050406030204" pitchFamily="18" charset="0"/>
                            </a:rPr>
                            <m:t>𝑒𝑥𝑝</m:t>
                          </m:r>
                        </m:fName>
                        <m:e>
                          <m:d>
                            <m:dPr>
                              <m:ctrlPr>
                                <a:rPr lang="en-US" sz="1400" b="0" i="1">
                                  <a:latin typeface="Cambria Math" panose="02040503050406030204" pitchFamily="18" charset="0"/>
                                </a:rPr>
                              </m:ctrlPr>
                            </m:dPr>
                            <m:e>
                              <m:r>
                                <a:rPr lang="en-US" sz="1400" b="0" i="1">
                                  <a:latin typeface="Cambria Math" panose="02040503050406030204" pitchFamily="18" charset="0"/>
                                </a:rPr>
                                <m:t>−</m:t>
                              </m:r>
                              <m:f>
                                <m:fPr>
                                  <m:ctrlPr>
                                    <a:rPr lang="en-US" sz="1400" b="0" i="1">
                                      <a:latin typeface="Cambria Math" panose="02040503050406030204" pitchFamily="18" charset="0"/>
                                    </a:rPr>
                                  </m:ctrlPr>
                                </m:fPr>
                                <m:num>
                                  <m:r>
                                    <a:rPr lang="en-US" sz="1400" b="0" i="1">
                                      <a:latin typeface="Cambria Math" panose="02040503050406030204" pitchFamily="18" charset="0"/>
                                    </a:rPr>
                                    <m:t>1</m:t>
                                  </m:r>
                                </m:num>
                                <m:den>
                                  <m:r>
                                    <a:rPr lang="en-US" sz="1400" b="0" i="1">
                                      <a:latin typeface="Cambria Math" panose="02040503050406030204" pitchFamily="18" charset="0"/>
                                    </a:rPr>
                                    <m:t>2</m:t>
                                  </m:r>
                                </m:den>
                              </m:f>
                              <m:sSup>
                                <m:sSupPr>
                                  <m:ctrlPr>
                                    <a:rPr lang="en-US" sz="1400" i="1">
                                      <a:latin typeface="Cambria Math" panose="02040503050406030204" pitchFamily="18" charset="0"/>
                                    </a:rPr>
                                  </m:ctrlPr>
                                </m:sSupPr>
                                <m:e>
                                  <m:d>
                                    <m:dPr>
                                      <m:ctrlPr>
                                        <a:rPr lang="en-US" sz="1400" b="0" i="1">
                                          <a:latin typeface="Cambria Math" panose="02040503050406030204" pitchFamily="18" charset="0"/>
                                        </a:rPr>
                                      </m:ctrlPr>
                                    </m:dPr>
                                    <m:e>
                                      <m:r>
                                        <a:rPr lang="en-US" sz="1400" b="0" i="1">
                                          <a:latin typeface="Cambria Math" panose="02040503050406030204" pitchFamily="18" charset="0"/>
                                        </a:rPr>
                                        <m:t>𝑥</m:t>
                                      </m:r>
                                      <m:r>
                                        <a:rPr lang="en-US" sz="1400" b="0" i="1">
                                          <a:latin typeface="Cambria Math" panose="02040503050406030204" pitchFamily="18" charset="0"/>
                                        </a:rPr>
                                        <m:t>−</m:t>
                                      </m:r>
                                      <m:r>
                                        <a:rPr lang="en-US" sz="1400" b="0" i="1" smtClean="0">
                                          <a:solidFill>
                                            <a:srgbClr val="0070C0"/>
                                          </a:solidFill>
                                          <a:latin typeface="Cambria Math" panose="02040503050406030204" pitchFamily="18" charset="0"/>
                                        </a:rPr>
                                        <m:t>𝜇</m:t>
                                      </m:r>
                                    </m:e>
                                  </m:d>
                                </m:e>
                                <m:sup>
                                  <m:r>
                                    <a:rPr lang="en-US" sz="1400" b="0" i="1">
                                      <a:latin typeface="Cambria Math" panose="02040503050406030204" pitchFamily="18" charset="0"/>
                                    </a:rPr>
                                    <m:t>𝑇</m:t>
                                  </m:r>
                                </m:sup>
                              </m:sSup>
                              <m:sSup>
                                <m:sSupPr>
                                  <m:ctrlPr>
                                    <a:rPr lang="en-US" sz="1400" b="0" i="1" smtClean="0">
                                      <a:solidFill>
                                        <a:srgbClr val="00B050"/>
                                      </a:solidFill>
                                      <a:latin typeface="Cambria Math" panose="02040503050406030204" pitchFamily="18" charset="0"/>
                                    </a:rPr>
                                  </m:ctrlPr>
                                </m:sSupPr>
                                <m:e>
                                  <m:r>
                                    <a:rPr lang="en-US" sz="1400" b="0" i="1" smtClean="0">
                                      <a:solidFill>
                                        <a:srgbClr val="00B050"/>
                                      </a:solidFill>
                                      <a:latin typeface="Cambria Math" panose="02040503050406030204" pitchFamily="18" charset="0"/>
                                    </a:rPr>
                                    <m:t>𝛴</m:t>
                                  </m:r>
                                </m:e>
                                <m:sup>
                                  <m:r>
                                    <a:rPr lang="en-US" sz="1400" b="0" i="1">
                                      <a:latin typeface="Cambria Math" panose="02040503050406030204" pitchFamily="18" charset="0"/>
                                    </a:rPr>
                                    <m:t>−1</m:t>
                                  </m:r>
                                </m:sup>
                              </m:sSup>
                              <m:d>
                                <m:dPr>
                                  <m:ctrlPr>
                                    <a:rPr lang="en-US" sz="1400" b="0" i="1">
                                      <a:latin typeface="Cambria Math" panose="02040503050406030204" pitchFamily="18" charset="0"/>
                                    </a:rPr>
                                  </m:ctrlPr>
                                </m:dPr>
                                <m:e>
                                  <m:r>
                                    <a:rPr lang="en-US" sz="1400" b="0" i="1">
                                      <a:latin typeface="Cambria Math" panose="02040503050406030204" pitchFamily="18" charset="0"/>
                                    </a:rPr>
                                    <m:t>𝑥</m:t>
                                  </m:r>
                                  <m:r>
                                    <a:rPr lang="en-US" sz="1400" b="0" i="1">
                                      <a:latin typeface="Cambria Math" panose="02040503050406030204" pitchFamily="18" charset="0"/>
                                    </a:rPr>
                                    <m:t>−</m:t>
                                  </m:r>
                                  <m:r>
                                    <a:rPr lang="en-US" sz="1400" b="0" i="1" smtClean="0">
                                      <a:solidFill>
                                        <a:srgbClr val="0070C0"/>
                                      </a:solidFill>
                                      <a:latin typeface="Cambria Math" panose="02040503050406030204" pitchFamily="18" charset="0"/>
                                    </a:rPr>
                                    <m:t>𝜇</m:t>
                                  </m:r>
                                </m:e>
                              </m:d>
                            </m:e>
                          </m:d>
                        </m:e>
                      </m:func>
                    </m:oMath>
                  </m:oMathPara>
                </a14:m>
                <a:endParaRPr lang="en-VN" sz="1400" dirty="0"/>
              </a:p>
            </p:txBody>
          </p:sp>
        </mc:Choice>
        <mc:Fallback>
          <p:sp>
            <p:nvSpPr>
              <p:cNvPr id="20" name="TextBox 19">
                <a:extLst>
                  <a:ext uri="{FF2B5EF4-FFF2-40B4-BE49-F238E27FC236}">
                    <a16:creationId xmlns:a16="http://schemas.microsoft.com/office/drawing/2014/main" id="{D9868F4E-F3E9-2889-63B3-B43A20ACE9B9}"/>
                  </a:ext>
                </a:extLst>
              </p:cNvPr>
              <p:cNvSpPr txBox="1">
                <a:spLocks noRot="1" noChangeAspect="1" noMove="1" noResize="1" noEditPoints="1" noAdjustHandles="1" noChangeArrowheads="1" noChangeShapeType="1" noTextEdit="1"/>
              </p:cNvSpPr>
              <p:nvPr/>
            </p:nvSpPr>
            <p:spPr>
              <a:xfrm>
                <a:off x="7030720" y="2559639"/>
                <a:ext cx="4301049" cy="518347"/>
              </a:xfrm>
              <a:prstGeom prst="rect">
                <a:avLst/>
              </a:prstGeom>
              <a:blipFill>
                <a:blip r:embed="rId12"/>
                <a:stretch>
                  <a:fillRect l="-294" b="-2381"/>
                </a:stretch>
              </a:blipFill>
            </p:spPr>
            <p:txBody>
              <a:bodyPr/>
              <a:lstStyle/>
              <a:p>
                <a:r>
                  <a:rPr lang="en-VN">
                    <a:noFill/>
                  </a:rPr>
                  <a:t> </a:t>
                </a:r>
              </a:p>
            </p:txBody>
          </p:sp>
        </mc:Fallback>
      </mc:AlternateContent>
    </p:spTree>
    <p:extLst>
      <p:ext uri="{BB962C8B-B14F-4D97-AF65-F5344CB8AC3E}">
        <p14:creationId xmlns:p14="http://schemas.microsoft.com/office/powerpoint/2010/main" val="4876230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1ABB19-03BD-33C8-07F3-06EDE28C4C8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436065A-3063-A1D5-F33E-ACDF1193F35E}"/>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p:sp>
        <p:nvSpPr>
          <p:cNvPr id="4" name="TextBox 3">
            <a:extLst>
              <a:ext uri="{FF2B5EF4-FFF2-40B4-BE49-F238E27FC236}">
                <a16:creationId xmlns:a16="http://schemas.microsoft.com/office/drawing/2014/main" id="{8846C090-C329-5AE6-6CB7-FF865F13CF03}"/>
              </a:ext>
            </a:extLst>
          </p:cNvPr>
          <p:cNvSpPr txBox="1"/>
          <p:nvPr/>
        </p:nvSpPr>
        <p:spPr>
          <a:xfrm>
            <a:off x="364066" y="1267772"/>
            <a:ext cx="10961159" cy="892552"/>
          </a:xfrm>
          <a:prstGeom prst="rect">
            <a:avLst/>
          </a:prstGeom>
          <a:noFill/>
        </p:spPr>
        <p:txBody>
          <a:bodyPr wrap="square">
            <a:spAutoFit/>
          </a:bodyPr>
          <a:lstStyle/>
          <a:p>
            <a:pPr>
              <a:spcAft>
                <a:spcPts val="600"/>
              </a:spcAft>
            </a:pPr>
            <a:r>
              <a:rPr lang="vi-VN" sz="1400" b="1" dirty="0">
                <a:solidFill>
                  <a:srgbClr val="1B8A7A"/>
                </a:solidFill>
                <a:latin typeface="Arial"/>
              </a:rPr>
              <a:t>2.1. Gaussian Mixture Model (GMM) - </a:t>
            </a:r>
            <a:r>
              <a:rPr lang="vi-VN" sz="1000" b="1" dirty="0">
                <a:solidFill>
                  <a:schemeClr val="accent5">
                    <a:lumMod val="60000"/>
                    <a:lumOff val="40000"/>
                  </a:schemeClr>
                </a:solidFill>
                <a:latin typeface="Arial"/>
              </a:rPr>
              <a:t>Mô hình hỗn hợp phân phối chuẩn</a:t>
            </a:r>
            <a:endParaRPr lang="vi-VN" sz="1400" b="1" dirty="0">
              <a:solidFill>
                <a:schemeClr val="bg2">
                  <a:lumMod val="50000"/>
                </a:schemeClr>
              </a:solidFill>
              <a:latin typeface="Arial"/>
            </a:endParaRPr>
          </a:p>
          <a:p>
            <a:pPr>
              <a:spcAft>
                <a:spcPts val="600"/>
              </a:spcAft>
            </a:pPr>
            <a:r>
              <a:rPr lang="vi-VN" sz="1400" b="1" dirty="0">
                <a:solidFill>
                  <a:schemeClr val="bg2">
                    <a:lumMod val="50000"/>
                  </a:schemeClr>
                </a:solidFill>
                <a:latin typeface="Arial"/>
              </a:rPr>
              <a:t>2.1.2. Tìm hàm mục tiêu</a:t>
            </a:r>
          </a:p>
          <a:p>
            <a:pPr>
              <a:spcAft>
                <a:spcPts val="600"/>
              </a:spcAft>
            </a:pPr>
            <a:r>
              <a:rPr lang="vi-VN" sz="1400" dirty="0">
                <a:solidFill>
                  <a:srgbClr val="444B52"/>
                </a:solidFill>
                <a:latin typeface="Arial"/>
              </a:rPr>
              <a:t>	- </a:t>
            </a:r>
            <a:r>
              <a:rPr lang="vi-VN" sz="1400" dirty="0">
                <a:solidFill>
                  <a:srgbClr val="444B52"/>
                </a:solidFill>
                <a:highlight>
                  <a:srgbClr val="00FFFF"/>
                </a:highlight>
                <a:latin typeface="Arial"/>
              </a:rPr>
              <a:t>Phân phối chuẩn</a:t>
            </a:r>
            <a:r>
              <a:rPr lang="vi-VN" sz="1400" dirty="0">
                <a:solidFill>
                  <a:srgbClr val="444B52"/>
                </a:solidFill>
                <a:latin typeface="Arial"/>
              </a:rPr>
              <a:t> và </a:t>
            </a:r>
            <a:r>
              <a:rPr lang="vi-VN" sz="1400" dirty="0">
                <a:solidFill>
                  <a:srgbClr val="444B52"/>
                </a:solidFill>
                <a:highlight>
                  <a:srgbClr val="00FFFF"/>
                </a:highlight>
                <a:latin typeface="Arial"/>
              </a:rPr>
              <a:t>Hỗn hợp phân phối chuẩn</a:t>
            </a:r>
            <a:r>
              <a:rPr lang="vi-VN" sz="1400" dirty="0">
                <a:solidFill>
                  <a:srgbClr val="444B52"/>
                </a:solidFill>
                <a:latin typeface="Arial"/>
              </a:rPr>
              <a:t> đều là hàm mật độ xác suất</a:t>
            </a:r>
            <a:endParaRPr lang="vi-VN" sz="1400" dirty="0">
              <a:solidFill>
                <a:schemeClr val="bg2">
                  <a:lumMod val="50000"/>
                </a:schemeClr>
              </a:solidFill>
              <a:latin typeface="Arial"/>
            </a:endParaRPr>
          </a:p>
        </p:txBody>
      </p:sp>
    </p:spTree>
    <p:extLst>
      <p:ext uri="{BB962C8B-B14F-4D97-AF65-F5344CB8AC3E}">
        <p14:creationId xmlns:p14="http://schemas.microsoft.com/office/powerpoint/2010/main" val="42406786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4EB70-62AB-3299-D9C3-E91D4F4C79B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03F9245-AF6D-9957-8AE4-9EBF98EB94F1}"/>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820603A-EBD7-00D6-467C-7470425C8427}"/>
                  </a:ext>
                </a:extLst>
              </p:cNvPr>
              <p:cNvSpPr txBox="1"/>
              <p:nvPr/>
            </p:nvSpPr>
            <p:spPr>
              <a:xfrm>
                <a:off x="578743" y="2914317"/>
                <a:ext cx="4712346" cy="1538883"/>
              </a:xfrm>
              <a:prstGeom prst="rect">
                <a:avLst/>
              </a:prstGeom>
              <a:noFill/>
            </p:spPr>
            <p:txBody>
              <a:bodyPr wrap="square">
                <a:spAutoFit/>
              </a:bodyPr>
              <a:lstStyle/>
              <a:p>
                <a:pPr>
                  <a:spcAft>
                    <a:spcPts val="600"/>
                  </a:spcAft>
                </a:pPr>
                <a:r>
                  <a:rPr lang="vi-VN" sz="1400" b="1" dirty="0">
                    <a:solidFill>
                      <a:srgbClr val="1B8A7A"/>
                    </a:solidFill>
                    <a:latin typeface="Arial"/>
                  </a:rPr>
                  <a:t>Mục tiêu:</a:t>
                </a:r>
                <a:br>
                  <a:rPr lang="vi-VN" sz="1400" dirty="0">
                    <a:solidFill>
                      <a:srgbClr val="444B52"/>
                    </a:solidFill>
                    <a:latin typeface="Arial"/>
                  </a:rPr>
                </a:br>
                <a:r>
                  <a:rPr lang="vi-VN" sz="1400" dirty="0">
                    <a:solidFill>
                      <a:srgbClr val="444B52"/>
                    </a:solidFill>
                    <a:latin typeface="Arial"/>
                  </a:rPr>
                  <a:t>Nếu muốn vẽ </a:t>
                </a:r>
                <a:r>
                  <a:rPr lang="vi-VN" sz="1400" b="1" dirty="0">
                    <a:solidFill>
                      <a:srgbClr val="FF0000"/>
                    </a:solidFill>
                    <a:highlight>
                      <a:srgbClr val="FFFF00"/>
                    </a:highlight>
                    <a:latin typeface="Arial"/>
                  </a:rPr>
                  <a:t>một</a:t>
                </a:r>
                <a:r>
                  <a:rPr lang="vi-VN" sz="1400" dirty="0">
                    <a:solidFill>
                      <a:srgbClr val="444B52"/>
                    </a:solidFill>
                    <a:latin typeface="Arial"/>
                  </a:rPr>
                  <a:t> phân phối chuẩn khớp với tập </a:t>
                </a:r>
                <a14:m>
                  <m:oMath xmlns:m="http://schemas.openxmlformats.org/officeDocument/2006/math">
                    <m:r>
                      <a:rPr lang="en-VN" sz="1400" i="1">
                        <a:latin typeface="Cambria Math" panose="02040503050406030204" pitchFamily="18" charset="0"/>
                      </a:rPr>
                      <m:t>𝑥</m:t>
                    </m:r>
                  </m:oMath>
                </a14:m>
                <a:br>
                  <a:rPr lang="vi-VN" sz="1400" dirty="0">
                    <a:latin typeface="Arial"/>
                  </a:rPr>
                </a:br>
                <a:r>
                  <a:rPr lang="vi-VN" sz="1400" b="1" dirty="0">
                    <a:solidFill>
                      <a:srgbClr val="444B52"/>
                    </a:solidFill>
                    <a:latin typeface="Arial"/>
                    <a:sym typeface="Wingdings" pitchFamily="2" charset="2"/>
                  </a:rPr>
                  <a:t>Thì tìm </a:t>
                </a:r>
                <a:r>
                  <a:rPr lang="vi-VN" sz="1400" b="1" dirty="0">
                    <a:solidFill>
                      <a:srgbClr val="444B52"/>
                    </a:solidFill>
                    <a:highlight>
                      <a:srgbClr val="FFFF00"/>
                    </a:highlight>
                    <a:latin typeface="Arial"/>
                    <a:sym typeface="Wingdings" pitchFamily="2" charset="2"/>
                  </a:rPr>
                  <a:t>(</a:t>
                </a:r>
                <a14:m>
                  <m:oMath xmlns:m="http://schemas.openxmlformats.org/officeDocument/2006/math">
                    <m:r>
                      <a:rPr lang="en-VN" sz="1400" b="1" i="1">
                        <a:solidFill>
                          <a:schemeClr val="tx2">
                            <a:lumMod val="60000"/>
                            <a:lumOff val="40000"/>
                          </a:schemeClr>
                        </a:solidFill>
                        <a:highlight>
                          <a:srgbClr val="FFFF00"/>
                        </a:highlight>
                        <a:latin typeface="Cambria Math" panose="02040503050406030204" pitchFamily="18" charset="0"/>
                      </a:rPr>
                      <m:t>𝝁</m:t>
                    </m:r>
                  </m:oMath>
                </a14:m>
                <a:r>
                  <a:rPr lang="vi-VN" sz="1400" b="1" dirty="0">
                    <a:solidFill>
                      <a:srgbClr val="444B52"/>
                    </a:solidFill>
                    <a:highlight>
                      <a:srgbClr val="FFFF00"/>
                    </a:highlight>
                    <a:latin typeface="Arial"/>
                    <a:sym typeface="Wingdings" pitchFamily="2" charset="2"/>
                  </a:rPr>
                  <a:t> và </a:t>
                </a:r>
                <a14:m>
                  <m:oMath xmlns:m="http://schemas.openxmlformats.org/officeDocument/2006/math">
                    <m:r>
                      <a:rPr lang="en-US" sz="1400" b="1" i="1" dirty="0">
                        <a:solidFill>
                          <a:srgbClr val="00B050"/>
                        </a:solidFill>
                        <a:highlight>
                          <a:srgbClr val="FFFF00"/>
                        </a:highlight>
                        <a:latin typeface="Cambria Math" panose="02040503050406030204" pitchFamily="18" charset="0"/>
                      </a:rPr>
                      <m:t>𝝈</m:t>
                    </m:r>
                  </m:oMath>
                </a14:m>
                <a:r>
                  <a:rPr lang="vi-VN" sz="1400" b="1" dirty="0">
                    <a:solidFill>
                      <a:srgbClr val="444B52"/>
                    </a:solidFill>
                    <a:highlight>
                      <a:srgbClr val="FFFF00"/>
                    </a:highlight>
                    <a:latin typeface="Arial"/>
                    <a:sym typeface="Wingdings" pitchFamily="2" charset="2"/>
                  </a:rPr>
                  <a:t>)</a:t>
                </a:r>
                <a:r>
                  <a:rPr lang="vi-VN" sz="1400" b="1" dirty="0">
                    <a:solidFill>
                      <a:srgbClr val="444B52"/>
                    </a:solidFill>
                    <a:latin typeface="Arial"/>
                    <a:sym typeface="Wingdings" pitchFamily="2" charset="2"/>
                  </a:rPr>
                  <a:t> để </a:t>
                </a:r>
                <a:r>
                  <a:rPr lang="vi-VN" sz="1400" b="1" u="sng" dirty="0">
                    <a:latin typeface="Arial"/>
                    <a:sym typeface="Wingdings" pitchFamily="2" charset="2"/>
                  </a:rPr>
                  <a:t>hàm hợp lý</a:t>
                </a:r>
                <a:r>
                  <a:rPr lang="vi-VN" sz="1400" b="1" dirty="0">
                    <a:latin typeface="Arial"/>
                    <a:sym typeface="Wingdings" pitchFamily="2" charset="2"/>
                  </a:rPr>
                  <a:t> đạt cực đại</a:t>
                </a:r>
                <a:br>
                  <a:rPr lang="vi-VN" sz="1400" b="1" dirty="0">
                    <a:solidFill>
                      <a:srgbClr val="1B8A7A"/>
                    </a:solidFill>
                    <a:latin typeface="Arial"/>
                  </a:rPr>
                </a:br>
                <a:endParaRPr lang="vi-VN" sz="1400" b="1" dirty="0">
                  <a:solidFill>
                    <a:srgbClr val="1B8A7A"/>
                  </a:solidFill>
                  <a:latin typeface="Arial"/>
                </a:endParaRPr>
              </a:p>
              <a:p>
                <a:pPr>
                  <a:spcAft>
                    <a:spcPts val="600"/>
                  </a:spcAft>
                </a:pPr>
                <a:endParaRPr lang="vi-VN" sz="1400" dirty="0">
                  <a:solidFill>
                    <a:srgbClr val="444B52"/>
                  </a:solidFill>
                  <a:latin typeface="Arial"/>
                </a:endParaRPr>
              </a:p>
              <a:p>
                <a:pPr>
                  <a:spcAft>
                    <a:spcPts val="600"/>
                  </a:spcAft>
                </a:pPr>
                <a:endParaRPr lang="vi-VN" sz="1400" dirty="0">
                  <a:solidFill>
                    <a:srgbClr val="444B52"/>
                  </a:solidFill>
                  <a:latin typeface="Arial"/>
                </a:endParaRPr>
              </a:p>
            </p:txBody>
          </p:sp>
        </mc:Choice>
        <mc:Fallback xmlns="">
          <p:sp>
            <p:nvSpPr>
              <p:cNvPr id="11" name="TextBox 10">
                <a:extLst>
                  <a:ext uri="{FF2B5EF4-FFF2-40B4-BE49-F238E27FC236}">
                    <a16:creationId xmlns:a16="http://schemas.microsoft.com/office/drawing/2014/main" id="{A820603A-EBD7-00D6-467C-7470425C8427}"/>
                  </a:ext>
                </a:extLst>
              </p:cNvPr>
              <p:cNvSpPr txBox="1">
                <a:spLocks noRot="1" noChangeAspect="1" noMove="1" noResize="1" noEditPoints="1" noAdjustHandles="1" noChangeArrowheads="1" noChangeShapeType="1" noTextEdit="1"/>
              </p:cNvSpPr>
              <p:nvPr/>
            </p:nvSpPr>
            <p:spPr>
              <a:xfrm>
                <a:off x="578743" y="2914317"/>
                <a:ext cx="4712346" cy="1538883"/>
              </a:xfrm>
              <a:prstGeom prst="rect">
                <a:avLst/>
              </a:prstGeom>
              <a:blipFill>
                <a:blip r:embed="rId3"/>
                <a:stretch>
                  <a:fillRect l="-269" t="-820"/>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77E3152A-AA2E-8107-3DE2-A50AE4FC4DA0}"/>
                  </a:ext>
                </a:extLst>
              </p:cNvPr>
              <p:cNvSpPr txBox="1"/>
              <p:nvPr/>
            </p:nvSpPr>
            <p:spPr>
              <a:xfrm>
                <a:off x="423469" y="3807772"/>
                <a:ext cx="3470177" cy="698140"/>
              </a:xfrm>
              <a:prstGeom prst="rect">
                <a:avLst/>
              </a:prstGeom>
              <a:noFill/>
              <a:ln w="12700">
                <a:noFill/>
              </a:ln>
            </p:spPr>
            <p:txBody>
              <a:bodyPr wrap="square">
                <a:spAutoFit/>
              </a:bodyPr>
              <a:lstStyle/>
              <a:p>
                <a:pPr/>
                <a14:m>
                  <m:oMathPara xmlns:m="http://schemas.openxmlformats.org/officeDocument/2006/math">
                    <m:oMath>
                      <m:r>
                        <a:rPr lang="en-VN" sz="1400" i="1" smtClean="0">
                          <a:solidFill>
                            <a:schemeClr val="tx1"/>
                          </a:solidFill>
                          <a:latin typeface="Cambria Math" panose="02040503050406030204" pitchFamily="18" charset="0"/>
                        </a:rPr>
                        <m:t>𝐿</m:t>
                      </m:r>
                      <m:d>
                        <m:dPr>
                          <m:ctrlPr>
                            <a:rPr lang="en-US" sz="1400" i="1">
                              <a:latin typeface="Cambria Math" panose="02040503050406030204" pitchFamily="18" charset="0"/>
                            </a:rPr>
                          </m:ctrlPr>
                        </m:dPr>
                        <m:e>
                          <m:r>
                            <a:rPr lang="en-US" sz="1400" i="1">
                              <a:latin typeface="Cambria Math" panose="02040503050406030204" pitchFamily="18" charset="0"/>
                            </a:rPr>
                            <m:t>𝜃</m:t>
                          </m:r>
                          <m:r>
                            <a:rPr lang="en-VN" sz="1400" i="0">
                              <a:solidFill>
                                <a:schemeClr val="tx1"/>
                              </a:solidFill>
                              <a:latin typeface="Cambria Math" panose="02040503050406030204" pitchFamily="18" charset="0"/>
                            </a:rPr>
                            <m:t>∣</m:t>
                          </m:r>
                          <m:r>
                            <a:rPr lang="en-VN" sz="1400" i="1">
                              <a:latin typeface="Cambria Math" panose="02040503050406030204" pitchFamily="18" charset="0"/>
                            </a:rPr>
                            <m:t>𝑥</m:t>
                          </m:r>
                        </m:e>
                      </m:d>
                      <m:r>
                        <a:rPr lang="en-VN" sz="1400" i="0">
                          <a:solidFill>
                            <a:schemeClr val="tx1"/>
                          </a:solidFill>
                          <a:latin typeface="Cambria Math" panose="02040503050406030204" pitchFamily="18" charset="0"/>
                        </a:rPr>
                        <m:t>=</m:t>
                      </m:r>
                      <m:nary>
                        <m:naryPr>
                          <m:chr m:val="∏"/>
                          <m:limLoc m:val="undOvr"/>
                          <m:ctrlPr>
                            <a:rPr lang="en-VN" sz="1400" i="1">
                              <a:latin typeface="Cambria Math" panose="02040503050406030204" pitchFamily="18" charset="0"/>
                            </a:rPr>
                          </m:ctrlPr>
                        </m:naryPr>
                        <m:sub>
                          <m:r>
                            <a:rPr lang="en-VN" sz="1400" i="1">
                              <a:latin typeface="Cambria Math" panose="02040503050406030204" pitchFamily="18" charset="0"/>
                            </a:rPr>
                            <m:t>𝑛</m:t>
                          </m:r>
                          <m:r>
                            <a:rPr lang="en-VN" sz="1400">
                              <a:latin typeface="Cambria Math" panose="02040503050406030204" pitchFamily="18" charset="0"/>
                            </a:rPr>
                            <m:t>=1</m:t>
                          </m:r>
                        </m:sub>
                        <m:sup>
                          <m:r>
                            <a:rPr lang="en-VN" sz="1400" i="1">
                              <a:latin typeface="Cambria Math" panose="02040503050406030204" pitchFamily="18" charset="0"/>
                            </a:rPr>
                            <m:t>𝑁</m:t>
                          </m:r>
                        </m:sup>
                        <m:e>
                          <m:r>
                            <a:rPr lang="en-VN" sz="1400" i="0" smtClean="0">
                              <a:solidFill>
                                <a:schemeClr val="accent6">
                                  <a:lumMod val="75000"/>
                                </a:schemeClr>
                              </a:solidFill>
                              <a:latin typeface="Cambria Math" panose="02040503050406030204" pitchFamily="18" charset="0"/>
                            </a:rPr>
                            <m:t>𝒩</m:t>
                          </m:r>
                        </m:e>
                      </m:nary>
                      <m:d>
                        <m:dPr>
                          <m:ctrlPr>
                            <a:rPr lang="en-VN" sz="1400" i="1">
                              <a:solidFill>
                                <a:schemeClr val="accent6">
                                  <a:lumMod val="75000"/>
                                </a:schemeClr>
                              </a:solidFill>
                              <a:latin typeface="Cambria Math" panose="02040503050406030204" pitchFamily="18" charset="0"/>
                            </a:rPr>
                          </m:ctrlPr>
                        </m:dPr>
                        <m:e>
                          <m:sSub>
                            <m:sSubPr>
                              <m:ctrlPr>
                                <a:rPr lang="en-VN" sz="1400" i="1">
                                  <a:solidFill>
                                    <a:schemeClr val="accent6">
                                      <a:lumMod val="75000"/>
                                    </a:schemeClr>
                                  </a:solidFill>
                                  <a:latin typeface="Cambria Math" panose="02040503050406030204" pitchFamily="18" charset="0"/>
                                </a:rPr>
                              </m:ctrlPr>
                            </m:sSubPr>
                            <m:e>
                              <m:r>
                                <a:rPr lang="en-VN" sz="1400" i="1">
                                  <a:solidFill>
                                    <a:schemeClr val="accent6">
                                      <a:lumMod val="75000"/>
                                    </a:schemeClr>
                                  </a:solidFill>
                                  <a:latin typeface="Cambria Math" panose="02040503050406030204" pitchFamily="18" charset="0"/>
                                </a:rPr>
                                <m:t>𝑥</m:t>
                              </m:r>
                            </m:e>
                            <m:sub>
                              <m:r>
                                <a:rPr lang="en-VN" sz="1400" i="1">
                                  <a:solidFill>
                                    <a:schemeClr val="accent6">
                                      <a:lumMod val="75000"/>
                                    </a:schemeClr>
                                  </a:solidFill>
                                  <a:latin typeface="Cambria Math" panose="02040503050406030204" pitchFamily="18" charset="0"/>
                                </a:rPr>
                                <m:t>𝑛</m:t>
                              </m:r>
                            </m:sub>
                          </m:sSub>
                          <m:r>
                            <a:rPr lang="en-VN" sz="1400" i="0">
                              <a:solidFill>
                                <a:schemeClr val="accent6">
                                  <a:lumMod val="75000"/>
                                </a:schemeClr>
                              </a:solidFill>
                              <a:latin typeface="Cambria Math" panose="02040503050406030204" pitchFamily="18" charset="0"/>
                            </a:rPr>
                            <m:t>∣</m:t>
                          </m:r>
                          <m:r>
                            <a:rPr lang="en-US" sz="1400" i="1" smtClean="0">
                              <a:solidFill>
                                <a:schemeClr val="accent6">
                                  <a:lumMod val="75000"/>
                                </a:schemeClr>
                              </a:solidFill>
                              <a:latin typeface="Cambria Math" panose="02040503050406030204" pitchFamily="18" charset="0"/>
                            </a:rPr>
                            <m:t>𝜃</m:t>
                          </m:r>
                        </m:e>
                      </m:d>
                    </m:oMath>
                  </m:oMathPara>
                </a14:m>
                <a:endParaRPr lang="en-VN" sz="1400" dirty="0"/>
              </a:p>
            </p:txBody>
          </p:sp>
        </mc:Choice>
        <mc:Fallback xmlns="">
          <p:sp>
            <p:nvSpPr>
              <p:cNvPr id="27" name="TextBox 26">
                <a:extLst>
                  <a:ext uri="{FF2B5EF4-FFF2-40B4-BE49-F238E27FC236}">
                    <a16:creationId xmlns:a16="http://schemas.microsoft.com/office/drawing/2014/main" id="{77E3152A-AA2E-8107-3DE2-A50AE4FC4DA0}"/>
                  </a:ext>
                </a:extLst>
              </p:cNvPr>
              <p:cNvSpPr txBox="1">
                <a:spLocks noRot="1" noChangeAspect="1" noMove="1" noResize="1" noEditPoints="1" noAdjustHandles="1" noChangeArrowheads="1" noChangeShapeType="1" noTextEdit="1"/>
              </p:cNvSpPr>
              <p:nvPr/>
            </p:nvSpPr>
            <p:spPr>
              <a:xfrm>
                <a:off x="423469" y="3807772"/>
                <a:ext cx="3470177" cy="698140"/>
              </a:xfrm>
              <a:prstGeom prst="rect">
                <a:avLst/>
              </a:prstGeom>
              <a:blipFill>
                <a:blip r:embed="rId4"/>
                <a:stretch>
                  <a:fillRect t="-94545" b="-150909"/>
                </a:stretch>
              </a:blipFill>
              <a:ln w="12700">
                <a:noFill/>
              </a:ln>
            </p:spPr>
            <p:txBody>
              <a:bodyPr/>
              <a:lstStyle/>
              <a:p>
                <a:r>
                  <a:rPr lang="en-VN">
                    <a:noFill/>
                  </a:rPr>
                  <a:t> </a:t>
                </a:r>
              </a:p>
            </p:txBody>
          </p:sp>
        </mc:Fallback>
      </mc:AlternateContent>
      <p:sp>
        <p:nvSpPr>
          <p:cNvPr id="12" name="TextBox 11">
            <a:extLst>
              <a:ext uri="{FF2B5EF4-FFF2-40B4-BE49-F238E27FC236}">
                <a16:creationId xmlns:a16="http://schemas.microsoft.com/office/drawing/2014/main" id="{CDEA5C84-35CB-2043-F47A-F2D9641AF839}"/>
              </a:ext>
            </a:extLst>
          </p:cNvPr>
          <p:cNvSpPr txBox="1"/>
          <p:nvPr/>
        </p:nvSpPr>
        <p:spPr>
          <a:xfrm>
            <a:off x="364066" y="1267772"/>
            <a:ext cx="10961159" cy="892552"/>
          </a:xfrm>
          <a:prstGeom prst="rect">
            <a:avLst/>
          </a:prstGeom>
          <a:noFill/>
        </p:spPr>
        <p:txBody>
          <a:bodyPr wrap="square">
            <a:spAutoFit/>
          </a:bodyPr>
          <a:lstStyle/>
          <a:p>
            <a:pPr>
              <a:spcAft>
                <a:spcPts val="600"/>
              </a:spcAft>
            </a:pPr>
            <a:r>
              <a:rPr lang="vi-VN" sz="1400" b="1" dirty="0">
                <a:solidFill>
                  <a:srgbClr val="1B8A7A"/>
                </a:solidFill>
                <a:latin typeface="Arial"/>
              </a:rPr>
              <a:t>2.1. Gaussian Mixture Model (GMM) - </a:t>
            </a:r>
            <a:r>
              <a:rPr lang="vi-VN" sz="1000" b="1" dirty="0">
                <a:solidFill>
                  <a:schemeClr val="accent5">
                    <a:lumMod val="60000"/>
                    <a:lumOff val="40000"/>
                  </a:schemeClr>
                </a:solidFill>
                <a:latin typeface="Arial"/>
              </a:rPr>
              <a:t>Mô hình hỗn hợp phân phối chuẩn</a:t>
            </a:r>
            <a:endParaRPr lang="vi-VN" sz="1400" b="1" dirty="0">
              <a:solidFill>
                <a:schemeClr val="bg2">
                  <a:lumMod val="50000"/>
                </a:schemeClr>
              </a:solidFill>
              <a:latin typeface="Arial"/>
            </a:endParaRPr>
          </a:p>
          <a:p>
            <a:pPr>
              <a:spcAft>
                <a:spcPts val="600"/>
              </a:spcAft>
            </a:pPr>
            <a:r>
              <a:rPr lang="vi-VN" sz="1400" b="1" dirty="0">
                <a:solidFill>
                  <a:schemeClr val="bg2">
                    <a:lumMod val="50000"/>
                  </a:schemeClr>
                </a:solidFill>
                <a:latin typeface="Arial"/>
              </a:rPr>
              <a:t>2.1.2. Tìm hàm mục tiêu</a:t>
            </a:r>
          </a:p>
          <a:p>
            <a:pPr>
              <a:spcAft>
                <a:spcPts val="600"/>
              </a:spcAft>
            </a:pPr>
            <a:r>
              <a:rPr lang="vi-VN" sz="1400" dirty="0">
                <a:solidFill>
                  <a:srgbClr val="444B52"/>
                </a:solidFill>
                <a:latin typeface="Arial"/>
              </a:rPr>
              <a:t>	- </a:t>
            </a:r>
            <a:r>
              <a:rPr lang="vi-VN" sz="1400" dirty="0">
                <a:solidFill>
                  <a:srgbClr val="444B52"/>
                </a:solidFill>
                <a:highlight>
                  <a:srgbClr val="00FFFF"/>
                </a:highlight>
                <a:latin typeface="Arial"/>
              </a:rPr>
              <a:t>Phân phối chuẩn</a:t>
            </a:r>
            <a:r>
              <a:rPr lang="vi-VN" sz="1400" dirty="0">
                <a:solidFill>
                  <a:srgbClr val="444B52"/>
                </a:solidFill>
                <a:latin typeface="Arial"/>
              </a:rPr>
              <a:t> và </a:t>
            </a:r>
            <a:r>
              <a:rPr lang="vi-VN" sz="1400" dirty="0">
                <a:solidFill>
                  <a:srgbClr val="444B52"/>
                </a:solidFill>
                <a:highlight>
                  <a:srgbClr val="00FFFF"/>
                </a:highlight>
                <a:latin typeface="Arial"/>
              </a:rPr>
              <a:t>Hỗn hợp phân phối chuẩn</a:t>
            </a:r>
            <a:r>
              <a:rPr lang="vi-VN" sz="1400" dirty="0">
                <a:solidFill>
                  <a:srgbClr val="444B52"/>
                </a:solidFill>
                <a:latin typeface="Arial"/>
              </a:rPr>
              <a:t> đều là hàm mật độ xác suất</a:t>
            </a:r>
            <a:endParaRPr lang="vi-VN" sz="1400" dirty="0">
              <a:solidFill>
                <a:schemeClr val="bg2">
                  <a:lumMod val="50000"/>
                </a:schemeClr>
              </a:solidFill>
              <a:latin typeface="Arial"/>
            </a:endParaRPr>
          </a:p>
        </p:txBody>
      </p:sp>
      <p:sp>
        <p:nvSpPr>
          <p:cNvPr id="26" name="TextBox 25">
            <a:extLst>
              <a:ext uri="{FF2B5EF4-FFF2-40B4-BE49-F238E27FC236}">
                <a16:creationId xmlns:a16="http://schemas.microsoft.com/office/drawing/2014/main" id="{A903BF20-9CE3-FA38-78AE-C6E31CCA1FEB}"/>
              </a:ext>
            </a:extLst>
          </p:cNvPr>
          <p:cNvSpPr txBox="1"/>
          <p:nvPr/>
        </p:nvSpPr>
        <p:spPr>
          <a:xfrm>
            <a:off x="2085174" y="5819686"/>
            <a:ext cx="184731" cy="369332"/>
          </a:xfrm>
          <a:prstGeom prst="rect">
            <a:avLst/>
          </a:prstGeom>
          <a:noFill/>
        </p:spPr>
        <p:txBody>
          <a:bodyPr wrap="none" rtlCol="0">
            <a:spAutoFit/>
          </a:bodyPr>
          <a:lstStyle/>
          <a:p>
            <a:endParaRPr lang="en-VN" dirty="0"/>
          </a:p>
        </p:txBody>
      </p:sp>
      <p:sp>
        <p:nvSpPr>
          <p:cNvPr id="41" name="TextBox 40">
            <a:extLst>
              <a:ext uri="{FF2B5EF4-FFF2-40B4-BE49-F238E27FC236}">
                <a16:creationId xmlns:a16="http://schemas.microsoft.com/office/drawing/2014/main" id="{6039B394-6E16-A77C-19F2-0F17CF6807BF}"/>
              </a:ext>
            </a:extLst>
          </p:cNvPr>
          <p:cNvSpPr txBox="1"/>
          <p:nvPr/>
        </p:nvSpPr>
        <p:spPr>
          <a:xfrm>
            <a:off x="2572284" y="5392396"/>
            <a:ext cx="237566" cy="369332"/>
          </a:xfrm>
          <a:prstGeom prst="rect">
            <a:avLst/>
          </a:prstGeom>
          <a:noFill/>
        </p:spPr>
        <p:txBody>
          <a:bodyPr wrap="none" rtlCol="0">
            <a:spAutoFit/>
          </a:bodyPr>
          <a:lstStyle/>
          <a:p>
            <a:r>
              <a:rPr lang="en-VN" dirty="0"/>
              <a:t> </a:t>
            </a: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3F67F6-4B9B-1D82-375F-56230094C1AC}"/>
                  </a:ext>
                </a:extLst>
              </p:cNvPr>
              <p:cNvSpPr txBox="1"/>
              <p:nvPr/>
            </p:nvSpPr>
            <p:spPr>
              <a:xfrm>
                <a:off x="578743" y="5392396"/>
                <a:ext cx="4321041" cy="307777"/>
              </a:xfrm>
              <a:prstGeom prst="rect">
                <a:avLst/>
              </a:prstGeom>
              <a:noFill/>
            </p:spPr>
            <p:txBody>
              <a:bodyPr wrap="square">
                <a:spAutoFit/>
              </a:bodyPr>
              <a:lstStyle/>
              <a:p>
                <a:pPr>
                  <a:spcAft>
                    <a:spcPts val="600"/>
                  </a:spcAft>
                </a:pPr>
                <a14:m>
                  <m:oMath xmlns:m="http://schemas.openxmlformats.org/officeDocument/2006/math">
                    <m:r>
                      <a:rPr lang="en-US" sz="1400" i="1" smtClean="0">
                        <a:solidFill>
                          <a:schemeClr val="tx1"/>
                        </a:solidFill>
                        <a:latin typeface="Cambria Math" panose="02040503050406030204" pitchFamily="18" charset="0"/>
                      </a:rPr>
                      <m:t>𝜃</m:t>
                    </m:r>
                  </m:oMath>
                </a14:m>
                <a:r>
                  <a:rPr lang="vi-VN" sz="1400" dirty="0">
                    <a:solidFill>
                      <a:srgbClr val="444B52"/>
                    </a:solidFill>
                    <a:latin typeface="Arial"/>
                  </a:rPr>
                  <a:t> là bộ 2 tham số: </a:t>
                </a:r>
                <a14:m>
                  <m:oMath xmlns:m="http://schemas.openxmlformats.org/officeDocument/2006/math">
                    <m:r>
                      <a:rPr lang="en-VN" sz="1400" b="1" i="1">
                        <a:solidFill>
                          <a:schemeClr val="tx2">
                            <a:lumMod val="60000"/>
                            <a:lumOff val="40000"/>
                          </a:schemeClr>
                        </a:solidFill>
                        <a:latin typeface="Cambria Math" panose="02040503050406030204" pitchFamily="18" charset="0"/>
                      </a:rPr>
                      <m:t>𝝁</m:t>
                    </m:r>
                  </m:oMath>
                </a14:m>
                <a:r>
                  <a:rPr lang="vi-VN" sz="1400" b="1" dirty="0">
                    <a:solidFill>
                      <a:srgbClr val="444B52"/>
                    </a:solidFill>
                    <a:latin typeface="Arial"/>
                    <a:sym typeface="Wingdings" pitchFamily="2" charset="2"/>
                  </a:rPr>
                  <a:t> </a:t>
                </a:r>
                <a:r>
                  <a:rPr lang="vi-VN" sz="1400" dirty="0">
                    <a:solidFill>
                      <a:srgbClr val="444B52"/>
                    </a:solidFill>
                    <a:latin typeface="Arial"/>
                    <a:sym typeface="Wingdings" pitchFamily="2" charset="2"/>
                  </a:rPr>
                  <a:t>và</a:t>
                </a:r>
                <a:r>
                  <a:rPr lang="vi-VN" sz="1400" b="1" dirty="0">
                    <a:solidFill>
                      <a:srgbClr val="444B52"/>
                    </a:solidFill>
                    <a:latin typeface="Arial"/>
                    <a:sym typeface="Wingdings" pitchFamily="2" charset="2"/>
                  </a:rPr>
                  <a:t> </a:t>
                </a:r>
                <a14:m>
                  <m:oMath xmlns:m="http://schemas.openxmlformats.org/officeDocument/2006/math">
                    <m:r>
                      <a:rPr lang="en-US" sz="1400" b="1" i="1" dirty="0">
                        <a:solidFill>
                          <a:srgbClr val="00B050"/>
                        </a:solidFill>
                        <a:latin typeface="Cambria Math" panose="02040503050406030204" pitchFamily="18" charset="0"/>
                      </a:rPr>
                      <m:t>𝝈</m:t>
                    </m:r>
                  </m:oMath>
                </a14:m>
                <a:endParaRPr lang="vi-VN" sz="1400" dirty="0">
                  <a:solidFill>
                    <a:srgbClr val="444B52"/>
                  </a:solidFill>
                  <a:latin typeface="Arial"/>
                </a:endParaRPr>
              </a:p>
            </p:txBody>
          </p:sp>
        </mc:Choice>
        <mc:Fallback xmlns="">
          <p:sp>
            <p:nvSpPr>
              <p:cNvPr id="42" name="TextBox 41">
                <a:extLst>
                  <a:ext uri="{FF2B5EF4-FFF2-40B4-BE49-F238E27FC236}">
                    <a16:creationId xmlns:a16="http://schemas.microsoft.com/office/drawing/2014/main" id="{393F67F6-4B9B-1D82-375F-56230094C1AC}"/>
                  </a:ext>
                </a:extLst>
              </p:cNvPr>
              <p:cNvSpPr txBox="1">
                <a:spLocks noRot="1" noChangeAspect="1" noMove="1" noResize="1" noEditPoints="1" noAdjustHandles="1" noChangeArrowheads="1" noChangeShapeType="1" noTextEdit="1"/>
              </p:cNvSpPr>
              <p:nvPr/>
            </p:nvSpPr>
            <p:spPr>
              <a:xfrm>
                <a:off x="578743" y="5392396"/>
                <a:ext cx="4321041" cy="307777"/>
              </a:xfrm>
              <a:prstGeom prst="rect">
                <a:avLst/>
              </a:prstGeom>
              <a:blipFill>
                <a:blip r:embed="rId5"/>
                <a:stretch>
                  <a:fillRect t="-4000" b="-24000"/>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6ED46B2B-A179-D69D-B1CB-B45FB3344924}"/>
                  </a:ext>
                </a:extLst>
              </p:cNvPr>
              <p:cNvSpPr txBox="1"/>
              <p:nvPr/>
            </p:nvSpPr>
            <p:spPr>
              <a:xfrm>
                <a:off x="890461" y="4610619"/>
                <a:ext cx="3470177" cy="698140"/>
              </a:xfrm>
              <a:prstGeom prst="rect">
                <a:avLst/>
              </a:prstGeom>
              <a:noFill/>
              <a:ln w="12700">
                <a:noFill/>
              </a:ln>
            </p:spPr>
            <p:txBody>
              <a:bodyPr wrap="square">
                <a:spAutoFit/>
              </a:bodyPr>
              <a:lstStyle/>
              <a:p>
                <a:pPr/>
                <a14:m>
                  <m:oMathPara xmlns:m="http://schemas.openxmlformats.org/officeDocument/2006/math">
                    <m:oMath>
                      <m:r>
                        <a:rPr lang="en-VN" sz="1400" i="0">
                          <a:solidFill>
                            <a:schemeClr val="tx1"/>
                          </a:solidFill>
                          <a:latin typeface="Cambria Math" panose="02040503050406030204" pitchFamily="18" charset="0"/>
                        </a:rPr>
                        <m:t>=</m:t>
                      </m:r>
                      <m:nary>
                        <m:naryPr>
                          <m:chr m:val="∏"/>
                          <m:limLoc m:val="undOvr"/>
                          <m:ctrlPr>
                            <a:rPr lang="en-VN" sz="1400" i="1">
                              <a:latin typeface="Cambria Math" panose="02040503050406030204" pitchFamily="18" charset="0"/>
                            </a:rPr>
                          </m:ctrlPr>
                        </m:naryPr>
                        <m:sub>
                          <m:r>
                            <a:rPr lang="en-VN" sz="1400" i="1">
                              <a:latin typeface="Cambria Math" panose="02040503050406030204" pitchFamily="18" charset="0"/>
                            </a:rPr>
                            <m:t>𝑛</m:t>
                          </m:r>
                          <m:r>
                            <a:rPr lang="en-VN" sz="1400">
                              <a:latin typeface="Cambria Math" panose="02040503050406030204" pitchFamily="18" charset="0"/>
                            </a:rPr>
                            <m:t>=1</m:t>
                          </m:r>
                        </m:sub>
                        <m:sup>
                          <m:r>
                            <a:rPr lang="en-VN" sz="1400" i="1">
                              <a:latin typeface="Cambria Math" panose="02040503050406030204" pitchFamily="18" charset="0"/>
                            </a:rPr>
                            <m:t>𝑁</m:t>
                          </m:r>
                        </m:sup>
                        <m:e>
                          <m:r>
                            <a:rPr lang="en-VN" sz="1400" i="0" smtClean="0">
                              <a:solidFill>
                                <a:schemeClr val="accent6">
                                  <a:lumMod val="75000"/>
                                </a:schemeClr>
                              </a:solidFill>
                              <a:latin typeface="Cambria Math" panose="02040503050406030204" pitchFamily="18" charset="0"/>
                            </a:rPr>
                            <m:t>𝒩</m:t>
                          </m:r>
                        </m:e>
                      </m:nary>
                      <m:d>
                        <m:dPr>
                          <m:ctrlPr>
                            <a:rPr lang="en-VN" sz="1400" i="1">
                              <a:solidFill>
                                <a:schemeClr val="accent6">
                                  <a:lumMod val="75000"/>
                                </a:schemeClr>
                              </a:solidFill>
                              <a:latin typeface="Cambria Math" panose="02040503050406030204" pitchFamily="18" charset="0"/>
                            </a:rPr>
                          </m:ctrlPr>
                        </m:dPr>
                        <m:e>
                          <m:sSub>
                            <m:sSubPr>
                              <m:ctrlPr>
                                <a:rPr lang="en-VN" sz="1400" i="1">
                                  <a:solidFill>
                                    <a:schemeClr val="accent6">
                                      <a:lumMod val="75000"/>
                                    </a:schemeClr>
                                  </a:solidFill>
                                  <a:latin typeface="Cambria Math" panose="02040503050406030204" pitchFamily="18" charset="0"/>
                                </a:rPr>
                              </m:ctrlPr>
                            </m:sSubPr>
                            <m:e>
                              <m:r>
                                <a:rPr lang="en-VN" sz="1400" i="1">
                                  <a:solidFill>
                                    <a:schemeClr val="accent6">
                                      <a:lumMod val="75000"/>
                                    </a:schemeClr>
                                  </a:solidFill>
                                  <a:latin typeface="Cambria Math" panose="02040503050406030204" pitchFamily="18" charset="0"/>
                                </a:rPr>
                                <m:t>𝑥</m:t>
                              </m:r>
                            </m:e>
                            <m:sub>
                              <m:r>
                                <a:rPr lang="en-VN" sz="1400" i="1">
                                  <a:solidFill>
                                    <a:schemeClr val="accent6">
                                      <a:lumMod val="75000"/>
                                    </a:schemeClr>
                                  </a:solidFill>
                                  <a:latin typeface="Cambria Math" panose="02040503050406030204" pitchFamily="18" charset="0"/>
                                </a:rPr>
                                <m:t>𝑛</m:t>
                              </m:r>
                            </m:sub>
                          </m:sSub>
                          <m:r>
                            <a:rPr lang="en-VN" sz="1400" i="0">
                              <a:solidFill>
                                <a:schemeClr val="accent6">
                                  <a:lumMod val="75000"/>
                                </a:schemeClr>
                              </a:solidFill>
                              <a:latin typeface="Cambria Math" panose="02040503050406030204" pitchFamily="18" charset="0"/>
                            </a:rPr>
                            <m:t>∣</m:t>
                          </m:r>
                          <m:r>
                            <a:rPr lang="en-VN" sz="1400" i="1">
                              <a:solidFill>
                                <a:schemeClr val="accent6">
                                  <a:lumMod val="75000"/>
                                </a:schemeClr>
                              </a:solidFill>
                              <a:latin typeface="Cambria Math" panose="02040503050406030204" pitchFamily="18" charset="0"/>
                            </a:rPr>
                            <m:t>𝜇</m:t>
                          </m:r>
                          <m:r>
                            <a:rPr lang="en-VN" sz="1400">
                              <a:solidFill>
                                <a:schemeClr val="accent6">
                                  <a:lumMod val="75000"/>
                                </a:schemeClr>
                              </a:solidFill>
                              <a:latin typeface="Cambria Math" panose="02040503050406030204" pitchFamily="18" charset="0"/>
                            </a:rPr>
                            <m:t>,</m:t>
                          </m:r>
                          <m:sSup>
                            <m:sSupPr>
                              <m:ctrlPr>
                                <a:rPr lang="en-VN" sz="1400" i="1">
                                  <a:solidFill>
                                    <a:schemeClr val="accent6">
                                      <a:lumMod val="75000"/>
                                    </a:schemeClr>
                                  </a:solidFill>
                                  <a:latin typeface="Cambria Math" panose="02040503050406030204" pitchFamily="18" charset="0"/>
                                </a:rPr>
                              </m:ctrlPr>
                            </m:sSupPr>
                            <m:e>
                              <m:r>
                                <a:rPr lang="en-VN" sz="1400" i="1">
                                  <a:solidFill>
                                    <a:schemeClr val="accent6">
                                      <a:lumMod val="75000"/>
                                    </a:schemeClr>
                                  </a:solidFill>
                                  <a:latin typeface="Cambria Math" panose="02040503050406030204" pitchFamily="18" charset="0"/>
                                </a:rPr>
                                <m:t>𝜎</m:t>
                              </m:r>
                            </m:e>
                            <m:sup>
                              <m:r>
                                <a:rPr lang="en-VN" sz="1400">
                                  <a:solidFill>
                                    <a:schemeClr val="accent6">
                                      <a:lumMod val="75000"/>
                                    </a:schemeClr>
                                  </a:solidFill>
                                  <a:latin typeface="Cambria Math" panose="02040503050406030204" pitchFamily="18" charset="0"/>
                                </a:rPr>
                                <m:t>2</m:t>
                              </m:r>
                            </m:sup>
                          </m:sSup>
                        </m:e>
                      </m:d>
                    </m:oMath>
                  </m:oMathPara>
                </a14:m>
                <a:endParaRPr lang="en-VN" sz="1400" dirty="0"/>
              </a:p>
            </p:txBody>
          </p:sp>
        </mc:Choice>
        <mc:Fallback xmlns="">
          <p:sp>
            <p:nvSpPr>
              <p:cNvPr id="47" name="TextBox 46">
                <a:extLst>
                  <a:ext uri="{FF2B5EF4-FFF2-40B4-BE49-F238E27FC236}">
                    <a16:creationId xmlns:a16="http://schemas.microsoft.com/office/drawing/2014/main" id="{6ED46B2B-A179-D69D-B1CB-B45FB3344924}"/>
                  </a:ext>
                </a:extLst>
              </p:cNvPr>
              <p:cNvSpPr txBox="1">
                <a:spLocks noRot="1" noChangeAspect="1" noMove="1" noResize="1" noEditPoints="1" noAdjustHandles="1" noChangeArrowheads="1" noChangeShapeType="1" noTextEdit="1"/>
              </p:cNvSpPr>
              <p:nvPr/>
            </p:nvSpPr>
            <p:spPr>
              <a:xfrm>
                <a:off x="890461" y="4610619"/>
                <a:ext cx="3470177" cy="698140"/>
              </a:xfrm>
              <a:prstGeom prst="rect">
                <a:avLst/>
              </a:prstGeom>
              <a:blipFill>
                <a:blip r:embed="rId6"/>
                <a:stretch>
                  <a:fillRect t="-89474" b="-145614"/>
                </a:stretch>
              </a:blipFill>
              <a:ln w="12700">
                <a:noFill/>
              </a:ln>
            </p:spPr>
            <p:txBody>
              <a:bodyPr/>
              <a:lstStyle/>
              <a:p>
                <a:r>
                  <a:rPr lang="en-VN">
                    <a:noFill/>
                  </a:rPr>
                  <a:t> </a:t>
                </a:r>
              </a:p>
            </p:txBody>
          </p:sp>
        </mc:Fallback>
      </mc:AlternateContent>
    </p:spTree>
    <p:extLst>
      <p:ext uri="{BB962C8B-B14F-4D97-AF65-F5344CB8AC3E}">
        <p14:creationId xmlns:p14="http://schemas.microsoft.com/office/powerpoint/2010/main" val="34720162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C17AB-29DB-5529-5C62-38990D318C7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4390C18-0DE5-A4A2-CE8B-8D3D9AE83308}"/>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59888731-74B7-FE4A-034D-0DD33E2C58D7}"/>
                  </a:ext>
                </a:extLst>
              </p:cNvPr>
              <p:cNvSpPr txBox="1"/>
              <p:nvPr/>
            </p:nvSpPr>
            <p:spPr>
              <a:xfrm>
                <a:off x="578743" y="2914317"/>
                <a:ext cx="4712346" cy="1538883"/>
              </a:xfrm>
              <a:prstGeom prst="rect">
                <a:avLst/>
              </a:prstGeom>
              <a:noFill/>
            </p:spPr>
            <p:txBody>
              <a:bodyPr wrap="square">
                <a:spAutoFit/>
              </a:bodyPr>
              <a:lstStyle/>
              <a:p>
                <a:pPr>
                  <a:spcAft>
                    <a:spcPts val="600"/>
                  </a:spcAft>
                </a:pPr>
                <a:r>
                  <a:rPr lang="vi-VN" sz="1400" b="1" dirty="0">
                    <a:solidFill>
                      <a:srgbClr val="1B8A7A"/>
                    </a:solidFill>
                    <a:latin typeface="Arial"/>
                  </a:rPr>
                  <a:t>Mục tiêu:</a:t>
                </a:r>
                <a:br>
                  <a:rPr lang="vi-VN" sz="1400" dirty="0">
                    <a:solidFill>
                      <a:srgbClr val="444B52"/>
                    </a:solidFill>
                    <a:latin typeface="Arial"/>
                  </a:rPr>
                </a:br>
                <a:r>
                  <a:rPr lang="vi-VN" sz="1400" dirty="0">
                    <a:solidFill>
                      <a:srgbClr val="444B52"/>
                    </a:solidFill>
                    <a:latin typeface="Arial"/>
                  </a:rPr>
                  <a:t>Nếu muốn vẽ </a:t>
                </a:r>
                <a:r>
                  <a:rPr lang="vi-VN" sz="1400" b="1" dirty="0">
                    <a:solidFill>
                      <a:srgbClr val="FF0000"/>
                    </a:solidFill>
                    <a:highlight>
                      <a:srgbClr val="FFFF00"/>
                    </a:highlight>
                    <a:latin typeface="Arial"/>
                  </a:rPr>
                  <a:t>một</a:t>
                </a:r>
                <a:r>
                  <a:rPr lang="vi-VN" sz="1400" dirty="0">
                    <a:solidFill>
                      <a:srgbClr val="444B52"/>
                    </a:solidFill>
                    <a:latin typeface="Arial"/>
                  </a:rPr>
                  <a:t> phân phối chuẩn khớp với tập </a:t>
                </a:r>
                <a14:m>
                  <m:oMath xmlns:m="http://schemas.openxmlformats.org/officeDocument/2006/math">
                    <m:r>
                      <a:rPr lang="en-VN" sz="1400" i="1">
                        <a:latin typeface="Cambria Math" panose="02040503050406030204" pitchFamily="18" charset="0"/>
                      </a:rPr>
                      <m:t>𝑥</m:t>
                    </m:r>
                  </m:oMath>
                </a14:m>
                <a:br>
                  <a:rPr lang="vi-VN" sz="1400" dirty="0">
                    <a:latin typeface="Arial"/>
                  </a:rPr>
                </a:br>
                <a:r>
                  <a:rPr lang="vi-VN" sz="1400" b="1" dirty="0">
                    <a:solidFill>
                      <a:srgbClr val="444B52"/>
                    </a:solidFill>
                    <a:latin typeface="Arial"/>
                    <a:sym typeface="Wingdings" pitchFamily="2" charset="2"/>
                  </a:rPr>
                  <a:t>Thì tìm </a:t>
                </a:r>
                <a:r>
                  <a:rPr lang="vi-VN" sz="1400" b="1" dirty="0">
                    <a:solidFill>
                      <a:srgbClr val="444B52"/>
                    </a:solidFill>
                    <a:highlight>
                      <a:srgbClr val="FFFF00"/>
                    </a:highlight>
                    <a:latin typeface="Arial"/>
                    <a:sym typeface="Wingdings" pitchFamily="2" charset="2"/>
                  </a:rPr>
                  <a:t>(</a:t>
                </a:r>
                <a14:m>
                  <m:oMath xmlns:m="http://schemas.openxmlformats.org/officeDocument/2006/math">
                    <m:r>
                      <a:rPr lang="en-VN" sz="1400" b="1" i="1">
                        <a:solidFill>
                          <a:schemeClr val="tx2">
                            <a:lumMod val="60000"/>
                            <a:lumOff val="40000"/>
                          </a:schemeClr>
                        </a:solidFill>
                        <a:highlight>
                          <a:srgbClr val="FFFF00"/>
                        </a:highlight>
                        <a:latin typeface="Cambria Math" panose="02040503050406030204" pitchFamily="18" charset="0"/>
                      </a:rPr>
                      <m:t>𝝁</m:t>
                    </m:r>
                  </m:oMath>
                </a14:m>
                <a:r>
                  <a:rPr lang="vi-VN" sz="1400" b="1" dirty="0">
                    <a:solidFill>
                      <a:srgbClr val="444B52"/>
                    </a:solidFill>
                    <a:highlight>
                      <a:srgbClr val="FFFF00"/>
                    </a:highlight>
                    <a:latin typeface="Arial"/>
                    <a:sym typeface="Wingdings" pitchFamily="2" charset="2"/>
                  </a:rPr>
                  <a:t> và </a:t>
                </a:r>
                <a14:m>
                  <m:oMath xmlns:m="http://schemas.openxmlformats.org/officeDocument/2006/math">
                    <m:r>
                      <a:rPr lang="en-US" sz="1400" b="1" i="1" dirty="0">
                        <a:solidFill>
                          <a:srgbClr val="00B050"/>
                        </a:solidFill>
                        <a:highlight>
                          <a:srgbClr val="FFFF00"/>
                        </a:highlight>
                        <a:latin typeface="Cambria Math" panose="02040503050406030204" pitchFamily="18" charset="0"/>
                      </a:rPr>
                      <m:t>𝝈</m:t>
                    </m:r>
                  </m:oMath>
                </a14:m>
                <a:r>
                  <a:rPr lang="vi-VN" sz="1400" b="1" dirty="0">
                    <a:solidFill>
                      <a:srgbClr val="444B52"/>
                    </a:solidFill>
                    <a:highlight>
                      <a:srgbClr val="FFFF00"/>
                    </a:highlight>
                    <a:latin typeface="Arial"/>
                    <a:sym typeface="Wingdings" pitchFamily="2" charset="2"/>
                  </a:rPr>
                  <a:t>)</a:t>
                </a:r>
                <a:r>
                  <a:rPr lang="vi-VN" sz="1400" b="1" dirty="0">
                    <a:solidFill>
                      <a:srgbClr val="444B52"/>
                    </a:solidFill>
                    <a:latin typeface="Arial"/>
                    <a:sym typeface="Wingdings" pitchFamily="2" charset="2"/>
                  </a:rPr>
                  <a:t> để </a:t>
                </a:r>
                <a:r>
                  <a:rPr lang="vi-VN" sz="1400" b="1" u="sng" dirty="0">
                    <a:latin typeface="Arial"/>
                    <a:sym typeface="Wingdings" pitchFamily="2" charset="2"/>
                  </a:rPr>
                  <a:t>hàm hợp lý</a:t>
                </a:r>
                <a:r>
                  <a:rPr lang="vi-VN" sz="1400" b="1" dirty="0">
                    <a:latin typeface="Arial"/>
                    <a:sym typeface="Wingdings" pitchFamily="2" charset="2"/>
                  </a:rPr>
                  <a:t> đạt cực đại</a:t>
                </a:r>
                <a:br>
                  <a:rPr lang="vi-VN" sz="1400" b="1" dirty="0">
                    <a:solidFill>
                      <a:srgbClr val="1B8A7A"/>
                    </a:solidFill>
                    <a:latin typeface="Arial"/>
                  </a:rPr>
                </a:br>
                <a:endParaRPr lang="vi-VN" sz="1400" b="1" dirty="0">
                  <a:solidFill>
                    <a:srgbClr val="1B8A7A"/>
                  </a:solidFill>
                  <a:latin typeface="Arial"/>
                </a:endParaRPr>
              </a:p>
              <a:p>
                <a:pPr>
                  <a:spcAft>
                    <a:spcPts val="600"/>
                  </a:spcAft>
                </a:pPr>
                <a:endParaRPr lang="vi-VN" sz="1400" dirty="0">
                  <a:solidFill>
                    <a:srgbClr val="444B52"/>
                  </a:solidFill>
                  <a:latin typeface="Arial"/>
                </a:endParaRPr>
              </a:p>
              <a:p>
                <a:pPr>
                  <a:spcAft>
                    <a:spcPts val="600"/>
                  </a:spcAft>
                </a:pPr>
                <a:endParaRPr lang="vi-VN" sz="1400" dirty="0">
                  <a:solidFill>
                    <a:srgbClr val="444B52"/>
                  </a:solidFill>
                  <a:latin typeface="Arial"/>
                </a:endParaRPr>
              </a:p>
            </p:txBody>
          </p:sp>
        </mc:Choice>
        <mc:Fallback xmlns="">
          <p:sp>
            <p:nvSpPr>
              <p:cNvPr id="11" name="TextBox 10">
                <a:extLst>
                  <a:ext uri="{FF2B5EF4-FFF2-40B4-BE49-F238E27FC236}">
                    <a16:creationId xmlns:a16="http://schemas.microsoft.com/office/drawing/2014/main" id="{59888731-74B7-FE4A-034D-0DD33E2C58D7}"/>
                  </a:ext>
                </a:extLst>
              </p:cNvPr>
              <p:cNvSpPr txBox="1">
                <a:spLocks noRot="1" noChangeAspect="1" noMove="1" noResize="1" noEditPoints="1" noAdjustHandles="1" noChangeArrowheads="1" noChangeShapeType="1" noTextEdit="1"/>
              </p:cNvSpPr>
              <p:nvPr/>
            </p:nvSpPr>
            <p:spPr>
              <a:xfrm>
                <a:off x="578743" y="2914317"/>
                <a:ext cx="4712346" cy="1538883"/>
              </a:xfrm>
              <a:prstGeom prst="rect">
                <a:avLst/>
              </a:prstGeom>
              <a:blipFill>
                <a:blip r:embed="rId3"/>
                <a:stretch>
                  <a:fillRect l="-269" t="-820"/>
                </a:stretch>
              </a:blipFill>
            </p:spPr>
            <p:txBody>
              <a:bodyPr/>
              <a:lstStyle/>
              <a:p>
                <a:r>
                  <a:rPr lang="en-VN">
                    <a:noFill/>
                  </a:rPr>
                  <a:t> </a:t>
                </a:r>
              </a:p>
            </p:txBody>
          </p:sp>
        </mc:Fallback>
      </mc:AlternateContent>
      <p:cxnSp>
        <p:nvCxnSpPr>
          <p:cNvPr id="17" name="Straight Connector 16">
            <a:extLst>
              <a:ext uri="{FF2B5EF4-FFF2-40B4-BE49-F238E27FC236}">
                <a16:creationId xmlns:a16="http://schemas.microsoft.com/office/drawing/2014/main" id="{A99B1E57-7511-91C9-E342-CCC4D7C531E0}"/>
              </a:ext>
            </a:extLst>
          </p:cNvPr>
          <p:cNvCxnSpPr>
            <a:cxnSpLocks/>
          </p:cNvCxnSpPr>
          <p:nvPr/>
        </p:nvCxnSpPr>
        <p:spPr>
          <a:xfrm>
            <a:off x="6061434" y="2632105"/>
            <a:ext cx="0" cy="4043903"/>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4CC98057-D007-683C-9D2C-9E591F7B831F}"/>
                  </a:ext>
                </a:extLst>
              </p:cNvPr>
              <p:cNvSpPr txBox="1"/>
              <p:nvPr/>
            </p:nvSpPr>
            <p:spPr>
              <a:xfrm>
                <a:off x="6559922" y="2914317"/>
                <a:ext cx="5272661" cy="1538883"/>
              </a:xfrm>
              <a:prstGeom prst="rect">
                <a:avLst/>
              </a:prstGeom>
              <a:noFill/>
            </p:spPr>
            <p:txBody>
              <a:bodyPr wrap="square">
                <a:spAutoFit/>
              </a:bodyPr>
              <a:lstStyle/>
              <a:p>
                <a:pPr>
                  <a:spcAft>
                    <a:spcPts val="600"/>
                  </a:spcAft>
                </a:pPr>
                <a:r>
                  <a:rPr lang="vi-VN" sz="1400" b="1" dirty="0">
                    <a:solidFill>
                      <a:srgbClr val="1B8A7A"/>
                    </a:solidFill>
                    <a:latin typeface="Arial"/>
                  </a:rPr>
                  <a:t>Mục tiêu:</a:t>
                </a:r>
                <a:br>
                  <a:rPr lang="vi-VN" sz="1400" dirty="0">
                    <a:solidFill>
                      <a:srgbClr val="444B52"/>
                    </a:solidFill>
                    <a:latin typeface="Arial"/>
                  </a:rPr>
                </a:br>
                <a:r>
                  <a:rPr lang="vi-VN" sz="1400" dirty="0">
                    <a:solidFill>
                      <a:srgbClr val="444B52"/>
                    </a:solidFill>
                    <a:latin typeface="Arial"/>
                  </a:rPr>
                  <a:t>Nếu muốn vẽ </a:t>
                </a:r>
                <a:r>
                  <a:rPr lang="vi-VN" sz="1400" b="1" dirty="0">
                    <a:solidFill>
                      <a:srgbClr val="FF0000"/>
                    </a:solidFill>
                    <a:highlight>
                      <a:srgbClr val="FFFF00"/>
                    </a:highlight>
                    <a:latin typeface="Arial"/>
                  </a:rPr>
                  <a:t>hỗn hợp gồm </a:t>
                </a:r>
                <a14:m>
                  <m:oMath xmlns:m="http://schemas.openxmlformats.org/officeDocument/2006/math">
                    <m:r>
                      <a:rPr lang="en-VN" sz="1400" b="1" i="1" smtClean="0">
                        <a:solidFill>
                          <a:srgbClr val="FF0000"/>
                        </a:solidFill>
                        <a:highlight>
                          <a:srgbClr val="FFFF00"/>
                        </a:highlight>
                        <a:latin typeface="Cambria Math" panose="02040503050406030204" pitchFamily="18" charset="0"/>
                      </a:rPr>
                      <m:t>𝑲</m:t>
                    </m:r>
                  </m:oMath>
                </a14:m>
                <a:r>
                  <a:rPr lang="vi-VN" sz="1400" dirty="0">
                    <a:solidFill>
                      <a:srgbClr val="444B52"/>
                    </a:solidFill>
                    <a:latin typeface="Arial"/>
                  </a:rPr>
                  <a:t> phân phối chuẩn khớp với tập </a:t>
                </a:r>
                <a14:m>
                  <m:oMath xmlns:m="http://schemas.openxmlformats.org/officeDocument/2006/math">
                    <m:r>
                      <a:rPr lang="en-VN" sz="1400" i="1">
                        <a:latin typeface="Cambria Math" panose="02040503050406030204" pitchFamily="18" charset="0"/>
                      </a:rPr>
                      <m:t>𝑥</m:t>
                    </m:r>
                  </m:oMath>
                </a14:m>
                <a:br>
                  <a:rPr lang="vi-VN" sz="1400" dirty="0">
                    <a:latin typeface="Arial"/>
                  </a:rPr>
                </a:br>
                <a:r>
                  <a:rPr lang="vi-VN" sz="1400" b="1" dirty="0">
                    <a:solidFill>
                      <a:srgbClr val="444B52"/>
                    </a:solidFill>
                    <a:latin typeface="Arial"/>
                    <a:sym typeface="Wingdings" pitchFamily="2" charset="2"/>
                  </a:rPr>
                  <a:t>Thì tìm </a:t>
                </a:r>
                <a:r>
                  <a:rPr lang="vi-VN" sz="1400" b="1" dirty="0">
                    <a:solidFill>
                      <a:srgbClr val="444B52"/>
                    </a:solidFill>
                    <a:highlight>
                      <a:srgbClr val="FFFF00"/>
                    </a:highlight>
                    <a:latin typeface="Arial"/>
                    <a:sym typeface="Wingdings" pitchFamily="2" charset="2"/>
                  </a:rPr>
                  <a:t>các (</a:t>
                </a:r>
                <a14:m>
                  <m:oMath xmlns:m="http://schemas.openxmlformats.org/officeDocument/2006/math">
                    <m:sSub>
                      <m:sSubPr>
                        <m:ctrlPr>
                          <a:rPr lang="en-US" sz="1400" i="1">
                            <a:solidFill>
                              <a:schemeClr val="accent6">
                                <a:lumMod val="75000"/>
                              </a:schemeClr>
                            </a:solidFill>
                            <a:highlight>
                              <a:srgbClr val="FFFF00"/>
                            </a:highlight>
                            <a:latin typeface="Cambria Math" panose="02040503050406030204" pitchFamily="18" charset="0"/>
                          </a:rPr>
                        </m:ctrlPr>
                      </m:sSubPr>
                      <m:e>
                        <m:r>
                          <a:rPr lang="en-US" sz="1400" i="1">
                            <a:solidFill>
                              <a:schemeClr val="accent6">
                                <a:lumMod val="75000"/>
                              </a:schemeClr>
                            </a:solidFill>
                            <a:highlight>
                              <a:srgbClr val="FFFF00"/>
                            </a:highlight>
                            <a:latin typeface="Cambria Math" panose="02040503050406030204" pitchFamily="18" charset="0"/>
                          </a:rPr>
                          <m:t>𝜋</m:t>
                        </m:r>
                      </m:e>
                      <m:sub>
                        <m:r>
                          <a:rPr lang="en-US" sz="1400" i="1">
                            <a:solidFill>
                              <a:schemeClr val="accent6">
                                <a:lumMod val="75000"/>
                              </a:schemeClr>
                            </a:solidFill>
                            <a:highlight>
                              <a:srgbClr val="FFFF00"/>
                            </a:highlight>
                            <a:latin typeface="Cambria Math" panose="02040503050406030204" pitchFamily="18" charset="0"/>
                          </a:rPr>
                          <m:t>𝑘</m:t>
                        </m:r>
                      </m:sub>
                    </m:sSub>
                  </m:oMath>
                </a14:m>
                <a:r>
                  <a:rPr lang="vi-VN" sz="1400" b="1" dirty="0">
                    <a:solidFill>
                      <a:srgbClr val="444B52"/>
                    </a:solidFill>
                    <a:highlight>
                      <a:srgbClr val="FFFF00"/>
                    </a:highlight>
                    <a:latin typeface="Arial"/>
                    <a:sym typeface="Wingdings" pitchFamily="2" charset="2"/>
                  </a:rPr>
                  <a:t> và </a:t>
                </a:r>
                <a14:m>
                  <m:oMath xmlns:m="http://schemas.openxmlformats.org/officeDocument/2006/math">
                    <m:sSub>
                      <m:sSubPr>
                        <m:ctrlPr>
                          <a:rPr lang="en-US" sz="1400" b="1" i="1">
                            <a:solidFill>
                              <a:schemeClr val="tx2">
                                <a:lumMod val="60000"/>
                                <a:lumOff val="40000"/>
                              </a:schemeClr>
                            </a:solidFill>
                            <a:highlight>
                              <a:srgbClr val="FFFF00"/>
                            </a:highlight>
                            <a:latin typeface="Cambria Math" panose="02040503050406030204" pitchFamily="18" charset="0"/>
                          </a:rPr>
                        </m:ctrlPr>
                      </m:sSubPr>
                      <m:e>
                        <m:r>
                          <a:rPr lang="en-US" sz="1400" b="1" i="1">
                            <a:solidFill>
                              <a:schemeClr val="tx2">
                                <a:lumMod val="60000"/>
                                <a:lumOff val="40000"/>
                              </a:schemeClr>
                            </a:solidFill>
                            <a:highlight>
                              <a:srgbClr val="FFFF00"/>
                            </a:highlight>
                            <a:latin typeface="Cambria Math" panose="02040503050406030204" pitchFamily="18" charset="0"/>
                          </a:rPr>
                          <m:t>𝝁</m:t>
                        </m:r>
                      </m:e>
                      <m:sub>
                        <m:r>
                          <a:rPr lang="en-US" sz="1400" b="1" i="1">
                            <a:solidFill>
                              <a:schemeClr val="tx2">
                                <a:lumMod val="60000"/>
                                <a:lumOff val="40000"/>
                              </a:schemeClr>
                            </a:solidFill>
                            <a:highlight>
                              <a:srgbClr val="FFFF00"/>
                            </a:highlight>
                            <a:latin typeface="Cambria Math" panose="02040503050406030204" pitchFamily="18" charset="0"/>
                          </a:rPr>
                          <m:t>𝒌</m:t>
                        </m:r>
                      </m:sub>
                    </m:sSub>
                  </m:oMath>
                </a14:m>
                <a:r>
                  <a:rPr lang="vi-VN" sz="1400" b="1" dirty="0">
                    <a:solidFill>
                      <a:srgbClr val="444B52"/>
                    </a:solidFill>
                    <a:highlight>
                      <a:srgbClr val="FFFF00"/>
                    </a:highlight>
                    <a:latin typeface="Arial"/>
                    <a:sym typeface="Wingdings" pitchFamily="2" charset="2"/>
                  </a:rPr>
                  <a:t> và </a:t>
                </a:r>
                <a14:m>
                  <m:oMath xmlns:m="http://schemas.openxmlformats.org/officeDocument/2006/math">
                    <m:sSub>
                      <m:sSubPr>
                        <m:ctrlPr>
                          <a:rPr lang="en-US" sz="1400" b="1" i="1" dirty="0">
                            <a:solidFill>
                              <a:srgbClr val="00B050"/>
                            </a:solidFill>
                            <a:highlight>
                              <a:srgbClr val="FFFF00"/>
                            </a:highlight>
                            <a:latin typeface="Cambria Math" panose="02040503050406030204" pitchFamily="18" charset="0"/>
                          </a:rPr>
                        </m:ctrlPr>
                      </m:sSubPr>
                      <m:e>
                        <m:r>
                          <a:rPr lang="en-US" sz="1400" b="1" i="1" dirty="0">
                            <a:solidFill>
                              <a:srgbClr val="00B050"/>
                            </a:solidFill>
                            <a:highlight>
                              <a:srgbClr val="FFFF00"/>
                            </a:highlight>
                            <a:latin typeface="Cambria Math" panose="02040503050406030204" pitchFamily="18" charset="0"/>
                          </a:rPr>
                          <m:t>𝝈</m:t>
                        </m:r>
                      </m:e>
                      <m:sub>
                        <m:r>
                          <a:rPr lang="en-US" sz="1400" b="1" i="1" smtClean="0">
                            <a:solidFill>
                              <a:srgbClr val="00B050"/>
                            </a:solidFill>
                            <a:highlight>
                              <a:srgbClr val="FFFF00"/>
                            </a:highlight>
                            <a:latin typeface="Cambria Math" panose="02040503050406030204" pitchFamily="18" charset="0"/>
                          </a:rPr>
                          <m:t>𝒌</m:t>
                        </m:r>
                      </m:sub>
                    </m:sSub>
                  </m:oMath>
                </a14:m>
                <a:r>
                  <a:rPr lang="vi-VN" sz="1400" b="1" dirty="0">
                    <a:solidFill>
                      <a:srgbClr val="444B52"/>
                    </a:solidFill>
                    <a:highlight>
                      <a:srgbClr val="FFFF00"/>
                    </a:highlight>
                    <a:latin typeface="Arial"/>
                    <a:sym typeface="Wingdings" pitchFamily="2" charset="2"/>
                  </a:rPr>
                  <a:t>)</a:t>
                </a:r>
                <a:r>
                  <a:rPr lang="vi-VN" sz="1400" b="1" dirty="0">
                    <a:solidFill>
                      <a:srgbClr val="444B52"/>
                    </a:solidFill>
                    <a:latin typeface="Arial"/>
                    <a:sym typeface="Wingdings" pitchFamily="2" charset="2"/>
                  </a:rPr>
                  <a:t> để </a:t>
                </a:r>
                <a:r>
                  <a:rPr lang="vi-VN" sz="1400" b="1" u="sng" dirty="0">
                    <a:latin typeface="Arial"/>
                    <a:sym typeface="Wingdings" pitchFamily="2" charset="2"/>
                  </a:rPr>
                  <a:t>hàm hợp lý</a:t>
                </a:r>
                <a:r>
                  <a:rPr lang="vi-VN" sz="1400" b="1" dirty="0">
                    <a:latin typeface="Arial"/>
                    <a:sym typeface="Wingdings" pitchFamily="2" charset="2"/>
                  </a:rPr>
                  <a:t> đạt cực đại</a:t>
                </a:r>
                <a:br>
                  <a:rPr lang="vi-VN" sz="1400" b="1" dirty="0">
                    <a:solidFill>
                      <a:srgbClr val="1B8A7A"/>
                    </a:solidFill>
                    <a:latin typeface="Arial"/>
                  </a:rPr>
                </a:br>
                <a:endParaRPr lang="vi-VN" sz="1400" b="1" dirty="0">
                  <a:solidFill>
                    <a:srgbClr val="1B8A7A"/>
                  </a:solidFill>
                  <a:latin typeface="Arial"/>
                </a:endParaRPr>
              </a:p>
              <a:p>
                <a:pPr>
                  <a:spcAft>
                    <a:spcPts val="600"/>
                  </a:spcAft>
                </a:pPr>
                <a:endParaRPr lang="vi-VN" sz="1400" dirty="0">
                  <a:solidFill>
                    <a:srgbClr val="444B52"/>
                  </a:solidFill>
                  <a:latin typeface="Arial"/>
                </a:endParaRPr>
              </a:p>
              <a:p>
                <a:pPr>
                  <a:spcAft>
                    <a:spcPts val="600"/>
                  </a:spcAft>
                </a:pPr>
                <a:endParaRPr lang="vi-VN" sz="1400" dirty="0">
                  <a:solidFill>
                    <a:srgbClr val="444B52"/>
                  </a:solidFill>
                  <a:latin typeface="Arial"/>
                </a:endParaRPr>
              </a:p>
            </p:txBody>
          </p:sp>
        </mc:Choice>
        <mc:Fallback xmlns="">
          <p:sp>
            <p:nvSpPr>
              <p:cNvPr id="18" name="TextBox 17">
                <a:extLst>
                  <a:ext uri="{FF2B5EF4-FFF2-40B4-BE49-F238E27FC236}">
                    <a16:creationId xmlns:a16="http://schemas.microsoft.com/office/drawing/2014/main" id="{4CC98057-D007-683C-9D2C-9E591F7B831F}"/>
                  </a:ext>
                </a:extLst>
              </p:cNvPr>
              <p:cNvSpPr txBox="1">
                <a:spLocks noRot="1" noChangeAspect="1" noMove="1" noResize="1" noEditPoints="1" noAdjustHandles="1" noChangeArrowheads="1" noChangeShapeType="1" noTextEdit="1"/>
              </p:cNvSpPr>
              <p:nvPr/>
            </p:nvSpPr>
            <p:spPr>
              <a:xfrm>
                <a:off x="6559922" y="2914317"/>
                <a:ext cx="5272661" cy="1538883"/>
              </a:xfrm>
              <a:prstGeom prst="rect">
                <a:avLst/>
              </a:prstGeom>
              <a:blipFill>
                <a:blip r:embed="rId4"/>
                <a:stretch>
                  <a:fillRect l="-240" t="-820"/>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9CD2E531-44C8-9066-1C2E-E6C91F42443B}"/>
                  </a:ext>
                </a:extLst>
              </p:cNvPr>
              <p:cNvSpPr txBox="1"/>
              <p:nvPr/>
            </p:nvSpPr>
            <p:spPr>
              <a:xfrm>
                <a:off x="423469" y="3807772"/>
                <a:ext cx="3470177" cy="698140"/>
              </a:xfrm>
              <a:prstGeom prst="rect">
                <a:avLst/>
              </a:prstGeom>
              <a:noFill/>
              <a:ln w="12700">
                <a:noFill/>
              </a:ln>
            </p:spPr>
            <p:txBody>
              <a:bodyPr wrap="square">
                <a:spAutoFit/>
              </a:bodyPr>
              <a:lstStyle/>
              <a:p>
                <a:pPr/>
                <a14:m>
                  <m:oMathPara xmlns:m="http://schemas.openxmlformats.org/officeDocument/2006/math">
                    <m:oMath>
                      <m:r>
                        <a:rPr lang="en-VN" sz="1400" i="1" smtClean="0">
                          <a:solidFill>
                            <a:schemeClr val="tx1"/>
                          </a:solidFill>
                          <a:latin typeface="Cambria Math" panose="02040503050406030204" pitchFamily="18" charset="0"/>
                        </a:rPr>
                        <m:t>𝐿</m:t>
                      </m:r>
                      <m:d>
                        <m:dPr>
                          <m:ctrlPr>
                            <a:rPr lang="en-US" sz="1400" i="1">
                              <a:latin typeface="Cambria Math" panose="02040503050406030204" pitchFamily="18" charset="0"/>
                            </a:rPr>
                          </m:ctrlPr>
                        </m:dPr>
                        <m:e>
                          <m:r>
                            <a:rPr lang="en-US" sz="1400" i="1">
                              <a:latin typeface="Cambria Math" panose="02040503050406030204" pitchFamily="18" charset="0"/>
                            </a:rPr>
                            <m:t>𝜃</m:t>
                          </m:r>
                          <m:r>
                            <a:rPr lang="en-VN" sz="1400" i="0">
                              <a:solidFill>
                                <a:schemeClr val="tx1"/>
                              </a:solidFill>
                              <a:latin typeface="Cambria Math" panose="02040503050406030204" pitchFamily="18" charset="0"/>
                            </a:rPr>
                            <m:t>∣</m:t>
                          </m:r>
                          <m:r>
                            <a:rPr lang="en-VN" sz="1400" i="1">
                              <a:latin typeface="Cambria Math" panose="02040503050406030204" pitchFamily="18" charset="0"/>
                            </a:rPr>
                            <m:t>𝑥</m:t>
                          </m:r>
                        </m:e>
                      </m:d>
                      <m:r>
                        <a:rPr lang="en-VN" sz="1400" i="0">
                          <a:solidFill>
                            <a:schemeClr val="tx1"/>
                          </a:solidFill>
                          <a:latin typeface="Cambria Math" panose="02040503050406030204" pitchFamily="18" charset="0"/>
                        </a:rPr>
                        <m:t>=</m:t>
                      </m:r>
                      <m:nary>
                        <m:naryPr>
                          <m:chr m:val="∏"/>
                          <m:limLoc m:val="undOvr"/>
                          <m:ctrlPr>
                            <a:rPr lang="en-VN" sz="1400" i="1">
                              <a:latin typeface="Cambria Math" panose="02040503050406030204" pitchFamily="18" charset="0"/>
                            </a:rPr>
                          </m:ctrlPr>
                        </m:naryPr>
                        <m:sub>
                          <m:r>
                            <a:rPr lang="en-VN" sz="1400" i="1">
                              <a:latin typeface="Cambria Math" panose="02040503050406030204" pitchFamily="18" charset="0"/>
                            </a:rPr>
                            <m:t>𝑛</m:t>
                          </m:r>
                          <m:r>
                            <a:rPr lang="en-VN" sz="1400">
                              <a:latin typeface="Cambria Math" panose="02040503050406030204" pitchFamily="18" charset="0"/>
                            </a:rPr>
                            <m:t>=1</m:t>
                          </m:r>
                        </m:sub>
                        <m:sup>
                          <m:r>
                            <a:rPr lang="en-VN" sz="1400" i="1">
                              <a:latin typeface="Cambria Math" panose="02040503050406030204" pitchFamily="18" charset="0"/>
                            </a:rPr>
                            <m:t>𝑁</m:t>
                          </m:r>
                        </m:sup>
                        <m:e>
                          <m:r>
                            <a:rPr lang="en-VN" sz="1400" i="0" smtClean="0">
                              <a:solidFill>
                                <a:schemeClr val="accent6">
                                  <a:lumMod val="75000"/>
                                </a:schemeClr>
                              </a:solidFill>
                              <a:latin typeface="Cambria Math" panose="02040503050406030204" pitchFamily="18" charset="0"/>
                            </a:rPr>
                            <m:t>𝒩</m:t>
                          </m:r>
                        </m:e>
                      </m:nary>
                      <m:d>
                        <m:dPr>
                          <m:ctrlPr>
                            <a:rPr lang="en-VN" sz="1400" i="1">
                              <a:solidFill>
                                <a:schemeClr val="accent6">
                                  <a:lumMod val="75000"/>
                                </a:schemeClr>
                              </a:solidFill>
                              <a:latin typeface="Cambria Math" panose="02040503050406030204" pitchFamily="18" charset="0"/>
                            </a:rPr>
                          </m:ctrlPr>
                        </m:dPr>
                        <m:e>
                          <m:sSub>
                            <m:sSubPr>
                              <m:ctrlPr>
                                <a:rPr lang="en-VN" sz="1400" i="1">
                                  <a:solidFill>
                                    <a:schemeClr val="accent6">
                                      <a:lumMod val="75000"/>
                                    </a:schemeClr>
                                  </a:solidFill>
                                  <a:latin typeface="Cambria Math" panose="02040503050406030204" pitchFamily="18" charset="0"/>
                                </a:rPr>
                              </m:ctrlPr>
                            </m:sSubPr>
                            <m:e>
                              <m:r>
                                <a:rPr lang="en-VN" sz="1400" i="1">
                                  <a:solidFill>
                                    <a:schemeClr val="accent6">
                                      <a:lumMod val="75000"/>
                                    </a:schemeClr>
                                  </a:solidFill>
                                  <a:latin typeface="Cambria Math" panose="02040503050406030204" pitchFamily="18" charset="0"/>
                                </a:rPr>
                                <m:t>𝑥</m:t>
                              </m:r>
                            </m:e>
                            <m:sub>
                              <m:r>
                                <a:rPr lang="en-VN" sz="1400" i="1">
                                  <a:solidFill>
                                    <a:schemeClr val="accent6">
                                      <a:lumMod val="75000"/>
                                    </a:schemeClr>
                                  </a:solidFill>
                                  <a:latin typeface="Cambria Math" panose="02040503050406030204" pitchFamily="18" charset="0"/>
                                </a:rPr>
                                <m:t>𝑛</m:t>
                              </m:r>
                            </m:sub>
                          </m:sSub>
                          <m:r>
                            <a:rPr lang="en-VN" sz="1400" i="0">
                              <a:solidFill>
                                <a:schemeClr val="accent6">
                                  <a:lumMod val="75000"/>
                                </a:schemeClr>
                              </a:solidFill>
                              <a:latin typeface="Cambria Math" panose="02040503050406030204" pitchFamily="18" charset="0"/>
                            </a:rPr>
                            <m:t>∣</m:t>
                          </m:r>
                          <m:r>
                            <a:rPr lang="en-US" sz="1400" i="1" smtClean="0">
                              <a:solidFill>
                                <a:schemeClr val="accent6">
                                  <a:lumMod val="75000"/>
                                </a:schemeClr>
                              </a:solidFill>
                              <a:latin typeface="Cambria Math" panose="02040503050406030204" pitchFamily="18" charset="0"/>
                            </a:rPr>
                            <m:t>𝜃</m:t>
                          </m:r>
                        </m:e>
                      </m:d>
                    </m:oMath>
                  </m:oMathPara>
                </a14:m>
                <a:endParaRPr lang="en-VN" sz="1400" dirty="0"/>
              </a:p>
            </p:txBody>
          </p:sp>
        </mc:Choice>
        <mc:Fallback xmlns="">
          <p:sp>
            <p:nvSpPr>
              <p:cNvPr id="27" name="TextBox 26">
                <a:extLst>
                  <a:ext uri="{FF2B5EF4-FFF2-40B4-BE49-F238E27FC236}">
                    <a16:creationId xmlns:a16="http://schemas.microsoft.com/office/drawing/2014/main" id="{9CD2E531-44C8-9066-1C2E-E6C91F42443B}"/>
                  </a:ext>
                </a:extLst>
              </p:cNvPr>
              <p:cNvSpPr txBox="1">
                <a:spLocks noRot="1" noChangeAspect="1" noMove="1" noResize="1" noEditPoints="1" noAdjustHandles="1" noChangeArrowheads="1" noChangeShapeType="1" noTextEdit="1"/>
              </p:cNvSpPr>
              <p:nvPr/>
            </p:nvSpPr>
            <p:spPr>
              <a:xfrm>
                <a:off x="423469" y="3807772"/>
                <a:ext cx="3470177" cy="698140"/>
              </a:xfrm>
              <a:prstGeom prst="rect">
                <a:avLst/>
              </a:prstGeom>
              <a:blipFill>
                <a:blip r:embed="rId5"/>
                <a:stretch>
                  <a:fillRect t="-94545" b="-150909"/>
                </a:stretch>
              </a:blipFill>
              <a:ln w="12700">
                <a:no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914DE057-155A-9070-F67B-F3187F546C9A}"/>
                  </a:ext>
                </a:extLst>
              </p:cNvPr>
              <p:cNvSpPr txBox="1"/>
              <p:nvPr/>
            </p:nvSpPr>
            <p:spPr>
              <a:xfrm>
                <a:off x="6447306" y="3809908"/>
                <a:ext cx="3103836" cy="698140"/>
              </a:xfrm>
              <a:prstGeom prst="rect">
                <a:avLst/>
              </a:prstGeom>
              <a:noFill/>
            </p:spPr>
            <p:txBody>
              <a:bodyPr wrap="square">
                <a:spAutoFit/>
              </a:bodyPr>
              <a:lstStyle/>
              <a:p>
                <a:pPr/>
                <a14:m>
                  <m:oMathPara xmlns:m="http://schemas.openxmlformats.org/officeDocument/2006/math">
                    <m:oMath>
                      <m:r>
                        <a:rPr lang="en-VN" sz="1400" b="0" i="1" smtClean="0">
                          <a:solidFill>
                            <a:schemeClr val="tx1"/>
                          </a:solidFill>
                          <a:latin typeface="Cambria Math" panose="02040503050406030204" pitchFamily="18" charset="0"/>
                        </a:rPr>
                        <m:t>𝐿</m:t>
                      </m:r>
                      <m:d>
                        <m:dPr>
                          <m:ctrlPr>
                            <a:rPr lang="en-US" sz="1400" i="1">
                              <a:latin typeface="Cambria Math" panose="02040503050406030204" pitchFamily="18" charset="0"/>
                            </a:rPr>
                          </m:ctrlPr>
                        </m:dPr>
                        <m:e>
                          <m:r>
                            <a:rPr lang="en-US" sz="1400" i="1">
                              <a:latin typeface="Cambria Math" panose="02040503050406030204" pitchFamily="18" charset="0"/>
                            </a:rPr>
                            <m:t>𝜃</m:t>
                          </m:r>
                          <m:r>
                            <a:rPr lang="en-VN" sz="1400" b="0">
                              <a:solidFill>
                                <a:schemeClr val="tx1"/>
                              </a:solidFill>
                              <a:latin typeface="Cambria Math" panose="02040503050406030204" pitchFamily="18" charset="0"/>
                            </a:rPr>
                            <m:t>∣</m:t>
                          </m:r>
                          <m:r>
                            <a:rPr lang="en-VN" sz="1400" i="1">
                              <a:latin typeface="Cambria Math" panose="02040503050406030204" pitchFamily="18" charset="0"/>
                            </a:rPr>
                            <m:t>𝑥</m:t>
                          </m:r>
                        </m:e>
                      </m:d>
                      <m:r>
                        <a:rPr lang="vi-VN" sz="1400" b="0" i="0" smtClean="0">
                          <a:solidFill>
                            <a:schemeClr val="tx1"/>
                          </a:solidFill>
                          <a:latin typeface="Cambria Math" panose="02040503050406030204" pitchFamily="18" charset="0"/>
                        </a:rPr>
                        <m:t>=</m:t>
                      </m:r>
                      <m:nary>
                        <m:naryPr>
                          <m:chr m:val="∏"/>
                          <m:limLoc m:val="undOvr"/>
                          <m:ctrlPr>
                            <a:rPr lang="en-VN" sz="1400" i="1" smtClean="0">
                              <a:latin typeface="Cambria Math" panose="02040503050406030204" pitchFamily="18" charset="0"/>
                            </a:rPr>
                          </m:ctrlPr>
                        </m:naryPr>
                        <m:sub>
                          <m:r>
                            <a:rPr lang="en-VN" sz="1400" i="1" smtClean="0">
                              <a:latin typeface="Cambria Math" panose="02040503050406030204" pitchFamily="18" charset="0"/>
                            </a:rPr>
                            <m:t>𝑛</m:t>
                          </m:r>
                          <m:r>
                            <a:rPr lang="en-VN" sz="1400" i="0">
                              <a:latin typeface="Cambria Math" panose="02040503050406030204" pitchFamily="18" charset="0"/>
                            </a:rPr>
                            <m:t>=1</m:t>
                          </m:r>
                        </m:sub>
                        <m:sup>
                          <m:r>
                            <a:rPr lang="en-VN" sz="1400" i="1">
                              <a:latin typeface="Cambria Math" panose="02040503050406030204" pitchFamily="18" charset="0"/>
                            </a:rPr>
                            <m:t>𝑁</m:t>
                          </m:r>
                        </m:sup>
                        <m:e>
                          <m:r>
                            <m:rPr>
                              <m:sty m:val="p"/>
                            </m:rPr>
                            <a:rPr lang="vi-VN" sz="1400" i="1" smtClean="0">
                              <a:solidFill>
                                <a:schemeClr val="accent6">
                                  <a:lumMod val="75000"/>
                                </a:schemeClr>
                              </a:solidFill>
                              <a:latin typeface="Cambria Math" panose="02040503050406030204" pitchFamily="18" charset="0"/>
                            </a:rPr>
                            <m:t>GMM</m:t>
                          </m:r>
                          <m:d>
                            <m:dPr>
                              <m:ctrlPr>
                                <a:rPr lang="en-VN" sz="1400" i="1">
                                  <a:solidFill>
                                    <a:schemeClr val="accent6">
                                      <a:lumMod val="75000"/>
                                    </a:schemeClr>
                                  </a:solidFill>
                                  <a:latin typeface="Cambria Math" panose="02040503050406030204" pitchFamily="18" charset="0"/>
                                </a:rPr>
                              </m:ctrlPr>
                            </m:dPr>
                            <m:e>
                              <m:sSub>
                                <m:sSubPr>
                                  <m:ctrlPr>
                                    <a:rPr lang="en-VN" sz="1400" i="1">
                                      <a:solidFill>
                                        <a:schemeClr val="accent6">
                                          <a:lumMod val="75000"/>
                                        </a:schemeClr>
                                      </a:solidFill>
                                      <a:latin typeface="Cambria Math" panose="02040503050406030204" pitchFamily="18" charset="0"/>
                                    </a:rPr>
                                  </m:ctrlPr>
                                </m:sSubPr>
                                <m:e>
                                  <m:r>
                                    <a:rPr lang="en-VN" sz="1400" i="1">
                                      <a:solidFill>
                                        <a:schemeClr val="accent6">
                                          <a:lumMod val="75000"/>
                                        </a:schemeClr>
                                      </a:solidFill>
                                      <a:latin typeface="Cambria Math" panose="02040503050406030204" pitchFamily="18" charset="0"/>
                                    </a:rPr>
                                    <m:t>𝑥</m:t>
                                  </m:r>
                                </m:e>
                                <m:sub>
                                  <m:r>
                                    <a:rPr lang="en-VN" sz="1400" i="1">
                                      <a:solidFill>
                                        <a:schemeClr val="accent6">
                                          <a:lumMod val="75000"/>
                                        </a:schemeClr>
                                      </a:solidFill>
                                      <a:latin typeface="Cambria Math" panose="02040503050406030204" pitchFamily="18" charset="0"/>
                                    </a:rPr>
                                    <m:t>𝑛</m:t>
                                  </m:r>
                                </m:sub>
                              </m:sSub>
                              <m:r>
                                <a:rPr lang="en-US" sz="1400" i="1">
                                  <a:solidFill>
                                    <a:schemeClr val="accent6">
                                      <a:lumMod val="75000"/>
                                    </a:schemeClr>
                                  </a:solidFill>
                                  <a:latin typeface="Cambria Math" panose="02040503050406030204" pitchFamily="18" charset="0"/>
                                </a:rPr>
                                <m:t>∣</m:t>
                              </m:r>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𝜃</m:t>
                                  </m:r>
                                </m:e>
                                <m:sub>
                                  <m:r>
                                    <a:rPr lang="en-US" sz="1400" i="1">
                                      <a:solidFill>
                                        <a:schemeClr val="accent6">
                                          <a:lumMod val="75000"/>
                                        </a:schemeClr>
                                      </a:solidFill>
                                      <a:latin typeface="Cambria Math" panose="02040503050406030204" pitchFamily="18" charset="0"/>
                                    </a:rPr>
                                    <m:t>𝑘</m:t>
                                  </m:r>
                                </m:sub>
                              </m:sSub>
                            </m:e>
                          </m:d>
                          <m:r>
                            <m:rPr>
                              <m:nor/>
                            </m:rPr>
                            <a:rPr lang="en-VN" sz="1400" i="0" dirty="0"/>
                            <m:t> </m:t>
                          </m:r>
                        </m:e>
                      </m:nary>
                    </m:oMath>
                  </m:oMathPara>
                </a14:m>
                <a:endParaRPr lang="en-VN" sz="1400" dirty="0"/>
              </a:p>
            </p:txBody>
          </p:sp>
        </mc:Choice>
        <mc:Fallback xmlns="">
          <p:sp>
            <p:nvSpPr>
              <p:cNvPr id="6" name="TextBox 5">
                <a:extLst>
                  <a:ext uri="{FF2B5EF4-FFF2-40B4-BE49-F238E27FC236}">
                    <a16:creationId xmlns:a16="http://schemas.microsoft.com/office/drawing/2014/main" id="{914DE057-155A-9070-F67B-F3187F546C9A}"/>
                  </a:ext>
                </a:extLst>
              </p:cNvPr>
              <p:cNvSpPr txBox="1">
                <a:spLocks noRot="1" noChangeAspect="1" noMove="1" noResize="1" noEditPoints="1" noAdjustHandles="1" noChangeArrowheads="1" noChangeShapeType="1" noTextEdit="1"/>
              </p:cNvSpPr>
              <p:nvPr/>
            </p:nvSpPr>
            <p:spPr>
              <a:xfrm>
                <a:off x="6447306" y="3809908"/>
                <a:ext cx="3103836" cy="698140"/>
              </a:xfrm>
              <a:prstGeom prst="rect">
                <a:avLst/>
              </a:prstGeom>
              <a:blipFill>
                <a:blip r:embed="rId6"/>
                <a:stretch>
                  <a:fillRect t="-92857" b="-146429"/>
                </a:stretch>
              </a:blipFill>
            </p:spPr>
            <p:txBody>
              <a:bodyPr/>
              <a:lstStyle/>
              <a:p>
                <a:r>
                  <a:rPr lang="en-VN">
                    <a:noFill/>
                  </a:rPr>
                  <a:t> </a:t>
                </a:r>
              </a:p>
            </p:txBody>
          </p:sp>
        </mc:Fallback>
      </mc:AlternateContent>
      <p:sp>
        <p:nvSpPr>
          <p:cNvPr id="12" name="TextBox 11">
            <a:extLst>
              <a:ext uri="{FF2B5EF4-FFF2-40B4-BE49-F238E27FC236}">
                <a16:creationId xmlns:a16="http://schemas.microsoft.com/office/drawing/2014/main" id="{EA66726D-2D35-5EA7-41D1-2408C009395B}"/>
              </a:ext>
            </a:extLst>
          </p:cNvPr>
          <p:cNvSpPr txBox="1"/>
          <p:nvPr/>
        </p:nvSpPr>
        <p:spPr>
          <a:xfrm>
            <a:off x="364066" y="1267772"/>
            <a:ext cx="10961159" cy="892552"/>
          </a:xfrm>
          <a:prstGeom prst="rect">
            <a:avLst/>
          </a:prstGeom>
          <a:noFill/>
        </p:spPr>
        <p:txBody>
          <a:bodyPr wrap="square">
            <a:spAutoFit/>
          </a:bodyPr>
          <a:lstStyle/>
          <a:p>
            <a:pPr>
              <a:spcAft>
                <a:spcPts val="600"/>
              </a:spcAft>
            </a:pPr>
            <a:r>
              <a:rPr lang="vi-VN" sz="1400" b="1" dirty="0">
                <a:solidFill>
                  <a:srgbClr val="1B8A7A"/>
                </a:solidFill>
                <a:latin typeface="Arial"/>
              </a:rPr>
              <a:t>2.1. Gaussian Mixture Model (GMM) - </a:t>
            </a:r>
            <a:r>
              <a:rPr lang="vi-VN" sz="1000" b="1" dirty="0">
                <a:solidFill>
                  <a:schemeClr val="accent5">
                    <a:lumMod val="60000"/>
                    <a:lumOff val="40000"/>
                  </a:schemeClr>
                </a:solidFill>
                <a:latin typeface="Arial"/>
              </a:rPr>
              <a:t>Mô hình hỗn hợp phân phối chuẩn</a:t>
            </a:r>
            <a:endParaRPr lang="vi-VN" sz="1400" b="1" dirty="0">
              <a:solidFill>
                <a:schemeClr val="bg2">
                  <a:lumMod val="50000"/>
                </a:schemeClr>
              </a:solidFill>
              <a:latin typeface="Arial"/>
            </a:endParaRPr>
          </a:p>
          <a:p>
            <a:pPr>
              <a:spcAft>
                <a:spcPts val="600"/>
              </a:spcAft>
            </a:pPr>
            <a:r>
              <a:rPr lang="vi-VN" sz="1400" b="1" dirty="0">
                <a:solidFill>
                  <a:schemeClr val="bg2">
                    <a:lumMod val="50000"/>
                  </a:schemeClr>
                </a:solidFill>
                <a:latin typeface="Arial"/>
              </a:rPr>
              <a:t>2.1.2. Tìm hàm mục tiêu</a:t>
            </a:r>
          </a:p>
          <a:p>
            <a:pPr>
              <a:spcAft>
                <a:spcPts val="600"/>
              </a:spcAft>
            </a:pPr>
            <a:r>
              <a:rPr lang="vi-VN" sz="1400" dirty="0">
                <a:solidFill>
                  <a:srgbClr val="444B52"/>
                </a:solidFill>
                <a:latin typeface="Arial"/>
              </a:rPr>
              <a:t>	- </a:t>
            </a:r>
            <a:r>
              <a:rPr lang="vi-VN" sz="1400" dirty="0">
                <a:solidFill>
                  <a:srgbClr val="444B52"/>
                </a:solidFill>
                <a:highlight>
                  <a:srgbClr val="00FFFF"/>
                </a:highlight>
                <a:latin typeface="Arial"/>
              </a:rPr>
              <a:t>Phân phối chuẩn</a:t>
            </a:r>
            <a:r>
              <a:rPr lang="vi-VN" sz="1400" dirty="0">
                <a:solidFill>
                  <a:srgbClr val="444B52"/>
                </a:solidFill>
                <a:latin typeface="Arial"/>
              </a:rPr>
              <a:t> và </a:t>
            </a:r>
            <a:r>
              <a:rPr lang="vi-VN" sz="1400" dirty="0">
                <a:solidFill>
                  <a:srgbClr val="444B52"/>
                </a:solidFill>
                <a:highlight>
                  <a:srgbClr val="00FFFF"/>
                </a:highlight>
                <a:latin typeface="Arial"/>
              </a:rPr>
              <a:t>Hỗn hợp phân phối chuẩn</a:t>
            </a:r>
            <a:r>
              <a:rPr lang="vi-VN" sz="1400" dirty="0">
                <a:solidFill>
                  <a:srgbClr val="444B52"/>
                </a:solidFill>
                <a:latin typeface="Arial"/>
              </a:rPr>
              <a:t> đều là hàm mật độ xác suất</a:t>
            </a:r>
            <a:endParaRPr lang="vi-VN" sz="1400" dirty="0">
              <a:solidFill>
                <a:schemeClr val="bg2">
                  <a:lumMod val="50000"/>
                </a:schemeClr>
              </a:solidFill>
              <a:latin typeface="Arial"/>
            </a:endParaRPr>
          </a:p>
        </p:txBody>
      </p:sp>
      <p:sp>
        <p:nvSpPr>
          <p:cNvPr id="26" name="TextBox 25">
            <a:extLst>
              <a:ext uri="{FF2B5EF4-FFF2-40B4-BE49-F238E27FC236}">
                <a16:creationId xmlns:a16="http://schemas.microsoft.com/office/drawing/2014/main" id="{9F70F646-3585-D73E-E5FF-AD7FBEF87718}"/>
              </a:ext>
            </a:extLst>
          </p:cNvPr>
          <p:cNvSpPr txBox="1"/>
          <p:nvPr/>
        </p:nvSpPr>
        <p:spPr>
          <a:xfrm>
            <a:off x="2085174" y="5819686"/>
            <a:ext cx="184731" cy="369332"/>
          </a:xfrm>
          <a:prstGeom prst="rect">
            <a:avLst/>
          </a:prstGeom>
          <a:noFill/>
        </p:spPr>
        <p:txBody>
          <a:bodyPr wrap="none" rtlCol="0">
            <a:spAutoFit/>
          </a:bodyPr>
          <a:lstStyle/>
          <a:p>
            <a:endParaRPr lang="en-VN" dirty="0"/>
          </a:p>
        </p:txBody>
      </p:sp>
      <p:sp>
        <p:nvSpPr>
          <p:cNvPr id="41" name="TextBox 40">
            <a:extLst>
              <a:ext uri="{FF2B5EF4-FFF2-40B4-BE49-F238E27FC236}">
                <a16:creationId xmlns:a16="http://schemas.microsoft.com/office/drawing/2014/main" id="{911DBD90-1072-395A-ED0E-85FDA674355D}"/>
              </a:ext>
            </a:extLst>
          </p:cNvPr>
          <p:cNvSpPr txBox="1"/>
          <p:nvPr/>
        </p:nvSpPr>
        <p:spPr>
          <a:xfrm>
            <a:off x="2572284" y="5392396"/>
            <a:ext cx="237566" cy="369332"/>
          </a:xfrm>
          <a:prstGeom prst="rect">
            <a:avLst/>
          </a:prstGeom>
          <a:noFill/>
        </p:spPr>
        <p:txBody>
          <a:bodyPr wrap="none" rtlCol="0">
            <a:spAutoFit/>
          </a:bodyPr>
          <a:lstStyle/>
          <a:p>
            <a:r>
              <a:rPr lang="en-VN" dirty="0"/>
              <a:t> </a:t>
            </a: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FB4D8E35-8497-A549-6084-EB2BBE651624}"/>
                  </a:ext>
                </a:extLst>
              </p:cNvPr>
              <p:cNvSpPr txBox="1"/>
              <p:nvPr/>
            </p:nvSpPr>
            <p:spPr>
              <a:xfrm>
                <a:off x="578743" y="5392396"/>
                <a:ext cx="4321041" cy="307777"/>
              </a:xfrm>
              <a:prstGeom prst="rect">
                <a:avLst/>
              </a:prstGeom>
              <a:noFill/>
            </p:spPr>
            <p:txBody>
              <a:bodyPr wrap="square">
                <a:spAutoFit/>
              </a:bodyPr>
              <a:lstStyle/>
              <a:p>
                <a:pPr>
                  <a:spcAft>
                    <a:spcPts val="600"/>
                  </a:spcAft>
                </a:pPr>
                <a14:m>
                  <m:oMath xmlns:m="http://schemas.openxmlformats.org/officeDocument/2006/math">
                    <m:r>
                      <a:rPr lang="en-US" sz="1400" i="1" smtClean="0">
                        <a:solidFill>
                          <a:schemeClr val="tx1"/>
                        </a:solidFill>
                        <a:latin typeface="Cambria Math" panose="02040503050406030204" pitchFamily="18" charset="0"/>
                      </a:rPr>
                      <m:t>𝜃</m:t>
                    </m:r>
                  </m:oMath>
                </a14:m>
                <a:r>
                  <a:rPr lang="vi-VN" sz="1400" dirty="0">
                    <a:solidFill>
                      <a:srgbClr val="444B52"/>
                    </a:solidFill>
                    <a:latin typeface="Arial"/>
                  </a:rPr>
                  <a:t> là bộ 2 tham số: </a:t>
                </a:r>
                <a14:m>
                  <m:oMath xmlns:m="http://schemas.openxmlformats.org/officeDocument/2006/math">
                    <m:r>
                      <a:rPr lang="en-VN" sz="1400" b="1" i="1">
                        <a:solidFill>
                          <a:schemeClr val="tx2">
                            <a:lumMod val="60000"/>
                            <a:lumOff val="40000"/>
                          </a:schemeClr>
                        </a:solidFill>
                        <a:latin typeface="Cambria Math" panose="02040503050406030204" pitchFamily="18" charset="0"/>
                      </a:rPr>
                      <m:t>𝝁</m:t>
                    </m:r>
                  </m:oMath>
                </a14:m>
                <a:r>
                  <a:rPr lang="vi-VN" sz="1400" b="1" dirty="0">
                    <a:solidFill>
                      <a:srgbClr val="444B52"/>
                    </a:solidFill>
                    <a:latin typeface="Arial"/>
                    <a:sym typeface="Wingdings" pitchFamily="2" charset="2"/>
                  </a:rPr>
                  <a:t> </a:t>
                </a:r>
                <a:r>
                  <a:rPr lang="vi-VN" sz="1400" dirty="0">
                    <a:solidFill>
                      <a:srgbClr val="444B52"/>
                    </a:solidFill>
                    <a:latin typeface="Arial"/>
                    <a:sym typeface="Wingdings" pitchFamily="2" charset="2"/>
                  </a:rPr>
                  <a:t>và</a:t>
                </a:r>
                <a:r>
                  <a:rPr lang="vi-VN" sz="1400" b="1" dirty="0">
                    <a:solidFill>
                      <a:srgbClr val="444B52"/>
                    </a:solidFill>
                    <a:latin typeface="Arial"/>
                    <a:sym typeface="Wingdings" pitchFamily="2" charset="2"/>
                  </a:rPr>
                  <a:t> </a:t>
                </a:r>
                <a14:m>
                  <m:oMath xmlns:m="http://schemas.openxmlformats.org/officeDocument/2006/math">
                    <m:r>
                      <a:rPr lang="en-US" sz="1400" b="1" i="1" dirty="0">
                        <a:solidFill>
                          <a:srgbClr val="00B050"/>
                        </a:solidFill>
                        <a:latin typeface="Cambria Math" panose="02040503050406030204" pitchFamily="18" charset="0"/>
                      </a:rPr>
                      <m:t>𝝈</m:t>
                    </m:r>
                  </m:oMath>
                </a14:m>
                <a:endParaRPr lang="vi-VN" sz="1400" dirty="0">
                  <a:solidFill>
                    <a:srgbClr val="444B52"/>
                  </a:solidFill>
                  <a:latin typeface="Arial"/>
                </a:endParaRPr>
              </a:p>
            </p:txBody>
          </p:sp>
        </mc:Choice>
        <mc:Fallback xmlns="">
          <p:sp>
            <p:nvSpPr>
              <p:cNvPr id="42" name="TextBox 41">
                <a:extLst>
                  <a:ext uri="{FF2B5EF4-FFF2-40B4-BE49-F238E27FC236}">
                    <a16:creationId xmlns:a16="http://schemas.microsoft.com/office/drawing/2014/main" id="{FB4D8E35-8497-A549-6084-EB2BBE651624}"/>
                  </a:ext>
                </a:extLst>
              </p:cNvPr>
              <p:cNvSpPr txBox="1">
                <a:spLocks noRot="1" noChangeAspect="1" noMove="1" noResize="1" noEditPoints="1" noAdjustHandles="1" noChangeArrowheads="1" noChangeShapeType="1" noTextEdit="1"/>
              </p:cNvSpPr>
              <p:nvPr/>
            </p:nvSpPr>
            <p:spPr>
              <a:xfrm>
                <a:off x="578743" y="5392396"/>
                <a:ext cx="4321041" cy="307777"/>
              </a:xfrm>
              <a:prstGeom prst="rect">
                <a:avLst/>
              </a:prstGeom>
              <a:blipFill>
                <a:blip r:embed="rId7"/>
                <a:stretch>
                  <a:fillRect t="-4000" b="-24000"/>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863AE62C-1B5D-9127-7617-DBD23A6C11C1}"/>
                  </a:ext>
                </a:extLst>
              </p:cNvPr>
              <p:cNvSpPr txBox="1"/>
              <p:nvPr/>
            </p:nvSpPr>
            <p:spPr>
              <a:xfrm>
                <a:off x="6559922" y="5392395"/>
                <a:ext cx="4321041" cy="307777"/>
              </a:xfrm>
              <a:prstGeom prst="rect">
                <a:avLst/>
              </a:prstGeom>
              <a:noFill/>
            </p:spPr>
            <p:txBody>
              <a:bodyPr wrap="square">
                <a:spAutoFit/>
              </a:bodyPr>
              <a:lstStyle/>
              <a:p>
                <a:pPr>
                  <a:spcAft>
                    <a:spcPts val="600"/>
                  </a:spcAft>
                </a:pPr>
                <a14:m>
                  <m:oMath xmlns:m="http://schemas.openxmlformats.org/officeDocument/2006/math">
                    <m:r>
                      <a:rPr lang="en-US" sz="1400" i="1" smtClean="0">
                        <a:solidFill>
                          <a:schemeClr val="tx1"/>
                        </a:solidFill>
                        <a:latin typeface="Cambria Math" panose="02040503050406030204" pitchFamily="18" charset="0"/>
                      </a:rPr>
                      <m:t>𝜃</m:t>
                    </m:r>
                  </m:oMath>
                </a14:m>
                <a:r>
                  <a:rPr lang="vi-VN" sz="1400" dirty="0">
                    <a:solidFill>
                      <a:srgbClr val="444B52"/>
                    </a:solidFill>
                    <a:latin typeface="Arial"/>
                  </a:rPr>
                  <a:t> là </a:t>
                </a:r>
                <a14:m>
                  <m:oMath xmlns:m="http://schemas.openxmlformats.org/officeDocument/2006/math">
                    <m:r>
                      <a:rPr lang="en-US" sz="1400" i="1">
                        <a:solidFill>
                          <a:schemeClr val="accent6">
                            <a:lumMod val="75000"/>
                          </a:schemeClr>
                        </a:solidFill>
                        <a:latin typeface="Cambria Math" panose="02040503050406030204" pitchFamily="18" charset="0"/>
                      </a:rPr>
                      <m:t>𝑘</m:t>
                    </m:r>
                  </m:oMath>
                </a14:m>
                <a:r>
                  <a:rPr lang="vi-VN" sz="1400" dirty="0">
                    <a:solidFill>
                      <a:srgbClr val="444B52"/>
                    </a:solidFill>
                    <a:latin typeface="Arial"/>
                  </a:rPr>
                  <a:t> bộ 3 tham số:</a:t>
                </a:r>
                <a14:m>
                  <m:oMath xmlns:m="http://schemas.openxmlformats.org/officeDocument/2006/math">
                    <m:r>
                      <a:rPr lang="vi-VN" sz="1400" b="0" i="0" smtClean="0">
                        <a:solidFill>
                          <a:schemeClr val="accent6">
                            <a:lumMod val="75000"/>
                          </a:schemeClr>
                        </a:solidFill>
                        <a:highlight>
                          <a:srgbClr val="FFFF00"/>
                        </a:highlight>
                        <a:latin typeface="Cambria Math" panose="02040503050406030204" pitchFamily="18" charset="0"/>
                      </a:rPr>
                      <m:t> </m:t>
                    </m:r>
                    <m:sSub>
                      <m:sSubPr>
                        <m:ctrlPr>
                          <a:rPr lang="en-US" sz="1400" b="1" i="1">
                            <a:solidFill>
                              <a:schemeClr val="accent6">
                                <a:lumMod val="75000"/>
                              </a:schemeClr>
                            </a:solidFill>
                            <a:latin typeface="Cambria Math" panose="02040503050406030204" pitchFamily="18" charset="0"/>
                          </a:rPr>
                        </m:ctrlPr>
                      </m:sSubPr>
                      <m:e>
                        <m:r>
                          <a:rPr lang="en-US" sz="1400" b="1" i="1">
                            <a:solidFill>
                              <a:schemeClr val="accent6">
                                <a:lumMod val="75000"/>
                              </a:schemeClr>
                            </a:solidFill>
                            <a:latin typeface="Cambria Math" panose="02040503050406030204" pitchFamily="18" charset="0"/>
                          </a:rPr>
                          <m:t>𝝅</m:t>
                        </m:r>
                      </m:e>
                      <m:sub>
                        <m:r>
                          <a:rPr lang="en-US" sz="1400" b="1" i="1">
                            <a:solidFill>
                              <a:schemeClr val="accent6">
                                <a:lumMod val="75000"/>
                              </a:schemeClr>
                            </a:solidFill>
                            <a:latin typeface="Cambria Math" panose="02040503050406030204" pitchFamily="18" charset="0"/>
                          </a:rPr>
                          <m:t>𝒌</m:t>
                        </m:r>
                      </m:sub>
                    </m:sSub>
                    <m:r>
                      <a:rPr lang="vi-VN" sz="1400" b="0" i="1" smtClean="0">
                        <a:solidFill>
                          <a:schemeClr val="accent6">
                            <a:lumMod val="75000"/>
                          </a:schemeClr>
                        </a:solidFill>
                        <a:highlight>
                          <a:srgbClr val="FFFF00"/>
                        </a:highlight>
                        <a:latin typeface="Cambria Math" panose="02040503050406030204" pitchFamily="18" charset="0"/>
                      </a:rPr>
                      <m:t> </m:t>
                    </m:r>
                  </m:oMath>
                </a14:m>
                <a:r>
                  <a:rPr lang="vi-VN" sz="1400" dirty="0">
                    <a:solidFill>
                      <a:srgbClr val="444B52"/>
                    </a:solidFill>
                    <a:latin typeface="Arial"/>
                    <a:sym typeface="Wingdings" pitchFamily="2" charset="2"/>
                  </a:rPr>
                  <a:t>và</a:t>
                </a:r>
                <a:r>
                  <a:rPr lang="vi-VN" sz="1400" b="1" dirty="0">
                    <a:solidFill>
                      <a:srgbClr val="444B52"/>
                    </a:solidFill>
                    <a:latin typeface="Arial"/>
                    <a:sym typeface="Wingdings" pitchFamily="2" charset="2"/>
                  </a:rPr>
                  <a:t> </a:t>
                </a:r>
                <a14:m>
                  <m:oMath xmlns:m="http://schemas.openxmlformats.org/officeDocument/2006/math">
                    <m:sSub>
                      <m:sSubPr>
                        <m:ctrlPr>
                          <a:rPr lang="en-US" sz="1400" b="1" i="1">
                            <a:solidFill>
                              <a:schemeClr val="tx2">
                                <a:lumMod val="60000"/>
                                <a:lumOff val="40000"/>
                              </a:schemeClr>
                            </a:solidFill>
                            <a:latin typeface="Cambria Math" panose="02040503050406030204" pitchFamily="18" charset="0"/>
                          </a:rPr>
                        </m:ctrlPr>
                      </m:sSubPr>
                      <m:e>
                        <m:r>
                          <a:rPr lang="en-US" sz="1400" b="1" i="1">
                            <a:solidFill>
                              <a:schemeClr val="tx2">
                                <a:lumMod val="60000"/>
                                <a:lumOff val="40000"/>
                              </a:schemeClr>
                            </a:solidFill>
                            <a:latin typeface="Cambria Math" panose="02040503050406030204" pitchFamily="18" charset="0"/>
                          </a:rPr>
                          <m:t>𝝁</m:t>
                        </m:r>
                      </m:e>
                      <m:sub>
                        <m:r>
                          <a:rPr lang="en-US" sz="1400" b="1" i="1">
                            <a:solidFill>
                              <a:schemeClr val="tx2">
                                <a:lumMod val="60000"/>
                                <a:lumOff val="40000"/>
                              </a:schemeClr>
                            </a:solidFill>
                            <a:latin typeface="Cambria Math" panose="02040503050406030204" pitchFamily="18" charset="0"/>
                          </a:rPr>
                          <m:t>𝒌</m:t>
                        </m:r>
                      </m:sub>
                    </m:sSub>
                  </m:oMath>
                </a14:m>
                <a:r>
                  <a:rPr lang="vi-VN" sz="1400" b="1" dirty="0">
                    <a:solidFill>
                      <a:srgbClr val="444B52"/>
                    </a:solidFill>
                    <a:latin typeface="Arial"/>
                    <a:sym typeface="Wingdings" pitchFamily="2" charset="2"/>
                  </a:rPr>
                  <a:t> </a:t>
                </a:r>
                <a:r>
                  <a:rPr lang="vi-VN" sz="1400" dirty="0">
                    <a:solidFill>
                      <a:srgbClr val="444B52"/>
                    </a:solidFill>
                    <a:latin typeface="Arial"/>
                    <a:sym typeface="Wingdings" pitchFamily="2" charset="2"/>
                  </a:rPr>
                  <a:t>và</a:t>
                </a:r>
                <a:r>
                  <a:rPr lang="vi-VN" sz="1400" b="1" dirty="0">
                    <a:solidFill>
                      <a:srgbClr val="444B52"/>
                    </a:solidFill>
                    <a:latin typeface="Arial"/>
                    <a:sym typeface="Wingdings" pitchFamily="2" charset="2"/>
                  </a:rPr>
                  <a:t> </a:t>
                </a:r>
                <a14:m>
                  <m:oMath xmlns:m="http://schemas.openxmlformats.org/officeDocument/2006/math">
                    <m:sSub>
                      <m:sSubPr>
                        <m:ctrlPr>
                          <a:rPr lang="en-US" sz="1400" b="1" i="1" dirty="0">
                            <a:solidFill>
                              <a:srgbClr val="00B050"/>
                            </a:solidFill>
                            <a:latin typeface="Cambria Math" panose="02040503050406030204" pitchFamily="18" charset="0"/>
                          </a:rPr>
                        </m:ctrlPr>
                      </m:sSubPr>
                      <m:e>
                        <m:r>
                          <a:rPr lang="en-US" sz="1400" b="1" i="1" dirty="0">
                            <a:solidFill>
                              <a:srgbClr val="00B050"/>
                            </a:solidFill>
                            <a:latin typeface="Cambria Math" panose="02040503050406030204" pitchFamily="18" charset="0"/>
                          </a:rPr>
                          <m:t>𝝈</m:t>
                        </m:r>
                      </m:e>
                      <m:sub>
                        <m:r>
                          <a:rPr lang="en-US" sz="1400" b="1" i="1">
                            <a:solidFill>
                              <a:srgbClr val="00B050"/>
                            </a:solidFill>
                            <a:latin typeface="Cambria Math" panose="02040503050406030204" pitchFamily="18" charset="0"/>
                          </a:rPr>
                          <m:t>𝒌</m:t>
                        </m:r>
                      </m:sub>
                    </m:sSub>
                  </m:oMath>
                </a14:m>
                <a:endParaRPr lang="vi-VN" sz="1400" dirty="0">
                  <a:solidFill>
                    <a:srgbClr val="444B52"/>
                  </a:solidFill>
                  <a:latin typeface="Arial"/>
                </a:endParaRPr>
              </a:p>
            </p:txBody>
          </p:sp>
        </mc:Choice>
        <mc:Fallback xmlns="">
          <p:sp>
            <p:nvSpPr>
              <p:cNvPr id="43" name="TextBox 42">
                <a:extLst>
                  <a:ext uri="{FF2B5EF4-FFF2-40B4-BE49-F238E27FC236}">
                    <a16:creationId xmlns:a16="http://schemas.microsoft.com/office/drawing/2014/main" id="{863AE62C-1B5D-9127-7617-DBD23A6C11C1}"/>
                  </a:ext>
                </a:extLst>
              </p:cNvPr>
              <p:cNvSpPr txBox="1">
                <a:spLocks noRot="1" noChangeAspect="1" noMove="1" noResize="1" noEditPoints="1" noAdjustHandles="1" noChangeArrowheads="1" noChangeShapeType="1" noTextEdit="1"/>
              </p:cNvSpPr>
              <p:nvPr/>
            </p:nvSpPr>
            <p:spPr>
              <a:xfrm>
                <a:off x="6559922" y="5392395"/>
                <a:ext cx="4321041" cy="307777"/>
              </a:xfrm>
              <a:prstGeom prst="rect">
                <a:avLst/>
              </a:prstGeom>
              <a:blipFill>
                <a:blip r:embed="rId8"/>
                <a:stretch>
                  <a:fillRect t="-4000" b="-24000"/>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FEFA881D-CBDF-6719-457C-A720B2127E91}"/>
                  </a:ext>
                </a:extLst>
              </p:cNvPr>
              <p:cNvSpPr txBox="1"/>
              <p:nvPr/>
            </p:nvSpPr>
            <p:spPr>
              <a:xfrm>
                <a:off x="890461" y="4610619"/>
                <a:ext cx="3470177" cy="698140"/>
              </a:xfrm>
              <a:prstGeom prst="rect">
                <a:avLst/>
              </a:prstGeom>
              <a:noFill/>
              <a:ln w="12700">
                <a:noFill/>
              </a:ln>
            </p:spPr>
            <p:txBody>
              <a:bodyPr wrap="square">
                <a:spAutoFit/>
              </a:bodyPr>
              <a:lstStyle/>
              <a:p>
                <a:pPr/>
                <a14:m>
                  <m:oMathPara xmlns:m="http://schemas.openxmlformats.org/officeDocument/2006/math">
                    <m:oMath>
                      <m:r>
                        <a:rPr lang="en-VN" sz="1400" i="0">
                          <a:solidFill>
                            <a:schemeClr val="tx1"/>
                          </a:solidFill>
                          <a:latin typeface="Cambria Math" panose="02040503050406030204" pitchFamily="18" charset="0"/>
                        </a:rPr>
                        <m:t>=</m:t>
                      </m:r>
                      <m:nary>
                        <m:naryPr>
                          <m:chr m:val="∏"/>
                          <m:limLoc m:val="undOvr"/>
                          <m:ctrlPr>
                            <a:rPr lang="en-VN" sz="1400" i="1">
                              <a:latin typeface="Cambria Math" panose="02040503050406030204" pitchFamily="18" charset="0"/>
                            </a:rPr>
                          </m:ctrlPr>
                        </m:naryPr>
                        <m:sub>
                          <m:r>
                            <a:rPr lang="en-VN" sz="1400" i="1">
                              <a:latin typeface="Cambria Math" panose="02040503050406030204" pitchFamily="18" charset="0"/>
                            </a:rPr>
                            <m:t>𝑛</m:t>
                          </m:r>
                          <m:r>
                            <a:rPr lang="en-VN" sz="1400">
                              <a:latin typeface="Cambria Math" panose="02040503050406030204" pitchFamily="18" charset="0"/>
                            </a:rPr>
                            <m:t>=1</m:t>
                          </m:r>
                        </m:sub>
                        <m:sup>
                          <m:r>
                            <a:rPr lang="en-VN" sz="1400" i="1">
                              <a:latin typeface="Cambria Math" panose="02040503050406030204" pitchFamily="18" charset="0"/>
                            </a:rPr>
                            <m:t>𝑁</m:t>
                          </m:r>
                        </m:sup>
                        <m:e>
                          <m:r>
                            <a:rPr lang="en-VN" sz="1400" i="0" smtClean="0">
                              <a:solidFill>
                                <a:schemeClr val="accent6">
                                  <a:lumMod val="75000"/>
                                </a:schemeClr>
                              </a:solidFill>
                              <a:latin typeface="Cambria Math" panose="02040503050406030204" pitchFamily="18" charset="0"/>
                            </a:rPr>
                            <m:t>𝒩</m:t>
                          </m:r>
                        </m:e>
                      </m:nary>
                      <m:d>
                        <m:dPr>
                          <m:ctrlPr>
                            <a:rPr lang="en-VN" sz="1400" i="1">
                              <a:solidFill>
                                <a:schemeClr val="accent6">
                                  <a:lumMod val="75000"/>
                                </a:schemeClr>
                              </a:solidFill>
                              <a:latin typeface="Cambria Math" panose="02040503050406030204" pitchFamily="18" charset="0"/>
                            </a:rPr>
                          </m:ctrlPr>
                        </m:dPr>
                        <m:e>
                          <m:sSub>
                            <m:sSubPr>
                              <m:ctrlPr>
                                <a:rPr lang="en-VN" sz="1400" i="1">
                                  <a:solidFill>
                                    <a:schemeClr val="accent6">
                                      <a:lumMod val="75000"/>
                                    </a:schemeClr>
                                  </a:solidFill>
                                  <a:latin typeface="Cambria Math" panose="02040503050406030204" pitchFamily="18" charset="0"/>
                                </a:rPr>
                              </m:ctrlPr>
                            </m:sSubPr>
                            <m:e>
                              <m:r>
                                <a:rPr lang="en-VN" sz="1400" i="1">
                                  <a:solidFill>
                                    <a:schemeClr val="accent6">
                                      <a:lumMod val="75000"/>
                                    </a:schemeClr>
                                  </a:solidFill>
                                  <a:latin typeface="Cambria Math" panose="02040503050406030204" pitchFamily="18" charset="0"/>
                                </a:rPr>
                                <m:t>𝑥</m:t>
                              </m:r>
                            </m:e>
                            <m:sub>
                              <m:r>
                                <a:rPr lang="en-VN" sz="1400" i="1">
                                  <a:solidFill>
                                    <a:schemeClr val="accent6">
                                      <a:lumMod val="75000"/>
                                    </a:schemeClr>
                                  </a:solidFill>
                                  <a:latin typeface="Cambria Math" panose="02040503050406030204" pitchFamily="18" charset="0"/>
                                </a:rPr>
                                <m:t>𝑛</m:t>
                              </m:r>
                            </m:sub>
                          </m:sSub>
                          <m:r>
                            <a:rPr lang="en-VN" sz="1400" i="0">
                              <a:solidFill>
                                <a:schemeClr val="accent6">
                                  <a:lumMod val="75000"/>
                                </a:schemeClr>
                              </a:solidFill>
                              <a:latin typeface="Cambria Math" panose="02040503050406030204" pitchFamily="18" charset="0"/>
                            </a:rPr>
                            <m:t>∣</m:t>
                          </m:r>
                          <m:r>
                            <a:rPr lang="en-VN" sz="1400" i="1">
                              <a:solidFill>
                                <a:schemeClr val="accent6">
                                  <a:lumMod val="75000"/>
                                </a:schemeClr>
                              </a:solidFill>
                              <a:latin typeface="Cambria Math" panose="02040503050406030204" pitchFamily="18" charset="0"/>
                            </a:rPr>
                            <m:t>𝜇</m:t>
                          </m:r>
                          <m:r>
                            <a:rPr lang="en-VN" sz="1400">
                              <a:solidFill>
                                <a:schemeClr val="accent6">
                                  <a:lumMod val="75000"/>
                                </a:schemeClr>
                              </a:solidFill>
                              <a:latin typeface="Cambria Math" panose="02040503050406030204" pitchFamily="18" charset="0"/>
                            </a:rPr>
                            <m:t>,</m:t>
                          </m:r>
                          <m:sSup>
                            <m:sSupPr>
                              <m:ctrlPr>
                                <a:rPr lang="en-VN" sz="1400" i="1">
                                  <a:solidFill>
                                    <a:schemeClr val="accent6">
                                      <a:lumMod val="75000"/>
                                    </a:schemeClr>
                                  </a:solidFill>
                                  <a:latin typeface="Cambria Math" panose="02040503050406030204" pitchFamily="18" charset="0"/>
                                </a:rPr>
                              </m:ctrlPr>
                            </m:sSupPr>
                            <m:e>
                              <m:r>
                                <a:rPr lang="en-VN" sz="1400" i="1">
                                  <a:solidFill>
                                    <a:schemeClr val="accent6">
                                      <a:lumMod val="75000"/>
                                    </a:schemeClr>
                                  </a:solidFill>
                                  <a:latin typeface="Cambria Math" panose="02040503050406030204" pitchFamily="18" charset="0"/>
                                </a:rPr>
                                <m:t>𝜎</m:t>
                              </m:r>
                            </m:e>
                            <m:sup>
                              <m:r>
                                <a:rPr lang="en-VN" sz="1400">
                                  <a:solidFill>
                                    <a:schemeClr val="accent6">
                                      <a:lumMod val="75000"/>
                                    </a:schemeClr>
                                  </a:solidFill>
                                  <a:latin typeface="Cambria Math" panose="02040503050406030204" pitchFamily="18" charset="0"/>
                                </a:rPr>
                                <m:t>2</m:t>
                              </m:r>
                            </m:sup>
                          </m:sSup>
                        </m:e>
                      </m:d>
                    </m:oMath>
                  </m:oMathPara>
                </a14:m>
                <a:endParaRPr lang="en-VN" sz="1400" dirty="0"/>
              </a:p>
            </p:txBody>
          </p:sp>
        </mc:Choice>
        <mc:Fallback xmlns="">
          <p:sp>
            <p:nvSpPr>
              <p:cNvPr id="47" name="TextBox 46">
                <a:extLst>
                  <a:ext uri="{FF2B5EF4-FFF2-40B4-BE49-F238E27FC236}">
                    <a16:creationId xmlns:a16="http://schemas.microsoft.com/office/drawing/2014/main" id="{FEFA881D-CBDF-6719-457C-A720B2127E91}"/>
                  </a:ext>
                </a:extLst>
              </p:cNvPr>
              <p:cNvSpPr txBox="1">
                <a:spLocks noRot="1" noChangeAspect="1" noMove="1" noResize="1" noEditPoints="1" noAdjustHandles="1" noChangeArrowheads="1" noChangeShapeType="1" noTextEdit="1"/>
              </p:cNvSpPr>
              <p:nvPr/>
            </p:nvSpPr>
            <p:spPr>
              <a:xfrm>
                <a:off x="890461" y="4610619"/>
                <a:ext cx="3470177" cy="698140"/>
              </a:xfrm>
              <a:prstGeom prst="rect">
                <a:avLst/>
              </a:prstGeom>
              <a:blipFill>
                <a:blip r:embed="rId9"/>
                <a:stretch>
                  <a:fillRect t="-89474" b="-145614"/>
                </a:stretch>
              </a:blipFill>
              <a:ln w="12700">
                <a:no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5EE339A8-D774-15C1-148D-DFDF58CDA2E5}"/>
                  </a:ext>
                </a:extLst>
              </p:cNvPr>
              <p:cNvSpPr txBox="1"/>
              <p:nvPr/>
            </p:nvSpPr>
            <p:spPr>
              <a:xfrm>
                <a:off x="7498410" y="4654056"/>
                <a:ext cx="2183803" cy="605807"/>
              </a:xfrm>
              <a:prstGeom prst="rect">
                <a:avLst/>
              </a:prstGeom>
              <a:noFill/>
              <a:ln w="12700">
                <a:solidFill>
                  <a:schemeClr val="accent1"/>
                </a:solidFill>
              </a:ln>
            </p:spPr>
            <p:txBody>
              <a:bodyPr wrap="none" lIns="0" tIns="0" rIns="0" bIns="0" rtlCol="0">
                <a:spAutoFit/>
              </a:bodyPr>
              <a:lstStyle/>
              <a:p>
                <a:pPr/>
                <a14:m>
                  <m:oMathPara xmlns:m="http://schemas.openxmlformats.org/officeDocument/2006/math">
                    <m:oMath>
                      <m:r>
                        <a:rPr lang="en-US" sz="1400" i="1">
                          <a:latin typeface="Cambria Math" panose="02040503050406030204" pitchFamily="18" charset="0"/>
                        </a:rPr>
                        <m:t>=</m:t>
                      </m:r>
                      <m:nary>
                        <m:naryPr>
                          <m:chr m:val="∏"/>
                          <m:limLoc m:val="undOvr"/>
                          <m:ctrlPr>
                            <a:rPr lang="en-US" sz="1400" i="1">
                              <a:latin typeface="Cambria Math" panose="02040503050406030204" pitchFamily="18" charset="0"/>
                            </a:rPr>
                          </m:ctrlPr>
                        </m:naryPr>
                        <m:sub>
                          <m:r>
                            <a:rPr lang="en-US" sz="1400" i="1">
                              <a:latin typeface="Cambria Math" panose="02040503050406030204" pitchFamily="18" charset="0"/>
                            </a:rPr>
                            <m:t>𝑛</m:t>
                          </m:r>
                          <m:r>
                            <a:rPr lang="en-US" sz="1400" i="1">
                              <a:latin typeface="Cambria Math" panose="02040503050406030204" pitchFamily="18" charset="0"/>
                            </a:rPr>
                            <m:t>=1</m:t>
                          </m:r>
                        </m:sub>
                        <m:sup>
                          <m:r>
                            <a:rPr lang="en-US" sz="1400" i="1">
                              <a:latin typeface="Cambria Math" panose="02040503050406030204" pitchFamily="18" charset="0"/>
                            </a:rPr>
                            <m:t>𝑁</m:t>
                          </m:r>
                        </m:sup>
                        <m:e>
                          <m:nary>
                            <m:naryPr>
                              <m:chr m:val="∑"/>
                              <m:limLoc m:val="undOvr"/>
                              <m:ctrlPr>
                                <a:rPr lang="en-US" sz="1400" i="1">
                                  <a:solidFill>
                                    <a:schemeClr val="accent6">
                                      <a:lumMod val="75000"/>
                                    </a:schemeClr>
                                  </a:solidFill>
                                  <a:latin typeface="Cambria Math" panose="02040503050406030204" pitchFamily="18" charset="0"/>
                                </a:rPr>
                              </m:ctrlPr>
                            </m:naryPr>
                            <m:sub>
                              <m:r>
                                <a:rPr lang="en-US" sz="1400" i="1">
                                  <a:solidFill>
                                    <a:schemeClr val="accent6">
                                      <a:lumMod val="75000"/>
                                    </a:schemeClr>
                                  </a:solidFill>
                                  <a:latin typeface="Cambria Math" panose="02040503050406030204" pitchFamily="18" charset="0"/>
                                </a:rPr>
                                <m:t>𝑘</m:t>
                              </m:r>
                              <m:r>
                                <a:rPr lang="en-US" sz="1400" i="1">
                                  <a:solidFill>
                                    <a:schemeClr val="accent6">
                                      <a:lumMod val="75000"/>
                                    </a:schemeClr>
                                  </a:solidFill>
                                  <a:latin typeface="Cambria Math" panose="02040503050406030204" pitchFamily="18" charset="0"/>
                                </a:rPr>
                                <m:t>=1</m:t>
                              </m:r>
                            </m:sub>
                            <m:sup>
                              <m:r>
                                <a:rPr lang="en-US" sz="1400" i="1">
                                  <a:solidFill>
                                    <a:schemeClr val="accent6">
                                      <a:lumMod val="75000"/>
                                    </a:schemeClr>
                                  </a:solidFill>
                                  <a:latin typeface="Cambria Math" panose="02040503050406030204" pitchFamily="18" charset="0"/>
                                </a:rPr>
                                <m:t>𝐾</m:t>
                              </m:r>
                            </m:sup>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𝜋</m:t>
                                  </m:r>
                                </m:e>
                                <m:sub>
                                  <m:r>
                                    <a:rPr lang="en-US" sz="1400" i="1">
                                      <a:solidFill>
                                        <a:schemeClr val="accent6">
                                          <a:lumMod val="75000"/>
                                        </a:schemeClr>
                                      </a:solidFill>
                                      <a:latin typeface="Cambria Math" panose="02040503050406030204" pitchFamily="18" charset="0"/>
                                    </a:rPr>
                                    <m:t>𝑘</m:t>
                                  </m:r>
                                </m:sub>
                              </m:sSub>
                            </m:e>
                          </m:nary>
                        </m:e>
                      </m:nary>
                      <m:r>
                        <a:rPr lang="en-US" sz="1400" i="1" smtClean="0">
                          <a:solidFill>
                            <a:schemeClr val="accent6">
                              <a:lumMod val="75000"/>
                            </a:schemeClr>
                          </a:solidFill>
                          <a:latin typeface="Cambria Math" panose="02040503050406030204" pitchFamily="18" charset="0"/>
                        </a:rPr>
                        <m:t>𝒩</m:t>
                      </m:r>
                      <m:d>
                        <m:dPr>
                          <m:ctrlPr>
                            <a:rPr lang="en-US" sz="1400" i="1">
                              <a:solidFill>
                                <a:schemeClr val="accent6">
                                  <a:lumMod val="75000"/>
                                </a:schemeClr>
                              </a:solidFill>
                              <a:latin typeface="Cambria Math" panose="02040503050406030204" pitchFamily="18" charset="0"/>
                            </a:rPr>
                          </m:ctrlPr>
                        </m:dPr>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𝑥</m:t>
                              </m:r>
                            </m:e>
                            <m:sub>
                              <m:r>
                                <a:rPr lang="en-US" sz="1400" i="1">
                                  <a:solidFill>
                                    <a:schemeClr val="accent6">
                                      <a:lumMod val="75000"/>
                                    </a:schemeClr>
                                  </a:solidFill>
                                  <a:latin typeface="Cambria Math" panose="02040503050406030204" pitchFamily="18" charset="0"/>
                                </a:rPr>
                                <m:t>𝑛</m:t>
                              </m:r>
                            </m:sub>
                          </m:sSub>
                          <m:r>
                            <a:rPr lang="en-US" sz="1400" i="1">
                              <a:solidFill>
                                <a:schemeClr val="accent6">
                                  <a:lumMod val="75000"/>
                                </a:schemeClr>
                              </a:solidFill>
                              <a:latin typeface="Cambria Math" panose="02040503050406030204" pitchFamily="18" charset="0"/>
                            </a:rPr>
                            <m:t>∣</m:t>
                          </m:r>
                          <m:sSub>
                            <m:sSubPr>
                              <m:ctrlPr>
                                <a:rPr lang="en-US" sz="1400" b="0" i="1">
                                  <a:solidFill>
                                    <a:schemeClr val="accent6">
                                      <a:lumMod val="75000"/>
                                    </a:schemeClr>
                                  </a:solidFill>
                                  <a:latin typeface="Cambria Math" panose="02040503050406030204" pitchFamily="18" charset="0"/>
                                </a:rPr>
                              </m:ctrlPr>
                            </m:sSubPr>
                            <m:e>
                              <m:r>
                                <a:rPr lang="en-US" sz="1400" b="0" i="1">
                                  <a:solidFill>
                                    <a:schemeClr val="accent6">
                                      <a:lumMod val="75000"/>
                                    </a:schemeClr>
                                  </a:solidFill>
                                  <a:latin typeface="Cambria Math" panose="02040503050406030204" pitchFamily="18" charset="0"/>
                                </a:rPr>
                                <m:t>𝜇</m:t>
                              </m:r>
                            </m:e>
                            <m:sub>
                              <m:r>
                                <a:rPr lang="en-US" sz="1400" b="0" i="1">
                                  <a:solidFill>
                                    <a:schemeClr val="accent6">
                                      <a:lumMod val="75000"/>
                                    </a:schemeClr>
                                  </a:solidFill>
                                  <a:latin typeface="Cambria Math" panose="02040503050406030204" pitchFamily="18" charset="0"/>
                                </a:rPr>
                                <m:t>𝑘</m:t>
                              </m:r>
                            </m:sub>
                          </m:sSub>
                          <m:r>
                            <a:rPr lang="vi-VN" sz="1400" b="0" i="1" smtClean="0">
                              <a:solidFill>
                                <a:schemeClr val="accent6">
                                  <a:lumMod val="75000"/>
                                </a:schemeClr>
                              </a:solidFill>
                              <a:latin typeface="Cambria Math" panose="02040503050406030204" pitchFamily="18" charset="0"/>
                            </a:rPr>
                            <m:t>,</m:t>
                          </m:r>
                          <m:sSubSup>
                            <m:sSubSupPr>
                              <m:ctrlPr>
                                <a:rPr lang="en-US" sz="1400" b="0" i="1">
                                  <a:solidFill>
                                    <a:schemeClr val="accent6">
                                      <a:lumMod val="75000"/>
                                    </a:schemeClr>
                                  </a:solidFill>
                                  <a:latin typeface="Cambria Math" panose="02040503050406030204" pitchFamily="18" charset="0"/>
                                </a:rPr>
                              </m:ctrlPr>
                            </m:sSubSupPr>
                            <m:e>
                              <m:r>
                                <a:rPr lang="en-US" sz="1400" b="0" i="1">
                                  <a:solidFill>
                                    <a:schemeClr val="accent6">
                                      <a:lumMod val="75000"/>
                                    </a:schemeClr>
                                  </a:solidFill>
                                  <a:latin typeface="Cambria Math" panose="02040503050406030204" pitchFamily="18" charset="0"/>
                                </a:rPr>
                                <m:t>𝜎</m:t>
                              </m:r>
                            </m:e>
                            <m:sub>
                              <m:r>
                                <a:rPr lang="en-US" sz="1400" b="0" i="1">
                                  <a:solidFill>
                                    <a:schemeClr val="accent6">
                                      <a:lumMod val="75000"/>
                                    </a:schemeClr>
                                  </a:solidFill>
                                  <a:latin typeface="Cambria Math" panose="02040503050406030204" pitchFamily="18" charset="0"/>
                                </a:rPr>
                                <m:t>𝑘</m:t>
                              </m:r>
                            </m:sub>
                            <m:sup>
                              <m:r>
                                <a:rPr lang="en-US" sz="1400" b="0" i="1">
                                  <a:solidFill>
                                    <a:schemeClr val="accent6">
                                      <a:lumMod val="75000"/>
                                    </a:schemeClr>
                                  </a:solidFill>
                                  <a:latin typeface="Cambria Math" panose="02040503050406030204" pitchFamily="18" charset="0"/>
                                </a:rPr>
                                <m:t>2</m:t>
                              </m:r>
                            </m:sup>
                          </m:sSubSup>
                        </m:e>
                      </m:d>
                    </m:oMath>
                  </m:oMathPara>
                </a14:m>
                <a:endParaRPr/>
              </a:p>
            </p:txBody>
          </p:sp>
        </mc:Choice>
        <mc:Fallback xmlns="">
          <p:sp>
            <p:nvSpPr>
              <p:cNvPr id="7" name="TextBox 6">
                <a:extLst>
                  <a:ext uri="{FF2B5EF4-FFF2-40B4-BE49-F238E27FC236}">
                    <a16:creationId xmlns:a16="http://schemas.microsoft.com/office/drawing/2014/main" id="{5EE339A8-D774-15C1-148D-DFDF58CDA2E5}"/>
                  </a:ext>
                </a:extLst>
              </p:cNvPr>
              <p:cNvSpPr txBox="1">
                <a:spLocks noRot="1" noChangeAspect="1" noMove="1" noResize="1" noEditPoints="1" noAdjustHandles="1" noChangeArrowheads="1" noChangeShapeType="1" noTextEdit="1"/>
              </p:cNvSpPr>
              <p:nvPr/>
            </p:nvSpPr>
            <p:spPr>
              <a:xfrm>
                <a:off x="7498410" y="4654056"/>
                <a:ext cx="2183803" cy="605807"/>
              </a:xfrm>
              <a:prstGeom prst="rect">
                <a:avLst/>
              </a:prstGeom>
              <a:blipFill>
                <a:blip r:embed="rId10"/>
                <a:stretch>
                  <a:fillRect l="-20690" t="-108000" r="-5172" b="-172000"/>
                </a:stretch>
              </a:blipFill>
              <a:ln w="12700">
                <a:solidFill>
                  <a:schemeClr val="accent1"/>
                </a:solidFill>
              </a:ln>
            </p:spPr>
            <p:txBody>
              <a:bodyPr/>
              <a:lstStyle/>
              <a:p>
                <a:r>
                  <a:rPr lang="en-VN">
                    <a:noFill/>
                  </a:rPr>
                  <a:t> </a:t>
                </a:r>
              </a:p>
            </p:txBody>
          </p:sp>
        </mc:Fallback>
      </mc:AlternateContent>
    </p:spTree>
    <p:extLst>
      <p:ext uri="{BB962C8B-B14F-4D97-AF65-F5344CB8AC3E}">
        <p14:creationId xmlns:p14="http://schemas.microsoft.com/office/powerpoint/2010/main" val="23541650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5F900E-536C-252B-66E0-0E61CE1053B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6A071BE-9CF4-F2FC-8F76-F5EA06BE481F}"/>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31A1C734-D262-E75E-1F4A-963D5809540C}"/>
                  </a:ext>
                </a:extLst>
              </p:cNvPr>
              <p:cNvSpPr txBox="1"/>
              <p:nvPr/>
            </p:nvSpPr>
            <p:spPr>
              <a:xfrm>
                <a:off x="578743" y="2914317"/>
                <a:ext cx="4712346" cy="1538883"/>
              </a:xfrm>
              <a:prstGeom prst="rect">
                <a:avLst/>
              </a:prstGeom>
              <a:noFill/>
            </p:spPr>
            <p:txBody>
              <a:bodyPr wrap="square">
                <a:spAutoFit/>
              </a:bodyPr>
              <a:lstStyle/>
              <a:p>
                <a:pPr>
                  <a:spcAft>
                    <a:spcPts val="600"/>
                  </a:spcAft>
                </a:pPr>
                <a:r>
                  <a:rPr lang="vi-VN" sz="1400" b="1" dirty="0">
                    <a:solidFill>
                      <a:srgbClr val="1B8A7A"/>
                    </a:solidFill>
                    <a:latin typeface="Arial"/>
                  </a:rPr>
                  <a:t>Mục tiêu:</a:t>
                </a:r>
                <a:br>
                  <a:rPr lang="vi-VN" sz="1400" dirty="0">
                    <a:solidFill>
                      <a:srgbClr val="444B52"/>
                    </a:solidFill>
                    <a:latin typeface="Arial"/>
                  </a:rPr>
                </a:br>
                <a:r>
                  <a:rPr lang="vi-VN" sz="1400" dirty="0">
                    <a:solidFill>
                      <a:srgbClr val="444B52"/>
                    </a:solidFill>
                    <a:latin typeface="Arial"/>
                  </a:rPr>
                  <a:t>Nếu muốn vẽ </a:t>
                </a:r>
                <a:r>
                  <a:rPr lang="vi-VN" sz="1400" b="1" dirty="0">
                    <a:solidFill>
                      <a:srgbClr val="FF0000"/>
                    </a:solidFill>
                    <a:highlight>
                      <a:srgbClr val="FFFF00"/>
                    </a:highlight>
                    <a:latin typeface="Arial"/>
                  </a:rPr>
                  <a:t>một</a:t>
                </a:r>
                <a:r>
                  <a:rPr lang="vi-VN" sz="1400" dirty="0">
                    <a:solidFill>
                      <a:srgbClr val="444B52"/>
                    </a:solidFill>
                    <a:latin typeface="Arial"/>
                  </a:rPr>
                  <a:t> phân phối chuẩn khớp với tập </a:t>
                </a:r>
                <a14:m>
                  <m:oMath xmlns:m="http://schemas.openxmlformats.org/officeDocument/2006/math">
                    <m:r>
                      <a:rPr lang="en-VN" sz="1400" i="1">
                        <a:latin typeface="Cambria Math" panose="02040503050406030204" pitchFamily="18" charset="0"/>
                      </a:rPr>
                      <m:t>𝑥</m:t>
                    </m:r>
                  </m:oMath>
                </a14:m>
                <a:br>
                  <a:rPr lang="vi-VN" sz="1400" dirty="0">
                    <a:latin typeface="Arial"/>
                  </a:rPr>
                </a:br>
                <a:r>
                  <a:rPr lang="vi-VN" sz="1400" b="1" dirty="0">
                    <a:solidFill>
                      <a:srgbClr val="444B52"/>
                    </a:solidFill>
                    <a:latin typeface="Arial"/>
                    <a:sym typeface="Wingdings" pitchFamily="2" charset="2"/>
                  </a:rPr>
                  <a:t>Thì tìm </a:t>
                </a:r>
                <a:r>
                  <a:rPr lang="vi-VN" sz="1400" b="1" dirty="0">
                    <a:solidFill>
                      <a:srgbClr val="444B52"/>
                    </a:solidFill>
                    <a:highlight>
                      <a:srgbClr val="FFFF00"/>
                    </a:highlight>
                    <a:latin typeface="Arial"/>
                    <a:sym typeface="Wingdings" pitchFamily="2" charset="2"/>
                  </a:rPr>
                  <a:t>(</a:t>
                </a:r>
                <a14:m>
                  <m:oMath xmlns:m="http://schemas.openxmlformats.org/officeDocument/2006/math">
                    <m:r>
                      <a:rPr lang="en-VN" sz="1400" b="1" i="1">
                        <a:solidFill>
                          <a:schemeClr val="tx2">
                            <a:lumMod val="60000"/>
                            <a:lumOff val="40000"/>
                          </a:schemeClr>
                        </a:solidFill>
                        <a:highlight>
                          <a:srgbClr val="FFFF00"/>
                        </a:highlight>
                        <a:latin typeface="Cambria Math" panose="02040503050406030204" pitchFamily="18" charset="0"/>
                      </a:rPr>
                      <m:t>𝝁</m:t>
                    </m:r>
                  </m:oMath>
                </a14:m>
                <a:r>
                  <a:rPr lang="vi-VN" sz="1400" b="1" dirty="0">
                    <a:solidFill>
                      <a:srgbClr val="444B52"/>
                    </a:solidFill>
                    <a:highlight>
                      <a:srgbClr val="FFFF00"/>
                    </a:highlight>
                    <a:latin typeface="Arial"/>
                    <a:sym typeface="Wingdings" pitchFamily="2" charset="2"/>
                  </a:rPr>
                  <a:t> và </a:t>
                </a:r>
                <a14:m>
                  <m:oMath xmlns:m="http://schemas.openxmlformats.org/officeDocument/2006/math">
                    <m:r>
                      <a:rPr lang="en-US" sz="1400" b="1" i="1" dirty="0">
                        <a:solidFill>
                          <a:srgbClr val="00B050"/>
                        </a:solidFill>
                        <a:highlight>
                          <a:srgbClr val="FFFF00"/>
                        </a:highlight>
                        <a:latin typeface="Cambria Math" panose="02040503050406030204" pitchFamily="18" charset="0"/>
                      </a:rPr>
                      <m:t>𝝈</m:t>
                    </m:r>
                  </m:oMath>
                </a14:m>
                <a:r>
                  <a:rPr lang="vi-VN" sz="1400" b="1" dirty="0">
                    <a:solidFill>
                      <a:srgbClr val="444B52"/>
                    </a:solidFill>
                    <a:highlight>
                      <a:srgbClr val="FFFF00"/>
                    </a:highlight>
                    <a:latin typeface="Arial"/>
                    <a:sym typeface="Wingdings" pitchFamily="2" charset="2"/>
                  </a:rPr>
                  <a:t>)</a:t>
                </a:r>
                <a:r>
                  <a:rPr lang="vi-VN" sz="1400" b="1" dirty="0">
                    <a:solidFill>
                      <a:srgbClr val="444B52"/>
                    </a:solidFill>
                    <a:latin typeface="Arial"/>
                    <a:sym typeface="Wingdings" pitchFamily="2" charset="2"/>
                  </a:rPr>
                  <a:t> để </a:t>
                </a:r>
                <a:r>
                  <a:rPr lang="vi-VN" sz="1400" b="1" u="sng" dirty="0">
                    <a:latin typeface="Arial"/>
                    <a:sym typeface="Wingdings" pitchFamily="2" charset="2"/>
                  </a:rPr>
                  <a:t>hàm hợp lý</a:t>
                </a:r>
                <a:r>
                  <a:rPr lang="vi-VN" sz="1400" b="1" dirty="0">
                    <a:latin typeface="Arial"/>
                    <a:sym typeface="Wingdings" pitchFamily="2" charset="2"/>
                  </a:rPr>
                  <a:t> đạt cực đại</a:t>
                </a:r>
                <a:br>
                  <a:rPr lang="vi-VN" sz="1400" b="1" dirty="0">
                    <a:solidFill>
                      <a:srgbClr val="1B8A7A"/>
                    </a:solidFill>
                    <a:latin typeface="Arial"/>
                  </a:rPr>
                </a:br>
                <a:endParaRPr lang="vi-VN" sz="1400" b="1" dirty="0">
                  <a:solidFill>
                    <a:srgbClr val="1B8A7A"/>
                  </a:solidFill>
                  <a:latin typeface="Arial"/>
                </a:endParaRPr>
              </a:p>
              <a:p>
                <a:pPr>
                  <a:spcAft>
                    <a:spcPts val="600"/>
                  </a:spcAft>
                </a:pPr>
                <a:endParaRPr lang="vi-VN" sz="1400" dirty="0">
                  <a:solidFill>
                    <a:srgbClr val="444B52"/>
                  </a:solidFill>
                  <a:latin typeface="Arial"/>
                </a:endParaRPr>
              </a:p>
              <a:p>
                <a:pPr>
                  <a:spcAft>
                    <a:spcPts val="600"/>
                  </a:spcAft>
                </a:pPr>
                <a:endParaRPr lang="vi-VN" sz="1400" dirty="0">
                  <a:solidFill>
                    <a:srgbClr val="444B52"/>
                  </a:solidFill>
                  <a:latin typeface="Arial"/>
                </a:endParaRPr>
              </a:p>
            </p:txBody>
          </p:sp>
        </mc:Choice>
        <mc:Fallback xmlns="">
          <p:sp>
            <p:nvSpPr>
              <p:cNvPr id="11" name="TextBox 10">
                <a:extLst>
                  <a:ext uri="{FF2B5EF4-FFF2-40B4-BE49-F238E27FC236}">
                    <a16:creationId xmlns:a16="http://schemas.microsoft.com/office/drawing/2014/main" id="{31A1C734-D262-E75E-1F4A-963D5809540C}"/>
                  </a:ext>
                </a:extLst>
              </p:cNvPr>
              <p:cNvSpPr txBox="1">
                <a:spLocks noRot="1" noChangeAspect="1" noMove="1" noResize="1" noEditPoints="1" noAdjustHandles="1" noChangeArrowheads="1" noChangeShapeType="1" noTextEdit="1"/>
              </p:cNvSpPr>
              <p:nvPr/>
            </p:nvSpPr>
            <p:spPr>
              <a:xfrm>
                <a:off x="578743" y="2914317"/>
                <a:ext cx="4712346" cy="1538883"/>
              </a:xfrm>
              <a:prstGeom prst="rect">
                <a:avLst/>
              </a:prstGeom>
              <a:blipFill>
                <a:blip r:embed="rId3"/>
                <a:stretch>
                  <a:fillRect l="-269" t="-820"/>
                </a:stretch>
              </a:blipFill>
            </p:spPr>
            <p:txBody>
              <a:bodyPr/>
              <a:lstStyle/>
              <a:p>
                <a:r>
                  <a:rPr lang="en-VN">
                    <a:noFill/>
                  </a:rPr>
                  <a:t> </a:t>
                </a:r>
              </a:p>
            </p:txBody>
          </p:sp>
        </mc:Fallback>
      </mc:AlternateContent>
      <p:cxnSp>
        <p:nvCxnSpPr>
          <p:cNvPr id="17" name="Straight Connector 16">
            <a:extLst>
              <a:ext uri="{FF2B5EF4-FFF2-40B4-BE49-F238E27FC236}">
                <a16:creationId xmlns:a16="http://schemas.microsoft.com/office/drawing/2014/main" id="{30AA1F1E-626D-5696-4FDD-A3470B6705E7}"/>
              </a:ext>
            </a:extLst>
          </p:cNvPr>
          <p:cNvCxnSpPr>
            <a:cxnSpLocks/>
          </p:cNvCxnSpPr>
          <p:nvPr/>
        </p:nvCxnSpPr>
        <p:spPr>
          <a:xfrm>
            <a:off x="6061434" y="2632105"/>
            <a:ext cx="0" cy="4043903"/>
          </a:xfrm>
          <a:prstGeom prst="line">
            <a:avLst/>
          </a:prstGeom>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D75F1DC-F2D0-C8A4-6ACC-F234B2CBC993}"/>
                  </a:ext>
                </a:extLst>
              </p:cNvPr>
              <p:cNvSpPr txBox="1"/>
              <p:nvPr/>
            </p:nvSpPr>
            <p:spPr>
              <a:xfrm>
                <a:off x="6559922" y="2914317"/>
                <a:ext cx="5272661" cy="1538883"/>
              </a:xfrm>
              <a:prstGeom prst="rect">
                <a:avLst/>
              </a:prstGeom>
              <a:noFill/>
            </p:spPr>
            <p:txBody>
              <a:bodyPr wrap="square">
                <a:spAutoFit/>
              </a:bodyPr>
              <a:lstStyle/>
              <a:p>
                <a:pPr>
                  <a:spcAft>
                    <a:spcPts val="600"/>
                  </a:spcAft>
                </a:pPr>
                <a:r>
                  <a:rPr lang="vi-VN" sz="1400" b="1" dirty="0">
                    <a:solidFill>
                      <a:srgbClr val="1B8A7A"/>
                    </a:solidFill>
                    <a:latin typeface="Arial"/>
                  </a:rPr>
                  <a:t>Mục tiêu:</a:t>
                </a:r>
                <a:br>
                  <a:rPr lang="vi-VN" sz="1400" dirty="0">
                    <a:solidFill>
                      <a:srgbClr val="444B52"/>
                    </a:solidFill>
                    <a:latin typeface="Arial"/>
                  </a:rPr>
                </a:br>
                <a:r>
                  <a:rPr lang="vi-VN" sz="1400" dirty="0">
                    <a:solidFill>
                      <a:srgbClr val="444B52"/>
                    </a:solidFill>
                    <a:latin typeface="Arial"/>
                  </a:rPr>
                  <a:t>Nếu muốn vẽ </a:t>
                </a:r>
                <a:r>
                  <a:rPr lang="vi-VN" sz="1400" b="1" dirty="0">
                    <a:solidFill>
                      <a:srgbClr val="FF0000"/>
                    </a:solidFill>
                    <a:highlight>
                      <a:srgbClr val="FFFF00"/>
                    </a:highlight>
                    <a:latin typeface="Arial"/>
                  </a:rPr>
                  <a:t>hỗn hợp gồm </a:t>
                </a:r>
                <a14:m>
                  <m:oMath xmlns:m="http://schemas.openxmlformats.org/officeDocument/2006/math">
                    <m:r>
                      <a:rPr lang="en-VN" sz="1400" b="1" i="1" smtClean="0">
                        <a:solidFill>
                          <a:srgbClr val="FF0000"/>
                        </a:solidFill>
                        <a:highlight>
                          <a:srgbClr val="FFFF00"/>
                        </a:highlight>
                        <a:latin typeface="Cambria Math" panose="02040503050406030204" pitchFamily="18" charset="0"/>
                      </a:rPr>
                      <m:t>𝑲</m:t>
                    </m:r>
                  </m:oMath>
                </a14:m>
                <a:r>
                  <a:rPr lang="vi-VN" sz="1400" dirty="0">
                    <a:solidFill>
                      <a:srgbClr val="444B52"/>
                    </a:solidFill>
                    <a:latin typeface="Arial"/>
                  </a:rPr>
                  <a:t> phân phối chuẩn khớp với tập </a:t>
                </a:r>
                <a14:m>
                  <m:oMath xmlns:m="http://schemas.openxmlformats.org/officeDocument/2006/math">
                    <m:r>
                      <a:rPr lang="en-VN" sz="1400" i="1">
                        <a:latin typeface="Cambria Math" panose="02040503050406030204" pitchFamily="18" charset="0"/>
                      </a:rPr>
                      <m:t>𝑥</m:t>
                    </m:r>
                  </m:oMath>
                </a14:m>
                <a:br>
                  <a:rPr lang="vi-VN" sz="1400" dirty="0">
                    <a:latin typeface="Arial"/>
                  </a:rPr>
                </a:br>
                <a:r>
                  <a:rPr lang="vi-VN" sz="1400" b="1" dirty="0">
                    <a:solidFill>
                      <a:srgbClr val="444B52"/>
                    </a:solidFill>
                    <a:latin typeface="Arial"/>
                    <a:sym typeface="Wingdings" pitchFamily="2" charset="2"/>
                  </a:rPr>
                  <a:t>Thì tìm </a:t>
                </a:r>
                <a:r>
                  <a:rPr lang="vi-VN" sz="1400" b="1" dirty="0">
                    <a:solidFill>
                      <a:srgbClr val="444B52"/>
                    </a:solidFill>
                    <a:highlight>
                      <a:srgbClr val="FFFF00"/>
                    </a:highlight>
                    <a:latin typeface="Arial"/>
                    <a:sym typeface="Wingdings" pitchFamily="2" charset="2"/>
                  </a:rPr>
                  <a:t>các (</a:t>
                </a:r>
                <a14:m>
                  <m:oMath xmlns:m="http://schemas.openxmlformats.org/officeDocument/2006/math">
                    <m:sSub>
                      <m:sSubPr>
                        <m:ctrlPr>
                          <a:rPr lang="en-US" sz="1400" i="1">
                            <a:solidFill>
                              <a:schemeClr val="accent6">
                                <a:lumMod val="75000"/>
                              </a:schemeClr>
                            </a:solidFill>
                            <a:highlight>
                              <a:srgbClr val="FFFF00"/>
                            </a:highlight>
                            <a:latin typeface="Cambria Math" panose="02040503050406030204" pitchFamily="18" charset="0"/>
                          </a:rPr>
                        </m:ctrlPr>
                      </m:sSubPr>
                      <m:e>
                        <m:r>
                          <a:rPr lang="en-US" sz="1400" i="1">
                            <a:solidFill>
                              <a:schemeClr val="accent6">
                                <a:lumMod val="75000"/>
                              </a:schemeClr>
                            </a:solidFill>
                            <a:highlight>
                              <a:srgbClr val="FFFF00"/>
                            </a:highlight>
                            <a:latin typeface="Cambria Math" panose="02040503050406030204" pitchFamily="18" charset="0"/>
                          </a:rPr>
                          <m:t>𝜋</m:t>
                        </m:r>
                      </m:e>
                      <m:sub>
                        <m:r>
                          <a:rPr lang="en-US" sz="1400" i="1">
                            <a:solidFill>
                              <a:schemeClr val="accent6">
                                <a:lumMod val="75000"/>
                              </a:schemeClr>
                            </a:solidFill>
                            <a:highlight>
                              <a:srgbClr val="FFFF00"/>
                            </a:highlight>
                            <a:latin typeface="Cambria Math" panose="02040503050406030204" pitchFamily="18" charset="0"/>
                          </a:rPr>
                          <m:t>𝑘</m:t>
                        </m:r>
                      </m:sub>
                    </m:sSub>
                  </m:oMath>
                </a14:m>
                <a:r>
                  <a:rPr lang="vi-VN" sz="1400" b="1" dirty="0">
                    <a:solidFill>
                      <a:srgbClr val="444B52"/>
                    </a:solidFill>
                    <a:highlight>
                      <a:srgbClr val="FFFF00"/>
                    </a:highlight>
                    <a:latin typeface="Arial"/>
                    <a:sym typeface="Wingdings" pitchFamily="2" charset="2"/>
                  </a:rPr>
                  <a:t> và </a:t>
                </a:r>
                <a14:m>
                  <m:oMath xmlns:m="http://schemas.openxmlformats.org/officeDocument/2006/math">
                    <m:sSub>
                      <m:sSubPr>
                        <m:ctrlPr>
                          <a:rPr lang="en-US" sz="1400" b="1" i="1">
                            <a:solidFill>
                              <a:schemeClr val="tx2">
                                <a:lumMod val="60000"/>
                                <a:lumOff val="40000"/>
                              </a:schemeClr>
                            </a:solidFill>
                            <a:highlight>
                              <a:srgbClr val="FFFF00"/>
                            </a:highlight>
                            <a:latin typeface="Cambria Math" panose="02040503050406030204" pitchFamily="18" charset="0"/>
                          </a:rPr>
                        </m:ctrlPr>
                      </m:sSubPr>
                      <m:e>
                        <m:r>
                          <a:rPr lang="en-US" sz="1400" b="1" i="1">
                            <a:solidFill>
                              <a:schemeClr val="tx2">
                                <a:lumMod val="60000"/>
                                <a:lumOff val="40000"/>
                              </a:schemeClr>
                            </a:solidFill>
                            <a:highlight>
                              <a:srgbClr val="FFFF00"/>
                            </a:highlight>
                            <a:latin typeface="Cambria Math" panose="02040503050406030204" pitchFamily="18" charset="0"/>
                          </a:rPr>
                          <m:t>𝝁</m:t>
                        </m:r>
                      </m:e>
                      <m:sub>
                        <m:r>
                          <a:rPr lang="en-US" sz="1400" b="1" i="1">
                            <a:solidFill>
                              <a:schemeClr val="tx2">
                                <a:lumMod val="60000"/>
                                <a:lumOff val="40000"/>
                              </a:schemeClr>
                            </a:solidFill>
                            <a:highlight>
                              <a:srgbClr val="FFFF00"/>
                            </a:highlight>
                            <a:latin typeface="Cambria Math" panose="02040503050406030204" pitchFamily="18" charset="0"/>
                          </a:rPr>
                          <m:t>𝒌</m:t>
                        </m:r>
                      </m:sub>
                    </m:sSub>
                  </m:oMath>
                </a14:m>
                <a:r>
                  <a:rPr lang="vi-VN" sz="1400" b="1" dirty="0">
                    <a:solidFill>
                      <a:srgbClr val="444B52"/>
                    </a:solidFill>
                    <a:highlight>
                      <a:srgbClr val="FFFF00"/>
                    </a:highlight>
                    <a:latin typeface="Arial"/>
                    <a:sym typeface="Wingdings" pitchFamily="2" charset="2"/>
                  </a:rPr>
                  <a:t> và </a:t>
                </a:r>
                <a14:m>
                  <m:oMath xmlns:m="http://schemas.openxmlformats.org/officeDocument/2006/math">
                    <m:sSub>
                      <m:sSubPr>
                        <m:ctrlPr>
                          <a:rPr lang="en-US" sz="1400" b="1" i="1" dirty="0">
                            <a:solidFill>
                              <a:srgbClr val="00B050"/>
                            </a:solidFill>
                            <a:highlight>
                              <a:srgbClr val="FFFF00"/>
                            </a:highlight>
                            <a:latin typeface="Cambria Math" panose="02040503050406030204" pitchFamily="18" charset="0"/>
                          </a:rPr>
                        </m:ctrlPr>
                      </m:sSubPr>
                      <m:e>
                        <m:r>
                          <a:rPr lang="en-US" sz="1400" b="1" i="1" dirty="0">
                            <a:solidFill>
                              <a:srgbClr val="00B050"/>
                            </a:solidFill>
                            <a:highlight>
                              <a:srgbClr val="FFFF00"/>
                            </a:highlight>
                            <a:latin typeface="Cambria Math" panose="02040503050406030204" pitchFamily="18" charset="0"/>
                          </a:rPr>
                          <m:t>𝝈</m:t>
                        </m:r>
                      </m:e>
                      <m:sub>
                        <m:r>
                          <a:rPr lang="en-US" sz="1400" b="1" i="1" smtClean="0">
                            <a:solidFill>
                              <a:srgbClr val="00B050"/>
                            </a:solidFill>
                            <a:highlight>
                              <a:srgbClr val="FFFF00"/>
                            </a:highlight>
                            <a:latin typeface="Cambria Math" panose="02040503050406030204" pitchFamily="18" charset="0"/>
                          </a:rPr>
                          <m:t>𝒌</m:t>
                        </m:r>
                      </m:sub>
                    </m:sSub>
                  </m:oMath>
                </a14:m>
                <a:r>
                  <a:rPr lang="vi-VN" sz="1400" b="1" dirty="0">
                    <a:solidFill>
                      <a:srgbClr val="444B52"/>
                    </a:solidFill>
                    <a:highlight>
                      <a:srgbClr val="FFFF00"/>
                    </a:highlight>
                    <a:latin typeface="Arial"/>
                    <a:sym typeface="Wingdings" pitchFamily="2" charset="2"/>
                  </a:rPr>
                  <a:t>)</a:t>
                </a:r>
                <a:r>
                  <a:rPr lang="vi-VN" sz="1400" b="1" dirty="0">
                    <a:solidFill>
                      <a:srgbClr val="444B52"/>
                    </a:solidFill>
                    <a:latin typeface="Arial"/>
                    <a:sym typeface="Wingdings" pitchFamily="2" charset="2"/>
                  </a:rPr>
                  <a:t> để </a:t>
                </a:r>
                <a:r>
                  <a:rPr lang="vi-VN" sz="1400" b="1" u="sng" dirty="0">
                    <a:latin typeface="Arial"/>
                    <a:sym typeface="Wingdings" pitchFamily="2" charset="2"/>
                  </a:rPr>
                  <a:t>hàm hợp lý</a:t>
                </a:r>
                <a:r>
                  <a:rPr lang="vi-VN" sz="1400" b="1" dirty="0">
                    <a:latin typeface="Arial"/>
                    <a:sym typeface="Wingdings" pitchFamily="2" charset="2"/>
                  </a:rPr>
                  <a:t> đạt cực đại</a:t>
                </a:r>
                <a:br>
                  <a:rPr lang="vi-VN" sz="1400" b="1" dirty="0">
                    <a:solidFill>
                      <a:srgbClr val="1B8A7A"/>
                    </a:solidFill>
                    <a:latin typeface="Arial"/>
                  </a:rPr>
                </a:br>
                <a:endParaRPr lang="vi-VN" sz="1400" b="1" dirty="0">
                  <a:solidFill>
                    <a:srgbClr val="1B8A7A"/>
                  </a:solidFill>
                  <a:latin typeface="Arial"/>
                </a:endParaRPr>
              </a:p>
              <a:p>
                <a:pPr>
                  <a:spcAft>
                    <a:spcPts val="600"/>
                  </a:spcAft>
                </a:pPr>
                <a:endParaRPr lang="vi-VN" sz="1400" dirty="0">
                  <a:solidFill>
                    <a:srgbClr val="444B52"/>
                  </a:solidFill>
                  <a:latin typeface="Arial"/>
                </a:endParaRPr>
              </a:p>
              <a:p>
                <a:pPr>
                  <a:spcAft>
                    <a:spcPts val="600"/>
                  </a:spcAft>
                </a:pPr>
                <a:endParaRPr lang="vi-VN" sz="1400" dirty="0">
                  <a:solidFill>
                    <a:srgbClr val="444B52"/>
                  </a:solidFill>
                  <a:latin typeface="Arial"/>
                </a:endParaRPr>
              </a:p>
            </p:txBody>
          </p:sp>
        </mc:Choice>
        <mc:Fallback xmlns="">
          <p:sp>
            <p:nvSpPr>
              <p:cNvPr id="18" name="TextBox 17">
                <a:extLst>
                  <a:ext uri="{FF2B5EF4-FFF2-40B4-BE49-F238E27FC236}">
                    <a16:creationId xmlns:a16="http://schemas.microsoft.com/office/drawing/2014/main" id="{9D75F1DC-F2D0-C8A4-6ACC-F234B2CBC993}"/>
                  </a:ext>
                </a:extLst>
              </p:cNvPr>
              <p:cNvSpPr txBox="1">
                <a:spLocks noRot="1" noChangeAspect="1" noMove="1" noResize="1" noEditPoints="1" noAdjustHandles="1" noChangeArrowheads="1" noChangeShapeType="1" noTextEdit="1"/>
              </p:cNvSpPr>
              <p:nvPr/>
            </p:nvSpPr>
            <p:spPr>
              <a:xfrm>
                <a:off x="6559922" y="2914317"/>
                <a:ext cx="5272661" cy="1538883"/>
              </a:xfrm>
              <a:prstGeom prst="rect">
                <a:avLst/>
              </a:prstGeom>
              <a:blipFill>
                <a:blip r:embed="rId4"/>
                <a:stretch>
                  <a:fillRect l="-240" t="-820"/>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01C381AE-7CB1-1D9A-7070-9A3CC6C58D51}"/>
                  </a:ext>
                </a:extLst>
              </p:cNvPr>
              <p:cNvSpPr txBox="1"/>
              <p:nvPr/>
            </p:nvSpPr>
            <p:spPr>
              <a:xfrm>
                <a:off x="423469" y="3807772"/>
                <a:ext cx="3470177" cy="698140"/>
              </a:xfrm>
              <a:prstGeom prst="rect">
                <a:avLst/>
              </a:prstGeom>
              <a:noFill/>
              <a:ln w="12700">
                <a:noFill/>
              </a:ln>
            </p:spPr>
            <p:txBody>
              <a:bodyPr wrap="square">
                <a:spAutoFit/>
              </a:bodyPr>
              <a:lstStyle/>
              <a:p>
                <a:pPr/>
                <a14:m>
                  <m:oMathPara xmlns:m="http://schemas.openxmlformats.org/officeDocument/2006/math">
                    <m:oMath>
                      <m:r>
                        <a:rPr lang="en-VN" sz="1400" i="1" smtClean="0">
                          <a:solidFill>
                            <a:schemeClr val="tx1"/>
                          </a:solidFill>
                          <a:latin typeface="Cambria Math" panose="02040503050406030204" pitchFamily="18" charset="0"/>
                        </a:rPr>
                        <m:t>𝐿</m:t>
                      </m:r>
                      <m:d>
                        <m:dPr>
                          <m:ctrlPr>
                            <a:rPr lang="en-US" sz="1400" i="1">
                              <a:latin typeface="Cambria Math" panose="02040503050406030204" pitchFamily="18" charset="0"/>
                            </a:rPr>
                          </m:ctrlPr>
                        </m:dPr>
                        <m:e>
                          <m:r>
                            <a:rPr lang="en-US" sz="1400" i="1">
                              <a:latin typeface="Cambria Math" panose="02040503050406030204" pitchFamily="18" charset="0"/>
                            </a:rPr>
                            <m:t>𝜃</m:t>
                          </m:r>
                          <m:r>
                            <a:rPr lang="en-VN" sz="1400" i="0">
                              <a:solidFill>
                                <a:schemeClr val="tx1"/>
                              </a:solidFill>
                              <a:latin typeface="Cambria Math" panose="02040503050406030204" pitchFamily="18" charset="0"/>
                            </a:rPr>
                            <m:t>∣</m:t>
                          </m:r>
                          <m:r>
                            <a:rPr lang="en-VN" sz="1400" i="1">
                              <a:latin typeface="Cambria Math" panose="02040503050406030204" pitchFamily="18" charset="0"/>
                            </a:rPr>
                            <m:t>𝑥</m:t>
                          </m:r>
                        </m:e>
                      </m:d>
                      <m:r>
                        <a:rPr lang="en-VN" sz="1400" i="0">
                          <a:solidFill>
                            <a:schemeClr val="tx1"/>
                          </a:solidFill>
                          <a:latin typeface="Cambria Math" panose="02040503050406030204" pitchFamily="18" charset="0"/>
                        </a:rPr>
                        <m:t>=</m:t>
                      </m:r>
                      <m:nary>
                        <m:naryPr>
                          <m:chr m:val="∏"/>
                          <m:limLoc m:val="undOvr"/>
                          <m:ctrlPr>
                            <a:rPr lang="en-VN" sz="1400" i="1">
                              <a:latin typeface="Cambria Math" panose="02040503050406030204" pitchFamily="18" charset="0"/>
                            </a:rPr>
                          </m:ctrlPr>
                        </m:naryPr>
                        <m:sub>
                          <m:r>
                            <a:rPr lang="en-VN" sz="1400" i="1">
                              <a:latin typeface="Cambria Math" panose="02040503050406030204" pitchFamily="18" charset="0"/>
                            </a:rPr>
                            <m:t>𝑛</m:t>
                          </m:r>
                          <m:r>
                            <a:rPr lang="en-VN" sz="1400">
                              <a:latin typeface="Cambria Math" panose="02040503050406030204" pitchFamily="18" charset="0"/>
                            </a:rPr>
                            <m:t>=1</m:t>
                          </m:r>
                        </m:sub>
                        <m:sup>
                          <m:r>
                            <a:rPr lang="en-VN" sz="1400" i="1">
                              <a:latin typeface="Cambria Math" panose="02040503050406030204" pitchFamily="18" charset="0"/>
                            </a:rPr>
                            <m:t>𝑁</m:t>
                          </m:r>
                        </m:sup>
                        <m:e>
                          <m:r>
                            <a:rPr lang="en-VN" sz="1400" i="0" smtClean="0">
                              <a:solidFill>
                                <a:schemeClr val="accent6">
                                  <a:lumMod val="75000"/>
                                </a:schemeClr>
                              </a:solidFill>
                              <a:latin typeface="Cambria Math" panose="02040503050406030204" pitchFamily="18" charset="0"/>
                            </a:rPr>
                            <m:t>𝒩</m:t>
                          </m:r>
                        </m:e>
                      </m:nary>
                      <m:d>
                        <m:dPr>
                          <m:ctrlPr>
                            <a:rPr lang="en-VN" sz="1400" i="1">
                              <a:solidFill>
                                <a:schemeClr val="accent6">
                                  <a:lumMod val="75000"/>
                                </a:schemeClr>
                              </a:solidFill>
                              <a:latin typeface="Cambria Math" panose="02040503050406030204" pitchFamily="18" charset="0"/>
                            </a:rPr>
                          </m:ctrlPr>
                        </m:dPr>
                        <m:e>
                          <m:sSub>
                            <m:sSubPr>
                              <m:ctrlPr>
                                <a:rPr lang="en-VN" sz="1400" i="1">
                                  <a:solidFill>
                                    <a:schemeClr val="accent6">
                                      <a:lumMod val="75000"/>
                                    </a:schemeClr>
                                  </a:solidFill>
                                  <a:latin typeface="Cambria Math" panose="02040503050406030204" pitchFamily="18" charset="0"/>
                                </a:rPr>
                              </m:ctrlPr>
                            </m:sSubPr>
                            <m:e>
                              <m:r>
                                <a:rPr lang="en-VN" sz="1400" i="1">
                                  <a:solidFill>
                                    <a:schemeClr val="accent6">
                                      <a:lumMod val="75000"/>
                                    </a:schemeClr>
                                  </a:solidFill>
                                  <a:latin typeface="Cambria Math" panose="02040503050406030204" pitchFamily="18" charset="0"/>
                                </a:rPr>
                                <m:t>𝑥</m:t>
                              </m:r>
                            </m:e>
                            <m:sub>
                              <m:r>
                                <a:rPr lang="en-VN" sz="1400" i="1">
                                  <a:solidFill>
                                    <a:schemeClr val="accent6">
                                      <a:lumMod val="75000"/>
                                    </a:schemeClr>
                                  </a:solidFill>
                                  <a:latin typeface="Cambria Math" panose="02040503050406030204" pitchFamily="18" charset="0"/>
                                </a:rPr>
                                <m:t>𝑛</m:t>
                              </m:r>
                            </m:sub>
                          </m:sSub>
                          <m:r>
                            <a:rPr lang="en-VN" sz="1400" i="0">
                              <a:solidFill>
                                <a:schemeClr val="accent6">
                                  <a:lumMod val="75000"/>
                                </a:schemeClr>
                              </a:solidFill>
                              <a:latin typeface="Cambria Math" panose="02040503050406030204" pitchFamily="18" charset="0"/>
                            </a:rPr>
                            <m:t>∣</m:t>
                          </m:r>
                          <m:r>
                            <a:rPr lang="en-US" sz="1400" i="1" smtClean="0">
                              <a:solidFill>
                                <a:schemeClr val="accent6">
                                  <a:lumMod val="75000"/>
                                </a:schemeClr>
                              </a:solidFill>
                              <a:latin typeface="Cambria Math" panose="02040503050406030204" pitchFamily="18" charset="0"/>
                            </a:rPr>
                            <m:t>𝜃</m:t>
                          </m:r>
                        </m:e>
                      </m:d>
                    </m:oMath>
                  </m:oMathPara>
                </a14:m>
                <a:endParaRPr lang="en-VN" sz="1400" dirty="0"/>
              </a:p>
            </p:txBody>
          </p:sp>
        </mc:Choice>
        <mc:Fallback xmlns="">
          <p:sp>
            <p:nvSpPr>
              <p:cNvPr id="27" name="TextBox 26">
                <a:extLst>
                  <a:ext uri="{FF2B5EF4-FFF2-40B4-BE49-F238E27FC236}">
                    <a16:creationId xmlns:a16="http://schemas.microsoft.com/office/drawing/2014/main" id="{01C381AE-7CB1-1D9A-7070-9A3CC6C58D51}"/>
                  </a:ext>
                </a:extLst>
              </p:cNvPr>
              <p:cNvSpPr txBox="1">
                <a:spLocks noRot="1" noChangeAspect="1" noMove="1" noResize="1" noEditPoints="1" noAdjustHandles="1" noChangeArrowheads="1" noChangeShapeType="1" noTextEdit="1"/>
              </p:cNvSpPr>
              <p:nvPr/>
            </p:nvSpPr>
            <p:spPr>
              <a:xfrm>
                <a:off x="423469" y="3807772"/>
                <a:ext cx="3470177" cy="698140"/>
              </a:xfrm>
              <a:prstGeom prst="rect">
                <a:avLst/>
              </a:prstGeom>
              <a:blipFill>
                <a:blip r:embed="rId5"/>
                <a:stretch>
                  <a:fillRect t="-94545" b="-150909"/>
                </a:stretch>
              </a:blipFill>
              <a:ln w="12700">
                <a:noFill/>
              </a:ln>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34393D6-70E0-972E-DBBC-BB82A985795F}"/>
                  </a:ext>
                </a:extLst>
              </p:cNvPr>
              <p:cNvSpPr txBox="1"/>
              <p:nvPr/>
            </p:nvSpPr>
            <p:spPr>
              <a:xfrm>
                <a:off x="6447306" y="3809908"/>
                <a:ext cx="3103836" cy="698140"/>
              </a:xfrm>
              <a:prstGeom prst="rect">
                <a:avLst/>
              </a:prstGeom>
              <a:noFill/>
            </p:spPr>
            <p:txBody>
              <a:bodyPr wrap="square">
                <a:spAutoFit/>
              </a:bodyPr>
              <a:lstStyle/>
              <a:p>
                <a:pPr/>
                <a14:m>
                  <m:oMathPara xmlns:m="http://schemas.openxmlformats.org/officeDocument/2006/math">
                    <m:oMath>
                      <m:r>
                        <a:rPr lang="en-VN" sz="1400" b="0" i="1" smtClean="0">
                          <a:solidFill>
                            <a:schemeClr val="tx1"/>
                          </a:solidFill>
                          <a:latin typeface="Cambria Math" panose="02040503050406030204" pitchFamily="18" charset="0"/>
                        </a:rPr>
                        <m:t>𝐿</m:t>
                      </m:r>
                      <m:d>
                        <m:dPr>
                          <m:ctrlPr>
                            <a:rPr lang="en-US" sz="1400" i="1">
                              <a:latin typeface="Cambria Math" panose="02040503050406030204" pitchFamily="18" charset="0"/>
                            </a:rPr>
                          </m:ctrlPr>
                        </m:dPr>
                        <m:e>
                          <m:r>
                            <a:rPr lang="en-US" sz="1400" i="1">
                              <a:latin typeface="Cambria Math" panose="02040503050406030204" pitchFamily="18" charset="0"/>
                            </a:rPr>
                            <m:t>𝜃</m:t>
                          </m:r>
                          <m:r>
                            <a:rPr lang="en-VN" sz="1400" b="0">
                              <a:solidFill>
                                <a:schemeClr val="tx1"/>
                              </a:solidFill>
                              <a:latin typeface="Cambria Math" panose="02040503050406030204" pitchFamily="18" charset="0"/>
                            </a:rPr>
                            <m:t>∣</m:t>
                          </m:r>
                          <m:r>
                            <a:rPr lang="en-VN" sz="1400" i="1">
                              <a:latin typeface="Cambria Math" panose="02040503050406030204" pitchFamily="18" charset="0"/>
                            </a:rPr>
                            <m:t>𝑥</m:t>
                          </m:r>
                        </m:e>
                      </m:d>
                      <m:r>
                        <a:rPr lang="vi-VN" sz="1400" b="0" i="0" smtClean="0">
                          <a:solidFill>
                            <a:schemeClr val="tx1"/>
                          </a:solidFill>
                          <a:latin typeface="Cambria Math" panose="02040503050406030204" pitchFamily="18" charset="0"/>
                        </a:rPr>
                        <m:t>=</m:t>
                      </m:r>
                      <m:nary>
                        <m:naryPr>
                          <m:chr m:val="∏"/>
                          <m:limLoc m:val="undOvr"/>
                          <m:ctrlPr>
                            <a:rPr lang="en-VN" sz="1400" i="1" smtClean="0">
                              <a:latin typeface="Cambria Math" panose="02040503050406030204" pitchFamily="18" charset="0"/>
                            </a:rPr>
                          </m:ctrlPr>
                        </m:naryPr>
                        <m:sub>
                          <m:r>
                            <a:rPr lang="en-VN" sz="1400" i="1" smtClean="0">
                              <a:latin typeface="Cambria Math" panose="02040503050406030204" pitchFamily="18" charset="0"/>
                            </a:rPr>
                            <m:t>𝑛</m:t>
                          </m:r>
                          <m:r>
                            <a:rPr lang="en-VN" sz="1400" i="0">
                              <a:latin typeface="Cambria Math" panose="02040503050406030204" pitchFamily="18" charset="0"/>
                            </a:rPr>
                            <m:t>=1</m:t>
                          </m:r>
                        </m:sub>
                        <m:sup>
                          <m:r>
                            <a:rPr lang="en-VN" sz="1400" i="1">
                              <a:latin typeface="Cambria Math" panose="02040503050406030204" pitchFamily="18" charset="0"/>
                            </a:rPr>
                            <m:t>𝑁</m:t>
                          </m:r>
                        </m:sup>
                        <m:e>
                          <m:r>
                            <m:rPr>
                              <m:sty m:val="p"/>
                            </m:rPr>
                            <a:rPr lang="vi-VN" sz="1400" i="1" smtClean="0">
                              <a:solidFill>
                                <a:schemeClr val="accent6">
                                  <a:lumMod val="75000"/>
                                </a:schemeClr>
                              </a:solidFill>
                              <a:latin typeface="Cambria Math" panose="02040503050406030204" pitchFamily="18" charset="0"/>
                            </a:rPr>
                            <m:t>GMM</m:t>
                          </m:r>
                          <m:d>
                            <m:dPr>
                              <m:ctrlPr>
                                <a:rPr lang="en-VN" sz="1400" i="1">
                                  <a:solidFill>
                                    <a:schemeClr val="accent6">
                                      <a:lumMod val="75000"/>
                                    </a:schemeClr>
                                  </a:solidFill>
                                  <a:latin typeface="Cambria Math" panose="02040503050406030204" pitchFamily="18" charset="0"/>
                                </a:rPr>
                              </m:ctrlPr>
                            </m:dPr>
                            <m:e>
                              <m:sSub>
                                <m:sSubPr>
                                  <m:ctrlPr>
                                    <a:rPr lang="en-VN" sz="1400" i="1">
                                      <a:solidFill>
                                        <a:schemeClr val="accent6">
                                          <a:lumMod val="75000"/>
                                        </a:schemeClr>
                                      </a:solidFill>
                                      <a:latin typeface="Cambria Math" panose="02040503050406030204" pitchFamily="18" charset="0"/>
                                    </a:rPr>
                                  </m:ctrlPr>
                                </m:sSubPr>
                                <m:e>
                                  <m:r>
                                    <a:rPr lang="en-VN" sz="1400" i="1">
                                      <a:solidFill>
                                        <a:schemeClr val="accent6">
                                          <a:lumMod val="75000"/>
                                        </a:schemeClr>
                                      </a:solidFill>
                                      <a:latin typeface="Cambria Math" panose="02040503050406030204" pitchFamily="18" charset="0"/>
                                    </a:rPr>
                                    <m:t>𝑥</m:t>
                                  </m:r>
                                </m:e>
                                <m:sub>
                                  <m:r>
                                    <a:rPr lang="en-VN" sz="1400" i="1">
                                      <a:solidFill>
                                        <a:schemeClr val="accent6">
                                          <a:lumMod val="75000"/>
                                        </a:schemeClr>
                                      </a:solidFill>
                                      <a:latin typeface="Cambria Math" panose="02040503050406030204" pitchFamily="18" charset="0"/>
                                    </a:rPr>
                                    <m:t>𝑛</m:t>
                                  </m:r>
                                </m:sub>
                              </m:sSub>
                              <m:r>
                                <a:rPr lang="en-US" sz="1400" i="1">
                                  <a:solidFill>
                                    <a:schemeClr val="accent6">
                                      <a:lumMod val="75000"/>
                                    </a:schemeClr>
                                  </a:solidFill>
                                  <a:latin typeface="Cambria Math" panose="02040503050406030204" pitchFamily="18" charset="0"/>
                                </a:rPr>
                                <m:t>∣</m:t>
                              </m:r>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𝜃</m:t>
                                  </m:r>
                                </m:e>
                                <m:sub>
                                  <m:r>
                                    <a:rPr lang="en-US" sz="1400" i="1">
                                      <a:solidFill>
                                        <a:schemeClr val="accent6">
                                          <a:lumMod val="75000"/>
                                        </a:schemeClr>
                                      </a:solidFill>
                                      <a:latin typeface="Cambria Math" panose="02040503050406030204" pitchFamily="18" charset="0"/>
                                    </a:rPr>
                                    <m:t>𝑘</m:t>
                                  </m:r>
                                </m:sub>
                              </m:sSub>
                            </m:e>
                          </m:d>
                          <m:r>
                            <m:rPr>
                              <m:nor/>
                            </m:rPr>
                            <a:rPr lang="en-VN" sz="1400" i="0" dirty="0"/>
                            <m:t> </m:t>
                          </m:r>
                        </m:e>
                      </m:nary>
                    </m:oMath>
                  </m:oMathPara>
                </a14:m>
                <a:endParaRPr lang="en-VN" sz="1400" dirty="0"/>
              </a:p>
            </p:txBody>
          </p:sp>
        </mc:Choice>
        <mc:Fallback xmlns="">
          <p:sp>
            <p:nvSpPr>
              <p:cNvPr id="6" name="TextBox 5">
                <a:extLst>
                  <a:ext uri="{FF2B5EF4-FFF2-40B4-BE49-F238E27FC236}">
                    <a16:creationId xmlns:a16="http://schemas.microsoft.com/office/drawing/2014/main" id="{D34393D6-70E0-972E-DBBC-BB82A985795F}"/>
                  </a:ext>
                </a:extLst>
              </p:cNvPr>
              <p:cNvSpPr txBox="1">
                <a:spLocks noRot="1" noChangeAspect="1" noMove="1" noResize="1" noEditPoints="1" noAdjustHandles="1" noChangeArrowheads="1" noChangeShapeType="1" noTextEdit="1"/>
              </p:cNvSpPr>
              <p:nvPr/>
            </p:nvSpPr>
            <p:spPr>
              <a:xfrm>
                <a:off x="6447306" y="3809908"/>
                <a:ext cx="3103836" cy="698140"/>
              </a:xfrm>
              <a:prstGeom prst="rect">
                <a:avLst/>
              </a:prstGeom>
              <a:blipFill>
                <a:blip r:embed="rId6"/>
                <a:stretch>
                  <a:fillRect t="-92857" b="-146429"/>
                </a:stretch>
              </a:blipFill>
            </p:spPr>
            <p:txBody>
              <a:bodyPr/>
              <a:lstStyle/>
              <a:p>
                <a:r>
                  <a:rPr lang="en-VN">
                    <a:noFill/>
                  </a:rPr>
                  <a:t> </a:t>
                </a:r>
              </a:p>
            </p:txBody>
          </p:sp>
        </mc:Fallback>
      </mc:AlternateContent>
      <p:sp>
        <p:nvSpPr>
          <p:cNvPr id="12" name="TextBox 11">
            <a:extLst>
              <a:ext uri="{FF2B5EF4-FFF2-40B4-BE49-F238E27FC236}">
                <a16:creationId xmlns:a16="http://schemas.microsoft.com/office/drawing/2014/main" id="{0BEF5ECB-F9C1-8970-013C-11407763F3A0}"/>
              </a:ext>
            </a:extLst>
          </p:cNvPr>
          <p:cNvSpPr txBox="1"/>
          <p:nvPr/>
        </p:nvSpPr>
        <p:spPr>
          <a:xfrm>
            <a:off x="364066" y="1267772"/>
            <a:ext cx="10961159" cy="892552"/>
          </a:xfrm>
          <a:prstGeom prst="rect">
            <a:avLst/>
          </a:prstGeom>
          <a:noFill/>
        </p:spPr>
        <p:txBody>
          <a:bodyPr wrap="square">
            <a:spAutoFit/>
          </a:bodyPr>
          <a:lstStyle/>
          <a:p>
            <a:pPr>
              <a:spcAft>
                <a:spcPts val="600"/>
              </a:spcAft>
            </a:pPr>
            <a:r>
              <a:rPr lang="vi-VN" sz="1400" b="1" dirty="0">
                <a:solidFill>
                  <a:srgbClr val="1B8A7A"/>
                </a:solidFill>
                <a:latin typeface="Arial"/>
              </a:rPr>
              <a:t>2.1. Gaussian Mixture Model (GMM) - </a:t>
            </a:r>
            <a:r>
              <a:rPr lang="vi-VN" sz="1000" b="1" dirty="0">
                <a:solidFill>
                  <a:schemeClr val="accent5">
                    <a:lumMod val="60000"/>
                    <a:lumOff val="40000"/>
                  </a:schemeClr>
                </a:solidFill>
                <a:latin typeface="Arial"/>
              </a:rPr>
              <a:t>Mô hình hỗn hợp phân phối chuẩn</a:t>
            </a:r>
            <a:endParaRPr lang="vi-VN" sz="1400" b="1" dirty="0">
              <a:solidFill>
                <a:schemeClr val="bg2">
                  <a:lumMod val="50000"/>
                </a:schemeClr>
              </a:solidFill>
              <a:latin typeface="Arial"/>
            </a:endParaRPr>
          </a:p>
          <a:p>
            <a:pPr>
              <a:spcAft>
                <a:spcPts val="600"/>
              </a:spcAft>
            </a:pPr>
            <a:r>
              <a:rPr lang="vi-VN" sz="1400" b="1" dirty="0">
                <a:solidFill>
                  <a:schemeClr val="bg2">
                    <a:lumMod val="50000"/>
                  </a:schemeClr>
                </a:solidFill>
                <a:latin typeface="Arial"/>
              </a:rPr>
              <a:t>2.1.2. Tìm hàm mục tiêu</a:t>
            </a:r>
          </a:p>
          <a:p>
            <a:pPr>
              <a:spcAft>
                <a:spcPts val="600"/>
              </a:spcAft>
            </a:pPr>
            <a:r>
              <a:rPr lang="vi-VN" sz="1400" dirty="0">
                <a:solidFill>
                  <a:srgbClr val="444B52"/>
                </a:solidFill>
                <a:latin typeface="Arial"/>
              </a:rPr>
              <a:t>	- </a:t>
            </a:r>
            <a:r>
              <a:rPr lang="vi-VN" sz="1400" dirty="0">
                <a:solidFill>
                  <a:srgbClr val="444B52"/>
                </a:solidFill>
                <a:highlight>
                  <a:srgbClr val="00FFFF"/>
                </a:highlight>
                <a:latin typeface="Arial"/>
              </a:rPr>
              <a:t>Phân phối chuẩn</a:t>
            </a:r>
            <a:r>
              <a:rPr lang="vi-VN" sz="1400" dirty="0">
                <a:solidFill>
                  <a:srgbClr val="444B52"/>
                </a:solidFill>
                <a:latin typeface="Arial"/>
              </a:rPr>
              <a:t> và </a:t>
            </a:r>
            <a:r>
              <a:rPr lang="vi-VN" sz="1400" dirty="0">
                <a:solidFill>
                  <a:srgbClr val="444B52"/>
                </a:solidFill>
                <a:highlight>
                  <a:srgbClr val="00FFFF"/>
                </a:highlight>
                <a:latin typeface="Arial"/>
              </a:rPr>
              <a:t>Hỗn hợp phân phối chuẩn</a:t>
            </a:r>
            <a:r>
              <a:rPr lang="vi-VN" sz="1400" dirty="0">
                <a:solidFill>
                  <a:srgbClr val="444B52"/>
                </a:solidFill>
                <a:latin typeface="Arial"/>
              </a:rPr>
              <a:t> đều là hàm mật độ xác suất</a:t>
            </a:r>
            <a:endParaRPr lang="vi-VN" sz="1400" dirty="0">
              <a:solidFill>
                <a:schemeClr val="bg2">
                  <a:lumMod val="50000"/>
                </a:schemeClr>
              </a:solidFill>
              <a:latin typeface="Arial"/>
            </a:endParaRPr>
          </a:p>
        </p:txBody>
      </p:sp>
      <p:sp>
        <p:nvSpPr>
          <p:cNvPr id="26" name="TextBox 25">
            <a:extLst>
              <a:ext uri="{FF2B5EF4-FFF2-40B4-BE49-F238E27FC236}">
                <a16:creationId xmlns:a16="http://schemas.microsoft.com/office/drawing/2014/main" id="{A3C4FD7E-1E7D-53AE-38A4-52534A9988DA}"/>
              </a:ext>
            </a:extLst>
          </p:cNvPr>
          <p:cNvSpPr txBox="1"/>
          <p:nvPr/>
        </p:nvSpPr>
        <p:spPr>
          <a:xfrm>
            <a:off x="2085174" y="5819686"/>
            <a:ext cx="184731" cy="369332"/>
          </a:xfrm>
          <a:prstGeom prst="rect">
            <a:avLst/>
          </a:prstGeom>
          <a:noFill/>
        </p:spPr>
        <p:txBody>
          <a:bodyPr wrap="none" rtlCol="0">
            <a:spAutoFit/>
          </a:bodyPr>
          <a:lstStyle/>
          <a:p>
            <a:endParaRPr lang="en-VN" dirty="0"/>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277FA3E7-859B-84CB-B0FA-A098BF6547E8}"/>
                  </a:ext>
                </a:extLst>
              </p:cNvPr>
              <p:cNvSpPr txBox="1"/>
              <p:nvPr/>
            </p:nvSpPr>
            <p:spPr>
              <a:xfrm>
                <a:off x="7498410" y="4654056"/>
                <a:ext cx="2183803" cy="605807"/>
              </a:xfrm>
              <a:prstGeom prst="rect">
                <a:avLst/>
              </a:prstGeom>
              <a:noFill/>
              <a:ln w="12700">
                <a:solidFill>
                  <a:schemeClr val="accent1"/>
                </a:solidFill>
              </a:ln>
            </p:spPr>
            <p:txBody>
              <a:bodyPr wrap="none" lIns="0" tIns="0" rIns="0" bIns="0" rtlCol="0">
                <a:spAutoFit/>
              </a:bodyPr>
              <a:lstStyle/>
              <a:p>
                <a:pPr/>
                <a14:m>
                  <m:oMathPara xmlns:m="http://schemas.openxmlformats.org/officeDocument/2006/math">
                    <m:oMath>
                      <m:r>
                        <a:rPr lang="en-US" sz="1400" i="1">
                          <a:latin typeface="Cambria Math" panose="02040503050406030204" pitchFamily="18" charset="0"/>
                        </a:rPr>
                        <m:t>=</m:t>
                      </m:r>
                      <m:nary>
                        <m:naryPr>
                          <m:chr m:val="∏"/>
                          <m:limLoc m:val="undOvr"/>
                          <m:ctrlPr>
                            <a:rPr lang="en-US" sz="1400" i="1">
                              <a:latin typeface="Cambria Math" panose="02040503050406030204" pitchFamily="18" charset="0"/>
                            </a:rPr>
                          </m:ctrlPr>
                        </m:naryPr>
                        <m:sub>
                          <m:r>
                            <a:rPr lang="en-US" sz="1400" i="1">
                              <a:latin typeface="Cambria Math" panose="02040503050406030204" pitchFamily="18" charset="0"/>
                            </a:rPr>
                            <m:t>𝑛</m:t>
                          </m:r>
                          <m:r>
                            <a:rPr lang="en-US" sz="1400" i="1">
                              <a:latin typeface="Cambria Math" panose="02040503050406030204" pitchFamily="18" charset="0"/>
                            </a:rPr>
                            <m:t>=1</m:t>
                          </m:r>
                        </m:sub>
                        <m:sup>
                          <m:r>
                            <a:rPr lang="en-US" sz="1400" i="1">
                              <a:latin typeface="Cambria Math" panose="02040503050406030204" pitchFamily="18" charset="0"/>
                            </a:rPr>
                            <m:t>𝑁</m:t>
                          </m:r>
                        </m:sup>
                        <m:e>
                          <m:nary>
                            <m:naryPr>
                              <m:chr m:val="∑"/>
                              <m:limLoc m:val="undOvr"/>
                              <m:ctrlPr>
                                <a:rPr lang="en-US" sz="1400" i="1">
                                  <a:solidFill>
                                    <a:schemeClr val="accent6">
                                      <a:lumMod val="75000"/>
                                    </a:schemeClr>
                                  </a:solidFill>
                                  <a:latin typeface="Cambria Math" panose="02040503050406030204" pitchFamily="18" charset="0"/>
                                </a:rPr>
                              </m:ctrlPr>
                            </m:naryPr>
                            <m:sub>
                              <m:r>
                                <a:rPr lang="en-US" sz="1400" i="1">
                                  <a:solidFill>
                                    <a:schemeClr val="accent6">
                                      <a:lumMod val="75000"/>
                                    </a:schemeClr>
                                  </a:solidFill>
                                  <a:latin typeface="Cambria Math" panose="02040503050406030204" pitchFamily="18" charset="0"/>
                                </a:rPr>
                                <m:t>𝑘</m:t>
                              </m:r>
                              <m:r>
                                <a:rPr lang="en-US" sz="1400" i="1">
                                  <a:solidFill>
                                    <a:schemeClr val="accent6">
                                      <a:lumMod val="75000"/>
                                    </a:schemeClr>
                                  </a:solidFill>
                                  <a:latin typeface="Cambria Math" panose="02040503050406030204" pitchFamily="18" charset="0"/>
                                </a:rPr>
                                <m:t>=1</m:t>
                              </m:r>
                            </m:sub>
                            <m:sup>
                              <m:r>
                                <a:rPr lang="en-US" sz="1400" i="1">
                                  <a:solidFill>
                                    <a:schemeClr val="accent6">
                                      <a:lumMod val="75000"/>
                                    </a:schemeClr>
                                  </a:solidFill>
                                  <a:latin typeface="Cambria Math" panose="02040503050406030204" pitchFamily="18" charset="0"/>
                                </a:rPr>
                                <m:t>𝐾</m:t>
                              </m:r>
                            </m:sup>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𝜋</m:t>
                                  </m:r>
                                </m:e>
                                <m:sub>
                                  <m:r>
                                    <a:rPr lang="en-US" sz="1400" i="1">
                                      <a:solidFill>
                                        <a:schemeClr val="accent6">
                                          <a:lumMod val="75000"/>
                                        </a:schemeClr>
                                      </a:solidFill>
                                      <a:latin typeface="Cambria Math" panose="02040503050406030204" pitchFamily="18" charset="0"/>
                                    </a:rPr>
                                    <m:t>𝑘</m:t>
                                  </m:r>
                                </m:sub>
                              </m:sSub>
                            </m:e>
                          </m:nary>
                        </m:e>
                      </m:nary>
                      <m:r>
                        <a:rPr lang="en-US" sz="1400" i="1" smtClean="0">
                          <a:solidFill>
                            <a:schemeClr val="accent6">
                              <a:lumMod val="75000"/>
                            </a:schemeClr>
                          </a:solidFill>
                          <a:latin typeface="Cambria Math" panose="02040503050406030204" pitchFamily="18" charset="0"/>
                        </a:rPr>
                        <m:t>𝒩</m:t>
                      </m:r>
                      <m:d>
                        <m:dPr>
                          <m:ctrlPr>
                            <a:rPr lang="en-US" sz="1400" i="1">
                              <a:solidFill>
                                <a:schemeClr val="accent6">
                                  <a:lumMod val="75000"/>
                                </a:schemeClr>
                              </a:solidFill>
                              <a:latin typeface="Cambria Math" panose="02040503050406030204" pitchFamily="18" charset="0"/>
                            </a:rPr>
                          </m:ctrlPr>
                        </m:dPr>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𝑥</m:t>
                              </m:r>
                            </m:e>
                            <m:sub>
                              <m:r>
                                <a:rPr lang="en-US" sz="1400" i="1">
                                  <a:solidFill>
                                    <a:schemeClr val="accent6">
                                      <a:lumMod val="75000"/>
                                    </a:schemeClr>
                                  </a:solidFill>
                                  <a:latin typeface="Cambria Math" panose="02040503050406030204" pitchFamily="18" charset="0"/>
                                </a:rPr>
                                <m:t>𝑛</m:t>
                              </m:r>
                            </m:sub>
                          </m:sSub>
                          <m:r>
                            <a:rPr lang="en-US" sz="1400" i="1">
                              <a:solidFill>
                                <a:schemeClr val="accent6">
                                  <a:lumMod val="75000"/>
                                </a:schemeClr>
                              </a:solidFill>
                              <a:latin typeface="Cambria Math" panose="02040503050406030204" pitchFamily="18" charset="0"/>
                            </a:rPr>
                            <m:t>∣</m:t>
                          </m:r>
                          <m:sSub>
                            <m:sSubPr>
                              <m:ctrlPr>
                                <a:rPr lang="en-US" sz="1400" b="0" i="1">
                                  <a:solidFill>
                                    <a:schemeClr val="accent6">
                                      <a:lumMod val="75000"/>
                                    </a:schemeClr>
                                  </a:solidFill>
                                  <a:latin typeface="Cambria Math" panose="02040503050406030204" pitchFamily="18" charset="0"/>
                                </a:rPr>
                              </m:ctrlPr>
                            </m:sSubPr>
                            <m:e>
                              <m:r>
                                <a:rPr lang="en-US" sz="1400" b="0" i="1">
                                  <a:solidFill>
                                    <a:schemeClr val="accent6">
                                      <a:lumMod val="75000"/>
                                    </a:schemeClr>
                                  </a:solidFill>
                                  <a:latin typeface="Cambria Math" panose="02040503050406030204" pitchFamily="18" charset="0"/>
                                </a:rPr>
                                <m:t>𝜇</m:t>
                              </m:r>
                            </m:e>
                            <m:sub>
                              <m:r>
                                <a:rPr lang="en-US" sz="1400" b="0" i="1">
                                  <a:solidFill>
                                    <a:schemeClr val="accent6">
                                      <a:lumMod val="75000"/>
                                    </a:schemeClr>
                                  </a:solidFill>
                                  <a:latin typeface="Cambria Math" panose="02040503050406030204" pitchFamily="18" charset="0"/>
                                </a:rPr>
                                <m:t>𝑘</m:t>
                              </m:r>
                            </m:sub>
                          </m:sSub>
                          <m:r>
                            <a:rPr lang="vi-VN" sz="1400" b="0" i="1" smtClean="0">
                              <a:solidFill>
                                <a:schemeClr val="accent6">
                                  <a:lumMod val="75000"/>
                                </a:schemeClr>
                              </a:solidFill>
                              <a:latin typeface="Cambria Math" panose="02040503050406030204" pitchFamily="18" charset="0"/>
                            </a:rPr>
                            <m:t>,</m:t>
                          </m:r>
                          <m:sSubSup>
                            <m:sSubSupPr>
                              <m:ctrlPr>
                                <a:rPr lang="en-US" sz="1400" b="0" i="1">
                                  <a:solidFill>
                                    <a:schemeClr val="accent6">
                                      <a:lumMod val="75000"/>
                                    </a:schemeClr>
                                  </a:solidFill>
                                  <a:latin typeface="Cambria Math" panose="02040503050406030204" pitchFamily="18" charset="0"/>
                                </a:rPr>
                              </m:ctrlPr>
                            </m:sSubSupPr>
                            <m:e>
                              <m:r>
                                <a:rPr lang="en-US" sz="1400" b="0" i="1">
                                  <a:solidFill>
                                    <a:schemeClr val="accent6">
                                      <a:lumMod val="75000"/>
                                    </a:schemeClr>
                                  </a:solidFill>
                                  <a:latin typeface="Cambria Math" panose="02040503050406030204" pitchFamily="18" charset="0"/>
                                </a:rPr>
                                <m:t>𝜎</m:t>
                              </m:r>
                            </m:e>
                            <m:sub>
                              <m:r>
                                <a:rPr lang="en-US" sz="1400" b="0" i="1">
                                  <a:solidFill>
                                    <a:schemeClr val="accent6">
                                      <a:lumMod val="75000"/>
                                    </a:schemeClr>
                                  </a:solidFill>
                                  <a:latin typeface="Cambria Math" panose="02040503050406030204" pitchFamily="18" charset="0"/>
                                </a:rPr>
                                <m:t>𝑘</m:t>
                              </m:r>
                            </m:sub>
                            <m:sup>
                              <m:r>
                                <a:rPr lang="en-US" sz="1400" b="0" i="1">
                                  <a:solidFill>
                                    <a:schemeClr val="accent6">
                                      <a:lumMod val="75000"/>
                                    </a:schemeClr>
                                  </a:solidFill>
                                  <a:latin typeface="Cambria Math" panose="02040503050406030204" pitchFamily="18" charset="0"/>
                                </a:rPr>
                                <m:t>2</m:t>
                              </m:r>
                            </m:sup>
                          </m:sSubSup>
                        </m:e>
                      </m:d>
                    </m:oMath>
                  </m:oMathPara>
                </a14:m>
                <a:endParaRPr/>
              </a:p>
            </p:txBody>
          </p:sp>
        </mc:Choice>
        <mc:Fallback xmlns="">
          <p:sp>
            <p:nvSpPr>
              <p:cNvPr id="40" name="TextBox 39">
                <a:extLst>
                  <a:ext uri="{FF2B5EF4-FFF2-40B4-BE49-F238E27FC236}">
                    <a16:creationId xmlns:a16="http://schemas.microsoft.com/office/drawing/2014/main" id="{277FA3E7-859B-84CB-B0FA-A098BF6547E8}"/>
                  </a:ext>
                </a:extLst>
              </p:cNvPr>
              <p:cNvSpPr txBox="1">
                <a:spLocks noRot="1" noChangeAspect="1" noMove="1" noResize="1" noEditPoints="1" noAdjustHandles="1" noChangeArrowheads="1" noChangeShapeType="1" noTextEdit="1"/>
              </p:cNvSpPr>
              <p:nvPr/>
            </p:nvSpPr>
            <p:spPr>
              <a:xfrm>
                <a:off x="7498410" y="4654056"/>
                <a:ext cx="2183803" cy="605807"/>
              </a:xfrm>
              <a:prstGeom prst="rect">
                <a:avLst/>
              </a:prstGeom>
              <a:blipFill>
                <a:blip r:embed="rId7"/>
                <a:stretch>
                  <a:fillRect l="-20690" t="-108000" r="-5172" b="-172000"/>
                </a:stretch>
              </a:blipFill>
              <a:ln w="12700">
                <a:solidFill>
                  <a:schemeClr val="accent1"/>
                </a:solidFill>
              </a:ln>
            </p:spPr>
            <p:txBody>
              <a:bodyPr/>
              <a:lstStyle/>
              <a:p>
                <a:r>
                  <a:rPr lang="en-VN">
                    <a:noFill/>
                  </a:rPr>
                  <a:t> </a:t>
                </a:r>
              </a:p>
            </p:txBody>
          </p:sp>
        </mc:Fallback>
      </mc:AlternateContent>
      <p:sp>
        <p:nvSpPr>
          <p:cNvPr id="41" name="TextBox 40">
            <a:extLst>
              <a:ext uri="{FF2B5EF4-FFF2-40B4-BE49-F238E27FC236}">
                <a16:creationId xmlns:a16="http://schemas.microsoft.com/office/drawing/2014/main" id="{03B238A1-2A43-E433-B549-3761EBE1BE35}"/>
              </a:ext>
            </a:extLst>
          </p:cNvPr>
          <p:cNvSpPr txBox="1"/>
          <p:nvPr/>
        </p:nvSpPr>
        <p:spPr>
          <a:xfrm>
            <a:off x="2572284" y="5392396"/>
            <a:ext cx="237566" cy="369332"/>
          </a:xfrm>
          <a:prstGeom prst="rect">
            <a:avLst/>
          </a:prstGeom>
          <a:noFill/>
        </p:spPr>
        <p:txBody>
          <a:bodyPr wrap="none" rtlCol="0">
            <a:spAutoFit/>
          </a:bodyPr>
          <a:lstStyle/>
          <a:p>
            <a:r>
              <a:rPr lang="en-VN" dirty="0"/>
              <a:t> </a:t>
            </a: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B578129-7352-4CAD-24CE-3189FEC841B2}"/>
                  </a:ext>
                </a:extLst>
              </p:cNvPr>
              <p:cNvSpPr txBox="1"/>
              <p:nvPr/>
            </p:nvSpPr>
            <p:spPr>
              <a:xfrm>
                <a:off x="578743" y="5392396"/>
                <a:ext cx="4321041" cy="307777"/>
              </a:xfrm>
              <a:prstGeom prst="rect">
                <a:avLst/>
              </a:prstGeom>
              <a:noFill/>
            </p:spPr>
            <p:txBody>
              <a:bodyPr wrap="square">
                <a:spAutoFit/>
              </a:bodyPr>
              <a:lstStyle/>
              <a:p>
                <a:pPr>
                  <a:spcAft>
                    <a:spcPts val="600"/>
                  </a:spcAft>
                </a:pPr>
                <a14:m>
                  <m:oMath xmlns:m="http://schemas.openxmlformats.org/officeDocument/2006/math">
                    <m:r>
                      <a:rPr lang="en-US" sz="1400" i="1" smtClean="0">
                        <a:solidFill>
                          <a:schemeClr val="tx1"/>
                        </a:solidFill>
                        <a:latin typeface="Cambria Math" panose="02040503050406030204" pitchFamily="18" charset="0"/>
                      </a:rPr>
                      <m:t>𝜃</m:t>
                    </m:r>
                  </m:oMath>
                </a14:m>
                <a:r>
                  <a:rPr lang="vi-VN" sz="1400" dirty="0">
                    <a:solidFill>
                      <a:srgbClr val="444B52"/>
                    </a:solidFill>
                    <a:latin typeface="Arial"/>
                  </a:rPr>
                  <a:t> là bộ 2 tham số: </a:t>
                </a:r>
                <a14:m>
                  <m:oMath xmlns:m="http://schemas.openxmlformats.org/officeDocument/2006/math">
                    <m:r>
                      <a:rPr lang="en-VN" sz="1400" b="1" i="1">
                        <a:solidFill>
                          <a:schemeClr val="tx2">
                            <a:lumMod val="60000"/>
                            <a:lumOff val="40000"/>
                          </a:schemeClr>
                        </a:solidFill>
                        <a:latin typeface="Cambria Math" panose="02040503050406030204" pitchFamily="18" charset="0"/>
                      </a:rPr>
                      <m:t>𝝁</m:t>
                    </m:r>
                  </m:oMath>
                </a14:m>
                <a:r>
                  <a:rPr lang="vi-VN" sz="1400" b="1" dirty="0">
                    <a:solidFill>
                      <a:srgbClr val="444B52"/>
                    </a:solidFill>
                    <a:latin typeface="Arial"/>
                    <a:sym typeface="Wingdings" pitchFamily="2" charset="2"/>
                  </a:rPr>
                  <a:t> </a:t>
                </a:r>
                <a:r>
                  <a:rPr lang="vi-VN" sz="1400" dirty="0">
                    <a:solidFill>
                      <a:srgbClr val="444B52"/>
                    </a:solidFill>
                    <a:latin typeface="Arial"/>
                    <a:sym typeface="Wingdings" pitchFamily="2" charset="2"/>
                  </a:rPr>
                  <a:t>và</a:t>
                </a:r>
                <a:r>
                  <a:rPr lang="vi-VN" sz="1400" b="1" dirty="0">
                    <a:solidFill>
                      <a:srgbClr val="444B52"/>
                    </a:solidFill>
                    <a:latin typeface="Arial"/>
                    <a:sym typeface="Wingdings" pitchFamily="2" charset="2"/>
                  </a:rPr>
                  <a:t> </a:t>
                </a:r>
                <a14:m>
                  <m:oMath xmlns:m="http://schemas.openxmlformats.org/officeDocument/2006/math">
                    <m:r>
                      <a:rPr lang="en-US" sz="1400" b="1" i="1" dirty="0">
                        <a:solidFill>
                          <a:srgbClr val="00B050"/>
                        </a:solidFill>
                        <a:latin typeface="Cambria Math" panose="02040503050406030204" pitchFamily="18" charset="0"/>
                      </a:rPr>
                      <m:t>𝝈</m:t>
                    </m:r>
                  </m:oMath>
                </a14:m>
                <a:endParaRPr lang="vi-VN" sz="1400" dirty="0">
                  <a:solidFill>
                    <a:srgbClr val="444B52"/>
                  </a:solidFill>
                  <a:latin typeface="Arial"/>
                </a:endParaRPr>
              </a:p>
            </p:txBody>
          </p:sp>
        </mc:Choice>
        <mc:Fallback xmlns="">
          <p:sp>
            <p:nvSpPr>
              <p:cNvPr id="42" name="TextBox 41">
                <a:extLst>
                  <a:ext uri="{FF2B5EF4-FFF2-40B4-BE49-F238E27FC236}">
                    <a16:creationId xmlns:a16="http://schemas.microsoft.com/office/drawing/2014/main" id="{3B578129-7352-4CAD-24CE-3189FEC841B2}"/>
                  </a:ext>
                </a:extLst>
              </p:cNvPr>
              <p:cNvSpPr txBox="1">
                <a:spLocks noRot="1" noChangeAspect="1" noMove="1" noResize="1" noEditPoints="1" noAdjustHandles="1" noChangeArrowheads="1" noChangeShapeType="1" noTextEdit="1"/>
              </p:cNvSpPr>
              <p:nvPr/>
            </p:nvSpPr>
            <p:spPr>
              <a:xfrm>
                <a:off x="578743" y="5392396"/>
                <a:ext cx="4321041" cy="307777"/>
              </a:xfrm>
              <a:prstGeom prst="rect">
                <a:avLst/>
              </a:prstGeom>
              <a:blipFill>
                <a:blip r:embed="rId8"/>
                <a:stretch>
                  <a:fillRect t="-4000" b="-24000"/>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77A72B27-E841-89AC-2CC6-B7858D6F2250}"/>
                  </a:ext>
                </a:extLst>
              </p:cNvPr>
              <p:cNvSpPr txBox="1"/>
              <p:nvPr/>
            </p:nvSpPr>
            <p:spPr>
              <a:xfrm>
                <a:off x="6559922" y="5392395"/>
                <a:ext cx="4321041" cy="307777"/>
              </a:xfrm>
              <a:prstGeom prst="rect">
                <a:avLst/>
              </a:prstGeom>
              <a:noFill/>
            </p:spPr>
            <p:txBody>
              <a:bodyPr wrap="square">
                <a:spAutoFit/>
              </a:bodyPr>
              <a:lstStyle/>
              <a:p>
                <a:pPr>
                  <a:spcAft>
                    <a:spcPts val="600"/>
                  </a:spcAft>
                </a:pPr>
                <a14:m>
                  <m:oMath xmlns:m="http://schemas.openxmlformats.org/officeDocument/2006/math">
                    <m:r>
                      <a:rPr lang="en-US" sz="1400" i="1" smtClean="0">
                        <a:solidFill>
                          <a:schemeClr val="tx1"/>
                        </a:solidFill>
                        <a:latin typeface="Cambria Math" panose="02040503050406030204" pitchFamily="18" charset="0"/>
                      </a:rPr>
                      <m:t>𝜃</m:t>
                    </m:r>
                  </m:oMath>
                </a14:m>
                <a:r>
                  <a:rPr lang="vi-VN" sz="1400" dirty="0">
                    <a:solidFill>
                      <a:srgbClr val="444B52"/>
                    </a:solidFill>
                    <a:latin typeface="Arial"/>
                  </a:rPr>
                  <a:t> là </a:t>
                </a:r>
                <a14:m>
                  <m:oMath xmlns:m="http://schemas.openxmlformats.org/officeDocument/2006/math">
                    <m:r>
                      <a:rPr lang="en-US" sz="1400" i="1">
                        <a:solidFill>
                          <a:schemeClr val="accent6">
                            <a:lumMod val="75000"/>
                          </a:schemeClr>
                        </a:solidFill>
                        <a:latin typeface="Cambria Math" panose="02040503050406030204" pitchFamily="18" charset="0"/>
                      </a:rPr>
                      <m:t>𝑘</m:t>
                    </m:r>
                  </m:oMath>
                </a14:m>
                <a:r>
                  <a:rPr lang="vi-VN" sz="1400" dirty="0">
                    <a:solidFill>
                      <a:srgbClr val="444B52"/>
                    </a:solidFill>
                    <a:latin typeface="Arial"/>
                  </a:rPr>
                  <a:t> bộ 3 tham số:</a:t>
                </a:r>
                <a14:m>
                  <m:oMath xmlns:m="http://schemas.openxmlformats.org/officeDocument/2006/math">
                    <m:r>
                      <a:rPr lang="vi-VN" sz="1400" b="0" i="0" smtClean="0">
                        <a:solidFill>
                          <a:schemeClr val="accent6">
                            <a:lumMod val="75000"/>
                          </a:schemeClr>
                        </a:solidFill>
                        <a:highlight>
                          <a:srgbClr val="FFFF00"/>
                        </a:highlight>
                        <a:latin typeface="Cambria Math" panose="02040503050406030204" pitchFamily="18" charset="0"/>
                      </a:rPr>
                      <m:t> </m:t>
                    </m:r>
                    <m:sSub>
                      <m:sSubPr>
                        <m:ctrlPr>
                          <a:rPr lang="en-US" sz="1400" b="1" i="1">
                            <a:solidFill>
                              <a:schemeClr val="accent6">
                                <a:lumMod val="75000"/>
                              </a:schemeClr>
                            </a:solidFill>
                            <a:latin typeface="Cambria Math" panose="02040503050406030204" pitchFamily="18" charset="0"/>
                          </a:rPr>
                        </m:ctrlPr>
                      </m:sSubPr>
                      <m:e>
                        <m:r>
                          <a:rPr lang="en-US" sz="1400" b="1" i="1">
                            <a:solidFill>
                              <a:schemeClr val="accent6">
                                <a:lumMod val="75000"/>
                              </a:schemeClr>
                            </a:solidFill>
                            <a:latin typeface="Cambria Math" panose="02040503050406030204" pitchFamily="18" charset="0"/>
                          </a:rPr>
                          <m:t>𝝅</m:t>
                        </m:r>
                      </m:e>
                      <m:sub>
                        <m:r>
                          <a:rPr lang="en-US" sz="1400" b="1" i="1">
                            <a:solidFill>
                              <a:schemeClr val="accent6">
                                <a:lumMod val="75000"/>
                              </a:schemeClr>
                            </a:solidFill>
                            <a:latin typeface="Cambria Math" panose="02040503050406030204" pitchFamily="18" charset="0"/>
                          </a:rPr>
                          <m:t>𝒌</m:t>
                        </m:r>
                      </m:sub>
                    </m:sSub>
                    <m:r>
                      <a:rPr lang="vi-VN" sz="1400" b="0" i="1" smtClean="0">
                        <a:solidFill>
                          <a:schemeClr val="accent6">
                            <a:lumMod val="75000"/>
                          </a:schemeClr>
                        </a:solidFill>
                        <a:highlight>
                          <a:srgbClr val="FFFF00"/>
                        </a:highlight>
                        <a:latin typeface="Cambria Math" panose="02040503050406030204" pitchFamily="18" charset="0"/>
                      </a:rPr>
                      <m:t> </m:t>
                    </m:r>
                  </m:oMath>
                </a14:m>
                <a:r>
                  <a:rPr lang="vi-VN" sz="1400" dirty="0">
                    <a:solidFill>
                      <a:srgbClr val="444B52"/>
                    </a:solidFill>
                    <a:latin typeface="Arial"/>
                    <a:sym typeface="Wingdings" pitchFamily="2" charset="2"/>
                  </a:rPr>
                  <a:t>và</a:t>
                </a:r>
                <a:r>
                  <a:rPr lang="vi-VN" sz="1400" b="1" dirty="0">
                    <a:solidFill>
                      <a:srgbClr val="444B52"/>
                    </a:solidFill>
                    <a:latin typeface="Arial"/>
                    <a:sym typeface="Wingdings" pitchFamily="2" charset="2"/>
                  </a:rPr>
                  <a:t> </a:t>
                </a:r>
                <a14:m>
                  <m:oMath xmlns:m="http://schemas.openxmlformats.org/officeDocument/2006/math">
                    <m:sSub>
                      <m:sSubPr>
                        <m:ctrlPr>
                          <a:rPr lang="en-US" sz="1400" b="1" i="1">
                            <a:solidFill>
                              <a:schemeClr val="tx2">
                                <a:lumMod val="60000"/>
                                <a:lumOff val="40000"/>
                              </a:schemeClr>
                            </a:solidFill>
                            <a:latin typeface="Cambria Math" panose="02040503050406030204" pitchFamily="18" charset="0"/>
                          </a:rPr>
                        </m:ctrlPr>
                      </m:sSubPr>
                      <m:e>
                        <m:r>
                          <a:rPr lang="en-US" sz="1400" b="1" i="1">
                            <a:solidFill>
                              <a:schemeClr val="tx2">
                                <a:lumMod val="60000"/>
                                <a:lumOff val="40000"/>
                              </a:schemeClr>
                            </a:solidFill>
                            <a:latin typeface="Cambria Math" panose="02040503050406030204" pitchFamily="18" charset="0"/>
                          </a:rPr>
                          <m:t>𝝁</m:t>
                        </m:r>
                      </m:e>
                      <m:sub>
                        <m:r>
                          <a:rPr lang="en-US" sz="1400" b="1" i="1">
                            <a:solidFill>
                              <a:schemeClr val="tx2">
                                <a:lumMod val="60000"/>
                                <a:lumOff val="40000"/>
                              </a:schemeClr>
                            </a:solidFill>
                            <a:latin typeface="Cambria Math" panose="02040503050406030204" pitchFamily="18" charset="0"/>
                          </a:rPr>
                          <m:t>𝒌</m:t>
                        </m:r>
                      </m:sub>
                    </m:sSub>
                  </m:oMath>
                </a14:m>
                <a:r>
                  <a:rPr lang="vi-VN" sz="1400" b="1" dirty="0">
                    <a:solidFill>
                      <a:srgbClr val="444B52"/>
                    </a:solidFill>
                    <a:latin typeface="Arial"/>
                    <a:sym typeface="Wingdings" pitchFamily="2" charset="2"/>
                  </a:rPr>
                  <a:t> </a:t>
                </a:r>
                <a:r>
                  <a:rPr lang="vi-VN" sz="1400" dirty="0">
                    <a:solidFill>
                      <a:srgbClr val="444B52"/>
                    </a:solidFill>
                    <a:latin typeface="Arial"/>
                    <a:sym typeface="Wingdings" pitchFamily="2" charset="2"/>
                  </a:rPr>
                  <a:t>và</a:t>
                </a:r>
                <a:r>
                  <a:rPr lang="vi-VN" sz="1400" b="1" dirty="0">
                    <a:solidFill>
                      <a:srgbClr val="444B52"/>
                    </a:solidFill>
                    <a:latin typeface="Arial"/>
                    <a:sym typeface="Wingdings" pitchFamily="2" charset="2"/>
                  </a:rPr>
                  <a:t> </a:t>
                </a:r>
                <a14:m>
                  <m:oMath xmlns:m="http://schemas.openxmlformats.org/officeDocument/2006/math">
                    <m:sSub>
                      <m:sSubPr>
                        <m:ctrlPr>
                          <a:rPr lang="en-US" sz="1400" b="1" i="1" dirty="0">
                            <a:solidFill>
                              <a:srgbClr val="00B050"/>
                            </a:solidFill>
                            <a:latin typeface="Cambria Math" panose="02040503050406030204" pitchFamily="18" charset="0"/>
                          </a:rPr>
                        </m:ctrlPr>
                      </m:sSubPr>
                      <m:e>
                        <m:r>
                          <a:rPr lang="en-US" sz="1400" b="1" i="1" dirty="0">
                            <a:solidFill>
                              <a:srgbClr val="00B050"/>
                            </a:solidFill>
                            <a:latin typeface="Cambria Math" panose="02040503050406030204" pitchFamily="18" charset="0"/>
                          </a:rPr>
                          <m:t>𝝈</m:t>
                        </m:r>
                      </m:e>
                      <m:sub>
                        <m:r>
                          <a:rPr lang="en-US" sz="1400" b="1" i="1">
                            <a:solidFill>
                              <a:srgbClr val="00B050"/>
                            </a:solidFill>
                            <a:latin typeface="Cambria Math" panose="02040503050406030204" pitchFamily="18" charset="0"/>
                          </a:rPr>
                          <m:t>𝒌</m:t>
                        </m:r>
                      </m:sub>
                    </m:sSub>
                  </m:oMath>
                </a14:m>
                <a:endParaRPr lang="vi-VN" sz="1400" dirty="0">
                  <a:solidFill>
                    <a:srgbClr val="444B52"/>
                  </a:solidFill>
                  <a:latin typeface="Arial"/>
                </a:endParaRPr>
              </a:p>
            </p:txBody>
          </p:sp>
        </mc:Choice>
        <mc:Fallback xmlns="">
          <p:sp>
            <p:nvSpPr>
              <p:cNvPr id="43" name="TextBox 42">
                <a:extLst>
                  <a:ext uri="{FF2B5EF4-FFF2-40B4-BE49-F238E27FC236}">
                    <a16:creationId xmlns:a16="http://schemas.microsoft.com/office/drawing/2014/main" id="{77A72B27-E841-89AC-2CC6-B7858D6F2250}"/>
                  </a:ext>
                </a:extLst>
              </p:cNvPr>
              <p:cNvSpPr txBox="1">
                <a:spLocks noRot="1" noChangeAspect="1" noMove="1" noResize="1" noEditPoints="1" noAdjustHandles="1" noChangeArrowheads="1" noChangeShapeType="1" noTextEdit="1"/>
              </p:cNvSpPr>
              <p:nvPr/>
            </p:nvSpPr>
            <p:spPr>
              <a:xfrm>
                <a:off x="6559922" y="5392395"/>
                <a:ext cx="4321041" cy="307777"/>
              </a:xfrm>
              <a:prstGeom prst="rect">
                <a:avLst/>
              </a:prstGeom>
              <a:blipFill>
                <a:blip r:embed="rId9"/>
                <a:stretch>
                  <a:fillRect t="-4000" b="-24000"/>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D5302251-2C52-A169-2677-81087F3054CF}"/>
                  </a:ext>
                </a:extLst>
              </p:cNvPr>
              <p:cNvSpPr txBox="1"/>
              <p:nvPr/>
            </p:nvSpPr>
            <p:spPr>
              <a:xfrm>
                <a:off x="890461" y="4610619"/>
                <a:ext cx="3470177" cy="698140"/>
              </a:xfrm>
              <a:prstGeom prst="rect">
                <a:avLst/>
              </a:prstGeom>
              <a:noFill/>
              <a:ln w="12700">
                <a:noFill/>
              </a:ln>
            </p:spPr>
            <p:txBody>
              <a:bodyPr wrap="square">
                <a:spAutoFit/>
              </a:bodyPr>
              <a:lstStyle/>
              <a:p>
                <a:pPr/>
                <a14:m>
                  <m:oMathPara xmlns:m="http://schemas.openxmlformats.org/officeDocument/2006/math">
                    <m:oMath>
                      <m:r>
                        <a:rPr lang="en-VN" sz="1400" i="0">
                          <a:solidFill>
                            <a:schemeClr val="tx1"/>
                          </a:solidFill>
                          <a:latin typeface="Cambria Math" panose="02040503050406030204" pitchFamily="18" charset="0"/>
                        </a:rPr>
                        <m:t>=</m:t>
                      </m:r>
                      <m:nary>
                        <m:naryPr>
                          <m:chr m:val="∏"/>
                          <m:limLoc m:val="undOvr"/>
                          <m:ctrlPr>
                            <a:rPr lang="en-VN" sz="1400" i="1">
                              <a:latin typeface="Cambria Math" panose="02040503050406030204" pitchFamily="18" charset="0"/>
                            </a:rPr>
                          </m:ctrlPr>
                        </m:naryPr>
                        <m:sub>
                          <m:r>
                            <a:rPr lang="en-VN" sz="1400" i="1">
                              <a:latin typeface="Cambria Math" panose="02040503050406030204" pitchFamily="18" charset="0"/>
                            </a:rPr>
                            <m:t>𝑛</m:t>
                          </m:r>
                          <m:r>
                            <a:rPr lang="en-VN" sz="1400">
                              <a:latin typeface="Cambria Math" panose="02040503050406030204" pitchFamily="18" charset="0"/>
                            </a:rPr>
                            <m:t>=1</m:t>
                          </m:r>
                        </m:sub>
                        <m:sup>
                          <m:r>
                            <a:rPr lang="en-VN" sz="1400" i="1">
                              <a:latin typeface="Cambria Math" panose="02040503050406030204" pitchFamily="18" charset="0"/>
                            </a:rPr>
                            <m:t>𝑁</m:t>
                          </m:r>
                        </m:sup>
                        <m:e>
                          <m:r>
                            <a:rPr lang="en-VN" sz="1400" i="0" smtClean="0">
                              <a:solidFill>
                                <a:schemeClr val="accent6">
                                  <a:lumMod val="75000"/>
                                </a:schemeClr>
                              </a:solidFill>
                              <a:latin typeface="Cambria Math" panose="02040503050406030204" pitchFamily="18" charset="0"/>
                            </a:rPr>
                            <m:t>𝒩</m:t>
                          </m:r>
                        </m:e>
                      </m:nary>
                      <m:d>
                        <m:dPr>
                          <m:ctrlPr>
                            <a:rPr lang="en-VN" sz="1400" i="1">
                              <a:solidFill>
                                <a:schemeClr val="accent6">
                                  <a:lumMod val="75000"/>
                                </a:schemeClr>
                              </a:solidFill>
                              <a:latin typeface="Cambria Math" panose="02040503050406030204" pitchFamily="18" charset="0"/>
                            </a:rPr>
                          </m:ctrlPr>
                        </m:dPr>
                        <m:e>
                          <m:sSub>
                            <m:sSubPr>
                              <m:ctrlPr>
                                <a:rPr lang="en-VN" sz="1400" i="1">
                                  <a:solidFill>
                                    <a:schemeClr val="accent6">
                                      <a:lumMod val="75000"/>
                                    </a:schemeClr>
                                  </a:solidFill>
                                  <a:latin typeface="Cambria Math" panose="02040503050406030204" pitchFamily="18" charset="0"/>
                                </a:rPr>
                              </m:ctrlPr>
                            </m:sSubPr>
                            <m:e>
                              <m:r>
                                <a:rPr lang="en-VN" sz="1400" i="1">
                                  <a:solidFill>
                                    <a:schemeClr val="accent6">
                                      <a:lumMod val="75000"/>
                                    </a:schemeClr>
                                  </a:solidFill>
                                  <a:latin typeface="Cambria Math" panose="02040503050406030204" pitchFamily="18" charset="0"/>
                                </a:rPr>
                                <m:t>𝑥</m:t>
                              </m:r>
                            </m:e>
                            <m:sub>
                              <m:r>
                                <a:rPr lang="en-VN" sz="1400" i="1">
                                  <a:solidFill>
                                    <a:schemeClr val="accent6">
                                      <a:lumMod val="75000"/>
                                    </a:schemeClr>
                                  </a:solidFill>
                                  <a:latin typeface="Cambria Math" panose="02040503050406030204" pitchFamily="18" charset="0"/>
                                </a:rPr>
                                <m:t>𝑛</m:t>
                              </m:r>
                            </m:sub>
                          </m:sSub>
                          <m:r>
                            <a:rPr lang="en-VN" sz="1400" i="0">
                              <a:solidFill>
                                <a:schemeClr val="accent6">
                                  <a:lumMod val="75000"/>
                                </a:schemeClr>
                              </a:solidFill>
                              <a:latin typeface="Cambria Math" panose="02040503050406030204" pitchFamily="18" charset="0"/>
                            </a:rPr>
                            <m:t>∣</m:t>
                          </m:r>
                          <m:r>
                            <a:rPr lang="en-VN" sz="1400" i="1">
                              <a:solidFill>
                                <a:schemeClr val="accent6">
                                  <a:lumMod val="75000"/>
                                </a:schemeClr>
                              </a:solidFill>
                              <a:latin typeface="Cambria Math" panose="02040503050406030204" pitchFamily="18" charset="0"/>
                            </a:rPr>
                            <m:t>𝜇</m:t>
                          </m:r>
                          <m:r>
                            <a:rPr lang="en-VN" sz="1400">
                              <a:solidFill>
                                <a:schemeClr val="accent6">
                                  <a:lumMod val="75000"/>
                                </a:schemeClr>
                              </a:solidFill>
                              <a:latin typeface="Cambria Math" panose="02040503050406030204" pitchFamily="18" charset="0"/>
                            </a:rPr>
                            <m:t>,</m:t>
                          </m:r>
                          <m:sSup>
                            <m:sSupPr>
                              <m:ctrlPr>
                                <a:rPr lang="en-VN" sz="1400" i="1">
                                  <a:solidFill>
                                    <a:schemeClr val="accent6">
                                      <a:lumMod val="75000"/>
                                    </a:schemeClr>
                                  </a:solidFill>
                                  <a:latin typeface="Cambria Math" panose="02040503050406030204" pitchFamily="18" charset="0"/>
                                </a:rPr>
                              </m:ctrlPr>
                            </m:sSupPr>
                            <m:e>
                              <m:r>
                                <a:rPr lang="en-VN" sz="1400" i="1">
                                  <a:solidFill>
                                    <a:schemeClr val="accent6">
                                      <a:lumMod val="75000"/>
                                    </a:schemeClr>
                                  </a:solidFill>
                                  <a:latin typeface="Cambria Math" panose="02040503050406030204" pitchFamily="18" charset="0"/>
                                </a:rPr>
                                <m:t>𝜎</m:t>
                              </m:r>
                            </m:e>
                            <m:sup>
                              <m:r>
                                <a:rPr lang="en-VN" sz="1400">
                                  <a:solidFill>
                                    <a:schemeClr val="accent6">
                                      <a:lumMod val="75000"/>
                                    </a:schemeClr>
                                  </a:solidFill>
                                  <a:latin typeface="Cambria Math" panose="02040503050406030204" pitchFamily="18" charset="0"/>
                                </a:rPr>
                                <m:t>2</m:t>
                              </m:r>
                            </m:sup>
                          </m:sSup>
                        </m:e>
                      </m:d>
                    </m:oMath>
                  </m:oMathPara>
                </a14:m>
                <a:endParaRPr lang="en-VN" sz="1400" dirty="0"/>
              </a:p>
            </p:txBody>
          </p:sp>
        </mc:Choice>
        <mc:Fallback xmlns="">
          <p:sp>
            <p:nvSpPr>
              <p:cNvPr id="47" name="TextBox 46">
                <a:extLst>
                  <a:ext uri="{FF2B5EF4-FFF2-40B4-BE49-F238E27FC236}">
                    <a16:creationId xmlns:a16="http://schemas.microsoft.com/office/drawing/2014/main" id="{D5302251-2C52-A169-2677-81087F3054CF}"/>
                  </a:ext>
                </a:extLst>
              </p:cNvPr>
              <p:cNvSpPr txBox="1">
                <a:spLocks noRot="1" noChangeAspect="1" noMove="1" noResize="1" noEditPoints="1" noAdjustHandles="1" noChangeArrowheads="1" noChangeShapeType="1" noTextEdit="1"/>
              </p:cNvSpPr>
              <p:nvPr/>
            </p:nvSpPr>
            <p:spPr>
              <a:xfrm>
                <a:off x="890461" y="4610619"/>
                <a:ext cx="3470177" cy="698140"/>
              </a:xfrm>
              <a:prstGeom prst="rect">
                <a:avLst/>
              </a:prstGeom>
              <a:blipFill>
                <a:blip r:embed="rId10"/>
                <a:stretch>
                  <a:fillRect t="-89474" b="-145614"/>
                </a:stretch>
              </a:blipFill>
              <a:ln w="12700">
                <a:noFill/>
              </a:ln>
            </p:spPr>
            <p:txBody>
              <a:bodyPr/>
              <a:lstStyle/>
              <a:p>
                <a:r>
                  <a:rPr lang="en-VN">
                    <a:noFill/>
                  </a:rPr>
                  <a:t> </a:t>
                </a:r>
              </a:p>
            </p:txBody>
          </p:sp>
        </mc:Fallback>
      </mc:AlternateContent>
      <p:sp>
        <p:nvSpPr>
          <p:cNvPr id="4" name="TextBox 3">
            <a:extLst>
              <a:ext uri="{FF2B5EF4-FFF2-40B4-BE49-F238E27FC236}">
                <a16:creationId xmlns:a16="http://schemas.microsoft.com/office/drawing/2014/main" id="{F52ACDFB-C295-A84D-98F4-96FF126A2440}"/>
              </a:ext>
            </a:extLst>
          </p:cNvPr>
          <p:cNvSpPr txBox="1"/>
          <p:nvPr/>
        </p:nvSpPr>
        <p:spPr>
          <a:xfrm>
            <a:off x="9138662" y="6319626"/>
            <a:ext cx="2483372" cy="307777"/>
          </a:xfrm>
          <a:prstGeom prst="rect">
            <a:avLst/>
          </a:prstGeom>
          <a:noFill/>
        </p:spPr>
        <p:txBody>
          <a:bodyPr wrap="none" rtlCol="0">
            <a:spAutoFit/>
          </a:bodyPr>
          <a:lstStyle/>
          <a:p>
            <a:r>
              <a:rPr lang="vi-VN" sz="1400" dirty="0"/>
              <a:t>Đạo hàm tìm cực trị là xong?</a:t>
            </a:r>
            <a:endParaRPr lang="el-GR" sz="1400" dirty="0"/>
          </a:p>
        </p:txBody>
      </p:sp>
      <p:sp>
        <p:nvSpPr>
          <p:cNvPr id="5" name="Right Arrow 4">
            <a:extLst>
              <a:ext uri="{FF2B5EF4-FFF2-40B4-BE49-F238E27FC236}">
                <a16:creationId xmlns:a16="http://schemas.microsoft.com/office/drawing/2014/main" id="{90CF9D84-6759-46DA-E2C9-D8A0A505CE9B}"/>
              </a:ext>
            </a:extLst>
          </p:cNvPr>
          <p:cNvSpPr/>
          <p:nvPr/>
        </p:nvSpPr>
        <p:spPr>
          <a:xfrm>
            <a:off x="11622034" y="6319626"/>
            <a:ext cx="350891" cy="384721"/>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VN"/>
          </a:p>
        </p:txBody>
      </p:sp>
    </p:spTree>
    <p:extLst>
      <p:ext uri="{BB962C8B-B14F-4D97-AF65-F5344CB8AC3E}">
        <p14:creationId xmlns:p14="http://schemas.microsoft.com/office/powerpoint/2010/main" val="31300759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91E3A-E18A-9DC6-F290-33468EFA885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F66B9AB-5D03-D07A-8FCA-20863ECCEF86}"/>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p:sp>
        <p:nvSpPr>
          <p:cNvPr id="12" name="TextBox 11">
            <a:extLst>
              <a:ext uri="{FF2B5EF4-FFF2-40B4-BE49-F238E27FC236}">
                <a16:creationId xmlns:a16="http://schemas.microsoft.com/office/drawing/2014/main" id="{8D463B6A-30C2-4FB3-6F68-44F88A188786}"/>
              </a:ext>
            </a:extLst>
          </p:cNvPr>
          <p:cNvSpPr txBox="1"/>
          <p:nvPr/>
        </p:nvSpPr>
        <p:spPr>
          <a:xfrm>
            <a:off x="364066" y="1267771"/>
            <a:ext cx="11283437" cy="1769715"/>
          </a:xfrm>
          <a:prstGeom prst="rect">
            <a:avLst/>
          </a:prstGeom>
          <a:noFill/>
        </p:spPr>
        <p:txBody>
          <a:bodyPr wrap="square">
            <a:spAutoFit/>
          </a:bodyPr>
          <a:lstStyle/>
          <a:p>
            <a:pPr>
              <a:spcAft>
                <a:spcPts val="600"/>
              </a:spcAft>
            </a:pPr>
            <a:r>
              <a:rPr lang="vi-VN" sz="1400" b="1" dirty="0">
                <a:solidFill>
                  <a:srgbClr val="1B8A7A"/>
                </a:solidFill>
                <a:latin typeface="Arial"/>
              </a:rPr>
              <a:t>2.1. Gaussian Mixture Model (GMM) - </a:t>
            </a:r>
            <a:r>
              <a:rPr lang="vi-VN" sz="1000" b="1" dirty="0">
                <a:solidFill>
                  <a:schemeClr val="accent5">
                    <a:lumMod val="60000"/>
                    <a:lumOff val="40000"/>
                  </a:schemeClr>
                </a:solidFill>
                <a:latin typeface="Arial"/>
              </a:rPr>
              <a:t>Mô hình hỗn hợp phân phối chuẩn</a:t>
            </a:r>
            <a:endParaRPr lang="vi-VN" sz="1400" b="1" dirty="0">
              <a:solidFill>
                <a:schemeClr val="bg2">
                  <a:lumMod val="50000"/>
                </a:schemeClr>
              </a:solidFill>
              <a:latin typeface="Arial"/>
            </a:endParaRPr>
          </a:p>
          <a:p>
            <a:pPr>
              <a:spcAft>
                <a:spcPts val="600"/>
              </a:spcAft>
            </a:pPr>
            <a:r>
              <a:rPr lang="vi-VN" sz="1400" b="1" dirty="0">
                <a:solidFill>
                  <a:schemeClr val="bg2">
                    <a:lumMod val="50000"/>
                  </a:schemeClr>
                </a:solidFill>
                <a:latin typeface="Arial"/>
              </a:rPr>
              <a:t>2.1.3. Tìm cực trị hàm mục tiêu</a:t>
            </a:r>
          </a:p>
          <a:p>
            <a:pPr>
              <a:spcAft>
                <a:spcPts val="600"/>
              </a:spcAft>
            </a:pPr>
            <a:r>
              <a:rPr lang="vi-VN" sz="1400" dirty="0">
                <a:solidFill>
                  <a:srgbClr val="444B52"/>
                </a:solidFill>
                <a:latin typeface="Arial"/>
              </a:rPr>
              <a:t>	</a:t>
            </a:r>
          </a:p>
          <a:p>
            <a:pPr>
              <a:spcAft>
                <a:spcPts val="600"/>
              </a:spcAft>
            </a:pPr>
            <a:endParaRPr lang="vi-VN" sz="1400" dirty="0">
              <a:solidFill>
                <a:srgbClr val="444B52"/>
              </a:solidFill>
              <a:latin typeface="Arial"/>
            </a:endParaRPr>
          </a:p>
          <a:p>
            <a:pPr>
              <a:spcAft>
                <a:spcPts val="600"/>
              </a:spcAft>
            </a:pPr>
            <a:r>
              <a:rPr lang="vi-VN" sz="1400" dirty="0">
                <a:solidFill>
                  <a:srgbClr val="444B52"/>
                </a:solidFill>
                <a:latin typeface="Arial"/>
              </a:rPr>
              <a:t>	</a:t>
            </a:r>
          </a:p>
          <a:p>
            <a:pPr>
              <a:spcAft>
                <a:spcPts val="600"/>
              </a:spcAft>
            </a:pPr>
            <a:r>
              <a:rPr lang="vi-VN" sz="1400" dirty="0">
                <a:solidFill>
                  <a:srgbClr val="444B52"/>
                </a:solidFill>
                <a:latin typeface="Arial"/>
              </a:rPr>
              <a:t>	- Từ hàm mục tiêu ở 2.1.2, ta thực hiện:</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5FDCF906-BACB-D8DD-6601-AFB1E276D2ED}"/>
                  </a:ext>
                </a:extLst>
              </p:cNvPr>
              <p:cNvSpPr txBox="1"/>
              <p:nvPr/>
            </p:nvSpPr>
            <p:spPr>
              <a:xfrm>
                <a:off x="976625" y="1966578"/>
                <a:ext cx="2869375" cy="605807"/>
              </a:xfrm>
              <a:prstGeom prst="rect">
                <a:avLst/>
              </a:prstGeom>
              <a:noFill/>
            </p:spPr>
            <p:txBody>
              <a:bodyPr wrap="none" lIns="0" tIns="0" rIns="0" bIns="0" rtlCol="0">
                <a:spAutoFit/>
              </a:bodyPr>
              <a:lstStyle/>
              <a:p>
                <a:pPr/>
                <a14:m>
                  <m:oMathPara xmlns:m="http://schemas.openxmlformats.org/officeDocument/2006/math">
                    <m:oMath>
                      <m:r>
                        <a:rPr lang="en-VN" sz="1400" i="1">
                          <a:latin typeface="Cambria Math" panose="02040503050406030204" pitchFamily="18" charset="0"/>
                        </a:rPr>
                        <m:t>𝐿</m:t>
                      </m:r>
                      <m:d>
                        <m:dPr>
                          <m:ctrlPr>
                            <a:rPr lang="en-US" sz="1400" i="1">
                              <a:latin typeface="Cambria Math" panose="02040503050406030204" pitchFamily="18" charset="0"/>
                            </a:rPr>
                          </m:ctrlPr>
                        </m:dPr>
                        <m:e>
                          <m:r>
                            <a:rPr lang="en-US" sz="1400" i="1">
                              <a:latin typeface="Cambria Math" panose="02040503050406030204" pitchFamily="18" charset="0"/>
                            </a:rPr>
                            <m:t>𝜃</m:t>
                          </m:r>
                          <m:r>
                            <a:rPr lang="en-VN" sz="1400">
                              <a:latin typeface="Cambria Math" panose="02040503050406030204" pitchFamily="18" charset="0"/>
                            </a:rPr>
                            <m:t>∣</m:t>
                          </m:r>
                          <m:r>
                            <a:rPr lang="en-VN" sz="1400" i="1">
                              <a:latin typeface="Cambria Math" panose="02040503050406030204" pitchFamily="18" charset="0"/>
                            </a:rPr>
                            <m:t>𝑥</m:t>
                          </m:r>
                        </m:e>
                      </m:d>
                      <m:r>
                        <a:rPr lang="vi-VN" sz="1400" smtClean="0">
                          <a:latin typeface="Cambria Math" panose="02040503050406030204" pitchFamily="18" charset="0"/>
                        </a:rPr>
                        <m:t>=</m:t>
                      </m:r>
                      <m:nary>
                        <m:naryPr>
                          <m:chr m:val="∏"/>
                          <m:limLoc m:val="undOvr"/>
                          <m:ctrlPr>
                            <a:rPr lang="en-US" sz="1400" i="1">
                              <a:latin typeface="Cambria Math" panose="02040503050406030204" pitchFamily="18" charset="0"/>
                            </a:rPr>
                          </m:ctrlPr>
                        </m:naryPr>
                        <m:sub>
                          <m:r>
                            <a:rPr lang="en-US" sz="1400" i="1">
                              <a:latin typeface="Cambria Math" panose="02040503050406030204" pitchFamily="18" charset="0"/>
                            </a:rPr>
                            <m:t>𝑛</m:t>
                          </m:r>
                          <m:r>
                            <a:rPr lang="en-US" sz="1400" i="1">
                              <a:latin typeface="Cambria Math" panose="02040503050406030204" pitchFamily="18" charset="0"/>
                            </a:rPr>
                            <m:t>=1</m:t>
                          </m:r>
                        </m:sub>
                        <m:sup>
                          <m:r>
                            <a:rPr lang="en-US" sz="1400" i="1">
                              <a:latin typeface="Cambria Math" panose="02040503050406030204" pitchFamily="18" charset="0"/>
                            </a:rPr>
                            <m:t>𝑁</m:t>
                          </m:r>
                        </m:sup>
                        <m:e>
                          <m:nary>
                            <m:naryPr>
                              <m:chr m:val="∑"/>
                              <m:limLoc m:val="undOvr"/>
                              <m:ctrlPr>
                                <a:rPr lang="en-US" sz="1400" i="1">
                                  <a:solidFill>
                                    <a:schemeClr val="accent6">
                                      <a:lumMod val="75000"/>
                                    </a:schemeClr>
                                  </a:solidFill>
                                  <a:latin typeface="Cambria Math" panose="02040503050406030204" pitchFamily="18" charset="0"/>
                                </a:rPr>
                              </m:ctrlPr>
                            </m:naryPr>
                            <m:sub>
                              <m:r>
                                <a:rPr lang="en-US" sz="1400" i="1">
                                  <a:solidFill>
                                    <a:schemeClr val="accent6">
                                      <a:lumMod val="75000"/>
                                    </a:schemeClr>
                                  </a:solidFill>
                                  <a:latin typeface="Cambria Math" panose="02040503050406030204" pitchFamily="18" charset="0"/>
                                </a:rPr>
                                <m:t>𝑘</m:t>
                              </m:r>
                              <m:r>
                                <a:rPr lang="en-US" sz="1400" i="1">
                                  <a:solidFill>
                                    <a:schemeClr val="accent6">
                                      <a:lumMod val="75000"/>
                                    </a:schemeClr>
                                  </a:solidFill>
                                  <a:latin typeface="Cambria Math" panose="02040503050406030204" pitchFamily="18" charset="0"/>
                                </a:rPr>
                                <m:t>=1</m:t>
                              </m:r>
                            </m:sub>
                            <m:sup>
                              <m:r>
                                <a:rPr lang="en-US" sz="1400" i="1">
                                  <a:solidFill>
                                    <a:schemeClr val="accent6">
                                      <a:lumMod val="75000"/>
                                    </a:schemeClr>
                                  </a:solidFill>
                                  <a:latin typeface="Cambria Math" panose="02040503050406030204" pitchFamily="18" charset="0"/>
                                </a:rPr>
                                <m:t>𝐾</m:t>
                              </m:r>
                            </m:sup>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𝜋</m:t>
                                  </m:r>
                                </m:e>
                                <m:sub>
                                  <m:r>
                                    <a:rPr lang="en-US" sz="1400" i="1">
                                      <a:solidFill>
                                        <a:schemeClr val="accent6">
                                          <a:lumMod val="75000"/>
                                        </a:schemeClr>
                                      </a:solidFill>
                                      <a:latin typeface="Cambria Math" panose="02040503050406030204" pitchFamily="18" charset="0"/>
                                    </a:rPr>
                                    <m:t>𝑘</m:t>
                                  </m:r>
                                </m:sub>
                              </m:sSub>
                            </m:e>
                          </m:nary>
                        </m:e>
                      </m:nary>
                      <m:r>
                        <a:rPr lang="en-US" sz="1400" i="1" smtClean="0">
                          <a:solidFill>
                            <a:schemeClr val="accent6">
                              <a:lumMod val="75000"/>
                            </a:schemeClr>
                          </a:solidFill>
                          <a:latin typeface="Cambria Math" panose="02040503050406030204" pitchFamily="18" charset="0"/>
                        </a:rPr>
                        <m:t>𝒩</m:t>
                      </m:r>
                      <m:d>
                        <m:dPr>
                          <m:ctrlPr>
                            <a:rPr lang="en-US" sz="1400" i="1">
                              <a:solidFill>
                                <a:schemeClr val="accent6">
                                  <a:lumMod val="75000"/>
                                </a:schemeClr>
                              </a:solidFill>
                              <a:latin typeface="Cambria Math" panose="02040503050406030204" pitchFamily="18" charset="0"/>
                            </a:rPr>
                          </m:ctrlPr>
                        </m:dPr>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𝑥</m:t>
                              </m:r>
                            </m:e>
                            <m:sub>
                              <m:r>
                                <a:rPr lang="en-US" sz="1400" i="1">
                                  <a:solidFill>
                                    <a:schemeClr val="accent6">
                                      <a:lumMod val="75000"/>
                                    </a:schemeClr>
                                  </a:solidFill>
                                  <a:latin typeface="Cambria Math" panose="02040503050406030204" pitchFamily="18" charset="0"/>
                                </a:rPr>
                                <m:t>𝑛</m:t>
                              </m:r>
                            </m:sub>
                          </m:sSub>
                          <m:r>
                            <a:rPr lang="en-US" sz="1400" i="1">
                              <a:solidFill>
                                <a:schemeClr val="accent6">
                                  <a:lumMod val="75000"/>
                                </a:schemeClr>
                              </a:solidFill>
                              <a:latin typeface="Cambria Math" panose="02040503050406030204" pitchFamily="18" charset="0"/>
                            </a:rPr>
                            <m:t>∣</m:t>
                          </m:r>
                          <m:sSub>
                            <m:sSubPr>
                              <m:ctrlPr>
                                <a:rPr lang="en-US" sz="1400" b="0" i="1">
                                  <a:solidFill>
                                    <a:schemeClr val="accent6">
                                      <a:lumMod val="75000"/>
                                    </a:schemeClr>
                                  </a:solidFill>
                                  <a:latin typeface="Cambria Math" panose="02040503050406030204" pitchFamily="18" charset="0"/>
                                </a:rPr>
                              </m:ctrlPr>
                            </m:sSubPr>
                            <m:e>
                              <m:r>
                                <a:rPr lang="en-US" sz="1400" b="0" i="1">
                                  <a:solidFill>
                                    <a:schemeClr val="accent6">
                                      <a:lumMod val="75000"/>
                                    </a:schemeClr>
                                  </a:solidFill>
                                  <a:latin typeface="Cambria Math" panose="02040503050406030204" pitchFamily="18" charset="0"/>
                                </a:rPr>
                                <m:t>𝜇</m:t>
                              </m:r>
                            </m:e>
                            <m:sub>
                              <m:r>
                                <a:rPr lang="en-US" sz="1400" b="0" i="1">
                                  <a:solidFill>
                                    <a:schemeClr val="accent6">
                                      <a:lumMod val="75000"/>
                                    </a:schemeClr>
                                  </a:solidFill>
                                  <a:latin typeface="Cambria Math" panose="02040503050406030204" pitchFamily="18" charset="0"/>
                                </a:rPr>
                                <m:t>𝑘</m:t>
                              </m:r>
                            </m:sub>
                          </m:sSub>
                          <m:r>
                            <a:rPr lang="vi-VN" sz="1400" b="0" i="1" smtClean="0">
                              <a:solidFill>
                                <a:schemeClr val="accent6">
                                  <a:lumMod val="75000"/>
                                </a:schemeClr>
                              </a:solidFill>
                              <a:latin typeface="Cambria Math" panose="02040503050406030204" pitchFamily="18" charset="0"/>
                            </a:rPr>
                            <m:t>,</m:t>
                          </m:r>
                          <m:sSubSup>
                            <m:sSubSupPr>
                              <m:ctrlPr>
                                <a:rPr lang="en-US" sz="1400" b="0" i="1">
                                  <a:solidFill>
                                    <a:schemeClr val="accent6">
                                      <a:lumMod val="75000"/>
                                    </a:schemeClr>
                                  </a:solidFill>
                                  <a:latin typeface="Cambria Math" panose="02040503050406030204" pitchFamily="18" charset="0"/>
                                </a:rPr>
                              </m:ctrlPr>
                            </m:sSubSupPr>
                            <m:e>
                              <m:r>
                                <a:rPr lang="en-US" sz="1400" b="0" i="1">
                                  <a:solidFill>
                                    <a:schemeClr val="accent6">
                                      <a:lumMod val="75000"/>
                                    </a:schemeClr>
                                  </a:solidFill>
                                  <a:latin typeface="Cambria Math" panose="02040503050406030204" pitchFamily="18" charset="0"/>
                                </a:rPr>
                                <m:t>𝜎</m:t>
                              </m:r>
                            </m:e>
                            <m:sub>
                              <m:r>
                                <a:rPr lang="en-US" sz="1400" b="0" i="1">
                                  <a:solidFill>
                                    <a:schemeClr val="accent6">
                                      <a:lumMod val="75000"/>
                                    </a:schemeClr>
                                  </a:solidFill>
                                  <a:latin typeface="Cambria Math" panose="02040503050406030204" pitchFamily="18" charset="0"/>
                                </a:rPr>
                                <m:t>𝑘</m:t>
                              </m:r>
                            </m:sub>
                            <m:sup>
                              <m:r>
                                <a:rPr lang="en-US" sz="1400" b="0" i="1">
                                  <a:solidFill>
                                    <a:schemeClr val="accent6">
                                      <a:lumMod val="75000"/>
                                    </a:schemeClr>
                                  </a:solidFill>
                                  <a:latin typeface="Cambria Math" panose="02040503050406030204" pitchFamily="18" charset="0"/>
                                </a:rPr>
                                <m:t>2</m:t>
                              </m:r>
                            </m:sup>
                          </m:sSubSup>
                        </m:e>
                      </m:d>
                    </m:oMath>
                  </m:oMathPara>
                </a14:m>
                <a:endParaRPr dirty="0"/>
              </a:p>
            </p:txBody>
          </p:sp>
        </mc:Choice>
        <mc:Fallback xmlns="">
          <p:sp>
            <p:nvSpPr>
              <p:cNvPr id="40" name="TextBox 39">
                <a:extLst>
                  <a:ext uri="{FF2B5EF4-FFF2-40B4-BE49-F238E27FC236}">
                    <a16:creationId xmlns:a16="http://schemas.microsoft.com/office/drawing/2014/main" id="{5FDCF906-BACB-D8DD-6601-AFB1E276D2ED}"/>
                  </a:ext>
                </a:extLst>
              </p:cNvPr>
              <p:cNvSpPr txBox="1">
                <a:spLocks noRot="1" noChangeAspect="1" noMove="1" noResize="1" noEditPoints="1" noAdjustHandles="1" noChangeArrowheads="1" noChangeShapeType="1" noTextEdit="1"/>
              </p:cNvSpPr>
              <p:nvPr/>
            </p:nvSpPr>
            <p:spPr>
              <a:xfrm>
                <a:off x="976625" y="1966578"/>
                <a:ext cx="2869375" cy="605807"/>
              </a:xfrm>
              <a:prstGeom prst="rect">
                <a:avLst/>
              </a:prstGeom>
              <a:blipFill>
                <a:blip r:embed="rId3"/>
                <a:stretch>
                  <a:fillRect t="-116667" r="-3524" b="-179167"/>
                </a:stretch>
              </a:blipFill>
            </p:spPr>
            <p:txBody>
              <a:bodyPr/>
              <a:lstStyle/>
              <a:p>
                <a:r>
                  <a:rPr lang="en-VN">
                    <a:noFill/>
                  </a:rPr>
                  <a:t> </a:t>
                </a:r>
              </a:p>
            </p:txBody>
          </p:sp>
        </mc:Fallback>
      </mc:AlternateContent>
    </p:spTree>
    <p:extLst>
      <p:ext uri="{BB962C8B-B14F-4D97-AF65-F5344CB8AC3E}">
        <p14:creationId xmlns:p14="http://schemas.microsoft.com/office/powerpoint/2010/main" val="21588372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59171-BE3B-E5FA-694D-AB29C76BF21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1E98B3B-3C94-2727-6EE7-6E151822E3A6}"/>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p:sp>
        <p:nvSpPr>
          <p:cNvPr id="12" name="TextBox 11">
            <a:extLst>
              <a:ext uri="{FF2B5EF4-FFF2-40B4-BE49-F238E27FC236}">
                <a16:creationId xmlns:a16="http://schemas.microsoft.com/office/drawing/2014/main" id="{E306A1E2-2E59-5CF9-6571-0B8657C4229A}"/>
              </a:ext>
            </a:extLst>
          </p:cNvPr>
          <p:cNvSpPr txBox="1"/>
          <p:nvPr/>
        </p:nvSpPr>
        <p:spPr>
          <a:xfrm>
            <a:off x="364066" y="1267771"/>
            <a:ext cx="11283437" cy="2354491"/>
          </a:xfrm>
          <a:prstGeom prst="rect">
            <a:avLst/>
          </a:prstGeom>
          <a:noFill/>
        </p:spPr>
        <p:txBody>
          <a:bodyPr wrap="square">
            <a:spAutoFit/>
          </a:bodyPr>
          <a:lstStyle/>
          <a:p>
            <a:pPr>
              <a:spcAft>
                <a:spcPts val="600"/>
              </a:spcAft>
            </a:pPr>
            <a:r>
              <a:rPr lang="vi-VN" sz="1400" b="1" dirty="0">
                <a:solidFill>
                  <a:srgbClr val="1B8A7A"/>
                </a:solidFill>
                <a:latin typeface="Arial"/>
              </a:rPr>
              <a:t>2.1. Gaussian Mixture Model (GMM) - </a:t>
            </a:r>
            <a:r>
              <a:rPr lang="vi-VN" sz="1000" b="1" dirty="0">
                <a:solidFill>
                  <a:schemeClr val="accent5">
                    <a:lumMod val="60000"/>
                    <a:lumOff val="40000"/>
                  </a:schemeClr>
                </a:solidFill>
                <a:latin typeface="Arial"/>
              </a:rPr>
              <a:t>Mô hình hỗn hợp phân phối chuẩn</a:t>
            </a:r>
            <a:endParaRPr lang="vi-VN" sz="1400" b="1" dirty="0">
              <a:solidFill>
                <a:schemeClr val="bg2">
                  <a:lumMod val="50000"/>
                </a:schemeClr>
              </a:solidFill>
              <a:latin typeface="Arial"/>
            </a:endParaRPr>
          </a:p>
          <a:p>
            <a:pPr>
              <a:spcAft>
                <a:spcPts val="600"/>
              </a:spcAft>
            </a:pPr>
            <a:r>
              <a:rPr lang="vi-VN" sz="1400" b="1" dirty="0">
                <a:solidFill>
                  <a:schemeClr val="bg2">
                    <a:lumMod val="50000"/>
                  </a:schemeClr>
                </a:solidFill>
                <a:latin typeface="Arial"/>
              </a:rPr>
              <a:t>2.1.3. Tìm cực trị hàm mục tiêu</a:t>
            </a:r>
          </a:p>
          <a:p>
            <a:pPr>
              <a:spcAft>
                <a:spcPts val="600"/>
              </a:spcAft>
            </a:pPr>
            <a:r>
              <a:rPr lang="vi-VN" sz="1400" dirty="0">
                <a:solidFill>
                  <a:srgbClr val="444B52"/>
                </a:solidFill>
                <a:latin typeface="Arial"/>
              </a:rPr>
              <a:t>	</a:t>
            </a:r>
          </a:p>
          <a:p>
            <a:pPr>
              <a:spcAft>
                <a:spcPts val="600"/>
              </a:spcAft>
            </a:pPr>
            <a:endParaRPr lang="vi-VN" sz="1400" dirty="0">
              <a:solidFill>
                <a:srgbClr val="444B52"/>
              </a:solidFill>
              <a:latin typeface="Arial"/>
            </a:endParaRPr>
          </a:p>
          <a:p>
            <a:pPr>
              <a:spcAft>
                <a:spcPts val="600"/>
              </a:spcAft>
            </a:pPr>
            <a:r>
              <a:rPr lang="vi-VN" sz="1400" dirty="0">
                <a:solidFill>
                  <a:srgbClr val="444B52"/>
                </a:solidFill>
                <a:latin typeface="Arial"/>
              </a:rPr>
              <a:t>	</a:t>
            </a:r>
          </a:p>
          <a:p>
            <a:pPr>
              <a:spcAft>
                <a:spcPts val="600"/>
              </a:spcAft>
            </a:pPr>
            <a:r>
              <a:rPr lang="vi-VN" sz="1400" dirty="0">
                <a:solidFill>
                  <a:srgbClr val="444B52"/>
                </a:solidFill>
                <a:latin typeface="Arial"/>
              </a:rPr>
              <a:t>	- Từ hàm mục tiêu ở 2.1.2, ta thực hiện:</a:t>
            </a:r>
          </a:p>
          <a:p>
            <a:pPr>
              <a:spcAft>
                <a:spcPts val="600"/>
              </a:spcAft>
            </a:pPr>
            <a:r>
              <a:rPr lang="vi-VN" sz="1400" dirty="0">
                <a:solidFill>
                  <a:srgbClr val="444B52"/>
                </a:solidFill>
                <a:latin typeface="Arial"/>
              </a:rPr>
              <a:t>		+ Lấy logarit 2 vế (cho dễ đạo hàm và tránh tràn số underflow)</a:t>
            </a:r>
          </a:p>
          <a:p>
            <a:pPr>
              <a:spcAft>
                <a:spcPts val="600"/>
              </a:spcAft>
            </a:pPr>
            <a:endParaRPr lang="vi-VN" sz="1400" dirty="0">
              <a:solidFill>
                <a:srgbClr val="444B52"/>
              </a:solidFill>
              <a:latin typeface="Arial"/>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D56CB31B-4580-F8D1-DAEA-35402BE14371}"/>
                  </a:ext>
                </a:extLst>
              </p:cNvPr>
              <p:cNvSpPr txBox="1"/>
              <p:nvPr/>
            </p:nvSpPr>
            <p:spPr>
              <a:xfrm>
                <a:off x="976625" y="1966578"/>
                <a:ext cx="2869375" cy="605807"/>
              </a:xfrm>
              <a:prstGeom prst="rect">
                <a:avLst/>
              </a:prstGeom>
              <a:noFill/>
            </p:spPr>
            <p:txBody>
              <a:bodyPr wrap="none" lIns="0" tIns="0" rIns="0" bIns="0" rtlCol="0">
                <a:spAutoFit/>
              </a:bodyPr>
              <a:lstStyle/>
              <a:p>
                <a:pPr/>
                <a14:m>
                  <m:oMathPara xmlns:m="http://schemas.openxmlformats.org/officeDocument/2006/math">
                    <m:oMath>
                      <m:r>
                        <a:rPr lang="en-VN" sz="1400" i="1">
                          <a:latin typeface="Cambria Math" panose="02040503050406030204" pitchFamily="18" charset="0"/>
                        </a:rPr>
                        <m:t>𝐿</m:t>
                      </m:r>
                      <m:d>
                        <m:dPr>
                          <m:ctrlPr>
                            <a:rPr lang="en-US" sz="1400" i="1">
                              <a:latin typeface="Cambria Math" panose="02040503050406030204" pitchFamily="18" charset="0"/>
                            </a:rPr>
                          </m:ctrlPr>
                        </m:dPr>
                        <m:e>
                          <m:r>
                            <a:rPr lang="en-US" sz="1400" i="1">
                              <a:latin typeface="Cambria Math" panose="02040503050406030204" pitchFamily="18" charset="0"/>
                            </a:rPr>
                            <m:t>𝜃</m:t>
                          </m:r>
                          <m:r>
                            <a:rPr lang="en-VN" sz="1400">
                              <a:latin typeface="Cambria Math" panose="02040503050406030204" pitchFamily="18" charset="0"/>
                            </a:rPr>
                            <m:t>∣</m:t>
                          </m:r>
                          <m:r>
                            <a:rPr lang="en-VN" sz="1400" i="1">
                              <a:latin typeface="Cambria Math" panose="02040503050406030204" pitchFamily="18" charset="0"/>
                            </a:rPr>
                            <m:t>𝑥</m:t>
                          </m:r>
                        </m:e>
                      </m:d>
                      <m:r>
                        <a:rPr lang="vi-VN" sz="1400" smtClean="0">
                          <a:latin typeface="Cambria Math" panose="02040503050406030204" pitchFamily="18" charset="0"/>
                        </a:rPr>
                        <m:t>=</m:t>
                      </m:r>
                      <m:nary>
                        <m:naryPr>
                          <m:chr m:val="∏"/>
                          <m:limLoc m:val="undOvr"/>
                          <m:ctrlPr>
                            <a:rPr lang="en-US" sz="1400" i="1">
                              <a:latin typeface="Cambria Math" panose="02040503050406030204" pitchFamily="18" charset="0"/>
                            </a:rPr>
                          </m:ctrlPr>
                        </m:naryPr>
                        <m:sub>
                          <m:r>
                            <a:rPr lang="en-US" sz="1400" i="1">
                              <a:latin typeface="Cambria Math" panose="02040503050406030204" pitchFamily="18" charset="0"/>
                            </a:rPr>
                            <m:t>𝑛</m:t>
                          </m:r>
                          <m:r>
                            <a:rPr lang="en-US" sz="1400" i="1">
                              <a:latin typeface="Cambria Math" panose="02040503050406030204" pitchFamily="18" charset="0"/>
                            </a:rPr>
                            <m:t>=1</m:t>
                          </m:r>
                        </m:sub>
                        <m:sup>
                          <m:r>
                            <a:rPr lang="en-US" sz="1400" i="1">
                              <a:latin typeface="Cambria Math" panose="02040503050406030204" pitchFamily="18" charset="0"/>
                            </a:rPr>
                            <m:t>𝑁</m:t>
                          </m:r>
                        </m:sup>
                        <m:e>
                          <m:nary>
                            <m:naryPr>
                              <m:chr m:val="∑"/>
                              <m:limLoc m:val="undOvr"/>
                              <m:ctrlPr>
                                <a:rPr lang="en-US" sz="1400" i="1">
                                  <a:solidFill>
                                    <a:schemeClr val="accent6">
                                      <a:lumMod val="75000"/>
                                    </a:schemeClr>
                                  </a:solidFill>
                                  <a:latin typeface="Cambria Math" panose="02040503050406030204" pitchFamily="18" charset="0"/>
                                </a:rPr>
                              </m:ctrlPr>
                            </m:naryPr>
                            <m:sub>
                              <m:r>
                                <a:rPr lang="en-US" sz="1400" i="1">
                                  <a:solidFill>
                                    <a:schemeClr val="accent6">
                                      <a:lumMod val="75000"/>
                                    </a:schemeClr>
                                  </a:solidFill>
                                  <a:latin typeface="Cambria Math" panose="02040503050406030204" pitchFamily="18" charset="0"/>
                                </a:rPr>
                                <m:t>𝑘</m:t>
                              </m:r>
                              <m:r>
                                <a:rPr lang="en-US" sz="1400" i="1">
                                  <a:solidFill>
                                    <a:schemeClr val="accent6">
                                      <a:lumMod val="75000"/>
                                    </a:schemeClr>
                                  </a:solidFill>
                                  <a:latin typeface="Cambria Math" panose="02040503050406030204" pitchFamily="18" charset="0"/>
                                </a:rPr>
                                <m:t>=1</m:t>
                              </m:r>
                            </m:sub>
                            <m:sup>
                              <m:r>
                                <a:rPr lang="en-US" sz="1400" i="1">
                                  <a:solidFill>
                                    <a:schemeClr val="accent6">
                                      <a:lumMod val="75000"/>
                                    </a:schemeClr>
                                  </a:solidFill>
                                  <a:latin typeface="Cambria Math" panose="02040503050406030204" pitchFamily="18" charset="0"/>
                                </a:rPr>
                                <m:t>𝐾</m:t>
                              </m:r>
                            </m:sup>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𝜋</m:t>
                                  </m:r>
                                </m:e>
                                <m:sub>
                                  <m:r>
                                    <a:rPr lang="en-US" sz="1400" i="1">
                                      <a:solidFill>
                                        <a:schemeClr val="accent6">
                                          <a:lumMod val="75000"/>
                                        </a:schemeClr>
                                      </a:solidFill>
                                      <a:latin typeface="Cambria Math" panose="02040503050406030204" pitchFamily="18" charset="0"/>
                                    </a:rPr>
                                    <m:t>𝑘</m:t>
                                  </m:r>
                                </m:sub>
                              </m:sSub>
                            </m:e>
                          </m:nary>
                        </m:e>
                      </m:nary>
                      <m:r>
                        <a:rPr lang="en-US" sz="1400" i="1" smtClean="0">
                          <a:solidFill>
                            <a:schemeClr val="accent6">
                              <a:lumMod val="75000"/>
                            </a:schemeClr>
                          </a:solidFill>
                          <a:latin typeface="Cambria Math" panose="02040503050406030204" pitchFamily="18" charset="0"/>
                        </a:rPr>
                        <m:t>𝒩</m:t>
                      </m:r>
                      <m:d>
                        <m:dPr>
                          <m:ctrlPr>
                            <a:rPr lang="en-US" sz="1400" i="1">
                              <a:solidFill>
                                <a:schemeClr val="accent6">
                                  <a:lumMod val="75000"/>
                                </a:schemeClr>
                              </a:solidFill>
                              <a:latin typeface="Cambria Math" panose="02040503050406030204" pitchFamily="18" charset="0"/>
                            </a:rPr>
                          </m:ctrlPr>
                        </m:dPr>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𝑥</m:t>
                              </m:r>
                            </m:e>
                            <m:sub>
                              <m:r>
                                <a:rPr lang="en-US" sz="1400" i="1">
                                  <a:solidFill>
                                    <a:schemeClr val="accent6">
                                      <a:lumMod val="75000"/>
                                    </a:schemeClr>
                                  </a:solidFill>
                                  <a:latin typeface="Cambria Math" panose="02040503050406030204" pitchFamily="18" charset="0"/>
                                </a:rPr>
                                <m:t>𝑛</m:t>
                              </m:r>
                            </m:sub>
                          </m:sSub>
                          <m:r>
                            <a:rPr lang="en-US" sz="1400" i="1">
                              <a:solidFill>
                                <a:schemeClr val="accent6">
                                  <a:lumMod val="75000"/>
                                </a:schemeClr>
                              </a:solidFill>
                              <a:latin typeface="Cambria Math" panose="02040503050406030204" pitchFamily="18" charset="0"/>
                            </a:rPr>
                            <m:t>∣</m:t>
                          </m:r>
                          <m:sSub>
                            <m:sSubPr>
                              <m:ctrlPr>
                                <a:rPr lang="en-US" sz="1400" b="0" i="1">
                                  <a:solidFill>
                                    <a:schemeClr val="accent6">
                                      <a:lumMod val="75000"/>
                                    </a:schemeClr>
                                  </a:solidFill>
                                  <a:latin typeface="Cambria Math" panose="02040503050406030204" pitchFamily="18" charset="0"/>
                                </a:rPr>
                              </m:ctrlPr>
                            </m:sSubPr>
                            <m:e>
                              <m:r>
                                <a:rPr lang="en-US" sz="1400" b="0" i="1">
                                  <a:solidFill>
                                    <a:schemeClr val="accent6">
                                      <a:lumMod val="75000"/>
                                    </a:schemeClr>
                                  </a:solidFill>
                                  <a:latin typeface="Cambria Math" panose="02040503050406030204" pitchFamily="18" charset="0"/>
                                </a:rPr>
                                <m:t>𝜇</m:t>
                              </m:r>
                            </m:e>
                            <m:sub>
                              <m:r>
                                <a:rPr lang="en-US" sz="1400" b="0" i="1">
                                  <a:solidFill>
                                    <a:schemeClr val="accent6">
                                      <a:lumMod val="75000"/>
                                    </a:schemeClr>
                                  </a:solidFill>
                                  <a:latin typeface="Cambria Math" panose="02040503050406030204" pitchFamily="18" charset="0"/>
                                </a:rPr>
                                <m:t>𝑘</m:t>
                              </m:r>
                            </m:sub>
                          </m:sSub>
                          <m:r>
                            <a:rPr lang="vi-VN" sz="1400" b="0" i="1" smtClean="0">
                              <a:solidFill>
                                <a:schemeClr val="accent6">
                                  <a:lumMod val="75000"/>
                                </a:schemeClr>
                              </a:solidFill>
                              <a:latin typeface="Cambria Math" panose="02040503050406030204" pitchFamily="18" charset="0"/>
                            </a:rPr>
                            <m:t>,</m:t>
                          </m:r>
                          <m:sSubSup>
                            <m:sSubSupPr>
                              <m:ctrlPr>
                                <a:rPr lang="en-US" sz="1400" b="0" i="1">
                                  <a:solidFill>
                                    <a:schemeClr val="accent6">
                                      <a:lumMod val="75000"/>
                                    </a:schemeClr>
                                  </a:solidFill>
                                  <a:latin typeface="Cambria Math" panose="02040503050406030204" pitchFamily="18" charset="0"/>
                                </a:rPr>
                              </m:ctrlPr>
                            </m:sSubSupPr>
                            <m:e>
                              <m:r>
                                <a:rPr lang="en-US" sz="1400" b="0" i="1">
                                  <a:solidFill>
                                    <a:schemeClr val="accent6">
                                      <a:lumMod val="75000"/>
                                    </a:schemeClr>
                                  </a:solidFill>
                                  <a:latin typeface="Cambria Math" panose="02040503050406030204" pitchFamily="18" charset="0"/>
                                </a:rPr>
                                <m:t>𝜎</m:t>
                              </m:r>
                            </m:e>
                            <m:sub>
                              <m:r>
                                <a:rPr lang="en-US" sz="1400" b="0" i="1">
                                  <a:solidFill>
                                    <a:schemeClr val="accent6">
                                      <a:lumMod val="75000"/>
                                    </a:schemeClr>
                                  </a:solidFill>
                                  <a:latin typeface="Cambria Math" panose="02040503050406030204" pitchFamily="18" charset="0"/>
                                </a:rPr>
                                <m:t>𝑘</m:t>
                              </m:r>
                            </m:sub>
                            <m:sup>
                              <m:r>
                                <a:rPr lang="en-US" sz="1400" b="0" i="1">
                                  <a:solidFill>
                                    <a:schemeClr val="accent6">
                                      <a:lumMod val="75000"/>
                                    </a:schemeClr>
                                  </a:solidFill>
                                  <a:latin typeface="Cambria Math" panose="02040503050406030204" pitchFamily="18" charset="0"/>
                                </a:rPr>
                                <m:t>2</m:t>
                              </m:r>
                            </m:sup>
                          </m:sSubSup>
                        </m:e>
                      </m:d>
                    </m:oMath>
                  </m:oMathPara>
                </a14:m>
                <a:endParaRPr dirty="0"/>
              </a:p>
            </p:txBody>
          </p:sp>
        </mc:Choice>
        <mc:Fallback xmlns="">
          <p:sp>
            <p:nvSpPr>
              <p:cNvPr id="40" name="TextBox 39">
                <a:extLst>
                  <a:ext uri="{FF2B5EF4-FFF2-40B4-BE49-F238E27FC236}">
                    <a16:creationId xmlns:a16="http://schemas.microsoft.com/office/drawing/2014/main" id="{D56CB31B-4580-F8D1-DAEA-35402BE14371}"/>
                  </a:ext>
                </a:extLst>
              </p:cNvPr>
              <p:cNvSpPr txBox="1">
                <a:spLocks noRot="1" noChangeAspect="1" noMove="1" noResize="1" noEditPoints="1" noAdjustHandles="1" noChangeArrowheads="1" noChangeShapeType="1" noTextEdit="1"/>
              </p:cNvSpPr>
              <p:nvPr/>
            </p:nvSpPr>
            <p:spPr>
              <a:xfrm>
                <a:off x="976625" y="1966578"/>
                <a:ext cx="2869375" cy="605807"/>
              </a:xfrm>
              <a:prstGeom prst="rect">
                <a:avLst/>
              </a:prstGeom>
              <a:blipFill>
                <a:blip r:embed="rId3"/>
                <a:stretch>
                  <a:fillRect t="-116667" r="-3524" b="-179167"/>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6319BBC-7071-3CBE-B55F-5BCF8B7020B8}"/>
                  </a:ext>
                </a:extLst>
              </p:cNvPr>
              <p:cNvSpPr txBox="1"/>
              <p:nvPr/>
            </p:nvSpPr>
            <p:spPr>
              <a:xfrm>
                <a:off x="5434003" y="1922687"/>
                <a:ext cx="3459986" cy="693588"/>
              </a:xfrm>
              <a:prstGeom prst="rect">
                <a:avLst/>
              </a:prstGeom>
              <a:noFill/>
            </p:spPr>
            <p:txBody>
              <a:bodyPr wrap="none" lIns="0" tIns="0" rIns="0" bIns="0" rtlCol="0">
                <a:spAutoFit/>
              </a:bodyPr>
              <a:lstStyle/>
              <a:p>
                <a:pPr/>
                <a14:m>
                  <m:oMathPara xmlns:m="http://schemas.openxmlformats.org/officeDocument/2006/math">
                    <m:oMath>
                      <m:func>
                        <m:funcPr>
                          <m:ctrlPr>
                            <a:rPr lang="en-US" sz="1400" i="1" smtClean="0">
                              <a:solidFill>
                                <a:srgbClr val="0070C0"/>
                              </a:solidFill>
                              <a:latin typeface="Cambria Math" panose="02040503050406030204" pitchFamily="18" charset="0"/>
                            </a:rPr>
                          </m:ctrlPr>
                        </m:funcPr>
                        <m:fName>
                          <m:r>
                            <m:rPr>
                              <m:sty m:val="p"/>
                            </m:rPr>
                            <a:rPr lang="en-US" sz="1400" i="1" smtClean="0">
                              <a:solidFill>
                                <a:srgbClr val="0070C0"/>
                              </a:solidFill>
                              <a:latin typeface="Cambria Math" panose="02040503050406030204" pitchFamily="18" charset="0"/>
                            </a:rPr>
                            <m:t>ln</m:t>
                          </m:r>
                        </m:fName>
                        <m:e>
                          <m:r>
                            <a:rPr lang="en-VN" sz="1400" i="1">
                              <a:latin typeface="Cambria Math" panose="02040503050406030204" pitchFamily="18" charset="0"/>
                            </a:rPr>
                            <m:t>𝐿</m:t>
                          </m:r>
                        </m:e>
                      </m:func>
                      <m:d>
                        <m:dPr>
                          <m:ctrlPr>
                            <a:rPr lang="en-US" sz="1400" i="1">
                              <a:latin typeface="Cambria Math" panose="02040503050406030204" pitchFamily="18" charset="0"/>
                            </a:rPr>
                          </m:ctrlPr>
                        </m:dPr>
                        <m:e>
                          <m:r>
                            <a:rPr lang="en-US" sz="1400" i="1">
                              <a:latin typeface="Cambria Math" panose="02040503050406030204" pitchFamily="18" charset="0"/>
                            </a:rPr>
                            <m:t>𝜃</m:t>
                          </m:r>
                          <m:r>
                            <a:rPr lang="en-US" sz="1400" i="1">
                              <a:latin typeface="Cambria Math" panose="02040503050406030204" pitchFamily="18" charset="0"/>
                            </a:rPr>
                            <m:t>∣</m:t>
                          </m:r>
                          <m:r>
                            <a:rPr lang="en-US" sz="1400" i="1">
                              <a:latin typeface="Cambria Math" panose="02040503050406030204" pitchFamily="18" charset="0"/>
                            </a:rPr>
                            <m:t>𝑥</m:t>
                          </m:r>
                        </m:e>
                      </m:d>
                      <m:r>
                        <a:rPr lang="en-US" sz="1400" i="1">
                          <a:latin typeface="Cambria Math" panose="02040503050406030204" pitchFamily="18" charset="0"/>
                        </a:rPr>
                        <m:t>=</m:t>
                      </m:r>
                      <m:nary>
                        <m:naryPr>
                          <m:chr m:val="∑"/>
                          <m:limLoc m:val="undOvr"/>
                          <m:ctrlPr>
                            <a:rPr lang="en-US" sz="1400" i="1">
                              <a:latin typeface="Cambria Math" panose="02040503050406030204" pitchFamily="18" charset="0"/>
                            </a:rPr>
                          </m:ctrlPr>
                        </m:naryPr>
                        <m:sub>
                          <m:r>
                            <a:rPr lang="en-US" sz="1400" i="1">
                              <a:latin typeface="Cambria Math" panose="02040503050406030204" pitchFamily="18" charset="0"/>
                            </a:rPr>
                            <m:t>𝑛</m:t>
                          </m:r>
                          <m:r>
                            <a:rPr lang="en-US" sz="1400" i="1">
                              <a:latin typeface="Cambria Math" panose="02040503050406030204" pitchFamily="18" charset="0"/>
                            </a:rPr>
                            <m:t>=1</m:t>
                          </m:r>
                        </m:sub>
                        <m:sup>
                          <m:r>
                            <a:rPr lang="en-US" sz="1400" i="1">
                              <a:latin typeface="Cambria Math" panose="02040503050406030204" pitchFamily="18" charset="0"/>
                            </a:rPr>
                            <m:t>𝑁</m:t>
                          </m:r>
                        </m:sup>
                        <m:e>
                          <m:func>
                            <m:funcPr>
                              <m:ctrlPr>
                                <a:rPr lang="en-US" sz="1400" i="1" smtClean="0">
                                  <a:solidFill>
                                    <a:srgbClr val="0070C0"/>
                                  </a:solidFill>
                                  <a:latin typeface="Cambria Math" panose="02040503050406030204" pitchFamily="18" charset="0"/>
                                </a:rPr>
                              </m:ctrlPr>
                            </m:funcPr>
                            <m:fName>
                              <m:r>
                                <m:rPr>
                                  <m:sty m:val="p"/>
                                </m:rPr>
                                <a:rPr lang="en-US" sz="1400" i="1" smtClean="0">
                                  <a:solidFill>
                                    <a:srgbClr val="0070C0"/>
                                  </a:solidFill>
                                  <a:latin typeface="Cambria Math" panose="02040503050406030204" pitchFamily="18" charset="0"/>
                                </a:rPr>
                                <m:t>ln</m:t>
                              </m:r>
                            </m:fName>
                            <m:e>
                              <m:d>
                                <m:dPr>
                                  <m:ctrlPr>
                                    <a:rPr lang="en-US" sz="1400" i="1">
                                      <a:solidFill>
                                        <a:schemeClr val="accent6">
                                          <a:lumMod val="75000"/>
                                        </a:schemeClr>
                                      </a:solidFill>
                                      <a:latin typeface="Cambria Math" panose="02040503050406030204" pitchFamily="18" charset="0"/>
                                    </a:rPr>
                                  </m:ctrlPr>
                                </m:dPr>
                                <m:e>
                                  <m:nary>
                                    <m:naryPr>
                                      <m:chr m:val="∑"/>
                                      <m:limLoc m:val="undOvr"/>
                                      <m:ctrlPr>
                                        <a:rPr lang="en-US" sz="1400" i="1">
                                          <a:solidFill>
                                            <a:schemeClr val="accent6">
                                              <a:lumMod val="75000"/>
                                            </a:schemeClr>
                                          </a:solidFill>
                                          <a:latin typeface="Cambria Math" panose="02040503050406030204" pitchFamily="18" charset="0"/>
                                        </a:rPr>
                                      </m:ctrlPr>
                                    </m:naryPr>
                                    <m:sub>
                                      <m:r>
                                        <a:rPr lang="en-US" sz="1400" i="1">
                                          <a:solidFill>
                                            <a:schemeClr val="accent6">
                                              <a:lumMod val="75000"/>
                                            </a:schemeClr>
                                          </a:solidFill>
                                          <a:latin typeface="Cambria Math" panose="02040503050406030204" pitchFamily="18" charset="0"/>
                                        </a:rPr>
                                        <m:t>𝑘</m:t>
                                      </m:r>
                                      <m:r>
                                        <a:rPr lang="en-US" sz="1400" i="1">
                                          <a:solidFill>
                                            <a:schemeClr val="accent6">
                                              <a:lumMod val="75000"/>
                                            </a:schemeClr>
                                          </a:solidFill>
                                          <a:latin typeface="Cambria Math" panose="02040503050406030204" pitchFamily="18" charset="0"/>
                                        </a:rPr>
                                        <m:t>=1</m:t>
                                      </m:r>
                                    </m:sub>
                                    <m:sup>
                                      <m:r>
                                        <a:rPr lang="en-US" sz="1400" i="1">
                                          <a:solidFill>
                                            <a:schemeClr val="accent6">
                                              <a:lumMod val="75000"/>
                                            </a:schemeClr>
                                          </a:solidFill>
                                          <a:latin typeface="Cambria Math" panose="02040503050406030204" pitchFamily="18" charset="0"/>
                                        </a:rPr>
                                        <m:t>𝐾</m:t>
                                      </m:r>
                                    </m:sup>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𝜋</m:t>
                                          </m:r>
                                        </m:e>
                                        <m:sub>
                                          <m:r>
                                            <a:rPr lang="en-US" sz="1400" i="1">
                                              <a:solidFill>
                                                <a:schemeClr val="accent6">
                                                  <a:lumMod val="75000"/>
                                                </a:schemeClr>
                                              </a:solidFill>
                                              <a:latin typeface="Cambria Math" panose="02040503050406030204" pitchFamily="18" charset="0"/>
                                            </a:rPr>
                                            <m:t>𝑘</m:t>
                                          </m:r>
                                        </m:sub>
                                      </m:sSub>
                                    </m:e>
                                  </m:nary>
                                  <m:r>
                                    <a:rPr lang="en-US" sz="1400" i="1">
                                      <a:solidFill>
                                        <a:schemeClr val="accent6">
                                          <a:lumMod val="75000"/>
                                        </a:schemeClr>
                                      </a:solidFill>
                                      <a:latin typeface="Cambria Math" panose="02040503050406030204" pitchFamily="18" charset="0"/>
                                    </a:rPr>
                                    <m:t>𝒩</m:t>
                                  </m:r>
                                  <m:d>
                                    <m:dPr>
                                      <m:ctrlPr>
                                        <a:rPr lang="en-US" sz="1400" i="1">
                                          <a:solidFill>
                                            <a:schemeClr val="accent6">
                                              <a:lumMod val="75000"/>
                                            </a:schemeClr>
                                          </a:solidFill>
                                          <a:latin typeface="Cambria Math" panose="02040503050406030204" pitchFamily="18" charset="0"/>
                                        </a:rPr>
                                      </m:ctrlPr>
                                    </m:dPr>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𝑥</m:t>
                                          </m:r>
                                        </m:e>
                                        <m:sub>
                                          <m:r>
                                            <a:rPr lang="en-US" sz="1400" i="1">
                                              <a:solidFill>
                                                <a:schemeClr val="accent6">
                                                  <a:lumMod val="75000"/>
                                                </a:schemeClr>
                                              </a:solidFill>
                                              <a:latin typeface="Cambria Math" panose="02040503050406030204" pitchFamily="18" charset="0"/>
                                            </a:rPr>
                                            <m:t>𝑛</m:t>
                                          </m:r>
                                        </m:sub>
                                      </m:sSub>
                                      <m:r>
                                        <a:rPr lang="en-US" sz="1400" i="1">
                                          <a:solidFill>
                                            <a:schemeClr val="accent6">
                                              <a:lumMod val="75000"/>
                                            </a:schemeClr>
                                          </a:solidFill>
                                          <a:latin typeface="Cambria Math" panose="02040503050406030204" pitchFamily="18" charset="0"/>
                                        </a:rPr>
                                        <m:t>∣</m:t>
                                      </m:r>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𝜇</m:t>
                                          </m:r>
                                        </m:e>
                                        <m:sub>
                                          <m:r>
                                            <a:rPr lang="en-US" sz="1400" i="1">
                                              <a:solidFill>
                                                <a:schemeClr val="accent6">
                                                  <a:lumMod val="75000"/>
                                                </a:schemeClr>
                                              </a:solidFill>
                                              <a:latin typeface="Cambria Math" panose="02040503050406030204" pitchFamily="18" charset="0"/>
                                            </a:rPr>
                                            <m:t>𝑘</m:t>
                                          </m:r>
                                        </m:sub>
                                      </m:sSub>
                                      <m:r>
                                        <a:rPr lang="en-US" sz="1400" i="1">
                                          <a:solidFill>
                                            <a:schemeClr val="accent6">
                                              <a:lumMod val="75000"/>
                                            </a:schemeClr>
                                          </a:solidFill>
                                          <a:latin typeface="Cambria Math" panose="02040503050406030204" pitchFamily="18" charset="0"/>
                                        </a:rPr>
                                        <m:t>,</m:t>
                                      </m:r>
                                      <m:sSubSup>
                                        <m:sSubSupPr>
                                          <m:ctrlPr>
                                            <a:rPr lang="en-US" sz="1400" i="1">
                                              <a:solidFill>
                                                <a:schemeClr val="accent6">
                                                  <a:lumMod val="75000"/>
                                                </a:schemeClr>
                                              </a:solidFill>
                                              <a:latin typeface="Cambria Math" panose="02040503050406030204" pitchFamily="18" charset="0"/>
                                            </a:rPr>
                                          </m:ctrlPr>
                                        </m:sSubSupPr>
                                        <m:e>
                                          <m:r>
                                            <a:rPr lang="en-US" sz="1400" i="1">
                                              <a:solidFill>
                                                <a:schemeClr val="accent6">
                                                  <a:lumMod val="75000"/>
                                                </a:schemeClr>
                                              </a:solidFill>
                                              <a:latin typeface="Cambria Math" panose="02040503050406030204" pitchFamily="18" charset="0"/>
                                            </a:rPr>
                                            <m:t>𝜎</m:t>
                                          </m:r>
                                        </m:e>
                                        <m:sub>
                                          <m:r>
                                            <a:rPr lang="en-US" sz="1400" i="1">
                                              <a:solidFill>
                                                <a:schemeClr val="accent6">
                                                  <a:lumMod val="75000"/>
                                                </a:schemeClr>
                                              </a:solidFill>
                                              <a:latin typeface="Cambria Math" panose="02040503050406030204" pitchFamily="18" charset="0"/>
                                            </a:rPr>
                                            <m:t>𝑘</m:t>
                                          </m:r>
                                        </m:sub>
                                        <m:sup>
                                          <m:r>
                                            <a:rPr lang="en-US" sz="1400" i="1">
                                              <a:solidFill>
                                                <a:schemeClr val="accent6">
                                                  <a:lumMod val="75000"/>
                                                </a:schemeClr>
                                              </a:solidFill>
                                              <a:latin typeface="Cambria Math" panose="02040503050406030204" pitchFamily="18" charset="0"/>
                                            </a:rPr>
                                            <m:t>2</m:t>
                                          </m:r>
                                        </m:sup>
                                      </m:sSubSup>
                                    </m:e>
                                  </m:d>
                                </m:e>
                              </m:d>
                            </m:e>
                          </m:func>
                        </m:e>
                      </m:nary>
                    </m:oMath>
                  </m:oMathPara>
                </a14:m>
                <a:endParaRPr dirty="0"/>
              </a:p>
            </p:txBody>
          </p:sp>
        </mc:Choice>
        <mc:Fallback xmlns="">
          <p:sp>
            <p:nvSpPr>
              <p:cNvPr id="3" name="TextBox 2">
                <a:extLst>
                  <a:ext uri="{FF2B5EF4-FFF2-40B4-BE49-F238E27FC236}">
                    <a16:creationId xmlns:a16="http://schemas.microsoft.com/office/drawing/2014/main" id="{D6319BBC-7071-3CBE-B55F-5BCF8B7020B8}"/>
                  </a:ext>
                </a:extLst>
              </p:cNvPr>
              <p:cNvSpPr txBox="1">
                <a:spLocks noRot="1" noChangeAspect="1" noMove="1" noResize="1" noEditPoints="1" noAdjustHandles="1" noChangeArrowheads="1" noChangeShapeType="1" noTextEdit="1"/>
              </p:cNvSpPr>
              <p:nvPr/>
            </p:nvSpPr>
            <p:spPr>
              <a:xfrm>
                <a:off x="5434003" y="1922687"/>
                <a:ext cx="3459986" cy="693588"/>
              </a:xfrm>
              <a:prstGeom prst="rect">
                <a:avLst/>
              </a:prstGeom>
              <a:blipFill>
                <a:blip r:embed="rId4"/>
                <a:stretch>
                  <a:fillRect l="-730" t="-94545" r="-2920" b="-150909"/>
                </a:stretch>
              </a:blipFill>
            </p:spPr>
            <p:txBody>
              <a:bodyPr/>
              <a:lstStyle/>
              <a:p>
                <a:r>
                  <a:rPr lang="en-VN">
                    <a:noFill/>
                  </a:rPr>
                  <a:t> </a:t>
                </a:r>
              </a:p>
            </p:txBody>
          </p:sp>
        </mc:Fallback>
      </mc:AlternateContent>
      <p:sp>
        <p:nvSpPr>
          <p:cNvPr id="4" name="Right Arrow 3">
            <a:extLst>
              <a:ext uri="{FF2B5EF4-FFF2-40B4-BE49-F238E27FC236}">
                <a16:creationId xmlns:a16="http://schemas.microsoft.com/office/drawing/2014/main" id="{7F56EDA7-1EDA-B7C7-BFBF-0BD7081C84C6}"/>
              </a:ext>
            </a:extLst>
          </p:cNvPr>
          <p:cNvSpPr/>
          <p:nvPr/>
        </p:nvSpPr>
        <p:spPr>
          <a:xfrm rot="19550922">
            <a:off x="5302157" y="2575174"/>
            <a:ext cx="581883" cy="384721"/>
          </a:xfrm>
          <a:prstGeom prst="rightArrow">
            <a:avLst/>
          </a:prstGeom>
          <a:ln>
            <a:solidFill>
              <a:schemeClr val="tx2">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VN">
              <a:solidFill>
                <a:schemeClr val="tx2">
                  <a:lumMod val="60000"/>
                  <a:lumOff val="40000"/>
                </a:schemeClr>
              </a:solidFill>
            </a:endParaRPr>
          </a:p>
        </p:txBody>
      </p:sp>
    </p:spTree>
    <p:extLst>
      <p:ext uri="{BB962C8B-B14F-4D97-AF65-F5344CB8AC3E}">
        <p14:creationId xmlns:p14="http://schemas.microsoft.com/office/powerpoint/2010/main" val="11452143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8CE0F5-D5A8-3F1F-195B-8F26BAB5714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D5D1DE76-20DF-15DF-76B6-A0915D3FACCC}"/>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01BDB84-4B25-0D5B-0644-9D481EA45577}"/>
                  </a:ext>
                </a:extLst>
              </p:cNvPr>
              <p:cNvSpPr txBox="1"/>
              <p:nvPr/>
            </p:nvSpPr>
            <p:spPr>
              <a:xfrm>
                <a:off x="364066" y="1267771"/>
                <a:ext cx="11283437" cy="2354491"/>
              </a:xfrm>
              <a:prstGeom prst="rect">
                <a:avLst/>
              </a:prstGeom>
              <a:noFill/>
            </p:spPr>
            <p:txBody>
              <a:bodyPr wrap="square">
                <a:spAutoFit/>
              </a:bodyPr>
              <a:lstStyle/>
              <a:p>
                <a:pPr>
                  <a:spcAft>
                    <a:spcPts val="600"/>
                  </a:spcAft>
                </a:pPr>
                <a:r>
                  <a:rPr lang="vi-VN" sz="1400" b="1" dirty="0">
                    <a:solidFill>
                      <a:srgbClr val="1B8A7A"/>
                    </a:solidFill>
                    <a:latin typeface="Arial"/>
                  </a:rPr>
                  <a:t>2.1. Gaussian Mixture Model (GMM) - </a:t>
                </a:r>
                <a:r>
                  <a:rPr lang="vi-VN" sz="1000" b="1" dirty="0">
                    <a:solidFill>
                      <a:schemeClr val="accent5">
                        <a:lumMod val="60000"/>
                        <a:lumOff val="40000"/>
                      </a:schemeClr>
                    </a:solidFill>
                    <a:latin typeface="Arial"/>
                  </a:rPr>
                  <a:t>Mô hình hỗn hợp phân phối chuẩn</a:t>
                </a:r>
                <a:endParaRPr lang="vi-VN" sz="1400" b="1" dirty="0">
                  <a:solidFill>
                    <a:schemeClr val="bg2">
                      <a:lumMod val="50000"/>
                    </a:schemeClr>
                  </a:solidFill>
                  <a:latin typeface="Arial"/>
                </a:endParaRPr>
              </a:p>
              <a:p>
                <a:pPr>
                  <a:spcAft>
                    <a:spcPts val="600"/>
                  </a:spcAft>
                </a:pPr>
                <a:r>
                  <a:rPr lang="vi-VN" sz="1400" b="1" dirty="0">
                    <a:solidFill>
                      <a:schemeClr val="bg2">
                        <a:lumMod val="50000"/>
                      </a:schemeClr>
                    </a:solidFill>
                    <a:latin typeface="Arial"/>
                  </a:rPr>
                  <a:t>2.1.3. Tìm cực trị hàm mục tiêu</a:t>
                </a:r>
              </a:p>
              <a:p>
                <a:pPr>
                  <a:spcAft>
                    <a:spcPts val="600"/>
                  </a:spcAft>
                </a:pPr>
                <a:r>
                  <a:rPr lang="vi-VN" sz="1400" dirty="0">
                    <a:solidFill>
                      <a:srgbClr val="444B52"/>
                    </a:solidFill>
                    <a:latin typeface="Arial"/>
                  </a:rPr>
                  <a:t>	</a:t>
                </a:r>
              </a:p>
              <a:p>
                <a:pPr>
                  <a:spcAft>
                    <a:spcPts val="600"/>
                  </a:spcAft>
                </a:pPr>
                <a:endParaRPr lang="vi-VN" sz="1400" dirty="0">
                  <a:solidFill>
                    <a:srgbClr val="444B52"/>
                  </a:solidFill>
                  <a:latin typeface="Arial"/>
                </a:endParaRPr>
              </a:p>
              <a:p>
                <a:pPr>
                  <a:spcAft>
                    <a:spcPts val="600"/>
                  </a:spcAft>
                </a:pPr>
                <a:r>
                  <a:rPr lang="vi-VN" sz="1400" dirty="0">
                    <a:solidFill>
                      <a:srgbClr val="444B52"/>
                    </a:solidFill>
                    <a:latin typeface="Arial"/>
                  </a:rPr>
                  <a:t>	</a:t>
                </a:r>
              </a:p>
              <a:p>
                <a:pPr>
                  <a:spcAft>
                    <a:spcPts val="600"/>
                  </a:spcAft>
                </a:pPr>
                <a:r>
                  <a:rPr lang="vi-VN" sz="1400" dirty="0">
                    <a:solidFill>
                      <a:srgbClr val="444B52"/>
                    </a:solidFill>
                    <a:latin typeface="Arial"/>
                  </a:rPr>
                  <a:t>	- Từ hàm mục tiêu ở 2.1.2, ta thực hiện:</a:t>
                </a:r>
              </a:p>
              <a:p>
                <a:pPr>
                  <a:spcAft>
                    <a:spcPts val="600"/>
                  </a:spcAft>
                </a:pPr>
                <a:r>
                  <a:rPr lang="vi-VN" sz="1400" dirty="0">
                    <a:solidFill>
                      <a:srgbClr val="444B52"/>
                    </a:solidFill>
                    <a:latin typeface="Arial"/>
                  </a:rPr>
                  <a:t>		+ Lấy logarit 2 vế (cho dễ đạo hàm và tránh tràn số underflow)</a:t>
                </a:r>
              </a:p>
              <a:p>
                <a:pPr>
                  <a:spcAft>
                    <a:spcPts val="600"/>
                  </a:spcAft>
                </a:pPr>
                <a:r>
                  <a:rPr lang="vi-VN" sz="1400" dirty="0">
                    <a:solidFill>
                      <a:srgbClr val="444B52"/>
                    </a:solidFill>
                    <a:latin typeface="Arial"/>
                  </a:rPr>
                  <a:t>		+ Tìm đạo hàm riêng theo từng biến </a:t>
                </a:r>
                <a14:m>
                  <m:oMath xmlns:m="http://schemas.openxmlformats.org/officeDocument/2006/math">
                    <m:sSub>
                      <m:sSubPr>
                        <m:ctrlPr>
                          <a:rPr lang="en-US" sz="1400" b="1" i="1">
                            <a:solidFill>
                              <a:schemeClr val="accent6">
                                <a:lumMod val="75000"/>
                              </a:schemeClr>
                            </a:solidFill>
                            <a:latin typeface="Cambria Math" panose="02040503050406030204" pitchFamily="18" charset="0"/>
                          </a:rPr>
                        </m:ctrlPr>
                      </m:sSubPr>
                      <m:e>
                        <m:r>
                          <a:rPr lang="en-US" sz="1400" b="1" i="1">
                            <a:solidFill>
                              <a:schemeClr val="accent6">
                                <a:lumMod val="75000"/>
                              </a:schemeClr>
                            </a:solidFill>
                            <a:latin typeface="Cambria Math" panose="02040503050406030204" pitchFamily="18" charset="0"/>
                          </a:rPr>
                          <m:t>𝝅</m:t>
                        </m:r>
                      </m:e>
                      <m:sub>
                        <m:r>
                          <a:rPr lang="en-US" sz="1400" b="1" i="1">
                            <a:solidFill>
                              <a:schemeClr val="accent6">
                                <a:lumMod val="75000"/>
                              </a:schemeClr>
                            </a:solidFill>
                            <a:latin typeface="Cambria Math" panose="02040503050406030204" pitchFamily="18" charset="0"/>
                          </a:rPr>
                          <m:t>𝒌</m:t>
                        </m:r>
                      </m:sub>
                    </m:sSub>
                  </m:oMath>
                </a14:m>
                <a:r>
                  <a:rPr lang="vi-VN" sz="1400" dirty="0">
                    <a:solidFill>
                      <a:srgbClr val="444B52"/>
                    </a:solidFill>
                    <a:latin typeface="Arial"/>
                    <a:sym typeface="Wingdings" pitchFamily="2" charset="2"/>
                  </a:rPr>
                  <a:t>,</a:t>
                </a:r>
                <a:r>
                  <a:rPr lang="vi-VN" sz="1400" b="1" dirty="0">
                    <a:solidFill>
                      <a:srgbClr val="444B52"/>
                    </a:solidFill>
                    <a:latin typeface="Arial"/>
                    <a:sym typeface="Wingdings" pitchFamily="2" charset="2"/>
                  </a:rPr>
                  <a:t> </a:t>
                </a:r>
                <a14:m>
                  <m:oMath xmlns:m="http://schemas.openxmlformats.org/officeDocument/2006/math">
                    <m:sSub>
                      <m:sSubPr>
                        <m:ctrlPr>
                          <a:rPr lang="en-US" sz="1400" b="1" i="1">
                            <a:solidFill>
                              <a:schemeClr val="tx2">
                                <a:lumMod val="60000"/>
                                <a:lumOff val="40000"/>
                              </a:schemeClr>
                            </a:solidFill>
                            <a:latin typeface="Cambria Math" panose="02040503050406030204" pitchFamily="18" charset="0"/>
                          </a:rPr>
                        </m:ctrlPr>
                      </m:sSubPr>
                      <m:e>
                        <m:r>
                          <a:rPr lang="en-US" sz="1400" b="1" i="1">
                            <a:solidFill>
                              <a:schemeClr val="tx2">
                                <a:lumMod val="60000"/>
                                <a:lumOff val="40000"/>
                              </a:schemeClr>
                            </a:solidFill>
                            <a:latin typeface="Cambria Math" panose="02040503050406030204" pitchFamily="18" charset="0"/>
                          </a:rPr>
                          <m:t>𝝁</m:t>
                        </m:r>
                      </m:e>
                      <m:sub>
                        <m:r>
                          <a:rPr lang="en-US" sz="1400" b="1" i="1">
                            <a:solidFill>
                              <a:schemeClr val="tx2">
                                <a:lumMod val="60000"/>
                                <a:lumOff val="40000"/>
                              </a:schemeClr>
                            </a:solidFill>
                            <a:latin typeface="Cambria Math" panose="02040503050406030204" pitchFamily="18" charset="0"/>
                          </a:rPr>
                          <m:t>𝒌</m:t>
                        </m:r>
                      </m:sub>
                    </m:sSub>
                  </m:oMath>
                </a14:m>
                <a:r>
                  <a:rPr lang="vi-VN" sz="1400" dirty="0">
                    <a:solidFill>
                      <a:srgbClr val="444B52"/>
                    </a:solidFill>
                    <a:latin typeface="Arial"/>
                    <a:sym typeface="Wingdings" pitchFamily="2" charset="2"/>
                  </a:rPr>
                  <a:t>,</a:t>
                </a:r>
                <a:r>
                  <a:rPr lang="vi-VN" sz="1400" b="1" dirty="0">
                    <a:solidFill>
                      <a:srgbClr val="444B52"/>
                    </a:solidFill>
                    <a:latin typeface="Arial"/>
                    <a:sym typeface="Wingdings" pitchFamily="2" charset="2"/>
                  </a:rPr>
                  <a:t> </a:t>
                </a:r>
                <a14:m>
                  <m:oMath xmlns:m="http://schemas.openxmlformats.org/officeDocument/2006/math">
                    <m:sSub>
                      <m:sSubPr>
                        <m:ctrlPr>
                          <a:rPr lang="en-US" sz="1400" b="1" i="1" dirty="0">
                            <a:solidFill>
                              <a:srgbClr val="00B050"/>
                            </a:solidFill>
                            <a:latin typeface="Cambria Math" panose="02040503050406030204" pitchFamily="18" charset="0"/>
                          </a:rPr>
                        </m:ctrlPr>
                      </m:sSubPr>
                      <m:e>
                        <m:r>
                          <a:rPr lang="en-US" sz="1400" b="1" i="1" dirty="0">
                            <a:solidFill>
                              <a:srgbClr val="00B050"/>
                            </a:solidFill>
                            <a:latin typeface="Cambria Math" panose="02040503050406030204" pitchFamily="18" charset="0"/>
                          </a:rPr>
                          <m:t>𝝈</m:t>
                        </m:r>
                      </m:e>
                      <m:sub>
                        <m:r>
                          <a:rPr lang="en-US" sz="1400" b="1" i="1">
                            <a:solidFill>
                              <a:srgbClr val="00B050"/>
                            </a:solidFill>
                            <a:latin typeface="Cambria Math" panose="02040503050406030204" pitchFamily="18" charset="0"/>
                          </a:rPr>
                          <m:t>𝒌</m:t>
                        </m:r>
                      </m:sub>
                    </m:sSub>
                  </m:oMath>
                </a14:m>
                <a:r>
                  <a:rPr lang="vi-VN" sz="1400" dirty="0">
                    <a:solidFill>
                      <a:srgbClr val="444B52"/>
                    </a:solidFill>
                    <a:latin typeface="Arial"/>
                  </a:rPr>
                  <a:t>, rồi cho đạo hàm bằng 0 tìm cực trị</a:t>
                </a:r>
              </a:p>
            </p:txBody>
          </p:sp>
        </mc:Choice>
        <mc:Fallback xmlns="">
          <p:sp>
            <p:nvSpPr>
              <p:cNvPr id="12" name="TextBox 11">
                <a:extLst>
                  <a:ext uri="{FF2B5EF4-FFF2-40B4-BE49-F238E27FC236}">
                    <a16:creationId xmlns:a16="http://schemas.microsoft.com/office/drawing/2014/main" id="{301BDB84-4B25-0D5B-0644-9D481EA45577}"/>
                  </a:ext>
                </a:extLst>
              </p:cNvPr>
              <p:cNvSpPr txBox="1">
                <a:spLocks noRot="1" noChangeAspect="1" noMove="1" noResize="1" noEditPoints="1" noAdjustHandles="1" noChangeArrowheads="1" noChangeShapeType="1" noTextEdit="1"/>
              </p:cNvSpPr>
              <p:nvPr/>
            </p:nvSpPr>
            <p:spPr>
              <a:xfrm>
                <a:off x="364066" y="1267771"/>
                <a:ext cx="11283437" cy="2354491"/>
              </a:xfrm>
              <a:prstGeom prst="rect">
                <a:avLst/>
              </a:prstGeom>
              <a:blipFill>
                <a:blip r:embed="rId3"/>
                <a:stretch>
                  <a:fillRect l="-112" t="-535" b="-1070"/>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F39C2E13-F2A1-30C5-6BD7-4FB1260CD6D0}"/>
                  </a:ext>
                </a:extLst>
              </p:cNvPr>
              <p:cNvSpPr txBox="1"/>
              <p:nvPr/>
            </p:nvSpPr>
            <p:spPr>
              <a:xfrm>
                <a:off x="976625" y="1966578"/>
                <a:ext cx="2869375" cy="605807"/>
              </a:xfrm>
              <a:prstGeom prst="rect">
                <a:avLst/>
              </a:prstGeom>
              <a:noFill/>
            </p:spPr>
            <p:txBody>
              <a:bodyPr wrap="none" lIns="0" tIns="0" rIns="0" bIns="0" rtlCol="0">
                <a:spAutoFit/>
              </a:bodyPr>
              <a:lstStyle/>
              <a:p>
                <a:pPr/>
                <a14:m>
                  <m:oMathPara xmlns:m="http://schemas.openxmlformats.org/officeDocument/2006/math">
                    <m:oMath>
                      <m:r>
                        <a:rPr lang="en-VN" sz="1400" i="1">
                          <a:latin typeface="Cambria Math" panose="02040503050406030204" pitchFamily="18" charset="0"/>
                        </a:rPr>
                        <m:t>𝐿</m:t>
                      </m:r>
                      <m:d>
                        <m:dPr>
                          <m:ctrlPr>
                            <a:rPr lang="en-US" sz="1400" i="1">
                              <a:latin typeface="Cambria Math" panose="02040503050406030204" pitchFamily="18" charset="0"/>
                            </a:rPr>
                          </m:ctrlPr>
                        </m:dPr>
                        <m:e>
                          <m:r>
                            <a:rPr lang="en-US" sz="1400" i="1">
                              <a:latin typeface="Cambria Math" panose="02040503050406030204" pitchFamily="18" charset="0"/>
                            </a:rPr>
                            <m:t>𝜃</m:t>
                          </m:r>
                          <m:r>
                            <a:rPr lang="en-VN" sz="1400">
                              <a:latin typeface="Cambria Math" panose="02040503050406030204" pitchFamily="18" charset="0"/>
                            </a:rPr>
                            <m:t>∣</m:t>
                          </m:r>
                          <m:r>
                            <a:rPr lang="en-VN" sz="1400" i="1">
                              <a:latin typeface="Cambria Math" panose="02040503050406030204" pitchFamily="18" charset="0"/>
                            </a:rPr>
                            <m:t>𝑥</m:t>
                          </m:r>
                        </m:e>
                      </m:d>
                      <m:r>
                        <a:rPr lang="vi-VN" sz="1400" smtClean="0">
                          <a:latin typeface="Cambria Math" panose="02040503050406030204" pitchFamily="18" charset="0"/>
                        </a:rPr>
                        <m:t>=</m:t>
                      </m:r>
                      <m:nary>
                        <m:naryPr>
                          <m:chr m:val="∏"/>
                          <m:limLoc m:val="undOvr"/>
                          <m:ctrlPr>
                            <a:rPr lang="en-US" sz="1400" i="1">
                              <a:latin typeface="Cambria Math" panose="02040503050406030204" pitchFamily="18" charset="0"/>
                            </a:rPr>
                          </m:ctrlPr>
                        </m:naryPr>
                        <m:sub>
                          <m:r>
                            <a:rPr lang="en-US" sz="1400" i="1">
                              <a:latin typeface="Cambria Math" panose="02040503050406030204" pitchFamily="18" charset="0"/>
                            </a:rPr>
                            <m:t>𝑛</m:t>
                          </m:r>
                          <m:r>
                            <a:rPr lang="en-US" sz="1400" i="1">
                              <a:latin typeface="Cambria Math" panose="02040503050406030204" pitchFamily="18" charset="0"/>
                            </a:rPr>
                            <m:t>=1</m:t>
                          </m:r>
                        </m:sub>
                        <m:sup>
                          <m:r>
                            <a:rPr lang="en-US" sz="1400" i="1">
                              <a:latin typeface="Cambria Math" panose="02040503050406030204" pitchFamily="18" charset="0"/>
                            </a:rPr>
                            <m:t>𝑁</m:t>
                          </m:r>
                        </m:sup>
                        <m:e>
                          <m:nary>
                            <m:naryPr>
                              <m:chr m:val="∑"/>
                              <m:limLoc m:val="undOvr"/>
                              <m:ctrlPr>
                                <a:rPr lang="en-US" sz="1400" i="1">
                                  <a:solidFill>
                                    <a:schemeClr val="accent6">
                                      <a:lumMod val="75000"/>
                                    </a:schemeClr>
                                  </a:solidFill>
                                  <a:latin typeface="Cambria Math" panose="02040503050406030204" pitchFamily="18" charset="0"/>
                                </a:rPr>
                              </m:ctrlPr>
                            </m:naryPr>
                            <m:sub>
                              <m:r>
                                <a:rPr lang="en-US" sz="1400" i="1">
                                  <a:solidFill>
                                    <a:schemeClr val="accent6">
                                      <a:lumMod val="75000"/>
                                    </a:schemeClr>
                                  </a:solidFill>
                                  <a:latin typeface="Cambria Math" panose="02040503050406030204" pitchFamily="18" charset="0"/>
                                </a:rPr>
                                <m:t>𝑘</m:t>
                              </m:r>
                              <m:r>
                                <a:rPr lang="en-US" sz="1400" i="1">
                                  <a:solidFill>
                                    <a:schemeClr val="accent6">
                                      <a:lumMod val="75000"/>
                                    </a:schemeClr>
                                  </a:solidFill>
                                  <a:latin typeface="Cambria Math" panose="02040503050406030204" pitchFamily="18" charset="0"/>
                                </a:rPr>
                                <m:t>=1</m:t>
                              </m:r>
                            </m:sub>
                            <m:sup>
                              <m:r>
                                <a:rPr lang="en-US" sz="1400" i="1">
                                  <a:solidFill>
                                    <a:schemeClr val="accent6">
                                      <a:lumMod val="75000"/>
                                    </a:schemeClr>
                                  </a:solidFill>
                                  <a:latin typeface="Cambria Math" panose="02040503050406030204" pitchFamily="18" charset="0"/>
                                </a:rPr>
                                <m:t>𝐾</m:t>
                              </m:r>
                            </m:sup>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𝜋</m:t>
                                  </m:r>
                                </m:e>
                                <m:sub>
                                  <m:r>
                                    <a:rPr lang="en-US" sz="1400" i="1">
                                      <a:solidFill>
                                        <a:schemeClr val="accent6">
                                          <a:lumMod val="75000"/>
                                        </a:schemeClr>
                                      </a:solidFill>
                                      <a:latin typeface="Cambria Math" panose="02040503050406030204" pitchFamily="18" charset="0"/>
                                    </a:rPr>
                                    <m:t>𝑘</m:t>
                                  </m:r>
                                </m:sub>
                              </m:sSub>
                            </m:e>
                          </m:nary>
                        </m:e>
                      </m:nary>
                      <m:r>
                        <a:rPr lang="en-US" sz="1400" i="1" smtClean="0">
                          <a:solidFill>
                            <a:schemeClr val="accent6">
                              <a:lumMod val="75000"/>
                            </a:schemeClr>
                          </a:solidFill>
                          <a:latin typeface="Cambria Math" panose="02040503050406030204" pitchFamily="18" charset="0"/>
                        </a:rPr>
                        <m:t>𝒩</m:t>
                      </m:r>
                      <m:d>
                        <m:dPr>
                          <m:ctrlPr>
                            <a:rPr lang="en-US" sz="1400" i="1">
                              <a:solidFill>
                                <a:schemeClr val="accent6">
                                  <a:lumMod val="75000"/>
                                </a:schemeClr>
                              </a:solidFill>
                              <a:latin typeface="Cambria Math" panose="02040503050406030204" pitchFamily="18" charset="0"/>
                            </a:rPr>
                          </m:ctrlPr>
                        </m:dPr>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𝑥</m:t>
                              </m:r>
                            </m:e>
                            <m:sub>
                              <m:r>
                                <a:rPr lang="en-US" sz="1400" i="1">
                                  <a:solidFill>
                                    <a:schemeClr val="accent6">
                                      <a:lumMod val="75000"/>
                                    </a:schemeClr>
                                  </a:solidFill>
                                  <a:latin typeface="Cambria Math" panose="02040503050406030204" pitchFamily="18" charset="0"/>
                                </a:rPr>
                                <m:t>𝑛</m:t>
                              </m:r>
                            </m:sub>
                          </m:sSub>
                          <m:r>
                            <a:rPr lang="en-US" sz="1400" i="1">
                              <a:solidFill>
                                <a:schemeClr val="accent6">
                                  <a:lumMod val="75000"/>
                                </a:schemeClr>
                              </a:solidFill>
                              <a:latin typeface="Cambria Math" panose="02040503050406030204" pitchFamily="18" charset="0"/>
                            </a:rPr>
                            <m:t>∣</m:t>
                          </m:r>
                          <m:sSub>
                            <m:sSubPr>
                              <m:ctrlPr>
                                <a:rPr lang="en-US" sz="1400" b="0" i="1">
                                  <a:solidFill>
                                    <a:schemeClr val="accent6">
                                      <a:lumMod val="75000"/>
                                    </a:schemeClr>
                                  </a:solidFill>
                                  <a:latin typeface="Cambria Math" panose="02040503050406030204" pitchFamily="18" charset="0"/>
                                </a:rPr>
                              </m:ctrlPr>
                            </m:sSubPr>
                            <m:e>
                              <m:r>
                                <a:rPr lang="en-US" sz="1400" b="0" i="1">
                                  <a:solidFill>
                                    <a:schemeClr val="accent6">
                                      <a:lumMod val="75000"/>
                                    </a:schemeClr>
                                  </a:solidFill>
                                  <a:latin typeface="Cambria Math" panose="02040503050406030204" pitchFamily="18" charset="0"/>
                                </a:rPr>
                                <m:t>𝜇</m:t>
                              </m:r>
                            </m:e>
                            <m:sub>
                              <m:r>
                                <a:rPr lang="en-US" sz="1400" b="0" i="1">
                                  <a:solidFill>
                                    <a:schemeClr val="accent6">
                                      <a:lumMod val="75000"/>
                                    </a:schemeClr>
                                  </a:solidFill>
                                  <a:latin typeface="Cambria Math" panose="02040503050406030204" pitchFamily="18" charset="0"/>
                                </a:rPr>
                                <m:t>𝑘</m:t>
                              </m:r>
                            </m:sub>
                          </m:sSub>
                          <m:r>
                            <a:rPr lang="vi-VN" sz="1400" b="0" i="1" smtClean="0">
                              <a:solidFill>
                                <a:schemeClr val="accent6">
                                  <a:lumMod val="75000"/>
                                </a:schemeClr>
                              </a:solidFill>
                              <a:latin typeface="Cambria Math" panose="02040503050406030204" pitchFamily="18" charset="0"/>
                            </a:rPr>
                            <m:t>,</m:t>
                          </m:r>
                          <m:sSubSup>
                            <m:sSubSupPr>
                              <m:ctrlPr>
                                <a:rPr lang="en-US" sz="1400" b="0" i="1">
                                  <a:solidFill>
                                    <a:schemeClr val="accent6">
                                      <a:lumMod val="75000"/>
                                    </a:schemeClr>
                                  </a:solidFill>
                                  <a:latin typeface="Cambria Math" panose="02040503050406030204" pitchFamily="18" charset="0"/>
                                </a:rPr>
                              </m:ctrlPr>
                            </m:sSubSupPr>
                            <m:e>
                              <m:r>
                                <a:rPr lang="en-US" sz="1400" b="0" i="1">
                                  <a:solidFill>
                                    <a:schemeClr val="accent6">
                                      <a:lumMod val="75000"/>
                                    </a:schemeClr>
                                  </a:solidFill>
                                  <a:latin typeface="Cambria Math" panose="02040503050406030204" pitchFamily="18" charset="0"/>
                                </a:rPr>
                                <m:t>𝜎</m:t>
                              </m:r>
                            </m:e>
                            <m:sub>
                              <m:r>
                                <a:rPr lang="en-US" sz="1400" b="0" i="1">
                                  <a:solidFill>
                                    <a:schemeClr val="accent6">
                                      <a:lumMod val="75000"/>
                                    </a:schemeClr>
                                  </a:solidFill>
                                  <a:latin typeface="Cambria Math" panose="02040503050406030204" pitchFamily="18" charset="0"/>
                                </a:rPr>
                                <m:t>𝑘</m:t>
                              </m:r>
                            </m:sub>
                            <m:sup>
                              <m:r>
                                <a:rPr lang="en-US" sz="1400" b="0" i="1">
                                  <a:solidFill>
                                    <a:schemeClr val="accent6">
                                      <a:lumMod val="75000"/>
                                    </a:schemeClr>
                                  </a:solidFill>
                                  <a:latin typeface="Cambria Math" panose="02040503050406030204" pitchFamily="18" charset="0"/>
                                </a:rPr>
                                <m:t>2</m:t>
                              </m:r>
                            </m:sup>
                          </m:sSubSup>
                        </m:e>
                      </m:d>
                    </m:oMath>
                  </m:oMathPara>
                </a14:m>
                <a:endParaRPr/>
              </a:p>
            </p:txBody>
          </p:sp>
        </mc:Choice>
        <mc:Fallback xmlns="">
          <p:sp>
            <p:nvSpPr>
              <p:cNvPr id="40" name="TextBox 39">
                <a:extLst>
                  <a:ext uri="{FF2B5EF4-FFF2-40B4-BE49-F238E27FC236}">
                    <a16:creationId xmlns:a16="http://schemas.microsoft.com/office/drawing/2014/main" id="{F39C2E13-F2A1-30C5-6BD7-4FB1260CD6D0}"/>
                  </a:ext>
                </a:extLst>
              </p:cNvPr>
              <p:cNvSpPr txBox="1">
                <a:spLocks noRot="1" noChangeAspect="1" noMove="1" noResize="1" noEditPoints="1" noAdjustHandles="1" noChangeArrowheads="1" noChangeShapeType="1" noTextEdit="1"/>
              </p:cNvSpPr>
              <p:nvPr/>
            </p:nvSpPr>
            <p:spPr>
              <a:xfrm>
                <a:off x="976625" y="1966578"/>
                <a:ext cx="2869375" cy="605807"/>
              </a:xfrm>
              <a:prstGeom prst="rect">
                <a:avLst/>
              </a:prstGeom>
              <a:blipFill>
                <a:blip r:embed="rId4"/>
                <a:stretch>
                  <a:fillRect t="-116667" r="-3524" b="-179167"/>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B5E6705-57CF-0FB8-0D41-84B9CACEA711}"/>
                  </a:ext>
                </a:extLst>
              </p:cNvPr>
              <p:cNvSpPr txBox="1"/>
              <p:nvPr/>
            </p:nvSpPr>
            <p:spPr>
              <a:xfrm>
                <a:off x="5434003" y="1922687"/>
                <a:ext cx="3459986" cy="693588"/>
              </a:xfrm>
              <a:prstGeom prst="rect">
                <a:avLst/>
              </a:prstGeom>
              <a:noFill/>
            </p:spPr>
            <p:txBody>
              <a:bodyPr wrap="none" lIns="0" tIns="0" rIns="0" bIns="0" rtlCol="0">
                <a:spAutoFit/>
              </a:bodyPr>
              <a:lstStyle/>
              <a:p>
                <a:pPr/>
                <a14:m>
                  <m:oMathPara xmlns:m="http://schemas.openxmlformats.org/officeDocument/2006/math">
                    <m:oMath>
                      <m:func>
                        <m:funcPr>
                          <m:ctrlPr>
                            <a:rPr lang="en-US" sz="1400" i="1" smtClean="0">
                              <a:solidFill>
                                <a:srgbClr val="0070C0"/>
                              </a:solidFill>
                              <a:latin typeface="Cambria Math" panose="02040503050406030204" pitchFamily="18" charset="0"/>
                            </a:rPr>
                          </m:ctrlPr>
                        </m:funcPr>
                        <m:fName>
                          <m:r>
                            <m:rPr>
                              <m:sty m:val="p"/>
                            </m:rPr>
                            <a:rPr lang="en-US" sz="1400" i="1" smtClean="0">
                              <a:solidFill>
                                <a:srgbClr val="0070C0"/>
                              </a:solidFill>
                              <a:latin typeface="Cambria Math" panose="02040503050406030204" pitchFamily="18" charset="0"/>
                            </a:rPr>
                            <m:t>ln</m:t>
                          </m:r>
                        </m:fName>
                        <m:e>
                          <m:r>
                            <a:rPr lang="en-VN" sz="1400" i="1">
                              <a:latin typeface="Cambria Math" panose="02040503050406030204" pitchFamily="18" charset="0"/>
                            </a:rPr>
                            <m:t>𝐿</m:t>
                          </m:r>
                        </m:e>
                      </m:func>
                      <m:d>
                        <m:dPr>
                          <m:ctrlPr>
                            <a:rPr lang="en-US" sz="1400" i="1">
                              <a:latin typeface="Cambria Math" panose="02040503050406030204" pitchFamily="18" charset="0"/>
                            </a:rPr>
                          </m:ctrlPr>
                        </m:dPr>
                        <m:e>
                          <m:r>
                            <a:rPr lang="en-US" sz="1400" i="1">
                              <a:latin typeface="Cambria Math" panose="02040503050406030204" pitchFamily="18" charset="0"/>
                            </a:rPr>
                            <m:t>𝜃</m:t>
                          </m:r>
                          <m:r>
                            <a:rPr lang="en-US" sz="1400" i="1">
                              <a:latin typeface="Cambria Math" panose="02040503050406030204" pitchFamily="18" charset="0"/>
                            </a:rPr>
                            <m:t>∣</m:t>
                          </m:r>
                          <m:r>
                            <a:rPr lang="en-US" sz="1400" i="1">
                              <a:latin typeface="Cambria Math" panose="02040503050406030204" pitchFamily="18" charset="0"/>
                            </a:rPr>
                            <m:t>𝑥</m:t>
                          </m:r>
                        </m:e>
                      </m:d>
                      <m:r>
                        <a:rPr lang="en-US" sz="1400" i="1">
                          <a:latin typeface="Cambria Math" panose="02040503050406030204" pitchFamily="18" charset="0"/>
                        </a:rPr>
                        <m:t>=</m:t>
                      </m:r>
                      <m:nary>
                        <m:naryPr>
                          <m:chr m:val="∑"/>
                          <m:limLoc m:val="undOvr"/>
                          <m:ctrlPr>
                            <a:rPr lang="en-US" sz="1400" i="1">
                              <a:latin typeface="Cambria Math" panose="02040503050406030204" pitchFamily="18" charset="0"/>
                            </a:rPr>
                          </m:ctrlPr>
                        </m:naryPr>
                        <m:sub>
                          <m:r>
                            <a:rPr lang="en-US" sz="1400" i="1">
                              <a:latin typeface="Cambria Math" panose="02040503050406030204" pitchFamily="18" charset="0"/>
                            </a:rPr>
                            <m:t>𝑛</m:t>
                          </m:r>
                          <m:r>
                            <a:rPr lang="en-US" sz="1400" i="1">
                              <a:latin typeface="Cambria Math" panose="02040503050406030204" pitchFamily="18" charset="0"/>
                            </a:rPr>
                            <m:t>=1</m:t>
                          </m:r>
                        </m:sub>
                        <m:sup>
                          <m:r>
                            <a:rPr lang="en-US" sz="1400" i="1">
                              <a:latin typeface="Cambria Math" panose="02040503050406030204" pitchFamily="18" charset="0"/>
                            </a:rPr>
                            <m:t>𝑁</m:t>
                          </m:r>
                        </m:sup>
                        <m:e>
                          <m:func>
                            <m:funcPr>
                              <m:ctrlPr>
                                <a:rPr lang="en-US" sz="1400" i="1" smtClean="0">
                                  <a:solidFill>
                                    <a:srgbClr val="0070C0"/>
                                  </a:solidFill>
                                  <a:latin typeface="Cambria Math" panose="02040503050406030204" pitchFamily="18" charset="0"/>
                                </a:rPr>
                              </m:ctrlPr>
                            </m:funcPr>
                            <m:fName>
                              <m:r>
                                <m:rPr>
                                  <m:sty m:val="p"/>
                                </m:rPr>
                                <a:rPr lang="en-US" sz="1400" i="1" smtClean="0">
                                  <a:solidFill>
                                    <a:srgbClr val="0070C0"/>
                                  </a:solidFill>
                                  <a:latin typeface="Cambria Math" panose="02040503050406030204" pitchFamily="18" charset="0"/>
                                </a:rPr>
                                <m:t>ln</m:t>
                              </m:r>
                            </m:fName>
                            <m:e>
                              <m:d>
                                <m:dPr>
                                  <m:ctrlPr>
                                    <a:rPr lang="en-US" sz="1400" i="1">
                                      <a:solidFill>
                                        <a:schemeClr val="accent6">
                                          <a:lumMod val="75000"/>
                                        </a:schemeClr>
                                      </a:solidFill>
                                      <a:latin typeface="Cambria Math" panose="02040503050406030204" pitchFamily="18" charset="0"/>
                                    </a:rPr>
                                  </m:ctrlPr>
                                </m:dPr>
                                <m:e>
                                  <m:nary>
                                    <m:naryPr>
                                      <m:chr m:val="∑"/>
                                      <m:limLoc m:val="undOvr"/>
                                      <m:ctrlPr>
                                        <a:rPr lang="en-US" sz="1400" i="1">
                                          <a:solidFill>
                                            <a:schemeClr val="accent6">
                                              <a:lumMod val="75000"/>
                                            </a:schemeClr>
                                          </a:solidFill>
                                          <a:latin typeface="Cambria Math" panose="02040503050406030204" pitchFamily="18" charset="0"/>
                                        </a:rPr>
                                      </m:ctrlPr>
                                    </m:naryPr>
                                    <m:sub>
                                      <m:r>
                                        <a:rPr lang="en-US" sz="1400" i="1">
                                          <a:solidFill>
                                            <a:schemeClr val="accent6">
                                              <a:lumMod val="75000"/>
                                            </a:schemeClr>
                                          </a:solidFill>
                                          <a:latin typeface="Cambria Math" panose="02040503050406030204" pitchFamily="18" charset="0"/>
                                        </a:rPr>
                                        <m:t>𝑘</m:t>
                                      </m:r>
                                      <m:r>
                                        <a:rPr lang="en-US" sz="1400" i="1">
                                          <a:solidFill>
                                            <a:schemeClr val="accent6">
                                              <a:lumMod val="75000"/>
                                            </a:schemeClr>
                                          </a:solidFill>
                                          <a:latin typeface="Cambria Math" panose="02040503050406030204" pitchFamily="18" charset="0"/>
                                        </a:rPr>
                                        <m:t>=1</m:t>
                                      </m:r>
                                    </m:sub>
                                    <m:sup>
                                      <m:r>
                                        <a:rPr lang="en-US" sz="1400" i="1">
                                          <a:solidFill>
                                            <a:schemeClr val="accent6">
                                              <a:lumMod val="75000"/>
                                            </a:schemeClr>
                                          </a:solidFill>
                                          <a:latin typeface="Cambria Math" panose="02040503050406030204" pitchFamily="18" charset="0"/>
                                        </a:rPr>
                                        <m:t>𝐾</m:t>
                                      </m:r>
                                    </m:sup>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𝜋</m:t>
                                          </m:r>
                                        </m:e>
                                        <m:sub>
                                          <m:r>
                                            <a:rPr lang="en-US" sz="1400" i="1">
                                              <a:solidFill>
                                                <a:schemeClr val="accent6">
                                                  <a:lumMod val="75000"/>
                                                </a:schemeClr>
                                              </a:solidFill>
                                              <a:latin typeface="Cambria Math" panose="02040503050406030204" pitchFamily="18" charset="0"/>
                                            </a:rPr>
                                            <m:t>𝑘</m:t>
                                          </m:r>
                                        </m:sub>
                                      </m:sSub>
                                    </m:e>
                                  </m:nary>
                                  <m:r>
                                    <a:rPr lang="en-US" sz="1400" i="1">
                                      <a:solidFill>
                                        <a:schemeClr val="accent6">
                                          <a:lumMod val="75000"/>
                                        </a:schemeClr>
                                      </a:solidFill>
                                      <a:latin typeface="Cambria Math" panose="02040503050406030204" pitchFamily="18" charset="0"/>
                                    </a:rPr>
                                    <m:t>𝒩</m:t>
                                  </m:r>
                                  <m:d>
                                    <m:dPr>
                                      <m:ctrlPr>
                                        <a:rPr lang="en-US" sz="1400" i="1">
                                          <a:solidFill>
                                            <a:schemeClr val="accent6">
                                              <a:lumMod val="75000"/>
                                            </a:schemeClr>
                                          </a:solidFill>
                                          <a:latin typeface="Cambria Math" panose="02040503050406030204" pitchFamily="18" charset="0"/>
                                        </a:rPr>
                                      </m:ctrlPr>
                                    </m:dPr>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𝑥</m:t>
                                          </m:r>
                                        </m:e>
                                        <m:sub>
                                          <m:r>
                                            <a:rPr lang="en-US" sz="1400" i="1">
                                              <a:solidFill>
                                                <a:schemeClr val="accent6">
                                                  <a:lumMod val="75000"/>
                                                </a:schemeClr>
                                              </a:solidFill>
                                              <a:latin typeface="Cambria Math" panose="02040503050406030204" pitchFamily="18" charset="0"/>
                                            </a:rPr>
                                            <m:t>𝑛</m:t>
                                          </m:r>
                                        </m:sub>
                                      </m:sSub>
                                      <m:r>
                                        <a:rPr lang="en-US" sz="1400" i="1">
                                          <a:solidFill>
                                            <a:schemeClr val="accent6">
                                              <a:lumMod val="75000"/>
                                            </a:schemeClr>
                                          </a:solidFill>
                                          <a:latin typeface="Cambria Math" panose="02040503050406030204" pitchFamily="18" charset="0"/>
                                        </a:rPr>
                                        <m:t>∣</m:t>
                                      </m:r>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𝜇</m:t>
                                          </m:r>
                                        </m:e>
                                        <m:sub>
                                          <m:r>
                                            <a:rPr lang="en-US" sz="1400" i="1">
                                              <a:solidFill>
                                                <a:schemeClr val="accent6">
                                                  <a:lumMod val="75000"/>
                                                </a:schemeClr>
                                              </a:solidFill>
                                              <a:latin typeface="Cambria Math" panose="02040503050406030204" pitchFamily="18" charset="0"/>
                                            </a:rPr>
                                            <m:t>𝑘</m:t>
                                          </m:r>
                                        </m:sub>
                                      </m:sSub>
                                      <m:r>
                                        <a:rPr lang="en-US" sz="1400" i="1">
                                          <a:solidFill>
                                            <a:schemeClr val="accent6">
                                              <a:lumMod val="75000"/>
                                            </a:schemeClr>
                                          </a:solidFill>
                                          <a:latin typeface="Cambria Math" panose="02040503050406030204" pitchFamily="18" charset="0"/>
                                        </a:rPr>
                                        <m:t>,</m:t>
                                      </m:r>
                                      <m:sSubSup>
                                        <m:sSubSupPr>
                                          <m:ctrlPr>
                                            <a:rPr lang="en-US" sz="1400" i="1">
                                              <a:solidFill>
                                                <a:schemeClr val="accent6">
                                                  <a:lumMod val="75000"/>
                                                </a:schemeClr>
                                              </a:solidFill>
                                              <a:latin typeface="Cambria Math" panose="02040503050406030204" pitchFamily="18" charset="0"/>
                                            </a:rPr>
                                          </m:ctrlPr>
                                        </m:sSubSupPr>
                                        <m:e>
                                          <m:r>
                                            <a:rPr lang="en-US" sz="1400" i="1">
                                              <a:solidFill>
                                                <a:schemeClr val="accent6">
                                                  <a:lumMod val="75000"/>
                                                </a:schemeClr>
                                              </a:solidFill>
                                              <a:latin typeface="Cambria Math" panose="02040503050406030204" pitchFamily="18" charset="0"/>
                                            </a:rPr>
                                            <m:t>𝜎</m:t>
                                          </m:r>
                                        </m:e>
                                        <m:sub>
                                          <m:r>
                                            <a:rPr lang="en-US" sz="1400" i="1">
                                              <a:solidFill>
                                                <a:schemeClr val="accent6">
                                                  <a:lumMod val="75000"/>
                                                </a:schemeClr>
                                              </a:solidFill>
                                              <a:latin typeface="Cambria Math" panose="02040503050406030204" pitchFamily="18" charset="0"/>
                                            </a:rPr>
                                            <m:t>𝑘</m:t>
                                          </m:r>
                                        </m:sub>
                                        <m:sup>
                                          <m:r>
                                            <a:rPr lang="en-US" sz="1400" i="1">
                                              <a:solidFill>
                                                <a:schemeClr val="accent6">
                                                  <a:lumMod val="75000"/>
                                                </a:schemeClr>
                                              </a:solidFill>
                                              <a:latin typeface="Cambria Math" panose="02040503050406030204" pitchFamily="18" charset="0"/>
                                            </a:rPr>
                                            <m:t>2</m:t>
                                          </m:r>
                                        </m:sup>
                                      </m:sSubSup>
                                    </m:e>
                                  </m:d>
                                </m:e>
                              </m:d>
                            </m:e>
                          </m:func>
                        </m:e>
                      </m:nary>
                    </m:oMath>
                  </m:oMathPara>
                </a14:m>
                <a:endParaRPr dirty="0"/>
              </a:p>
            </p:txBody>
          </p:sp>
        </mc:Choice>
        <mc:Fallback xmlns="">
          <p:sp>
            <p:nvSpPr>
              <p:cNvPr id="7" name="TextBox 6">
                <a:extLst>
                  <a:ext uri="{FF2B5EF4-FFF2-40B4-BE49-F238E27FC236}">
                    <a16:creationId xmlns:a16="http://schemas.microsoft.com/office/drawing/2014/main" id="{6B5E6705-57CF-0FB8-0D41-84B9CACEA711}"/>
                  </a:ext>
                </a:extLst>
              </p:cNvPr>
              <p:cNvSpPr txBox="1">
                <a:spLocks noRot="1" noChangeAspect="1" noMove="1" noResize="1" noEditPoints="1" noAdjustHandles="1" noChangeArrowheads="1" noChangeShapeType="1" noTextEdit="1"/>
              </p:cNvSpPr>
              <p:nvPr/>
            </p:nvSpPr>
            <p:spPr>
              <a:xfrm>
                <a:off x="5434003" y="1922687"/>
                <a:ext cx="3459986" cy="693588"/>
              </a:xfrm>
              <a:prstGeom prst="rect">
                <a:avLst/>
              </a:prstGeom>
              <a:blipFill>
                <a:blip r:embed="rId5"/>
                <a:stretch>
                  <a:fillRect l="-730" t="-94545" r="-2920" b="-150909"/>
                </a:stretch>
              </a:blipFill>
            </p:spPr>
            <p:txBody>
              <a:bodyPr/>
              <a:lstStyle/>
              <a:p>
                <a:r>
                  <a:rPr lang="en-VN">
                    <a:noFill/>
                  </a:rPr>
                  <a:t> </a:t>
                </a:r>
              </a:p>
            </p:txBody>
          </p:sp>
        </mc:Fallback>
      </mc:AlternateContent>
      <p:sp>
        <p:nvSpPr>
          <p:cNvPr id="8" name="Right Arrow 7">
            <a:extLst>
              <a:ext uri="{FF2B5EF4-FFF2-40B4-BE49-F238E27FC236}">
                <a16:creationId xmlns:a16="http://schemas.microsoft.com/office/drawing/2014/main" id="{844B3DCE-D1AA-2686-B659-6855BB51B3AE}"/>
              </a:ext>
            </a:extLst>
          </p:cNvPr>
          <p:cNvSpPr/>
          <p:nvPr/>
        </p:nvSpPr>
        <p:spPr>
          <a:xfrm rot="19550922">
            <a:off x="5302157" y="2575174"/>
            <a:ext cx="581883" cy="384721"/>
          </a:xfrm>
          <a:prstGeom prst="rightArrow">
            <a:avLst/>
          </a:prstGeom>
          <a:ln>
            <a:solidFill>
              <a:schemeClr val="tx2">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VN">
              <a:solidFill>
                <a:schemeClr val="tx2">
                  <a:lumMod val="60000"/>
                  <a:lumOff val="40000"/>
                </a:schemeClr>
              </a:solidFill>
            </a:endParaRPr>
          </a:p>
        </p:txBody>
      </p:sp>
    </p:spTree>
    <p:extLst>
      <p:ext uri="{BB962C8B-B14F-4D97-AF65-F5344CB8AC3E}">
        <p14:creationId xmlns:p14="http://schemas.microsoft.com/office/powerpoint/2010/main" val="42185937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92A76-62AD-BAFF-2EAC-1497B50D0D1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9F679FE-BF18-1CFA-988F-14FD369017E0}"/>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E391DEA1-FCE7-55A0-81FC-A8B5BACF3EEF}"/>
                  </a:ext>
                </a:extLst>
              </p:cNvPr>
              <p:cNvSpPr txBox="1"/>
              <p:nvPr/>
            </p:nvSpPr>
            <p:spPr>
              <a:xfrm>
                <a:off x="364066" y="1267771"/>
                <a:ext cx="11283437" cy="2354491"/>
              </a:xfrm>
              <a:prstGeom prst="rect">
                <a:avLst/>
              </a:prstGeom>
              <a:noFill/>
            </p:spPr>
            <p:txBody>
              <a:bodyPr wrap="square">
                <a:spAutoFit/>
              </a:bodyPr>
              <a:lstStyle/>
              <a:p>
                <a:pPr>
                  <a:spcAft>
                    <a:spcPts val="600"/>
                  </a:spcAft>
                </a:pPr>
                <a:r>
                  <a:rPr lang="vi-VN" sz="1400" b="1" dirty="0">
                    <a:solidFill>
                      <a:srgbClr val="1B8A7A"/>
                    </a:solidFill>
                    <a:latin typeface="Arial"/>
                  </a:rPr>
                  <a:t>2.1. Gaussian Mixture Model (GMM) - </a:t>
                </a:r>
                <a:r>
                  <a:rPr lang="vi-VN" sz="1000" b="1" dirty="0">
                    <a:solidFill>
                      <a:schemeClr val="accent5">
                        <a:lumMod val="60000"/>
                        <a:lumOff val="40000"/>
                      </a:schemeClr>
                    </a:solidFill>
                    <a:latin typeface="Arial"/>
                  </a:rPr>
                  <a:t>Mô hình hỗn hợp phân phối chuẩn</a:t>
                </a:r>
                <a:endParaRPr lang="vi-VN" sz="1400" b="1" dirty="0">
                  <a:solidFill>
                    <a:schemeClr val="bg2">
                      <a:lumMod val="50000"/>
                    </a:schemeClr>
                  </a:solidFill>
                  <a:latin typeface="Arial"/>
                </a:endParaRPr>
              </a:p>
              <a:p>
                <a:pPr>
                  <a:spcAft>
                    <a:spcPts val="600"/>
                  </a:spcAft>
                </a:pPr>
                <a:r>
                  <a:rPr lang="vi-VN" sz="1400" b="1" dirty="0">
                    <a:solidFill>
                      <a:schemeClr val="bg2">
                        <a:lumMod val="50000"/>
                      </a:schemeClr>
                    </a:solidFill>
                    <a:latin typeface="Arial"/>
                  </a:rPr>
                  <a:t>2.1.3. Tìm cực trị hàm mục tiêu</a:t>
                </a:r>
              </a:p>
              <a:p>
                <a:pPr>
                  <a:spcAft>
                    <a:spcPts val="600"/>
                  </a:spcAft>
                </a:pPr>
                <a:r>
                  <a:rPr lang="vi-VN" sz="1400" dirty="0">
                    <a:solidFill>
                      <a:srgbClr val="444B52"/>
                    </a:solidFill>
                    <a:latin typeface="Arial"/>
                  </a:rPr>
                  <a:t>	</a:t>
                </a:r>
              </a:p>
              <a:p>
                <a:pPr>
                  <a:spcAft>
                    <a:spcPts val="600"/>
                  </a:spcAft>
                </a:pPr>
                <a:endParaRPr lang="vi-VN" sz="1400" dirty="0">
                  <a:solidFill>
                    <a:srgbClr val="444B52"/>
                  </a:solidFill>
                  <a:latin typeface="Arial"/>
                </a:endParaRPr>
              </a:p>
              <a:p>
                <a:pPr>
                  <a:spcAft>
                    <a:spcPts val="600"/>
                  </a:spcAft>
                </a:pPr>
                <a:r>
                  <a:rPr lang="vi-VN" sz="1400" dirty="0">
                    <a:solidFill>
                      <a:srgbClr val="444B52"/>
                    </a:solidFill>
                    <a:latin typeface="Arial"/>
                  </a:rPr>
                  <a:t>	</a:t>
                </a:r>
              </a:p>
              <a:p>
                <a:pPr>
                  <a:spcAft>
                    <a:spcPts val="600"/>
                  </a:spcAft>
                </a:pPr>
                <a:r>
                  <a:rPr lang="vi-VN" sz="1400" dirty="0">
                    <a:solidFill>
                      <a:srgbClr val="444B52"/>
                    </a:solidFill>
                    <a:latin typeface="Arial"/>
                  </a:rPr>
                  <a:t>	- Từ hàm mục tiêu ở 2.1.2, ta thực hiện:</a:t>
                </a:r>
              </a:p>
              <a:p>
                <a:pPr>
                  <a:spcAft>
                    <a:spcPts val="600"/>
                  </a:spcAft>
                </a:pPr>
                <a:r>
                  <a:rPr lang="vi-VN" sz="1400" dirty="0">
                    <a:solidFill>
                      <a:srgbClr val="444B52"/>
                    </a:solidFill>
                    <a:latin typeface="Arial"/>
                  </a:rPr>
                  <a:t>		+ Lấy logarit 2 vế (cho dễ đạo hàm và tránh tràn số underflow)</a:t>
                </a:r>
              </a:p>
              <a:p>
                <a:pPr>
                  <a:spcAft>
                    <a:spcPts val="600"/>
                  </a:spcAft>
                </a:pPr>
                <a:r>
                  <a:rPr lang="vi-VN" sz="1400" dirty="0">
                    <a:solidFill>
                      <a:srgbClr val="444B52"/>
                    </a:solidFill>
                    <a:latin typeface="Arial"/>
                  </a:rPr>
                  <a:t>		+ Tìm đạo hàm riêng theo từng biến </a:t>
                </a:r>
                <a14:m>
                  <m:oMath xmlns:m="http://schemas.openxmlformats.org/officeDocument/2006/math">
                    <m:sSub>
                      <m:sSubPr>
                        <m:ctrlPr>
                          <a:rPr lang="en-US" sz="1400" b="1" i="1">
                            <a:solidFill>
                              <a:schemeClr val="accent6">
                                <a:lumMod val="75000"/>
                              </a:schemeClr>
                            </a:solidFill>
                            <a:latin typeface="Cambria Math" panose="02040503050406030204" pitchFamily="18" charset="0"/>
                          </a:rPr>
                        </m:ctrlPr>
                      </m:sSubPr>
                      <m:e>
                        <m:r>
                          <a:rPr lang="en-US" sz="1400" b="1" i="1">
                            <a:solidFill>
                              <a:schemeClr val="accent6">
                                <a:lumMod val="75000"/>
                              </a:schemeClr>
                            </a:solidFill>
                            <a:latin typeface="Cambria Math" panose="02040503050406030204" pitchFamily="18" charset="0"/>
                          </a:rPr>
                          <m:t>𝝅</m:t>
                        </m:r>
                      </m:e>
                      <m:sub>
                        <m:r>
                          <a:rPr lang="en-US" sz="1400" b="1" i="1">
                            <a:solidFill>
                              <a:schemeClr val="accent6">
                                <a:lumMod val="75000"/>
                              </a:schemeClr>
                            </a:solidFill>
                            <a:latin typeface="Cambria Math" panose="02040503050406030204" pitchFamily="18" charset="0"/>
                          </a:rPr>
                          <m:t>𝒌</m:t>
                        </m:r>
                      </m:sub>
                    </m:sSub>
                  </m:oMath>
                </a14:m>
                <a:r>
                  <a:rPr lang="vi-VN" sz="1400" dirty="0">
                    <a:solidFill>
                      <a:srgbClr val="444B52"/>
                    </a:solidFill>
                    <a:latin typeface="Arial"/>
                    <a:sym typeface="Wingdings" pitchFamily="2" charset="2"/>
                  </a:rPr>
                  <a:t>,</a:t>
                </a:r>
                <a:r>
                  <a:rPr lang="vi-VN" sz="1400" b="1" dirty="0">
                    <a:solidFill>
                      <a:srgbClr val="444B52"/>
                    </a:solidFill>
                    <a:latin typeface="Arial"/>
                    <a:sym typeface="Wingdings" pitchFamily="2" charset="2"/>
                  </a:rPr>
                  <a:t> </a:t>
                </a:r>
                <a14:m>
                  <m:oMath xmlns:m="http://schemas.openxmlformats.org/officeDocument/2006/math">
                    <m:sSub>
                      <m:sSubPr>
                        <m:ctrlPr>
                          <a:rPr lang="en-US" sz="1400" b="1" i="1">
                            <a:solidFill>
                              <a:schemeClr val="tx2">
                                <a:lumMod val="60000"/>
                                <a:lumOff val="40000"/>
                              </a:schemeClr>
                            </a:solidFill>
                            <a:latin typeface="Cambria Math" panose="02040503050406030204" pitchFamily="18" charset="0"/>
                          </a:rPr>
                        </m:ctrlPr>
                      </m:sSubPr>
                      <m:e>
                        <m:r>
                          <a:rPr lang="en-US" sz="1400" b="1" i="1">
                            <a:solidFill>
                              <a:schemeClr val="tx2">
                                <a:lumMod val="60000"/>
                                <a:lumOff val="40000"/>
                              </a:schemeClr>
                            </a:solidFill>
                            <a:latin typeface="Cambria Math" panose="02040503050406030204" pitchFamily="18" charset="0"/>
                          </a:rPr>
                          <m:t>𝝁</m:t>
                        </m:r>
                      </m:e>
                      <m:sub>
                        <m:r>
                          <a:rPr lang="en-US" sz="1400" b="1" i="1">
                            <a:solidFill>
                              <a:schemeClr val="tx2">
                                <a:lumMod val="60000"/>
                                <a:lumOff val="40000"/>
                              </a:schemeClr>
                            </a:solidFill>
                            <a:latin typeface="Cambria Math" panose="02040503050406030204" pitchFamily="18" charset="0"/>
                          </a:rPr>
                          <m:t>𝒌</m:t>
                        </m:r>
                      </m:sub>
                    </m:sSub>
                  </m:oMath>
                </a14:m>
                <a:r>
                  <a:rPr lang="vi-VN" sz="1400" dirty="0">
                    <a:solidFill>
                      <a:srgbClr val="444B52"/>
                    </a:solidFill>
                    <a:latin typeface="Arial"/>
                    <a:sym typeface="Wingdings" pitchFamily="2" charset="2"/>
                  </a:rPr>
                  <a:t>,</a:t>
                </a:r>
                <a:r>
                  <a:rPr lang="vi-VN" sz="1400" b="1" dirty="0">
                    <a:solidFill>
                      <a:srgbClr val="444B52"/>
                    </a:solidFill>
                    <a:latin typeface="Arial"/>
                    <a:sym typeface="Wingdings" pitchFamily="2" charset="2"/>
                  </a:rPr>
                  <a:t> </a:t>
                </a:r>
                <a14:m>
                  <m:oMath xmlns:m="http://schemas.openxmlformats.org/officeDocument/2006/math">
                    <m:sSub>
                      <m:sSubPr>
                        <m:ctrlPr>
                          <a:rPr lang="en-US" sz="1400" b="1" i="1" dirty="0">
                            <a:solidFill>
                              <a:srgbClr val="00B050"/>
                            </a:solidFill>
                            <a:latin typeface="Cambria Math" panose="02040503050406030204" pitchFamily="18" charset="0"/>
                          </a:rPr>
                        </m:ctrlPr>
                      </m:sSubPr>
                      <m:e>
                        <m:r>
                          <a:rPr lang="en-US" sz="1400" b="1" i="1" dirty="0">
                            <a:solidFill>
                              <a:srgbClr val="00B050"/>
                            </a:solidFill>
                            <a:latin typeface="Cambria Math" panose="02040503050406030204" pitchFamily="18" charset="0"/>
                          </a:rPr>
                          <m:t>𝝈</m:t>
                        </m:r>
                      </m:e>
                      <m:sub>
                        <m:r>
                          <a:rPr lang="en-US" sz="1400" b="1" i="1">
                            <a:solidFill>
                              <a:srgbClr val="00B050"/>
                            </a:solidFill>
                            <a:latin typeface="Cambria Math" panose="02040503050406030204" pitchFamily="18" charset="0"/>
                          </a:rPr>
                          <m:t>𝒌</m:t>
                        </m:r>
                      </m:sub>
                    </m:sSub>
                  </m:oMath>
                </a14:m>
                <a:r>
                  <a:rPr lang="vi-VN" sz="1400" dirty="0">
                    <a:solidFill>
                      <a:srgbClr val="444B52"/>
                    </a:solidFill>
                    <a:latin typeface="Arial"/>
                  </a:rPr>
                  <a:t>, rồi cho đạo hàm bằng 0 tìm cực trị</a:t>
                </a:r>
              </a:p>
            </p:txBody>
          </p:sp>
        </mc:Choice>
        <mc:Fallback xmlns="">
          <p:sp>
            <p:nvSpPr>
              <p:cNvPr id="12" name="TextBox 11">
                <a:extLst>
                  <a:ext uri="{FF2B5EF4-FFF2-40B4-BE49-F238E27FC236}">
                    <a16:creationId xmlns:a16="http://schemas.microsoft.com/office/drawing/2014/main" id="{E391DEA1-FCE7-55A0-81FC-A8B5BACF3EEF}"/>
                  </a:ext>
                </a:extLst>
              </p:cNvPr>
              <p:cNvSpPr txBox="1">
                <a:spLocks noRot="1" noChangeAspect="1" noMove="1" noResize="1" noEditPoints="1" noAdjustHandles="1" noChangeArrowheads="1" noChangeShapeType="1" noTextEdit="1"/>
              </p:cNvSpPr>
              <p:nvPr/>
            </p:nvSpPr>
            <p:spPr>
              <a:xfrm>
                <a:off x="364066" y="1267771"/>
                <a:ext cx="11283437" cy="2354491"/>
              </a:xfrm>
              <a:prstGeom prst="rect">
                <a:avLst/>
              </a:prstGeom>
              <a:blipFill>
                <a:blip r:embed="rId3"/>
                <a:stretch>
                  <a:fillRect l="-112" t="-535" b="-1070"/>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A1AAE868-5894-1A1F-3999-EEE15DDD2DD6}"/>
                  </a:ext>
                </a:extLst>
              </p:cNvPr>
              <p:cNvSpPr txBox="1"/>
              <p:nvPr/>
            </p:nvSpPr>
            <p:spPr>
              <a:xfrm>
                <a:off x="976625" y="1966578"/>
                <a:ext cx="2869375" cy="605807"/>
              </a:xfrm>
              <a:prstGeom prst="rect">
                <a:avLst/>
              </a:prstGeom>
              <a:noFill/>
            </p:spPr>
            <p:txBody>
              <a:bodyPr wrap="none" lIns="0" tIns="0" rIns="0" bIns="0" rtlCol="0">
                <a:spAutoFit/>
              </a:bodyPr>
              <a:lstStyle/>
              <a:p>
                <a:pPr/>
                <a14:m>
                  <m:oMathPara xmlns:m="http://schemas.openxmlformats.org/officeDocument/2006/math">
                    <m:oMath>
                      <m:r>
                        <a:rPr lang="en-VN" sz="1400" i="1">
                          <a:latin typeface="Cambria Math" panose="02040503050406030204" pitchFamily="18" charset="0"/>
                        </a:rPr>
                        <m:t>𝐿</m:t>
                      </m:r>
                      <m:d>
                        <m:dPr>
                          <m:ctrlPr>
                            <a:rPr lang="en-US" sz="1400" i="1">
                              <a:latin typeface="Cambria Math" panose="02040503050406030204" pitchFamily="18" charset="0"/>
                            </a:rPr>
                          </m:ctrlPr>
                        </m:dPr>
                        <m:e>
                          <m:r>
                            <a:rPr lang="en-US" sz="1400" i="1">
                              <a:latin typeface="Cambria Math" panose="02040503050406030204" pitchFamily="18" charset="0"/>
                            </a:rPr>
                            <m:t>𝜃</m:t>
                          </m:r>
                          <m:r>
                            <a:rPr lang="en-VN" sz="1400">
                              <a:latin typeface="Cambria Math" panose="02040503050406030204" pitchFamily="18" charset="0"/>
                            </a:rPr>
                            <m:t>∣</m:t>
                          </m:r>
                          <m:r>
                            <a:rPr lang="en-VN" sz="1400" i="1">
                              <a:latin typeface="Cambria Math" panose="02040503050406030204" pitchFamily="18" charset="0"/>
                            </a:rPr>
                            <m:t>𝑥</m:t>
                          </m:r>
                        </m:e>
                      </m:d>
                      <m:r>
                        <a:rPr lang="vi-VN" sz="1400" smtClean="0">
                          <a:latin typeface="Cambria Math" panose="02040503050406030204" pitchFamily="18" charset="0"/>
                        </a:rPr>
                        <m:t>=</m:t>
                      </m:r>
                      <m:nary>
                        <m:naryPr>
                          <m:chr m:val="∏"/>
                          <m:limLoc m:val="undOvr"/>
                          <m:ctrlPr>
                            <a:rPr lang="en-US" sz="1400" i="1">
                              <a:latin typeface="Cambria Math" panose="02040503050406030204" pitchFamily="18" charset="0"/>
                            </a:rPr>
                          </m:ctrlPr>
                        </m:naryPr>
                        <m:sub>
                          <m:r>
                            <a:rPr lang="en-US" sz="1400" i="1">
                              <a:latin typeface="Cambria Math" panose="02040503050406030204" pitchFamily="18" charset="0"/>
                            </a:rPr>
                            <m:t>𝑛</m:t>
                          </m:r>
                          <m:r>
                            <a:rPr lang="en-US" sz="1400" i="1">
                              <a:latin typeface="Cambria Math" panose="02040503050406030204" pitchFamily="18" charset="0"/>
                            </a:rPr>
                            <m:t>=1</m:t>
                          </m:r>
                        </m:sub>
                        <m:sup>
                          <m:r>
                            <a:rPr lang="en-US" sz="1400" i="1">
                              <a:latin typeface="Cambria Math" panose="02040503050406030204" pitchFamily="18" charset="0"/>
                            </a:rPr>
                            <m:t>𝑁</m:t>
                          </m:r>
                        </m:sup>
                        <m:e>
                          <m:nary>
                            <m:naryPr>
                              <m:chr m:val="∑"/>
                              <m:limLoc m:val="undOvr"/>
                              <m:ctrlPr>
                                <a:rPr lang="en-US" sz="1400" i="1">
                                  <a:solidFill>
                                    <a:schemeClr val="accent6">
                                      <a:lumMod val="75000"/>
                                    </a:schemeClr>
                                  </a:solidFill>
                                  <a:latin typeface="Cambria Math" panose="02040503050406030204" pitchFamily="18" charset="0"/>
                                </a:rPr>
                              </m:ctrlPr>
                            </m:naryPr>
                            <m:sub>
                              <m:r>
                                <a:rPr lang="en-US" sz="1400" i="1">
                                  <a:solidFill>
                                    <a:schemeClr val="accent6">
                                      <a:lumMod val="75000"/>
                                    </a:schemeClr>
                                  </a:solidFill>
                                  <a:latin typeface="Cambria Math" panose="02040503050406030204" pitchFamily="18" charset="0"/>
                                </a:rPr>
                                <m:t>𝑘</m:t>
                              </m:r>
                              <m:r>
                                <a:rPr lang="en-US" sz="1400" i="1">
                                  <a:solidFill>
                                    <a:schemeClr val="accent6">
                                      <a:lumMod val="75000"/>
                                    </a:schemeClr>
                                  </a:solidFill>
                                  <a:latin typeface="Cambria Math" panose="02040503050406030204" pitchFamily="18" charset="0"/>
                                </a:rPr>
                                <m:t>=1</m:t>
                              </m:r>
                            </m:sub>
                            <m:sup>
                              <m:r>
                                <a:rPr lang="en-US" sz="1400" i="1">
                                  <a:solidFill>
                                    <a:schemeClr val="accent6">
                                      <a:lumMod val="75000"/>
                                    </a:schemeClr>
                                  </a:solidFill>
                                  <a:latin typeface="Cambria Math" panose="02040503050406030204" pitchFamily="18" charset="0"/>
                                </a:rPr>
                                <m:t>𝐾</m:t>
                              </m:r>
                            </m:sup>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𝜋</m:t>
                                  </m:r>
                                </m:e>
                                <m:sub>
                                  <m:r>
                                    <a:rPr lang="en-US" sz="1400" i="1">
                                      <a:solidFill>
                                        <a:schemeClr val="accent6">
                                          <a:lumMod val="75000"/>
                                        </a:schemeClr>
                                      </a:solidFill>
                                      <a:latin typeface="Cambria Math" panose="02040503050406030204" pitchFamily="18" charset="0"/>
                                    </a:rPr>
                                    <m:t>𝑘</m:t>
                                  </m:r>
                                </m:sub>
                              </m:sSub>
                            </m:e>
                          </m:nary>
                        </m:e>
                      </m:nary>
                      <m:r>
                        <a:rPr lang="en-US" sz="1400" i="1" smtClean="0">
                          <a:solidFill>
                            <a:schemeClr val="accent6">
                              <a:lumMod val="75000"/>
                            </a:schemeClr>
                          </a:solidFill>
                          <a:latin typeface="Cambria Math" panose="02040503050406030204" pitchFamily="18" charset="0"/>
                        </a:rPr>
                        <m:t>𝒩</m:t>
                      </m:r>
                      <m:d>
                        <m:dPr>
                          <m:ctrlPr>
                            <a:rPr lang="en-US" sz="1400" i="1">
                              <a:solidFill>
                                <a:schemeClr val="accent6">
                                  <a:lumMod val="75000"/>
                                </a:schemeClr>
                              </a:solidFill>
                              <a:latin typeface="Cambria Math" panose="02040503050406030204" pitchFamily="18" charset="0"/>
                            </a:rPr>
                          </m:ctrlPr>
                        </m:dPr>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𝑥</m:t>
                              </m:r>
                            </m:e>
                            <m:sub>
                              <m:r>
                                <a:rPr lang="en-US" sz="1400" i="1">
                                  <a:solidFill>
                                    <a:schemeClr val="accent6">
                                      <a:lumMod val="75000"/>
                                    </a:schemeClr>
                                  </a:solidFill>
                                  <a:latin typeface="Cambria Math" panose="02040503050406030204" pitchFamily="18" charset="0"/>
                                </a:rPr>
                                <m:t>𝑛</m:t>
                              </m:r>
                            </m:sub>
                          </m:sSub>
                          <m:r>
                            <a:rPr lang="en-US" sz="1400" i="1">
                              <a:solidFill>
                                <a:schemeClr val="accent6">
                                  <a:lumMod val="75000"/>
                                </a:schemeClr>
                              </a:solidFill>
                              <a:latin typeface="Cambria Math" panose="02040503050406030204" pitchFamily="18" charset="0"/>
                            </a:rPr>
                            <m:t>∣</m:t>
                          </m:r>
                          <m:sSub>
                            <m:sSubPr>
                              <m:ctrlPr>
                                <a:rPr lang="en-US" sz="1400" b="0" i="1">
                                  <a:solidFill>
                                    <a:schemeClr val="accent6">
                                      <a:lumMod val="75000"/>
                                    </a:schemeClr>
                                  </a:solidFill>
                                  <a:latin typeface="Cambria Math" panose="02040503050406030204" pitchFamily="18" charset="0"/>
                                </a:rPr>
                              </m:ctrlPr>
                            </m:sSubPr>
                            <m:e>
                              <m:r>
                                <a:rPr lang="en-US" sz="1400" b="0" i="1">
                                  <a:solidFill>
                                    <a:schemeClr val="accent6">
                                      <a:lumMod val="75000"/>
                                    </a:schemeClr>
                                  </a:solidFill>
                                  <a:latin typeface="Cambria Math" panose="02040503050406030204" pitchFamily="18" charset="0"/>
                                </a:rPr>
                                <m:t>𝜇</m:t>
                              </m:r>
                            </m:e>
                            <m:sub>
                              <m:r>
                                <a:rPr lang="en-US" sz="1400" b="0" i="1">
                                  <a:solidFill>
                                    <a:schemeClr val="accent6">
                                      <a:lumMod val="75000"/>
                                    </a:schemeClr>
                                  </a:solidFill>
                                  <a:latin typeface="Cambria Math" panose="02040503050406030204" pitchFamily="18" charset="0"/>
                                </a:rPr>
                                <m:t>𝑘</m:t>
                              </m:r>
                            </m:sub>
                          </m:sSub>
                          <m:r>
                            <a:rPr lang="vi-VN" sz="1400" b="0" i="1" smtClean="0">
                              <a:solidFill>
                                <a:schemeClr val="accent6">
                                  <a:lumMod val="75000"/>
                                </a:schemeClr>
                              </a:solidFill>
                              <a:latin typeface="Cambria Math" panose="02040503050406030204" pitchFamily="18" charset="0"/>
                            </a:rPr>
                            <m:t>,</m:t>
                          </m:r>
                          <m:sSubSup>
                            <m:sSubSupPr>
                              <m:ctrlPr>
                                <a:rPr lang="en-US" sz="1400" b="0" i="1">
                                  <a:solidFill>
                                    <a:schemeClr val="accent6">
                                      <a:lumMod val="75000"/>
                                    </a:schemeClr>
                                  </a:solidFill>
                                  <a:latin typeface="Cambria Math" panose="02040503050406030204" pitchFamily="18" charset="0"/>
                                </a:rPr>
                              </m:ctrlPr>
                            </m:sSubSupPr>
                            <m:e>
                              <m:r>
                                <a:rPr lang="en-US" sz="1400" b="0" i="1">
                                  <a:solidFill>
                                    <a:schemeClr val="accent6">
                                      <a:lumMod val="75000"/>
                                    </a:schemeClr>
                                  </a:solidFill>
                                  <a:latin typeface="Cambria Math" panose="02040503050406030204" pitchFamily="18" charset="0"/>
                                </a:rPr>
                                <m:t>𝜎</m:t>
                              </m:r>
                            </m:e>
                            <m:sub>
                              <m:r>
                                <a:rPr lang="en-US" sz="1400" b="0" i="1">
                                  <a:solidFill>
                                    <a:schemeClr val="accent6">
                                      <a:lumMod val="75000"/>
                                    </a:schemeClr>
                                  </a:solidFill>
                                  <a:latin typeface="Cambria Math" panose="02040503050406030204" pitchFamily="18" charset="0"/>
                                </a:rPr>
                                <m:t>𝑘</m:t>
                              </m:r>
                            </m:sub>
                            <m:sup>
                              <m:r>
                                <a:rPr lang="en-US" sz="1400" b="0" i="1">
                                  <a:solidFill>
                                    <a:schemeClr val="accent6">
                                      <a:lumMod val="75000"/>
                                    </a:schemeClr>
                                  </a:solidFill>
                                  <a:latin typeface="Cambria Math" panose="02040503050406030204" pitchFamily="18" charset="0"/>
                                </a:rPr>
                                <m:t>2</m:t>
                              </m:r>
                            </m:sup>
                          </m:sSubSup>
                        </m:e>
                      </m:d>
                    </m:oMath>
                  </m:oMathPara>
                </a14:m>
                <a:endParaRPr dirty="0"/>
              </a:p>
            </p:txBody>
          </p:sp>
        </mc:Choice>
        <mc:Fallback xmlns="">
          <p:sp>
            <p:nvSpPr>
              <p:cNvPr id="40" name="TextBox 39">
                <a:extLst>
                  <a:ext uri="{FF2B5EF4-FFF2-40B4-BE49-F238E27FC236}">
                    <a16:creationId xmlns:a16="http://schemas.microsoft.com/office/drawing/2014/main" id="{A1AAE868-5894-1A1F-3999-EEE15DDD2DD6}"/>
                  </a:ext>
                </a:extLst>
              </p:cNvPr>
              <p:cNvSpPr txBox="1">
                <a:spLocks noRot="1" noChangeAspect="1" noMove="1" noResize="1" noEditPoints="1" noAdjustHandles="1" noChangeArrowheads="1" noChangeShapeType="1" noTextEdit="1"/>
              </p:cNvSpPr>
              <p:nvPr/>
            </p:nvSpPr>
            <p:spPr>
              <a:xfrm>
                <a:off x="976625" y="1966578"/>
                <a:ext cx="2869375" cy="605807"/>
              </a:xfrm>
              <a:prstGeom prst="rect">
                <a:avLst/>
              </a:prstGeom>
              <a:blipFill>
                <a:blip r:embed="rId4"/>
                <a:stretch>
                  <a:fillRect t="-116667" r="-3524" b="-179167"/>
                </a:stretch>
              </a:blipFill>
            </p:spPr>
            <p:txBody>
              <a:bodyPr/>
              <a:lstStyle/>
              <a:p>
                <a:r>
                  <a:rPr lang="en-VN">
                    <a:noFill/>
                  </a:rPr>
                  <a:t> </a:t>
                </a:r>
              </a:p>
            </p:txBody>
          </p:sp>
        </mc:Fallback>
      </mc:AlternateContent>
      <p:sp>
        <p:nvSpPr>
          <p:cNvPr id="10" name="TextBox 9">
            <a:extLst>
              <a:ext uri="{FF2B5EF4-FFF2-40B4-BE49-F238E27FC236}">
                <a16:creationId xmlns:a16="http://schemas.microsoft.com/office/drawing/2014/main" id="{B7A4E4C0-D401-9A22-8E45-D221F65A8246}"/>
              </a:ext>
            </a:extLst>
          </p:cNvPr>
          <p:cNvSpPr txBox="1"/>
          <p:nvPr/>
        </p:nvSpPr>
        <p:spPr>
          <a:xfrm>
            <a:off x="841955" y="3652137"/>
            <a:ext cx="2769833" cy="307777"/>
          </a:xfrm>
          <a:prstGeom prst="rect">
            <a:avLst/>
          </a:prstGeom>
          <a:noFill/>
        </p:spPr>
        <p:txBody>
          <a:bodyPr wrap="square">
            <a:spAutoFit/>
          </a:bodyPr>
          <a:lstStyle/>
          <a:p>
            <a:r>
              <a:rPr lang="vi-VN" sz="1400" dirty="0">
                <a:solidFill>
                  <a:srgbClr val="444B52"/>
                </a:solidFill>
                <a:latin typeface="Arial"/>
              </a:rPr>
              <a:t>- Ví dụ lấy đạo hàm riêng biến </a:t>
            </a:r>
            <a:r>
              <a:rPr lang="vi-VN" sz="1400" dirty="0">
                <a:solidFill>
                  <a:srgbClr val="0070C0"/>
                </a:solidFill>
                <a:latin typeface="Arial"/>
              </a:rPr>
              <a:t>𝝁</a:t>
            </a:r>
            <a:endParaRPr lang="en-VN" sz="1800" dirty="0">
              <a:solidFill>
                <a:srgbClr val="0070C0"/>
              </a:solidFill>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03E625D-B0A8-0AF6-D552-89145854C08D}"/>
                  </a:ext>
                </a:extLst>
              </p:cNvPr>
              <p:cNvSpPr txBox="1"/>
              <p:nvPr/>
            </p:nvSpPr>
            <p:spPr>
              <a:xfrm>
                <a:off x="3611788" y="3806026"/>
                <a:ext cx="3962620" cy="3050194"/>
              </a:xfrm>
              <a:prstGeom prst="rect">
                <a:avLst/>
              </a:prstGeom>
              <a:noFill/>
            </p:spPr>
            <p:txBody>
              <a:bodyPr wrap="square">
                <a:spAutoFit/>
              </a:bodyPr>
              <a:lstStyle/>
              <a:p>
                <a:pPr/>
                <a14:m>
                  <m:oMathPara xmlns:m="http://schemas.openxmlformats.org/officeDocument/2006/math">
                    <m:oMath>
                      <m:sSub>
                        <m:sSubPr>
                          <m:ctrlPr>
                            <a:rPr lang="en-VN" sz="1400" b="1" i="1" smtClean="0">
                              <a:solidFill>
                                <a:srgbClr val="0070C0"/>
                              </a:solidFill>
                              <a:latin typeface="Cambria Math" panose="02040503050406030204" pitchFamily="18" charset="0"/>
                            </a:rPr>
                          </m:ctrlPr>
                        </m:sSubPr>
                        <m:e>
                          <m:r>
                            <a:rPr lang="en-VN" sz="1400" b="1" i="1" smtClean="0">
                              <a:solidFill>
                                <a:srgbClr val="0070C0"/>
                              </a:solidFill>
                              <a:latin typeface="Cambria Math" panose="02040503050406030204" pitchFamily="18" charset="0"/>
                            </a:rPr>
                            <m:t>𝝁</m:t>
                          </m:r>
                        </m:e>
                        <m:sub>
                          <m:r>
                            <a:rPr lang="en-VN" sz="1400" b="1" i="1">
                              <a:solidFill>
                                <a:srgbClr val="0070C0"/>
                              </a:solidFill>
                              <a:latin typeface="Cambria Math" panose="02040503050406030204" pitchFamily="18" charset="0"/>
                            </a:rPr>
                            <m:t>𝒋</m:t>
                          </m:r>
                        </m:sub>
                      </m:sSub>
                      <m:r>
                        <a:rPr lang="en-VN" sz="1400" i="0">
                          <a:latin typeface="Cambria Math" panose="02040503050406030204" pitchFamily="18" charset="0"/>
                        </a:rPr>
                        <m:t>=</m:t>
                      </m:r>
                      <m:f>
                        <m:fPr>
                          <m:ctrlPr>
                            <a:rPr lang="en-VN" sz="1400" i="1">
                              <a:latin typeface="Cambria Math" panose="02040503050406030204" pitchFamily="18" charset="0"/>
                            </a:rPr>
                          </m:ctrlPr>
                        </m:fPr>
                        <m:num>
                          <m:nary>
                            <m:naryPr>
                              <m:chr m:val="∑"/>
                              <m:limLoc m:val="undOvr"/>
                              <m:ctrlPr>
                                <a:rPr lang="en-VN" sz="1400" i="1">
                                  <a:latin typeface="Cambria Math" panose="02040503050406030204" pitchFamily="18" charset="0"/>
                                </a:rPr>
                              </m:ctrlPr>
                            </m:naryPr>
                            <m:sub>
                              <m:r>
                                <a:rPr lang="en-VN" sz="1400" i="1">
                                  <a:latin typeface="Cambria Math" panose="02040503050406030204" pitchFamily="18" charset="0"/>
                                </a:rPr>
                                <m:t>𝑖</m:t>
                              </m:r>
                              <m:r>
                                <a:rPr lang="en-VN" sz="1400" i="0">
                                  <a:latin typeface="Cambria Math" panose="02040503050406030204" pitchFamily="18" charset="0"/>
                                </a:rPr>
                                <m:t>=1</m:t>
                              </m:r>
                            </m:sub>
                            <m:sup>
                              <m:r>
                                <a:rPr lang="en-VN" sz="1400" i="1">
                                  <a:latin typeface="Cambria Math" panose="02040503050406030204" pitchFamily="18" charset="0"/>
                                </a:rPr>
                                <m:t>𝑁</m:t>
                              </m:r>
                            </m:sup>
                            <m:e>
                              <m:d>
                                <m:dPr>
                                  <m:begChr m:val="["/>
                                  <m:endChr m:val="]"/>
                                  <m:ctrlPr>
                                    <a:rPr lang="en-VN" sz="1400" i="1">
                                      <a:latin typeface="Cambria Math" panose="02040503050406030204" pitchFamily="18" charset="0"/>
                                    </a:rPr>
                                  </m:ctrlPr>
                                </m:dPr>
                                <m:e>
                                  <m:f>
                                    <m:fPr>
                                      <m:ctrlPr>
                                        <a:rPr lang="en-VN" sz="1400" i="1">
                                          <a:latin typeface="Cambria Math" panose="02040503050406030204" pitchFamily="18" charset="0"/>
                                        </a:rPr>
                                      </m:ctrlPr>
                                    </m:fPr>
                                    <m:num>
                                      <m:sSub>
                                        <m:sSubPr>
                                          <m:ctrlPr>
                                            <a:rPr lang="en-VN" sz="1400" i="1">
                                              <a:latin typeface="Cambria Math" panose="02040503050406030204" pitchFamily="18" charset="0"/>
                                            </a:rPr>
                                          </m:ctrlPr>
                                        </m:sSubPr>
                                        <m:e>
                                          <m:r>
                                            <a:rPr lang="en-VN" sz="1400" i="1">
                                              <a:latin typeface="Cambria Math" panose="02040503050406030204" pitchFamily="18" charset="0"/>
                                            </a:rPr>
                                            <m:t>𝜋</m:t>
                                          </m:r>
                                        </m:e>
                                        <m:sub>
                                          <m:r>
                                            <a:rPr lang="en-VN" sz="1400" i="1">
                                              <a:latin typeface="Cambria Math" panose="02040503050406030204" pitchFamily="18" charset="0"/>
                                            </a:rPr>
                                            <m:t>𝑗</m:t>
                                          </m:r>
                                        </m:sub>
                                      </m:sSub>
                                      <m:f>
                                        <m:fPr>
                                          <m:ctrlPr>
                                            <a:rPr lang="en-VN" sz="1400" i="0">
                                              <a:latin typeface="Cambria Math" panose="02040503050406030204" pitchFamily="18" charset="0"/>
                                            </a:rPr>
                                          </m:ctrlPr>
                                        </m:fPr>
                                        <m:num>
                                          <m:r>
                                            <a:rPr lang="en-VN" sz="1400" i="0">
                                              <a:latin typeface="Cambria Math" panose="02040503050406030204" pitchFamily="18" charset="0"/>
                                            </a:rPr>
                                            <m:t>1</m:t>
                                          </m:r>
                                        </m:num>
                                        <m:den>
                                          <m:rad>
                                            <m:radPr>
                                              <m:degHide m:val="on"/>
                                              <m:ctrlPr>
                                                <a:rPr lang="en-VN" sz="1400" i="1">
                                                  <a:latin typeface="Cambria Math" panose="02040503050406030204" pitchFamily="18" charset="0"/>
                                                </a:rPr>
                                              </m:ctrlPr>
                                            </m:radPr>
                                            <m:deg/>
                                            <m:e>
                                              <m:r>
                                                <a:rPr lang="en-VN" sz="1400" i="0">
                                                  <a:latin typeface="Cambria Math" panose="02040503050406030204" pitchFamily="18" charset="0"/>
                                                </a:rPr>
                                                <m:t>2</m:t>
                                              </m:r>
                                              <m:r>
                                                <a:rPr lang="en-VN" sz="1400" i="1">
                                                  <a:latin typeface="Cambria Math" panose="02040503050406030204" pitchFamily="18" charset="0"/>
                                                </a:rPr>
                                                <m:t>𝜋</m:t>
                                              </m:r>
                                              <m:sSubSup>
                                                <m:sSubSupPr>
                                                  <m:ctrlPr>
                                                    <a:rPr lang="en-VN" sz="1400" i="1">
                                                      <a:latin typeface="Cambria Math" panose="02040503050406030204" pitchFamily="18" charset="0"/>
                                                    </a:rPr>
                                                  </m:ctrlPr>
                                                </m:sSubSupPr>
                                                <m:e>
                                                  <m:r>
                                                    <a:rPr lang="en-VN" sz="1400" i="1">
                                                      <a:latin typeface="Cambria Math" panose="02040503050406030204" pitchFamily="18" charset="0"/>
                                                    </a:rPr>
                                                    <m:t>𝜎</m:t>
                                                  </m:r>
                                                </m:e>
                                                <m:sub>
                                                  <m:r>
                                                    <a:rPr lang="en-VN" sz="1400" i="1">
                                                      <a:latin typeface="Cambria Math" panose="02040503050406030204" pitchFamily="18" charset="0"/>
                                                    </a:rPr>
                                                    <m:t>𝑗</m:t>
                                                  </m:r>
                                                </m:sub>
                                                <m:sup>
                                                  <m:r>
                                                    <a:rPr lang="en-VN" sz="1400" i="0">
                                                      <a:latin typeface="Cambria Math" panose="02040503050406030204" pitchFamily="18" charset="0"/>
                                                    </a:rPr>
                                                    <m:t>2</m:t>
                                                  </m:r>
                                                </m:sup>
                                              </m:sSubSup>
                                            </m:e>
                                          </m:rad>
                                        </m:den>
                                      </m:f>
                                      <m:func>
                                        <m:funcPr>
                                          <m:ctrlPr>
                                            <a:rPr lang="en-VN" sz="1400" i="0">
                                              <a:latin typeface="Cambria Math" panose="02040503050406030204" pitchFamily="18" charset="0"/>
                                            </a:rPr>
                                          </m:ctrlPr>
                                        </m:funcPr>
                                        <m:fName>
                                          <m:r>
                                            <m:rPr>
                                              <m:sty m:val="p"/>
                                            </m:rPr>
                                            <a:rPr lang="en-VN" sz="1400" i="0">
                                              <a:latin typeface="Cambria Math" panose="02040503050406030204" pitchFamily="18" charset="0"/>
                                            </a:rPr>
                                            <m:t>exp</m:t>
                                          </m:r>
                                        </m:fName>
                                        <m:e>
                                          <m:d>
                                            <m:dPr>
                                              <m:ctrlPr>
                                                <a:rPr lang="en-VN" sz="1400" i="0">
                                                  <a:latin typeface="Cambria Math" panose="02040503050406030204" pitchFamily="18" charset="0"/>
                                                </a:rPr>
                                              </m:ctrlPr>
                                            </m:dPr>
                                            <m:e>
                                              <m:r>
                                                <a:rPr lang="en-VN" sz="1400" i="0">
                                                  <a:latin typeface="Cambria Math" panose="02040503050406030204" pitchFamily="18" charset="0"/>
                                                </a:rPr>
                                                <m:t>−</m:t>
                                              </m:r>
                                              <m:f>
                                                <m:fPr>
                                                  <m:ctrlPr>
                                                    <a:rPr lang="en-VN" sz="1400" i="1">
                                                      <a:latin typeface="Cambria Math" panose="02040503050406030204" pitchFamily="18" charset="0"/>
                                                    </a:rPr>
                                                  </m:ctrlPr>
                                                </m:fPr>
                                                <m:num>
                                                  <m:sSup>
                                                    <m:sSupPr>
                                                      <m:ctrlPr>
                                                        <a:rPr lang="en-VN" sz="1400" i="1">
                                                          <a:latin typeface="Cambria Math" panose="02040503050406030204" pitchFamily="18" charset="0"/>
                                                        </a:rPr>
                                                      </m:ctrlPr>
                                                    </m:sSupPr>
                                                    <m:e>
                                                      <m:d>
                                                        <m:dPr>
                                                          <m:ctrlPr>
                                                            <a:rPr lang="en-VN" sz="1400" i="1">
                                                              <a:latin typeface="Cambria Math" panose="02040503050406030204" pitchFamily="18" charset="0"/>
                                                            </a:rPr>
                                                          </m:ctrlPr>
                                                        </m:dPr>
                                                        <m:e>
                                                          <m:sSub>
                                                            <m:sSubPr>
                                                              <m:ctrlPr>
                                                                <a:rPr lang="en-VN" sz="1400" i="1">
                                                                  <a:latin typeface="Cambria Math" panose="02040503050406030204" pitchFamily="18" charset="0"/>
                                                                </a:rPr>
                                                              </m:ctrlPr>
                                                            </m:sSubPr>
                                                            <m:e>
                                                              <m:r>
                                                                <a:rPr lang="en-VN" sz="1400" i="1">
                                                                  <a:latin typeface="Cambria Math" panose="02040503050406030204" pitchFamily="18" charset="0"/>
                                                                </a:rPr>
                                                                <m:t>𝑥</m:t>
                                                              </m:r>
                                                            </m:e>
                                                            <m:sub>
                                                              <m:r>
                                                                <a:rPr lang="en-VN" sz="1400" i="1">
                                                                  <a:latin typeface="Cambria Math" panose="02040503050406030204" pitchFamily="18" charset="0"/>
                                                                </a:rPr>
                                                                <m:t>𝑖</m:t>
                                                              </m:r>
                                                            </m:sub>
                                                          </m:sSub>
                                                          <m:r>
                                                            <a:rPr lang="en-VN" sz="1400" i="0">
                                                              <a:latin typeface="Cambria Math" panose="02040503050406030204" pitchFamily="18" charset="0"/>
                                                            </a:rPr>
                                                            <m:t>−</m:t>
                                                          </m:r>
                                                          <m:sSub>
                                                            <m:sSubPr>
                                                              <m:ctrlPr>
                                                                <a:rPr lang="en-VN" sz="1400" b="1" i="1" smtClean="0">
                                                                  <a:solidFill>
                                                                    <a:srgbClr val="0070C0"/>
                                                                  </a:solidFill>
                                                                  <a:latin typeface="Cambria Math" panose="02040503050406030204" pitchFamily="18" charset="0"/>
                                                                </a:rPr>
                                                              </m:ctrlPr>
                                                            </m:sSubPr>
                                                            <m:e>
                                                              <m:r>
                                                                <a:rPr lang="en-VN" sz="1400" b="1" i="1" smtClean="0">
                                                                  <a:solidFill>
                                                                    <a:srgbClr val="0070C0"/>
                                                                  </a:solidFill>
                                                                  <a:latin typeface="Cambria Math" panose="02040503050406030204" pitchFamily="18" charset="0"/>
                                                                </a:rPr>
                                                                <m:t>𝝁</m:t>
                                                              </m:r>
                                                            </m:e>
                                                            <m:sub>
                                                              <m:r>
                                                                <a:rPr lang="en-VN" sz="1400" b="1" i="1">
                                                                  <a:solidFill>
                                                                    <a:srgbClr val="0070C0"/>
                                                                  </a:solidFill>
                                                                  <a:latin typeface="Cambria Math" panose="02040503050406030204" pitchFamily="18" charset="0"/>
                                                                </a:rPr>
                                                                <m:t>𝒋</m:t>
                                                              </m:r>
                                                            </m:sub>
                                                          </m:sSub>
                                                        </m:e>
                                                      </m:d>
                                                    </m:e>
                                                    <m:sup>
                                                      <m:r>
                                                        <a:rPr lang="en-VN" sz="1400" b="0" i="0">
                                                          <a:latin typeface="Cambria Math" panose="02040503050406030204" pitchFamily="18" charset="0"/>
                                                        </a:rPr>
                                                        <m:t>2</m:t>
                                                      </m:r>
                                                    </m:sup>
                                                  </m:sSup>
                                                </m:num>
                                                <m:den>
                                                  <m:r>
                                                    <a:rPr lang="en-VN" sz="1400" b="0" i="0">
                                                      <a:latin typeface="Cambria Math" panose="02040503050406030204" pitchFamily="18" charset="0"/>
                                                    </a:rPr>
                                                    <m:t>2</m:t>
                                                  </m:r>
                                                  <m:sSubSup>
                                                    <m:sSubSupPr>
                                                      <m:ctrlPr>
                                                        <a:rPr lang="en-VN" sz="1400" b="0" i="1">
                                                          <a:latin typeface="Cambria Math" panose="02040503050406030204" pitchFamily="18" charset="0"/>
                                                        </a:rPr>
                                                      </m:ctrlPr>
                                                    </m:sSubSupPr>
                                                    <m:e>
                                                      <m:r>
                                                        <a:rPr lang="en-VN" sz="1400" b="0" i="1">
                                                          <a:latin typeface="Cambria Math" panose="02040503050406030204" pitchFamily="18" charset="0"/>
                                                        </a:rPr>
                                                        <m:t>𝜎</m:t>
                                                      </m:r>
                                                    </m:e>
                                                    <m:sub>
                                                      <m:r>
                                                        <a:rPr lang="en-VN" sz="1400" b="0" i="1">
                                                          <a:latin typeface="Cambria Math" panose="02040503050406030204" pitchFamily="18" charset="0"/>
                                                        </a:rPr>
                                                        <m:t>𝑗</m:t>
                                                      </m:r>
                                                    </m:sub>
                                                    <m:sup>
                                                      <m:r>
                                                        <a:rPr lang="en-VN" sz="1400" b="0" i="0">
                                                          <a:latin typeface="Cambria Math" panose="02040503050406030204" pitchFamily="18" charset="0"/>
                                                        </a:rPr>
                                                        <m:t>2</m:t>
                                                      </m:r>
                                                    </m:sup>
                                                  </m:sSubSup>
                                                </m:den>
                                              </m:f>
                                            </m:e>
                                          </m:d>
                                        </m:e>
                                      </m:func>
                                    </m:num>
                                    <m:den>
                                      <m:nary>
                                        <m:naryPr>
                                          <m:chr m:val="∑"/>
                                          <m:limLoc m:val="undOvr"/>
                                          <m:ctrlPr>
                                            <a:rPr lang="en-VN" sz="1400" b="0" i="1">
                                              <a:latin typeface="Cambria Math" panose="02040503050406030204" pitchFamily="18" charset="0"/>
                                            </a:rPr>
                                          </m:ctrlPr>
                                        </m:naryPr>
                                        <m:sub>
                                          <m:r>
                                            <a:rPr lang="en-VN" sz="1400" b="0" i="1">
                                              <a:latin typeface="Cambria Math" panose="02040503050406030204" pitchFamily="18" charset="0"/>
                                            </a:rPr>
                                            <m:t>𝑘</m:t>
                                          </m:r>
                                          <m:r>
                                            <a:rPr lang="en-VN" sz="1400" b="0" i="0">
                                              <a:latin typeface="Cambria Math" panose="02040503050406030204" pitchFamily="18" charset="0"/>
                                            </a:rPr>
                                            <m:t>=1</m:t>
                                          </m:r>
                                        </m:sub>
                                        <m:sup>
                                          <m:r>
                                            <a:rPr lang="en-VN" sz="1400" b="0" i="1">
                                              <a:latin typeface="Cambria Math" panose="02040503050406030204" pitchFamily="18" charset="0"/>
                                            </a:rPr>
                                            <m:t>𝐾</m:t>
                                          </m:r>
                                        </m:sup>
                                        <m:e>
                                          <m:sSub>
                                            <m:sSubPr>
                                              <m:ctrlPr>
                                                <a:rPr lang="en-VN" sz="1400" b="0" i="1">
                                                  <a:latin typeface="Cambria Math" panose="02040503050406030204" pitchFamily="18" charset="0"/>
                                                </a:rPr>
                                              </m:ctrlPr>
                                            </m:sSubPr>
                                            <m:e>
                                              <m:r>
                                                <a:rPr lang="en-VN" sz="1400" b="0" i="1">
                                                  <a:latin typeface="Cambria Math" panose="02040503050406030204" pitchFamily="18" charset="0"/>
                                                </a:rPr>
                                                <m:t>𝜋</m:t>
                                              </m:r>
                                            </m:e>
                                            <m:sub>
                                              <m:r>
                                                <a:rPr lang="en-VN" sz="1400" b="0" i="1">
                                                  <a:latin typeface="Cambria Math" panose="02040503050406030204" pitchFamily="18" charset="0"/>
                                                </a:rPr>
                                                <m:t>𝑘</m:t>
                                              </m:r>
                                            </m:sub>
                                          </m:sSub>
                                        </m:e>
                                      </m:nary>
                                      <m:f>
                                        <m:fPr>
                                          <m:ctrlPr>
                                            <a:rPr lang="en-VN" sz="1400" b="0" i="0">
                                              <a:latin typeface="Cambria Math" panose="02040503050406030204" pitchFamily="18" charset="0"/>
                                            </a:rPr>
                                          </m:ctrlPr>
                                        </m:fPr>
                                        <m:num>
                                          <m:r>
                                            <a:rPr lang="en-VN" sz="1400" b="0" i="0">
                                              <a:latin typeface="Cambria Math" panose="02040503050406030204" pitchFamily="18" charset="0"/>
                                            </a:rPr>
                                            <m:t>1</m:t>
                                          </m:r>
                                        </m:num>
                                        <m:den>
                                          <m:rad>
                                            <m:radPr>
                                              <m:degHide m:val="on"/>
                                              <m:ctrlPr>
                                                <a:rPr lang="en-VN" sz="1400" b="0" i="1">
                                                  <a:latin typeface="Cambria Math" panose="02040503050406030204" pitchFamily="18" charset="0"/>
                                                </a:rPr>
                                              </m:ctrlPr>
                                            </m:radPr>
                                            <m:deg/>
                                            <m:e>
                                              <m:r>
                                                <a:rPr lang="en-VN" sz="1400" b="0" i="0">
                                                  <a:latin typeface="Cambria Math" panose="02040503050406030204" pitchFamily="18" charset="0"/>
                                                </a:rPr>
                                                <m:t>2</m:t>
                                              </m:r>
                                              <m:r>
                                                <a:rPr lang="en-VN" sz="1400" b="0" i="1">
                                                  <a:latin typeface="Cambria Math" panose="02040503050406030204" pitchFamily="18" charset="0"/>
                                                </a:rPr>
                                                <m:t>𝜋</m:t>
                                              </m:r>
                                              <m:sSubSup>
                                                <m:sSubSupPr>
                                                  <m:ctrlPr>
                                                    <a:rPr lang="en-VN" sz="1400" b="0" i="1">
                                                      <a:latin typeface="Cambria Math" panose="02040503050406030204" pitchFamily="18" charset="0"/>
                                                    </a:rPr>
                                                  </m:ctrlPr>
                                                </m:sSubSupPr>
                                                <m:e>
                                                  <m:r>
                                                    <a:rPr lang="en-VN" sz="1400" b="0" i="1">
                                                      <a:latin typeface="Cambria Math" panose="02040503050406030204" pitchFamily="18" charset="0"/>
                                                    </a:rPr>
                                                    <m:t>𝜎</m:t>
                                                  </m:r>
                                                </m:e>
                                                <m:sub>
                                                  <m:r>
                                                    <a:rPr lang="en-VN" sz="1400" b="0" i="1">
                                                      <a:latin typeface="Cambria Math" panose="02040503050406030204" pitchFamily="18" charset="0"/>
                                                    </a:rPr>
                                                    <m:t>𝑘</m:t>
                                                  </m:r>
                                                </m:sub>
                                                <m:sup>
                                                  <m:r>
                                                    <a:rPr lang="en-VN" sz="1400" b="0" i="0">
                                                      <a:latin typeface="Cambria Math" panose="02040503050406030204" pitchFamily="18" charset="0"/>
                                                    </a:rPr>
                                                    <m:t>2</m:t>
                                                  </m:r>
                                                </m:sup>
                                              </m:sSubSup>
                                            </m:e>
                                          </m:rad>
                                        </m:den>
                                      </m:f>
                                      <m:func>
                                        <m:funcPr>
                                          <m:ctrlPr>
                                            <a:rPr lang="en-VN" sz="1400" b="0" i="0">
                                              <a:latin typeface="Cambria Math" panose="02040503050406030204" pitchFamily="18" charset="0"/>
                                            </a:rPr>
                                          </m:ctrlPr>
                                        </m:funcPr>
                                        <m:fName>
                                          <m:r>
                                            <m:rPr>
                                              <m:sty m:val="p"/>
                                            </m:rPr>
                                            <a:rPr lang="en-VN" sz="1400" b="0" i="0">
                                              <a:latin typeface="Cambria Math" panose="02040503050406030204" pitchFamily="18" charset="0"/>
                                            </a:rPr>
                                            <m:t>exp</m:t>
                                          </m:r>
                                        </m:fName>
                                        <m:e>
                                          <m:d>
                                            <m:dPr>
                                              <m:ctrlPr>
                                                <a:rPr lang="en-VN" sz="1400" b="0" i="0">
                                                  <a:latin typeface="Cambria Math" panose="02040503050406030204" pitchFamily="18" charset="0"/>
                                                </a:rPr>
                                              </m:ctrlPr>
                                            </m:dPr>
                                            <m:e>
                                              <m:r>
                                                <a:rPr lang="en-VN" sz="1400" b="0" i="0">
                                                  <a:latin typeface="Cambria Math" panose="02040503050406030204" pitchFamily="18" charset="0"/>
                                                </a:rPr>
                                                <m:t>−</m:t>
                                              </m:r>
                                              <m:f>
                                                <m:fPr>
                                                  <m:ctrlPr>
                                                    <a:rPr lang="en-VN" sz="1400" b="0" i="1">
                                                      <a:latin typeface="Cambria Math" panose="02040503050406030204" pitchFamily="18" charset="0"/>
                                                    </a:rPr>
                                                  </m:ctrlPr>
                                                </m:fPr>
                                                <m:num>
                                                  <m:sSup>
                                                    <m:sSupPr>
                                                      <m:ctrlPr>
                                                        <a:rPr lang="en-VN" sz="1400" b="0" i="1">
                                                          <a:latin typeface="Cambria Math" panose="02040503050406030204" pitchFamily="18" charset="0"/>
                                                        </a:rPr>
                                                      </m:ctrlPr>
                                                    </m:sSupPr>
                                                    <m:e>
                                                      <m:d>
                                                        <m:dPr>
                                                          <m:ctrlPr>
                                                            <a:rPr lang="en-VN" sz="1400" b="0" i="1">
                                                              <a:latin typeface="Cambria Math" panose="02040503050406030204" pitchFamily="18" charset="0"/>
                                                            </a:rPr>
                                                          </m:ctrlPr>
                                                        </m:dPr>
                                                        <m:e>
                                                          <m:sSub>
                                                            <m:sSubPr>
                                                              <m:ctrlPr>
                                                                <a:rPr lang="en-VN" sz="1400" b="0" i="1">
                                                                  <a:latin typeface="Cambria Math" panose="02040503050406030204" pitchFamily="18" charset="0"/>
                                                                </a:rPr>
                                                              </m:ctrlPr>
                                                            </m:sSubPr>
                                                            <m:e>
                                                              <m:r>
                                                                <a:rPr lang="en-VN" sz="1400" b="0" i="1">
                                                                  <a:latin typeface="Cambria Math" panose="02040503050406030204" pitchFamily="18" charset="0"/>
                                                                </a:rPr>
                                                                <m:t>𝑥</m:t>
                                                              </m:r>
                                                            </m:e>
                                                            <m:sub>
                                                              <m:r>
                                                                <a:rPr lang="en-VN" sz="1400" b="0" i="1">
                                                                  <a:latin typeface="Cambria Math" panose="02040503050406030204" pitchFamily="18" charset="0"/>
                                                                </a:rPr>
                                                                <m:t>𝑖</m:t>
                                                              </m:r>
                                                            </m:sub>
                                                          </m:sSub>
                                                          <m:r>
                                                            <a:rPr lang="en-VN" sz="1400" b="0" i="0">
                                                              <a:latin typeface="Cambria Math" panose="02040503050406030204" pitchFamily="18" charset="0"/>
                                                            </a:rPr>
                                                            <m:t>−</m:t>
                                                          </m:r>
                                                          <m:sSub>
                                                            <m:sSubPr>
                                                              <m:ctrlPr>
                                                                <a:rPr lang="en-VN" sz="1400" b="0" i="1">
                                                                  <a:latin typeface="Cambria Math" panose="02040503050406030204" pitchFamily="18" charset="0"/>
                                                                </a:rPr>
                                                              </m:ctrlPr>
                                                            </m:sSubPr>
                                                            <m:e>
                                                              <m:r>
                                                                <a:rPr lang="en-VN" sz="1400" b="0" i="1">
                                                                  <a:latin typeface="Cambria Math" panose="02040503050406030204" pitchFamily="18" charset="0"/>
                                                                </a:rPr>
                                                                <m:t>𝜇</m:t>
                                                              </m:r>
                                                            </m:e>
                                                            <m:sub>
                                                              <m:r>
                                                                <a:rPr lang="en-VN" sz="1400" b="0" i="1">
                                                                  <a:latin typeface="Cambria Math" panose="02040503050406030204" pitchFamily="18" charset="0"/>
                                                                </a:rPr>
                                                                <m:t>𝑘</m:t>
                                                              </m:r>
                                                            </m:sub>
                                                          </m:sSub>
                                                        </m:e>
                                                      </m:d>
                                                    </m:e>
                                                    <m:sup>
                                                      <m:r>
                                                        <a:rPr lang="en-VN" sz="1400" b="0" i="0">
                                                          <a:latin typeface="Cambria Math" panose="02040503050406030204" pitchFamily="18" charset="0"/>
                                                        </a:rPr>
                                                        <m:t>2</m:t>
                                                      </m:r>
                                                    </m:sup>
                                                  </m:sSup>
                                                </m:num>
                                                <m:den>
                                                  <m:r>
                                                    <a:rPr lang="en-VN" sz="1400" b="0" i="0">
                                                      <a:latin typeface="Cambria Math" panose="02040503050406030204" pitchFamily="18" charset="0"/>
                                                    </a:rPr>
                                                    <m:t>2</m:t>
                                                  </m:r>
                                                  <m:sSubSup>
                                                    <m:sSubSupPr>
                                                      <m:ctrlPr>
                                                        <a:rPr lang="en-VN" sz="1400" b="0" i="1">
                                                          <a:latin typeface="Cambria Math" panose="02040503050406030204" pitchFamily="18" charset="0"/>
                                                        </a:rPr>
                                                      </m:ctrlPr>
                                                    </m:sSubSupPr>
                                                    <m:e>
                                                      <m:r>
                                                        <a:rPr lang="en-VN" sz="1400" b="0" i="1">
                                                          <a:latin typeface="Cambria Math" panose="02040503050406030204" pitchFamily="18" charset="0"/>
                                                        </a:rPr>
                                                        <m:t>𝜎</m:t>
                                                      </m:r>
                                                    </m:e>
                                                    <m:sub>
                                                      <m:r>
                                                        <a:rPr lang="en-VN" sz="1400" b="0" i="1">
                                                          <a:latin typeface="Cambria Math" panose="02040503050406030204" pitchFamily="18" charset="0"/>
                                                        </a:rPr>
                                                        <m:t>𝑘</m:t>
                                                      </m:r>
                                                    </m:sub>
                                                    <m:sup>
                                                      <m:r>
                                                        <a:rPr lang="en-VN" sz="1400" b="0" i="0">
                                                          <a:latin typeface="Cambria Math" panose="02040503050406030204" pitchFamily="18" charset="0"/>
                                                        </a:rPr>
                                                        <m:t>2</m:t>
                                                      </m:r>
                                                    </m:sup>
                                                  </m:sSubSup>
                                                </m:den>
                                              </m:f>
                                            </m:e>
                                          </m:d>
                                        </m:e>
                                      </m:func>
                                    </m:den>
                                  </m:f>
                                </m:e>
                              </m:d>
                            </m:e>
                          </m:nary>
                          <m:sSub>
                            <m:sSubPr>
                              <m:ctrlPr>
                                <a:rPr lang="en-VN" sz="1400" b="0" i="1">
                                  <a:latin typeface="Cambria Math" panose="02040503050406030204" pitchFamily="18" charset="0"/>
                                </a:rPr>
                              </m:ctrlPr>
                            </m:sSubPr>
                            <m:e>
                              <m:r>
                                <a:rPr lang="en-VN" sz="1400" b="0" i="1">
                                  <a:latin typeface="Cambria Math" panose="02040503050406030204" pitchFamily="18" charset="0"/>
                                </a:rPr>
                                <m:t>𝑥</m:t>
                              </m:r>
                            </m:e>
                            <m:sub>
                              <m:r>
                                <a:rPr lang="en-VN" sz="1400" b="0" i="1">
                                  <a:latin typeface="Cambria Math" panose="02040503050406030204" pitchFamily="18" charset="0"/>
                                </a:rPr>
                                <m:t>𝑖</m:t>
                              </m:r>
                            </m:sub>
                          </m:sSub>
                        </m:num>
                        <m:den>
                          <m:nary>
                            <m:naryPr>
                              <m:chr m:val="∑"/>
                              <m:limLoc m:val="undOvr"/>
                              <m:ctrlPr>
                                <a:rPr lang="en-VN" sz="1400" b="0" i="1">
                                  <a:latin typeface="Cambria Math" panose="02040503050406030204" pitchFamily="18" charset="0"/>
                                </a:rPr>
                              </m:ctrlPr>
                            </m:naryPr>
                            <m:sub>
                              <m:r>
                                <a:rPr lang="en-VN" sz="1400" b="0" i="1">
                                  <a:latin typeface="Cambria Math" panose="02040503050406030204" pitchFamily="18" charset="0"/>
                                </a:rPr>
                                <m:t>𝑖</m:t>
                              </m:r>
                              <m:r>
                                <a:rPr lang="en-VN" sz="1400" b="0" i="0">
                                  <a:latin typeface="Cambria Math" panose="02040503050406030204" pitchFamily="18" charset="0"/>
                                </a:rPr>
                                <m:t>=1</m:t>
                              </m:r>
                            </m:sub>
                            <m:sup>
                              <m:r>
                                <a:rPr lang="en-VN" sz="1400" b="0" i="1">
                                  <a:latin typeface="Cambria Math" panose="02040503050406030204" pitchFamily="18" charset="0"/>
                                </a:rPr>
                                <m:t>𝑁</m:t>
                              </m:r>
                            </m:sup>
                            <m:e>
                              <m:d>
                                <m:dPr>
                                  <m:begChr m:val="["/>
                                  <m:endChr m:val="]"/>
                                  <m:ctrlPr>
                                    <a:rPr lang="en-VN" sz="1400" b="0" i="1">
                                      <a:latin typeface="Cambria Math" panose="02040503050406030204" pitchFamily="18" charset="0"/>
                                    </a:rPr>
                                  </m:ctrlPr>
                                </m:dPr>
                                <m:e>
                                  <m:f>
                                    <m:fPr>
                                      <m:ctrlPr>
                                        <a:rPr lang="en-VN" sz="1400" b="0" i="1">
                                          <a:latin typeface="Cambria Math" panose="02040503050406030204" pitchFamily="18" charset="0"/>
                                        </a:rPr>
                                      </m:ctrlPr>
                                    </m:fPr>
                                    <m:num>
                                      <m:sSub>
                                        <m:sSubPr>
                                          <m:ctrlPr>
                                            <a:rPr lang="en-VN" sz="1400" b="0" i="1">
                                              <a:latin typeface="Cambria Math" panose="02040503050406030204" pitchFamily="18" charset="0"/>
                                            </a:rPr>
                                          </m:ctrlPr>
                                        </m:sSubPr>
                                        <m:e>
                                          <m:r>
                                            <a:rPr lang="en-VN" sz="1400" b="0" i="1">
                                              <a:latin typeface="Cambria Math" panose="02040503050406030204" pitchFamily="18" charset="0"/>
                                            </a:rPr>
                                            <m:t>𝜋</m:t>
                                          </m:r>
                                        </m:e>
                                        <m:sub>
                                          <m:r>
                                            <a:rPr lang="en-VN" sz="1400" b="0" i="1">
                                              <a:latin typeface="Cambria Math" panose="02040503050406030204" pitchFamily="18" charset="0"/>
                                            </a:rPr>
                                            <m:t>𝑗</m:t>
                                          </m:r>
                                        </m:sub>
                                      </m:sSub>
                                      <m:f>
                                        <m:fPr>
                                          <m:ctrlPr>
                                            <a:rPr lang="en-VN" sz="1400" b="0" i="0">
                                              <a:latin typeface="Cambria Math" panose="02040503050406030204" pitchFamily="18" charset="0"/>
                                            </a:rPr>
                                          </m:ctrlPr>
                                        </m:fPr>
                                        <m:num>
                                          <m:r>
                                            <a:rPr lang="en-VN" sz="1400" b="0" i="0">
                                              <a:latin typeface="Cambria Math" panose="02040503050406030204" pitchFamily="18" charset="0"/>
                                            </a:rPr>
                                            <m:t>1</m:t>
                                          </m:r>
                                        </m:num>
                                        <m:den>
                                          <m:rad>
                                            <m:radPr>
                                              <m:degHide m:val="on"/>
                                              <m:ctrlPr>
                                                <a:rPr lang="en-VN" sz="1400" b="0" i="1">
                                                  <a:latin typeface="Cambria Math" panose="02040503050406030204" pitchFamily="18" charset="0"/>
                                                </a:rPr>
                                              </m:ctrlPr>
                                            </m:radPr>
                                            <m:deg/>
                                            <m:e>
                                              <m:r>
                                                <a:rPr lang="en-VN" sz="1400" b="0" i="0">
                                                  <a:latin typeface="Cambria Math" panose="02040503050406030204" pitchFamily="18" charset="0"/>
                                                </a:rPr>
                                                <m:t>2</m:t>
                                              </m:r>
                                              <m:r>
                                                <a:rPr lang="en-VN" sz="1400" b="0" i="1">
                                                  <a:latin typeface="Cambria Math" panose="02040503050406030204" pitchFamily="18" charset="0"/>
                                                </a:rPr>
                                                <m:t>𝜋</m:t>
                                              </m:r>
                                              <m:sSubSup>
                                                <m:sSubSupPr>
                                                  <m:ctrlPr>
                                                    <a:rPr lang="en-VN" sz="1400" b="0" i="1">
                                                      <a:latin typeface="Cambria Math" panose="02040503050406030204" pitchFamily="18" charset="0"/>
                                                    </a:rPr>
                                                  </m:ctrlPr>
                                                </m:sSubSupPr>
                                                <m:e>
                                                  <m:r>
                                                    <a:rPr lang="en-VN" sz="1400" b="0" i="1">
                                                      <a:latin typeface="Cambria Math" panose="02040503050406030204" pitchFamily="18" charset="0"/>
                                                    </a:rPr>
                                                    <m:t>𝜎</m:t>
                                                  </m:r>
                                                </m:e>
                                                <m:sub>
                                                  <m:r>
                                                    <a:rPr lang="en-VN" sz="1400" b="0" i="1">
                                                      <a:latin typeface="Cambria Math" panose="02040503050406030204" pitchFamily="18" charset="0"/>
                                                    </a:rPr>
                                                    <m:t>𝑗</m:t>
                                                  </m:r>
                                                </m:sub>
                                                <m:sup>
                                                  <m:r>
                                                    <a:rPr lang="en-VN" sz="1400" b="0" i="0">
                                                      <a:latin typeface="Cambria Math" panose="02040503050406030204" pitchFamily="18" charset="0"/>
                                                    </a:rPr>
                                                    <m:t>2</m:t>
                                                  </m:r>
                                                </m:sup>
                                              </m:sSubSup>
                                            </m:e>
                                          </m:rad>
                                        </m:den>
                                      </m:f>
                                      <m:func>
                                        <m:funcPr>
                                          <m:ctrlPr>
                                            <a:rPr lang="en-VN" sz="1400" b="0" i="0">
                                              <a:latin typeface="Cambria Math" panose="02040503050406030204" pitchFamily="18" charset="0"/>
                                            </a:rPr>
                                          </m:ctrlPr>
                                        </m:funcPr>
                                        <m:fName>
                                          <m:r>
                                            <m:rPr>
                                              <m:sty m:val="p"/>
                                            </m:rPr>
                                            <a:rPr lang="en-VN" sz="1400" b="0" i="0">
                                              <a:latin typeface="Cambria Math" panose="02040503050406030204" pitchFamily="18" charset="0"/>
                                            </a:rPr>
                                            <m:t>exp</m:t>
                                          </m:r>
                                        </m:fName>
                                        <m:e>
                                          <m:d>
                                            <m:dPr>
                                              <m:ctrlPr>
                                                <a:rPr lang="en-VN" sz="1400" b="0" i="0">
                                                  <a:latin typeface="Cambria Math" panose="02040503050406030204" pitchFamily="18" charset="0"/>
                                                </a:rPr>
                                              </m:ctrlPr>
                                            </m:dPr>
                                            <m:e>
                                              <m:r>
                                                <a:rPr lang="en-VN" sz="1400" b="0" i="0">
                                                  <a:latin typeface="Cambria Math" panose="02040503050406030204" pitchFamily="18" charset="0"/>
                                                </a:rPr>
                                                <m:t>−</m:t>
                                              </m:r>
                                              <m:f>
                                                <m:fPr>
                                                  <m:ctrlPr>
                                                    <a:rPr lang="en-VN" sz="1400" b="0" i="1">
                                                      <a:latin typeface="Cambria Math" panose="02040503050406030204" pitchFamily="18" charset="0"/>
                                                    </a:rPr>
                                                  </m:ctrlPr>
                                                </m:fPr>
                                                <m:num>
                                                  <m:sSup>
                                                    <m:sSupPr>
                                                      <m:ctrlPr>
                                                        <a:rPr lang="en-VN" sz="1400" b="0" i="1">
                                                          <a:latin typeface="Cambria Math" panose="02040503050406030204" pitchFamily="18" charset="0"/>
                                                        </a:rPr>
                                                      </m:ctrlPr>
                                                    </m:sSupPr>
                                                    <m:e>
                                                      <m:d>
                                                        <m:dPr>
                                                          <m:ctrlPr>
                                                            <a:rPr lang="en-VN" sz="1400" b="0" i="1">
                                                              <a:latin typeface="Cambria Math" panose="02040503050406030204" pitchFamily="18" charset="0"/>
                                                            </a:rPr>
                                                          </m:ctrlPr>
                                                        </m:dPr>
                                                        <m:e>
                                                          <m:sSub>
                                                            <m:sSubPr>
                                                              <m:ctrlPr>
                                                                <a:rPr lang="en-VN" sz="1400" b="0" i="1">
                                                                  <a:latin typeface="Cambria Math" panose="02040503050406030204" pitchFamily="18" charset="0"/>
                                                                </a:rPr>
                                                              </m:ctrlPr>
                                                            </m:sSubPr>
                                                            <m:e>
                                                              <m:r>
                                                                <a:rPr lang="en-VN" sz="1400" b="0" i="1">
                                                                  <a:latin typeface="Cambria Math" panose="02040503050406030204" pitchFamily="18" charset="0"/>
                                                                </a:rPr>
                                                                <m:t>𝑥</m:t>
                                                              </m:r>
                                                            </m:e>
                                                            <m:sub>
                                                              <m:r>
                                                                <a:rPr lang="en-VN" sz="1400" b="0" i="1">
                                                                  <a:latin typeface="Cambria Math" panose="02040503050406030204" pitchFamily="18" charset="0"/>
                                                                </a:rPr>
                                                                <m:t>𝑖</m:t>
                                                              </m:r>
                                                            </m:sub>
                                                          </m:sSub>
                                                          <m:r>
                                                            <a:rPr lang="en-VN" sz="1400" b="0" i="0">
                                                              <a:latin typeface="Cambria Math" panose="02040503050406030204" pitchFamily="18" charset="0"/>
                                                            </a:rPr>
                                                            <m:t>−</m:t>
                                                          </m:r>
                                                          <m:sSub>
                                                            <m:sSubPr>
                                                              <m:ctrlPr>
                                                                <a:rPr lang="en-VN" sz="1400" b="1" i="1" smtClean="0">
                                                                  <a:solidFill>
                                                                    <a:srgbClr val="0070C0"/>
                                                                  </a:solidFill>
                                                                  <a:latin typeface="Cambria Math" panose="02040503050406030204" pitchFamily="18" charset="0"/>
                                                                </a:rPr>
                                                              </m:ctrlPr>
                                                            </m:sSubPr>
                                                            <m:e>
                                                              <m:r>
                                                                <a:rPr lang="en-VN" sz="1400" b="1" i="1" smtClean="0">
                                                                  <a:solidFill>
                                                                    <a:srgbClr val="0070C0"/>
                                                                  </a:solidFill>
                                                                  <a:latin typeface="Cambria Math" panose="02040503050406030204" pitchFamily="18" charset="0"/>
                                                                </a:rPr>
                                                                <m:t>𝝁</m:t>
                                                              </m:r>
                                                            </m:e>
                                                            <m:sub>
                                                              <m:r>
                                                                <a:rPr lang="en-VN" sz="1400" b="1" i="1">
                                                                  <a:solidFill>
                                                                    <a:srgbClr val="0070C0"/>
                                                                  </a:solidFill>
                                                                  <a:latin typeface="Cambria Math" panose="02040503050406030204" pitchFamily="18" charset="0"/>
                                                                </a:rPr>
                                                                <m:t>𝒋</m:t>
                                                              </m:r>
                                                            </m:sub>
                                                          </m:sSub>
                                                        </m:e>
                                                      </m:d>
                                                    </m:e>
                                                    <m:sup>
                                                      <m:r>
                                                        <a:rPr lang="en-VN" sz="1400" b="0" i="0">
                                                          <a:latin typeface="Cambria Math" panose="02040503050406030204" pitchFamily="18" charset="0"/>
                                                        </a:rPr>
                                                        <m:t>2</m:t>
                                                      </m:r>
                                                    </m:sup>
                                                  </m:sSup>
                                                </m:num>
                                                <m:den>
                                                  <m:r>
                                                    <a:rPr lang="en-VN" sz="1400" b="0" i="0">
                                                      <a:latin typeface="Cambria Math" panose="02040503050406030204" pitchFamily="18" charset="0"/>
                                                    </a:rPr>
                                                    <m:t>2</m:t>
                                                  </m:r>
                                                  <m:sSubSup>
                                                    <m:sSubSupPr>
                                                      <m:ctrlPr>
                                                        <a:rPr lang="en-VN" sz="1400" b="0" i="1">
                                                          <a:latin typeface="Cambria Math" panose="02040503050406030204" pitchFamily="18" charset="0"/>
                                                        </a:rPr>
                                                      </m:ctrlPr>
                                                    </m:sSubSupPr>
                                                    <m:e>
                                                      <m:r>
                                                        <a:rPr lang="en-VN" sz="1400" b="0" i="1">
                                                          <a:latin typeface="Cambria Math" panose="02040503050406030204" pitchFamily="18" charset="0"/>
                                                        </a:rPr>
                                                        <m:t>𝜎</m:t>
                                                      </m:r>
                                                    </m:e>
                                                    <m:sub>
                                                      <m:r>
                                                        <a:rPr lang="en-VN" sz="1400" b="0" i="1">
                                                          <a:latin typeface="Cambria Math" panose="02040503050406030204" pitchFamily="18" charset="0"/>
                                                        </a:rPr>
                                                        <m:t>𝑗</m:t>
                                                      </m:r>
                                                    </m:sub>
                                                    <m:sup>
                                                      <m:r>
                                                        <a:rPr lang="en-VN" sz="1400" b="0" i="0">
                                                          <a:latin typeface="Cambria Math" panose="02040503050406030204" pitchFamily="18" charset="0"/>
                                                        </a:rPr>
                                                        <m:t>2</m:t>
                                                      </m:r>
                                                    </m:sup>
                                                  </m:sSubSup>
                                                </m:den>
                                              </m:f>
                                            </m:e>
                                          </m:d>
                                        </m:e>
                                      </m:func>
                                    </m:num>
                                    <m:den>
                                      <m:nary>
                                        <m:naryPr>
                                          <m:chr m:val="∑"/>
                                          <m:limLoc m:val="undOvr"/>
                                          <m:ctrlPr>
                                            <a:rPr lang="en-VN" sz="1400" b="0" i="1">
                                              <a:latin typeface="Cambria Math" panose="02040503050406030204" pitchFamily="18" charset="0"/>
                                            </a:rPr>
                                          </m:ctrlPr>
                                        </m:naryPr>
                                        <m:sub>
                                          <m:r>
                                            <a:rPr lang="en-VN" sz="1400" b="0" i="1">
                                              <a:latin typeface="Cambria Math" panose="02040503050406030204" pitchFamily="18" charset="0"/>
                                            </a:rPr>
                                            <m:t>𝑘</m:t>
                                          </m:r>
                                          <m:r>
                                            <a:rPr lang="en-VN" sz="1400" b="0" i="0">
                                              <a:latin typeface="Cambria Math" panose="02040503050406030204" pitchFamily="18" charset="0"/>
                                            </a:rPr>
                                            <m:t>=1</m:t>
                                          </m:r>
                                        </m:sub>
                                        <m:sup>
                                          <m:r>
                                            <a:rPr lang="en-VN" sz="1400" b="0" i="1">
                                              <a:latin typeface="Cambria Math" panose="02040503050406030204" pitchFamily="18" charset="0"/>
                                            </a:rPr>
                                            <m:t>𝐾</m:t>
                                          </m:r>
                                        </m:sup>
                                        <m:e>
                                          <m:sSub>
                                            <m:sSubPr>
                                              <m:ctrlPr>
                                                <a:rPr lang="en-VN" sz="1400" b="0" i="1">
                                                  <a:latin typeface="Cambria Math" panose="02040503050406030204" pitchFamily="18" charset="0"/>
                                                </a:rPr>
                                              </m:ctrlPr>
                                            </m:sSubPr>
                                            <m:e>
                                              <m:r>
                                                <a:rPr lang="en-VN" sz="1400" b="0" i="1">
                                                  <a:latin typeface="Cambria Math" panose="02040503050406030204" pitchFamily="18" charset="0"/>
                                                </a:rPr>
                                                <m:t>𝜋</m:t>
                                              </m:r>
                                            </m:e>
                                            <m:sub>
                                              <m:r>
                                                <a:rPr lang="en-VN" sz="1400" b="0" i="1">
                                                  <a:latin typeface="Cambria Math" panose="02040503050406030204" pitchFamily="18" charset="0"/>
                                                </a:rPr>
                                                <m:t>𝑘</m:t>
                                              </m:r>
                                            </m:sub>
                                          </m:sSub>
                                        </m:e>
                                      </m:nary>
                                      <m:f>
                                        <m:fPr>
                                          <m:ctrlPr>
                                            <a:rPr lang="en-VN" sz="1400" b="0" i="0">
                                              <a:latin typeface="Cambria Math" panose="02040503050406030204" pitchFamily="18" charset="0"/>
                                            </a:rPr>
                                          </m:ctrlPr>
                                        </m:fPr>
                                        <m:num>
                                          <m:r>
                                            <a:rPr lang="en-VN" sz="1400" b="0" i="0">
                                              <a:latin typeface="Cambria Math" panose="02040503050406030204" pitchFamily="18" charset="0"/>
                                            </a:rPr>
                                            <m:t>1</m:t>
                                          </m:r>
                                        </m:num>
                                        <m:den>
                                          <m:rad>
                                            <m:radPr>
                                              <m:degHide m:val="on"/>
                                              <m:ctrlPr>
                                                <a:rPr lang="en-VN" sz="1400" b="0" i="1">
                                                  <a:latin typeface="Cambria Math" panose="02040503050406030204" pitchFamily="18" charset="0"/>
                                                </a:rPr>
                                              </m:ctrlPr>
                                            </m:radPr>
                                            <m:deg/>
                                            <m:e>
                                              <m:r>
                                                <a:rPr lang="en-VN" sz="1400" b="0" i="0">
                                                  <a:latin typeface="Cambria Math" panose="02040503050406030204" pitchFamily="18" charset="0"/>
                                                </a:rPr>
                                                <m:t>2</m:t>
                                              </m:r>
                                              <m:r>
                                                <a:rPr lang="en-VN" sz="1400" b="0" i="1">
                                                  <a:latin typeface="Cambria Math" panose="02040503050406030204" pitchFamily="18" charset="0"/>
                                                </a:rPr>
                                                <m:t>𝜋</m:t>
                                              </m:r>
                                              <m:sSubSup>
                                                <m:sSubSupPr>
                                                  <m:ctrlPr>
                                                    <a:rPr lang="en-VN" sz="1400" b="0" i="1">
                                                      <a:latin typeface="Cambria Math" panose="02040503050406030204" pitchFamily="18" charset="0"/>
                                                    </a:rPr>
                                                  </m:ctrlPr>
                                                </m:sSubSupPr>
                                                <m:e>
                                                  <m:r>
                                                    <a:rPr lang="en-VN" sz="1400" b="0" i="1">
                                                      <a:latin typeface="Cambria Math" panose="02040503050406030204" pitchFamily="18" charset="0"/>
                                                    </a:rPr>
                                                    <m:t>𝜎</m:t>
                                                  </m:r>
                                                </m:e>
                                                <m:sub>
                                                  <m:r>
                                                    <a:rPr lang="en-VN" sz="1400" b="0" i="1">
                                                      <a:latin typeface="Cambria Math" panose="02040503050406030204" pitchFamily="18" charset="0"/>
                                                    </a:rPr>
                                                    <m:t>𝑘</m:t>
                                                  </m:r>
                                                </m:sub>
                                                <m:sup>
                                                  <m:r>
                                                    <a:rPr lang="en-VN" sz="1400" b="0" i="0">
                                                      <a:latin typeface="Cambria Math" panose="02040503050406030204" pitchFamily="18" charset="0"/>
                                                    </a:rPr>
                                                    <m:t>2</m:t>
                                                  </m:r>
                                                </m:sup>
                                              </m:sSubSup>
                                            </m:e>
                                          </m:rad>
                                        </m:den>
                                      </m:f>
                                      <m:func>
                                        <m:funcPr>
                                          <m:ctrlPr>
                                            <a:rPr lang="en-VN" sz="1400" b="0" i="0">
                                              <a:latin typeface="Cambria Math" panose="02040503050406030204" pitchFamily="18" charset="0"/>
                                            </a:rPr>
                                          </m:ctrlPr>
                                        </m:funcPr>
                                        <m:fName>
                                          <m:r>
                                            <m:rPr>
                                              <m:sty m:val="p"/>
                                            </m:rPr>
                                            <a:rPr lang="en-VN" sz="1400" b="0" i="0">
                                              <a:latin typeface="Cambria Math" panose="02040503050406030204" pitchFamily="18" charset="0"/>
                                            </a:rPr>
                                            <m:t>exp</m:t>
                                          </m:r>
                                        </m:fName>
                                        <m:e>
                                          <m:d>
                                            <m:dPr>
                                              <m:ctrlPr>
                                                <a:rPr lang="en-VN" sz="1400" b="0" i="0">
                                                  <a:latin typeface="Cambria Math" panose="02040503050406030204" pitchFamily="18" charset="0"/>
                                                </a:rPr>
                                              </m:ctrlPr>
                                            </m:dPr>
                                            <m:e>
                                              <m:r>
                                                <a:rPr lang="en-VN" sz="1400" b="0" i="0">
                                                  <a:latin typeface="Cambria Math" panose="02040503050406030204" pitchFamily="18" charset="0"/>
                                                </a:rPr>
                                                <m:t>−</m:t>
                                              </m:r>
                                              <m:f>
                                                <m:fPr>
                                                  <m:ctrlPr>
                                                    <a:rPr lang="en-VN" sz="1400" b="0" i="1">
                                                      <a:latin typeface="Cambria Math" panose="02040503050406030204" pitchFamily="18" charset="0"/>
                                                    </a:rPr>
                                                  </m:ctrlPr>
                                                </m:fPr>
                                                <m:num>
                                                  <m:sSup>
                                                    <m:sSupPr>
                                                      <m:ctrlPr>
                                                        <a:rPr lang="en-VN" sz="1400" b="0" i="1">
                                                          <a:latin typeface="Cambria Math" panose="02040503050406030204" pitchFamily="18" charset="0"/>
                                                        </a:rPr>
                                                      </m:ctrlPr>
                                                    </m:sSupPr>
                                                    <m:e>
                                                      <m:d>
                                                        <m:dPr>
                                                          <m:ctrlPr>
                                                            <a:rPr lang="en-VN" sz="1400" b="0" i="1">
                                                              <a:latin typeface="Cambria Math" panose="02040503050406030204" pitchFamily="18" charset="0"/>
                                                            </a:rPr>
                                                          </m:ctrlPr>
                                                        </m:dPr>
                                                        <m:e>
                                                          <m:sSub>
                                                            <m:sSubPr>
                                                              <m:ctrlPr>
                                                                <a:rPr lang="en-VN" sz="1400" b="0" i="1">
                                                                  <a:latin typeface="Cambria Math" panose="02040503050406030204" pitchFamily="18" charset="0"/>
                                                                </a:rPr>
                                                              </m:ctrlPr>
                                                            </m:sSubPr>
                                                            <m:e>
                                                              <m:r>
                                                                <a:rPr lang="en-VN" sz="1400" b="0" i="1">
                                                                  <a:latin typeface="Cambria Math" panose="02040503050406030204" pitchFamily="18" charset="0"/>
                                                                </a:rPr>
                                                                <m:t>𝑥</m:t>
                                                              </m:r>
                                                            </m:e>
                                                            <m:sub>
                                                              <m:r>
                                                                <a:rPr lang="en-VN" sz="1400" b="0" i="1">
                                                                  <a:latin typeface="Cambria Math" panose="02040503050406030204" pitchFamily="18" charset="0"/>
                                                                </a:rPr>
                                                                <m:t>𝑖</m:t>
                                                              </m:r>
                                                            </m:sub>
                                                          </m:sSub>
                                                          <m:r>
                                                            <a:rPr lang="en-VN" sz="1400" b="0" i="0">
                                                              <a:latin typeface="Cambria Math" panose="02040503050406030204" pitchFamily="18" charset="0"/>
                                                            </a:rPr>
                                                            <m:t>−</m:t>
                                                          </m:r>
                                                          <m:sSub>
                                                            <m:sSubPr>
                                                              <m:ctrlPr>
                                                                <a:rPr lang="en-VN" sz="1400" b="0" i="1">
                                                                  <a:latin typeface="Cambria Math" panose="02040503050406030204" pitchFamily="18" charset="0"/>
                                                                </a:rPr>
                                                              </m:ctrlPr>
                                                            </m:sSubPr>
                                                            <m:e>
                                                              <m:r>
                                                                <a:rPr lang="en-VN" sz="1400" b="0" i="1">
                                                                  <a:latin typeface="Cambria Math" panose="02040503050406030204" pitchFamily="18" charset="0"/>
                                                                </a:rPr>
                                                                <m:t>𝜇</m:t>
                                                              </m:r>
                                                            </m:e>
                                                            <m:sub>
                                                              <m:r>
                                                                <a:rPr lang="en-VN" sz="1400" b="0" i="1">
                                                                  <a:latin typeface="Cambria Math" panose="02040503050406030204" pitchFamily="18" charset="0"/>
                                                                </a:rPr>
                                                                <m:t>𝑘</m:t>
                                                              </m:r>
                                                            </m:sub>
                                                          </m:sSub>
                                                        </m:e>
                                                      </m:d>
                                                    </m:e>
                                                    <m:sup>
                                                      <m:r>
                                                        <a:rPr lang="en-VN" sz="1400" b="0" i="0">
                                                          <a:latin typeface="Cambria Math" panose="02040503050406030204" pitchFamily="18" charset="0"/>
                                                        </a:rPr>
                                                        <m:t>2</m:t>
                                                      </m:r>
                                                    </m:sup>
                                                  </m:sSup>
                                                </m:num>
                                                <m:den>
                                                  <m:r>
                                                    <a:rPr lang="en-VN" sz="1400" b="0" i="0">
                                                      <a:latin typeface="Cambria Math" panose="02040503050406030204" pitchFamily="18" charset="0"/>
                                                    </a:rPr>
                                                    <m:t>2</m:t>
                                                  </m:r>
                                                  <m:sSubSup>
                                                    <m:sSubSupPr>
                                                      <m:ctrlPr>
                                                        <a:rPr lang="en-VN" sz="1400" b="0" i="1">
                                                          <a:latin typeface="Cambria Math" panose="02040503050406030204" pitchFamily="18" charset="0"/>
                                                        </a:rPr>
                                                      </m:ctrlPr>
                                                    </m:sSubSupPr>
                                                    <m:e>
                                                      <m:r>
                                                        <a:rPr lang="en-VN" sz="1400" b="0" i="1">
                                                          <a:latin typeface="Cambria Math" panose="02040503050406030204" pitchFamily="18" charset="0"/>
                                                        </a:rPr>
                                                        <m:t>𝜎</m:t>
                                                      </m:r>
                                                    </m:e>
                                                    <m:sub>
                                                      <m:r>
                                                        <a:rPr lang="en-VN" sz="1400" b="0" i="1">
                                                          <a:latin typeface="Cambria Math" panose="02040503050406030204" pitchFamily="18" charset="0"/>
                                                        </a:rPr>
                                                        <m:t>𝑘</m:t>
                                                      </m:r>
                                                    </m:sub>
                                                    <m:sup>
                                                      <m:r>
                                                        <a:rPr lang="en-VN" sz="1400" b="0" i="0">
                                                          <a:latin typeface="Cambria Math" panose="02040503050406030204" pitchFamily="18" charset="0"/>
                                                        </a:rPr>
                                                        <m:t>2</m:t>
                                                      </m:r>
                                                    </m:sup>
                                                  </m:sSubSup>
                                                </m:den>
                                              </m:f>
                                            </m:e>
                                          </m:d>
                                        </m:e>
                                      </m:func>
                                    </m:den>
                                  </m:f>
                                </m:e>
                              </m:d>
                            </m:e>
                          </m:nary>
                        </m:den>
                      </m:f>
                    </m:oMath>
                  </m:oMathPara>
                </a14:m>
                <a:endParaRPr lang="en-VN" sz="1400" dirty="0"/>
              </a:p>
            </p:txBody>
          </p:sp>
        </mc:Choice>
        <mc:Fallback xmlns="">
          <p:sp>
            <p:nvSpPr>
              <p:cNvPr id="8" name="TextBox 7">
                <a:extLst>
                  <a:ext uri="{FF2B5EF4-FFF2-40B4-BE49-F238E27FC236}">
                    <a16:creationId xmlns:a16="http://schemas.microsoft.com/office/drawing/2014/main" id="{F03E625D-B0A8-0AF6-D552-89145854C08D}"/>
                  </a:ext>
                </a:extLst>
              </p:cNvPr>
              <p:cNvSpPr txBox="1">
                <a:spLocks noRot="1" noChangeAspect="1" noMove="1" noResize="1" noEditPoints="1" noAdjustHandles="1" noChangeArrowheads="1" noChangeShapeType="1" noTextEdit="1"/>
              </p:cNvSpPr>
              <p:nvPr/>
            </p:nvSpPr>
            <p:spPr>
              <a:xfrm>
                <a:off x="3611788" y="3806026"/>
                <a:ext cx="3962620" cy="3050194"/>
              </a:xfrm>
              <a:prstGeom prst="rect">
                <a:avLst/>
              </a:prstGeom>
              <a:blipFill>
                <a:blip r:embed="rId5"/>
                <a:stretch>
                  <a:fillRect b="-4979"/>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56DB519-E051-6F01-13EF-D3DFDFB473B2}"/>
                  </a:ext>
                </a:extLst>
              </p:cNvPr>
              <p:cNvSpPr txBox="1"/>
              <p:nvPr/>
            </p:nvSpPr>
            <p:spPr>
              <a:xfrm>
                <a:off x="5434003" y="1922687"/>
                <a:ext cx="3459986" cy="693588"/>
              </a:xfrm>
              <a:prstGeom prst="rect">
                <a:avLst/>
              </a:prstGeom>
              <a:noFill/>
            </p:spPr>
            <p:txBody>
              <a:bodyPr wrap="none" lIns="0" tIns="0" rIns="0" bIns="0" rtlCol="0">
                <a:spAutoFit/>
              </a:bodyPr>
              <a:lstStyle/>
              <a:p>
                <a:pPr/>
                <a14:m>
                  <m:oMathPara xmlns:m="http://schemas.openxmlformats.org/officeDocument/2006/math">
                    <m:oMath>
                      <m:func>
                        <m:funcPr>
                          <m:ctrlPr>
                            <a:rPr lang="en-US" sz="1400" i="1" smtClean="0">
                              <a:solidFill>
                                <a:srgbClr val="0070C0"/>
                              </a:solidFill>
                              <a:latin typeface="Cambria Math" panose="02040503050406030204" pitchFamily="18" charset="0"/>
                            </a:rPr>
                          </m:ctrlPr>
                        </m:funcPr>
                        <m:fName>
                          <m:r>
                            <m:rPr>
                              <m:sty m:val="p"/>
                            </m:rPr>
                            <a:rPr lang="en-US" sz="1400" i="1" smtClean="0">
                              <a:solidFill>
                                <a:srgbClr val="0070C0"/>
                              </a:solidFill>
                              <a:latin typeface="Cambria Math" panose="02040503050406030204" pitchFamily="18" charset="0"/>
                            </a:rPr>
                            <m:t>ln</m:t>
                          </m:r>
                        </m:fName>
                        <m:e>
                          <m:r>
                            <a:rPr lang="en-VN" sz="1400" i="1">
                              <a:latin typeface="Cambria Math" panose="02040503050406030204" pitchFamily="18" charset="0"/>
                            </a:rPr>
                            <m:t>𝐿</m:t>
                          </m:r>
                        </m:e>
                      </m:func>
                      <m:d>
                        <m:dPr>
                          <m:ctrlPr>
                            <a:rPr lang="en-US" sz="1400" i="1">
                              <a:latin typeface="Cambria Math" panose="02040503050406030204" pitchFamily="18" charset="0"/>
                            </a:rPr>
                          </m:ctrlPr>
                        </m:dPr>
                        <m:e>
                          <m:r>
                            <a:rPr lang="en-US" sz="1400" i="1">
                              <a:latin typeface="Cambria Math" panose="02040503050406030204" pitchFamily="18" charset="0"/>
                            </a:rPr>
                            <m:t>𝜃</m:t>
                          </m:r>
                          <m:r>
                            <a:rPr lang="en-US" sz="1400" i="1">
                              <a:latin typeface="Cambria Math" panose="02040503050406030204" pitchFamily="18" charset="0"/>
                            </a:rPr>
                            <m:t>∣</m:t>
                          </m:r>
                          <m:r>
                            <a:rPr lang="en-US" sz="1400" i="1">
                              <a:latin typeface="Cambria Math" panose="02040503050406030204" pitchFamily="18" charset="0"/>
                            </a:rPr>
                            <m:t>𝑥</m:t>
                          </m:r>
                        </m:e>
                      </m:d>
                      <m:r>
                        <a:rPr lang="en-US" sz="1400" i="1">
                          <a:latin typeface="Cambria Math" panose="02040503050406030204" pitchFamily="18" charset="0"/>
                        </a:rPr>
                        <m:t>=</m:t>
                      </m:r>
                      <m:nary>
                        <m:naryPr>
                          <m:chr m:val="∑"/>
                          <m:limLoc m:val="undOvr"/>
                          <m:ctrlPr>
                            <a:rPr lang="en-US" sz="1400" i="1">
                              <a:latin typeface="Cambria Math" panose="02040503050406030204" pitchFamily="18" charset="0"/>
                            </a:rPr>
                          </m:ctrlPr>
                        </m:naryPr>
                        <m:sub>
                          <m:r>
                            <a:rPr lang="en-US" sz="1400" i="1">
                              <a:latin typeface="Cambria Math" panose="02040503050406030204" pitchFamily="18" charset="0"/>
                            </a:rPr>
                            <m:t>𝑛</m:t>
                          </m:r>
                          <m:r>
                            <a:rPr lang="en-US" sz="1400" i="1">
                              <a:latin typeface="Cambria Math" panose="02040503050406030204" pitchFamily="18" charset="0"/>
                            </a:rPr>
                            <m:t>=1</m:t>
                          </m:r>
                        </m:sub>
                        <m:sup>
                          <m:r>
                            <a:rPr lang="en-US" sz="1400" i="1">
                              <a:latin typeface="Cambria Math" panose="02040503050406030204" pitchFamily="18" charset="0"/>
                            </a:rPr>
                            <m:t>𝑁</m:t>
                          </m:r>
                        </m:sup>
                        <m:e>
                          <m:func>
                            <m:funcPr>
                              <m:ctrlPr>
                                <a:rPr lang="en-US" sz="1400" i="1" smtClean="0">
                                  <a:solidFill>
                                    <a:srgbClr val="0070C0"/>
                                  </a:solidFill>
                                  <a:latin typeface="Cambria Math" panose="02040503050406030204" pitchFamily="18" charset="0"/>
                                </a:rPr>
                              </m:ctrlPr>
                            </m:funcPr>
                            <m:fName>
                              <m:r>
                                <m:rPr>
                                  <m:sty m:val="p"/>
                                </m:rPr>
                                <a:rPr lang="en-US" sz="1400" i="1" smtClean="0">
                                  <a:solidFill>
                                    <a:srgbClr val="0070C0"/>
                                  </a:solidFill>
                                  <a:latin typeface="Cambria Math" panose="02040503050406030204" pitchFamily="18" charset="0"/>
                                </a:rPr>
                                <m:t>ln</m:t>
                              </m:r>
                            </m:fName>
                            <m:e>
                              <m:d>
                                <m:dPr>
                                  <m:ctrlPr>
                                    <a:rPr lang="en-US" sz="1400" i="1">
                                      <a:solidFill>
                                        <a:schemeClr val="accent6">
                                          <a:lumMod val="75000"/>
                                        </a:schemeClr>
                                      </a:solidFill>
                                      <a:latin typeface="Cambria Math" panose="02040503050406030204" pitchFamily="18" charset="0"/>
                                    </a:rPr>
                                  </m:ctrlPr>
                                </m:dPr>
                                <m:e>
                                  <m:nary>
                                    <m:naryPr>
                                      <m:chr m:val="∑"/>
                                      <m:limLoc m:val="undOvr"/>
                                      <m:ctrlPr>
                                        <a:rPr lang="en-US" sz="1400" i="1">
                                          <a:solidFill>
                                            <a:schemeClr val="accent6">
                                              <a:lumMod val="75000"/>
                                            </a:schemeClr>
                                          </a:solidFill>
                                          <a:latin typeface="Cambria Math" panose="02040503050406030204" pitchFamily="18" charset="0"/>
                                        </a:rPr>
                                      </m:ctrlPr>
                                    </m:naryPr>
                                    <m:sub>
                                      <m:r>
                                        <a:rPr lang="en-US" sz="1400" i="1">
                                          <a:solidFill>
                                            <a:schemeClr val="accent6">
                                              <a:lumMod val="75000"/>
                                            </a:schemeClr>
                                          </a:solidFill>
                                          <a:latin typeface="Cambria Math" panose="02040503050406030204" pitchFamily="18" charset="0"/>
                                        </a:rPr>
                                        <m:t>𝑘</m:t>
                                      </m:r>
                                      <m:r>
                                        <a:rPr lang="en-US" sz="1400" i="1">
                                          <a:solidFill>
                                            <a:schemeClr val="accent6">
                                              <a:lumMod val="75000"/>
                                            </a:schemeClr>
                                          </a:solidFill>
                                          <a:latin typeface="Cambria Math" panose="02040503050406030204" pitchFamily="18" charset="0"/>
                                        </a:rPr>
                                        <m:t>=1</m:t>
                                      </m:r>
                                    </m:sub>
                                    <m:sup>
                                      <m:r>
                                        <a:rPr lang="en-US" sz="1400" i="1">
                                          <a:solidFill>
                                            <a:schemeClr val="accent6">
                                              <a:lumMod val="75000"/>
                                            </a:schemeClr>
                                          </a:solidFill>
                                          <a:latin typeface="Cambria Math" panose="02040503050406030204" pitchFamily="18" charset="0"/>
                                        </a:rPr>
                                        <m:t>𝐾</m:t>
                                      </m:r>
                                    </m:sup>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𝜋</m:t>
                                          </m:r>
                                        </m:e>
                                        <m:sub>
                                          <m:r>
                                            <a:rPr lang="en-US" sz="1400" i="1">
                                              <a:solidFill>
                                                <a:schemeClr val="accent6">
                                                  <a:lumMod val="75000"/>
                                                </a:schemeClr>
                                              </a:solidFill>
                                              <a:latin typeface="Cambria Math" panose="02040503050406030204" pitchFamily="18" charset="0"/>
                                            </a:rPr>
                                            <m:t>𝑘</m:t>
                                          </m:r>
                                        </m:sub>
                                      </m:sSub>
                                    </m:e>
                                  </m:nary>
                                  <m:r>
                                    <a:rPr lang="en-US" sz="1400" i="1">
                                      <a:solidFill>
                                        <a:schemeClr val="accent6">
                                          <a:lumMod val="75000"/>
                                        </a:schemeClr>
                                      </a:solidFill>
                                      <a:latin typeface="Cambria Math" panose="02040503050406030204" pitchFamily="18" charset="0"/>
                                    </a:rPr>
                                    <m:t>𝒩</m:t>
                                  </m:r>
                                  <m:d>
                                    <m:dPr>
                                      <m:ctrlPr>
                                        <a:rPr lang="en-US" sz="1400" i="1">
                                          <a:solidFill>
                                            <a:schemeClr val="accent6">
                                              <a:lumMod val="75000"/>
                                            </a:schemeClr>
                                          </a:solidFill>
                                          <a:latin typeface="Cambria Math" panose="02040503050406030204" pitchFamily="18" charset="0"/>
                                        </a:rPr>
                                      </m:ctrlPr>
                                    </m:dPr>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𝑥</m:t>
                                          </m:r>
                                        </m:e>
                                        <m:sub>
                                          <m:r>
                                            <a:rPr lang="en-US" sz="1400" i="1">
                                              <a:solidFill>
                                                <a:schemeClr val="accent6">
                                                  <a:lumMod val="75000"/>
                                                </a:schemeClr>
                                              </a:solidFill>
                                              <a:latin typeface="Cambria Math" panose="02040503050406030204" pitchFamily="18" charset="0"/>
                                            </a:rPr>
                                            <m:t>𝑛</m:t>
                                          </m:r>
                                        </m:sub>
                                      </m:sSub>
                                      <m:r>
                                        <a:rPr lang="en-US" sz="1400" i="1">
                                          <a:solidFill>
                                            <a:schemeClr val="accent6">
                                              <a:lumMod val="75000"/>
                                            </a:schemeClr>
                                          </a:solidFill>
                                          <a:latin typeface="Cambria Math" panose="02040503050406030204" pitchFamily="18" charset="0"/>
                                        </a:rPr>
                                        <m:t>∣</m:t>
                                      </m:r>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𝜇</m:t>
                                          </m:r>
                                        </m:e>
                                        <m:sub>
                                          <m:r>
                                            <a:rPr lang="en-US" sz="1400" i="1">
                                              <a:solidFill>
                                                <a:schemeClr val="accent6">
                                                  <a:lumMod val="75000"/>
                                                </a:schemeClr>
                                              </a:solidFill>
                                              <a:latin typeface="Cambria Math" panose="02040503050406030204" pitchFamily="18" charset="0"/>
                                            </a:rPr>
                                            <m:t>𝑘</m:t>
                                          </m:r>
                                        </m:sub>
                                      </m:sSub>
                                      <m:r>
                                        <a:rPr lang="en-US" sz="1400" i="1">
                                          <a:solidFill>
                                            <a:schemeClr val="accent6">
                                              <a:lumMod val="75000"/>
                                            </a:schemeClr>
                                          </a:solidFill>
                                          <a:latin typeface="Cambria Math" panose="02040503050406030204" pitchFamily="18" charset="0"/>
                                        </a:rPr>
                                        <m:t>,</m:t>
                                      </m:r>
                                      <m:sSubSup>
                                        <m:sSubSupPr>
                                          <m:ctrlPr>
                                            <a:rPr lang="en-US" sz="1400" i="1">
                                              <a:solidFill>
                                                <a:schemeClr val="accent6">
                                                  <a:lumMod val="75000"/>
                                                </a:schemeClr>
                                              </a:solidFill>
                                              <a:latin typeface="Cambria Math" panose="02040503050406030204" pitchFamily="18" charset="0"/>
                                            </a:rPr>
                                          </m:ctrlPr>
                                        </m:sSubSupPr>
                                        <m:e>
                                          <m:r>
                                            <a:rPr lang="en-US" sz="1400" i="1">
                                              <a:solidFill>
                                                <a:schemeClr val="accent6">
                                                  <a:lumMod val="75000"/>
                                                </a:schemeClr>
                                              </a:solidFill>
                                              <a:latin typeface="Cambria Math" panose="02040503050406030204" pitchFamily="18" charset="0"/>
                                            </a:rPr>
                                            <m:t>𝜎</m:t>
                                          </m:r>
                                        </m:e>
                                        <m:sub>
                                          <m:r>
                                            <a:rPr lang="en-US" sz="1400" i="1">
                                              <a:solidFill>
                                                <a:schemeClr val="accent6">
                                                  <a:lumMod val="75000"/>
                                                </a:schemeClr>
                                              </a:solidFill>
                                              <a:latin typeface="Cambria Math" panose="02040503050406030204" pitchFamily="18" charset="0"/>
                                            </a:rPr>
                                            <m:t>𝑘</m:t>
                                          </m:r>
                                        </m:sub>
                                        <m:sup>
                                          <m:r>
                                            <a:rPr lang="en-US" sz="1400" i="1">
                                              <a:solidFill>
                                                <a:schemeClr val="accent6">
                                                  <a:lumMod val="75000"/>
                                                </a:schemeClr>
                                              </a:solidFill>
                                              <a:latin typeface="Cambria Math" panose="02040503050406030204" pitchFamily="18" charset="0"/>
                                            </a:rPr>
                                            <m:t>2</m:t>
                                          </m:r>
                                        </m:sup>
                                      </m:sSubSup>
                                    </m:e>
                                  </m:d>
                                </m:e>
                              </m:d>
                            </m:e>
                          </m:func>
                        </m:e>
                      </m:nary>
                    </m:oMath>
                  </m:oMathPara>
                </a14:m>
                <a:endParaRPr/>
              </a:p>
            </p:txBody>
          </p:sp>
        </mc:Choice>
        <mc:Fallback xmlns="">
          <p:sp>
            <p:nvSpPr>
              <p:cNvPr id="14" name="TextBox 13">
                <a:extLst>
                  <a:ext uri="{FF2B5EF4-FFF2-40B4-BE49-F238E27FC236}">
                    <a16:creationId xmlns:a16="http://schemas.microsoft.com/office/drawing/2014/main" id="{256DB519-E051-6F01-13EF-D3DFDFB473B2}"/>
                  </a:ext>
                </a:extLst>
              </p:cNvPr>
              <p:cNvSpPr txBox="1">
                <a:spLocks noRot="1" noChangeAspect="1" noMove="1" noResize="1" noEditPoints="1" noAdjustHandles="1" noChangeArrowheads="1" noChangeShapeType="1" noTextEdit="1"/>
              </p:cNvSpPr>
              <p:nvPr/>
            </p:nvSpPr>
            <p:spPr>
              <a:xfrm>
                <a:off x="5434003" y="1922687"/>
                <a:ext cx="3459986" cy="693588"/>
              </a:xfrm>
              <a:prstGeom prst="rect">
                <a:avLst/>
              </a:prstGeom>
              <a:blipFill>
                <a:blip r:embed="rId6"/>
                <a:stretch>
                  <a:fillRect l="-730" t="-94545" r="-2920" b="-150909"/>
                </a:stretch>
              </a:blipFill>
            </p:spPr>
            <p:txBody>
              <a:bodyPr/>
              <a:lstStyle/>
              <a:p>
                <a:r>
                  <a:rPr lang="en-VN">
                    <a:noFill/>
                  </a:rPr>
                  <a:t> </a:t>
                </a:r>
              </a:p>
            </p:txBody>
          </p:sp>
        </mc:Fallback>
      </mc:AlternateContent>
      <p:sp>
        <p:nvSpPr>
          <p:cNvPr id="15" name="Right Arrow 14">
            <a:extLst>
              <a:ext uri="{FF2B5EF4-FFF2-40B4-BE49-F238E27FC236}">
                <a16:creationId xmlns:a16="http://schemas.microsoft.com/office/drawing/2014/main" id="{0AACCFDD-83D0-5B19-1468-F0D7C0569858}"/>
              </a:ext>
            </a:extLst>
          </p:cNvPr>
          <p:cNvSpPr/>
          <p:nvPr/>
        </p:nvSpPr>
        <p:spPr>
          <a:xfrm rot="19550922">
            <a:off x="5302157" y="2575174"/>
            <a:ext cx="581883" cy="384721"/>
          </a:xfrm>
          <a:prstGeom prst="rightArrow">
            <a:avLst/>
          </a:prstGeom>
          <a:ln>
            <a:solidFill>
              <a:schemeClr val="tx2">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VN">
              <a:solidFill>
                <a:schemeClr val="tx2">
                  <a:lumMod val="60000"/>
                  <a:lumOff val="40000"/>
                </a:schemeClr>
              </a:solidFill>
            </a:endParaRPr>
          </a:p>
        </p:txBody>
      </p:sp>
    </p:spTree>
    <p:extLst>
      <p:ext uri="{BB962C8B-B14F-4D97-AF65-F5344CB8AC3E}">
        <p14:creationId xmlns:p14="http://schemas.microsoft.com/office/powerpoint/2010/main" val="38315380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32DC1-A8C6-543D-211C-9E37E9A3A71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2724B5B-5A0C-67B3-C111-0F2E31EFA0E7}"/>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4E0E3127-A874-840D-3439-0651F02760B1}"/>
                  </a:ext>
                </a:extLst>
              </p:cNvPr>
              <p:cNvSpPr txBox="1"/>
              <p:nvPr/>
            </p:nvSpPr>
            <p:spPr>
              <a:xfrm>
                <a:off x="364066" y="1267771"/>
                <a:ext cx="11283437" cy="2354491"/>
              </a:xfrm>
              <a:prstGeom prst="rect">
                <a:avLst/>
              </a:prstGeom>
              <a:noFill/>
            </p:spPr>
            <p:txBody>
              <a:bodyPr wrap="square">
                <a:spAutoFit/>
              </a:bodyPr>
              <a:lstStyle/>
              <a:p>
                <a:pPr>
                  <a:spcAft>
                    <a:spcPts val="600"/>
                  </a:spcAft>
                </a:pPr>
                <a:r>
                  <a:rPr lang="vi-VN" sz="1400" b="1" dirty="0">
                    <a:solidFill>
                      <a:srgbClr val="1B8A7A"/>
                    </a:solidFill>
                    <a:latin typeface="Arial"/>
                  </a:rPr>
                  <a:t>2.1. Gaussian Mixture Model (GMM) - </a:t>
                </a:r>
                <a:r>
                  <a:rPr lang="vi-VN" sz="1000" b="1" dirty="0">
                    <a:solidFill>
                      <a:schemeClr val="accent5">
                        <a:lumMod val="60000"/>
                        <a:lumOff val="40000"/>
                      </a:schemeClr>
                    </a:solidFill>
                    <a:latin typeface="Arial"/>
                  </a:rPr>
                  <a:t>Mô hình hỗn hợp phân phối chuẩn</a:t>
                </a:r>
                <a:endParaRPr lang="vi-VN" sz="1400" b="1" dirty="0">
                  <a:solidFill>
                    <a:schemeClr val="bg2">
                      <a:lumMod val="50000"/>
                    </a:schemeClr>
                  </a:solidFill>
                  <a:latin typeface="Arial"/>
                </a:endParaRPr>
              </a:p>
              <a:p>
                <a:pPr>
                  <a:spcAft>
                    <a:spcPts val="600"/>
                  </a:spcAft>
                </a:pPr>
                <a:r>
                  <a:rPr lang="vi-VN" sz="1400" b="1" dirty="0">
                    <a:solidFill>
                      <a:schemeClr val="bg2">
                        <a:lumMod val="50000"/>
                      </a:schemeClr>
                    </a:solidFill>
                    <a:latin typeface="Arial"/>
                  </a:rPr>
                  <a:t>2.1.3. Tìm cực trị hàm mục tiêu</a:t>
                </a:r>
              </a:p>
              <a:p>
                <a:pPr>
                  <a:spcAft>
                    <a:spcPts val="600"/>
                  </a:spcAft>
                </a:pPr>
                <a:r>
                  <a:rPr lang="vi-VN" sz="1400" dirty="0">
                    <a:solidFill>
                      <a:srgbClr val="444B52"/>
                    </a:solidFill>
                    <a:latin typeface="Arial"/>
                  </a:rPr>
                  <a:t>	</a:t>
                </a:r>
              </a:p>
              <a:p>
                <a:pPr>
                  <a:spcAft>
                    <a:spcPts val="600"/>
                  </a:spcAft>
                </a:pPr>
                <a:endParaRPr lang="vi-VN" sz="1400" dirty="0">
                  <a:solidFill>
                    <a:srgbClr val="444B52"/>
                  </a:solidFill>
                  <a:latin typeface="Arial"/>
                </a:endParaRPr>
              </a:p>
              <a:p>
                <a:pPr>
                  <a:spcAft>
                    <a:spcPts val="600"/>
                  </a:spcAft>
                </a:pPr>
                <a:r>
                  <a:rPr lang="vi-VN" sz="1400" dirty="0">
                    <a:solidFill>
                      <a:srgbClr val="444B52"/>
                    </a:solidFill>
                    <a:latin typeface="Arial"/>
                  </a:rPr>
                  <a:t>	</a:t>
                </a:r>
              </a:p>
              <a:p>
                <a:pPr>
                  <a:spcAft>
                    <a:spcPts val="600"/>
                  </a:spcAft>
                </a:pPr>
                <a:r>
                  <a:rPr lang="vi-VN" sz="1400" dirty="0">
                    <a:solidFill>
                      <a:srgbClr val="444B52"/>
                    </a:solidFill>
                    <a:latin typeface="Arial"/>
                  </a:rPr>
                  <a:t>	- Từ hàm mục tiêu ở 2.1.2, ta thực hiện:</a:t>
                </a:r>
              </a:p>
              <a:p>
                <a:pPr>
                  <a:spcAft>
                    <a:spcPts val="600"/>
                  </a:spcAft>
                </a:pPr>
                <a:r>
                  <a:rPr lang="vi-VN" sz="1400" dirty="0">
                    <a:solidFill>
                      <a:srgbClr val="444B52"/>
                    </a:solidFill>
                    <a:latin typeface="Arial"/>
                  </a:rPr>
                  <a:t>		+ Lấy logarit 2 vế (cho dễ đạo hàm và tránh tràn số underflow)</a:t>
                </a:r>
              </a:p>
              <a:p>
                <a:pPr>
                  <a:spcAft>
                    <a:spcPts val="600"/>
                  </a:spcAft>
                </a:pPr>
                <a:r>
                  <a:rPr lang="vi-VN" sz="1400" dirty="0">
                    <a:solidFill>
                      <a:srgbClr val="444B52"/>
                    </a:solidFill>
                    <a:latin typeface="Arial"/>
                  </a:rPr>
                  <a:t>		+ Tìm đạo hàm riêng theo từng biến </a:t>
                </a:r>
                <a14:m>
                  <m:oMath xmlns:m="http://schemas.openxmlformats.org/officeDocument/2006/math">
                    <m:sSub>
                      <m:sSubPr>
                        <m:ctrlPr>
                          <a:rPr lang="en-US" sz="1400" b="1" i="1">
                            <a:solidFill>
                              <a:schemeClr val="accent6">
                                <a:lumMod val="75000"/>
                              </a:schemeClr>
                            </a:solidFill>
                            <a:latin typeface="Cambria Math" panose="02040503050406030204" pitchFamily="18" charset="0"/>
                          </a:rPr>
                        </m:ctrlPr>
                      </m:sSubPr>
                      <m:e>
                        <m:r>
                          <a:rPr lang="en-US" sz="1400" b="1" i="1">
                            <a:solidFill>
                              <a:schemeClr val="accent6">
                                <a:lumMod val="75000"/>
                              </a:schemeClr>
                            </a:solidFill>
                            <a:latin typeface="Cambria Math" panose="02040503050406030204" pitchFamily="18" charset="0"/>
                          </a:rPr>
                          <m:t>𝝅</m:t>
                        </m:r>
                      </m:e>
                      <m:sub>
                        <m:r>
                          <a:rPr lang="en-US" sz="1400" b="1" i="1">
                            <a:solidFill>
                              <a:schemeClr val="accent6">
                                <a:lumMod val="75000"/>
                              </a:schemeClr>
                            </a:solidFill>
                            <a:latin typeface="Cambria Math" panose="02040503050406030204" pitchFamily="18" charset="0"/>
                          </a:rPr>
                          <m:t>𝒌</m:t>
                        </m:r>
                      </m:sub>
                    </m:sSub>
                  </m:oMath>
                </a14:m>
                <a:r>
                  <a:rPr lang="vi-VN" sz="1400" dirty="0">
                    <a:solidFill>
                      <a:srgbClr val="444B52"/>
                    </a:solidFill>
                    <a:latin typeface="Arial"/>
                    <a:sym typeface="Wingdings" pitchFamily="2" charset="2"/>
                  </a:rPr>
                  <a:t>,</a:t>
                </a:r>
                <a:r>
                  <a:rPr lang="vi-VN" sz="1400" b="1" dirty="0">
                    <a:solidFill>
                      <a:srgbClr val="444B52"/>
                    </a:solidFill>
                    <a:latin typeface="Arial"/>
                    <a:sym typeface="Wingdings" pitchFamily="2" charset="2"/>
                  </a:rPr>
                  <a:t> </a:t>
                </a:r>
                <a14:m>
                  <m:oMath xmlns:m="http://schemas.openxmlformats.org/officeDocument/2006/math">
                    <m:sSub>
                      <m:sSubPr>
                        <m:ctrlPr>
                          <a:rPr lang="en-US" sz="1400" b="1" i="1">
                            <a:solidFill>
                              <a:schemeClr val="tx2">
                                <a:lumMod val="60000"/>
                                <a:lumOff val="40000"/>
                              </a:schemeClr>
                            </a:solidFill>
                            <a:latin typeface="Cambria Math" panose="02040503050406030204" pitchFamily="18" charset="0"/>
                          </a:rPr>
                        </m:ctrlPr>
                      </m:sSubPr>
                      <m:e>
                        <m:r>
                          <a:rPr lang="en-US" sz="1400" b="1" i="1">
                            <a:solidFill>
                              <a:schemeClr val="tx2">
                                <a:lumMod val="60000"/>
                                <a:lumOff val="40000"/>
                              </a:schemeClr>
                            </a:solidFill>
                            <a:latin typeface="Cambria Math" panose="02040503050406030204" pitchFamily="18" charset="0"/>
                          </a:rPr>
                          <m:t>𝝁</m:t>
                        </m:r>
                      </m:e>
                      <m:sub>
                        <m:r>
                          <a:rPr lang="en-US" sz="1400" b="1" i="1">
                            <a:solidFill>
                              <a:schemeClr val="tx2">
                                <a:lumMod val="60000"/>
                                <a:lumOff val="40000"/>
                              </a:schemeClr>
                            </a:solidFill>
                            <a:latin typeface="Cambria Math" panose="02040503050406030204" pitchFamily="18" charset="0"/>
                          </a:rPr>
                          <m:t>𝒌</m:t>
                        </m:r>
                      </m:sub>
                    </m:sSub>
                  </m:oMath>
                </a14:m>
                <a:r>
                  <a:rPr lang="vi-VN" sz="1400" dirty="0">
                    <a:solidFill>
                      <a:srgbClr val="444B52"/>
                    </a:solidFill>
                    <a:latin typeface="Arial"/>
                    <a:sym typeface="Wingdings" pitchFamily="2" charset="2"/>
                  </a:rPr>
                  <a:t>,</a:t>
                </a:r>
                <a:r>
                  <a:rPr lang="vi-VN" sz="1400" b="1" dirty="0">
                    <a:solidFill>
                      <a:srgbClr val="444B52"/>
                    </a:solidFill>
                    <a:latin typeface="Arial"/>
                    <a:sym typeface="Wingdings" pitchFamily="2" charset="2"/>
                  </a:rPr>
                  <a:t> </a:t>
                </a:r>
                <a14:m>
                  <m:oMath xmlns:m="http://schemas.openxmlformats.org/officeDocument/2006/math">
                    <m:sSub>
                      <m:sSubPr>
                        <m:ctrlPr>
                          <a:rPr lang="en-US" sz="1400" b="1" i="1" dirty="0">
                            <a:solidFill>
                              <a:srgbClr val="00B050"/>
                            </a:solidFill>
                            <a:latin typeface="Cambria Math" panose="02040503050406030204" pitchFamily="18" charset="0"/>
                          </a:rPr>
                        </m:ctrlPr>
                      </m:sSubPr>
                      <m:e>
                        <m:r>
                          <a:rPr lang="en-US" sz="1400" b="1" i="1" dirty="0">
                            <a:solidFill>
                              <a:srgbClr val="00B050"/>
                            </a:solidFill>
                            <a:latin typeface="Cambria Math" panose="02040503050406030204" pitchFamily="18" charset="0"/>
                          </a:rPr>
                          <m:t>𝝈</m:t>
                        </m:r>
                      </m:e>
                      <m:sub>
                        <m:r>
                          <a:rPr lang="en-US" sz="1400" b="1" i="1">
                            <a:solidFill>
                              <a:srgbClr val="00B050"/>
                            </a:solidFill>
                            <a:latin typeface="Cambria Math" panose="02040503050406030204" pitchFamily="18" charset="0"/>
                          </a:rPr>
                          <m:t>𝒌</m:t>
                        </m:r>
                      </m:sub>
                    </m:sSub>
                  </m:oMath>
                </a14:m>
                <a:r>
                  <a:rPr lang="vi-VN" sz="1400" dirty="0">
                    <a:solidFill>
                      <a:srgbClr val="444B52"/>
                    </a:solidFill>
                    <a:latin typeface="Arial"/>
                  </a:rPr>
                  <a:t>, rồi cho đạo hàm bằng 0 tìm cực trị</a:t>
                </a:r>
              </a:p>
            </p:txBody>
          </p:sp>
        </mc:Choice>
        <mc:Fallback xmlns="">
          <p:sp>
            <p:nvSpPr>
              <p:cNvPr id="12" name="TextBox 11">
                <a:extLst>
                  <a:ext uri="{FF2B5EF4-FFF2-40B4-BE49-F238E27FC236}">
                    <a16:creationId xmlns:a16="http://schemas.microsoft.com/office/drawing/2014/main" id="{4E0E3127-A874-840D-3439-0651F02760B1}"/>
                  </a:ext>
                </a:extLst>
              </p:cNvPr>
              <p:cNvSpPr txBox="1">
                <a:spLocks noRot="1" noChangeAspect="1" noMove="1" noResize="1" noEditPoints="1" noAdjustHandles="1" noChangeArrowheads="1" noChangeShapeType="1" noTextEdit="1"/>
              </p:cNvSpPr>
              <p:nvPr/>
            </p:nvSpPr>
            <p:spPr>
              <a:xfrm>
                <a:off x="364066" y="1267771"/>
                <a:ext cx="11283437" cy="2354491"/>
              </a:xfrm>
              <a:prstGeom prst="rect">
                <a:avLst/>
              </a:prstGeom>
              <a:blipFill>
                <a:blip r:embed="rId3"/>
                <a:stretch>
                  <a:fillRect l="-112" t="-535" b="-1070"/>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D8A8C116-CF02-0B56-C5A0-AA2977026245}"/>
                  </a:ext>
                </a:extLst>
              </p:cNvPr>
              <p:cNvSpPr txBox="1"/>
              <p:nvPr/>
            </p:nvSpPr>
            <p:spPr>
              <a:xfrm>
                <a:off x="976625" y="1966578"/>
                <a:ext cx="2869375" cy="605807"/>
              </a:xfrm>
              <a:prstGeom prst="rect">
                <a:avLst/>
              </a:prstGeom>
              <a:noFill/>
            </p:spPr>
            <p:txBody>
              <a:bodyPr wrap="none" lIns="0" tIns="0" rIns="0" bIns="0" rtlCol="0">
                <a:spAutoFit/>
              </a:bodyPr>
              <a:lstStyle/>
              <a:p>
                <a:pPr/>
                <a14:m>
                  <m:oMathPara xmlns:m="http://schemas.openxmlformats.org/officeDocument/2006/math">
                    <m:oMath>
                      <m:r>
                        <a:rPr lang="en-VN" sz="1400" i="1">
                          <a:latin typeface="Cambria Math" panose="02040503050406030204" pitchFamily="18" charset="0"/>
                        </a:rPr>
                        <m:t>𝐿</m:t>
                      </m:r>
                      <m:d>
                        <m:dPr>
                          <m:ctrlPr>
                            <a:rPr lang="en-US" sz="1400" i="1">
                              <a:latin typeface="Cambria Math" panose="02040503050406030204" pitchFamily="18" charset="0"/>
                            </a:rPr>
                          </m:ctrlPr>
                        </m:dPr>
                        <m:e>
                          <m:r>
                            <a:rPr lang="en-US" sz="1400" i="1">
                              <a:latin typeface="Cambria Math" panose="02040503050406030204" pitchFamily="18" charset="0"/>
                            </a:rPr>
                            <m:t>𝜃</m:t>
                          </m:r>
                          <m:r>
                            <a:rPr lang="en-VN" sz="1400">
                              <a:latin typeface="Cambria Math" panose="02040503050406030204" pitchFamily="18" charset="0"/>
                            </a:rPr>
                            <m:t>∣</m:t>
                          </m:r>
                          <m:r>
                            <a:rPr lang="en-VN" sz="1400" i="1">
                              <a:latin typeface="Cambria Math" panose="02040503050406030204" pitchFamily="18" charset="0"/>
                            </a:rPr>
                            <m:t>𝑥</m:t>
                          </m:r>
                        </m:e>
                      </m:d>
                      <m:r>
                        <a:rPr lang="vi-VN" sz="1400" smtClean="0">
                          <a:latin typeface="Cambria Math" panose="02040503050406030204" pitchFamily="18" charset="0"/>
                        </a:rPr>
                        <m:t>=</m:t>
                      </m:r>
                      <m:nary>
                        <m:naryPr>
                          <m:chr m:val="∏"/>
                          <m:limLoc m:val="undOvr"/>
                          <m:ctrlPr>
                            <a:rPr lang="en-US" sz="1400" i="1">
                              <a:latin typeface="Cambria Math" panose="02040503050406030204" pitchFamily="18" charset="0"/>
                            </a:rPr>
                          </m:ctrlPr>
                        </m:naryPr>
                        <m:sub>
                          <m:r>
                            <a:rPr lang="en-US" sz="1400" i="1">
                              <a:latin typeface="Cambria Math" panose="02040503050406030204" pitchFamily="18" charset="0"/>
                            </a:rPr>
                            <m:t>𝑛</m:t>
                          </m:r>
                          <m:r>
                            <a:rPr lang="en-US" sz="1400" i="1">
                              <a:latin typeface="Cambria Math" panose="02040503050406030204" pitchFamily="18" charset="0"/>
                            </a:rPr>
                            <m:t>=1</m:t>
                          </m:r>
                        </m:sub>
                        <m:sup>
                          <m:r>
                            <a:rPr lang="en-US" sz="1400" i="1">
                              <a:latin typeface="Cambria Math" panose="02040503050406030204" pitchFamily="18" charset="0"/>
                            </a:rPr>
                            <m:t>𝑁</m:t>
                          </m:r>
                        </m:sup>
                        <m:e>
                          <m:nary>
                            <m:naryPr>
                              <m:chr m:val="∑"/>
                              <m:limLoc m:val="undOvr"/>
                              <m:ctrlPr>
                                <a:rPr lang="en-US" sz="1400" i="1">
                                  <a:solidFill>
                                    <a:schemeClr val="accent6">
                                      <a:lumMod val="75000"/>
                                    </a:schemeClr>
                                  </a:solidFill>
                                  <a:latin typeface="Cambria Math" panose="02040503050406030204" pitchFamily="18" charset="0"/>
                                </a:rPr>
                              </m:ctrlPr>
                            </m:naryPr>
                            <m:sub>
                              <m:r>
                                <a:rPr lang="en-US" sz="1400" i="1">
                                  <a:solidFill>
                                    <a:schemeClr val="accent6">
                                      <a:lumMod val="75000"/>
                                    </a:schemeClr>
                                  </a:solidFill>
                                  <a:latin typeface="Cambria Math" panose="02040503050406030204" pitchFamily="18" charset="0"/>
                                </a:rPr>
                                <m:t>𝑘</m:t>
                              </m:r>
                              <m:r>
                                <a:rPr lang="en-US" sz="1400" i="1">
                                  <a:solidFill>
                                    <a:schemeClr val="accent6">
                                      <a:lumMod val="75000"/>
                                    </a:schemeClr>
                                  </a:solidFill>
                                  <a:latin typeface="Cambria Math" panose="02040503050406030204" pitchFamily="18" charset="0"/>
                                </a:rPr>
                                <m:t>=1</m:t>
                              </m:r>
                            </m:sub>
                            <m:sup>
                              <m:r>
                                <a:rPr lang="en-US" sz="1400" i="1">
                                  <a:solidFill>
                                    <a:schemeClr val="accent6">
                                      <a:lumMod val="75000"/>
                                    </a:schemeClr>
                                  </a:solidFill>
                                  <a:latin typeface="Cambria Math" panose="02040503050406030204" pitchFamily="18" charset="0"/>
                                </a:rPr>
                                <m:t>𝐾</m:t>
                              </m:r>
                            </m:sup>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𝜋</m:t>
                                  </m:r>
                                </m:e>
                                <m:sub>
                                  <m:r>
                                    <a:rPr lang="en-US" sz="1400" i="1">
                                      <a:solidFill>
                                        <a:schemeClr val="accent6">
                                          <a:lumMod val="75000"/>
                                        </a:schemeClr>
                                      </a:solidFill>
                                      <a:latin typeface="Cambria Math" panose="02040503050406030204" pitchFamily="18" charset="0"/>
                                    </a:rPr>
                                    <m:t>𝑘</m:t>
                                  </m:r>
                                </m:sub>
                              </m:sSub>
                            </m:e>
                          </m:nary>
                        </m:e>
                      </m:nary>
                      <m:r>
                        <a:rPr lang="en-US" sz="1400" i="1" smtClean="0">
                          <a:solidFill>
                            <a:schemeClr val="accent6">
                              <a:lumMod val="75000"/>
                            </a:schemeClr>
                          </a:solidFill>
                          <a:latin typeface="Cambria Math" panose="02040503050406030204" pitchFamily="18" charset="0"/>
                        </a:rPr>
                        <m:t>𝒩</m:t>
                      </m:r>
                      <m:d>
                        <m:dPr>
                          <m:ctrlPr>
                            <a:rPr lang="en-US" sz="1400" i="1">
                              <a:solidFill>
                                <a:schemeClr val="accent6">
                                  <a:lumMod val="75000"/>
                                </a:schemeClr>
                              </a:solidFill>
                              <a:latin typeface="Cambria Math" panose="02040503050406030204" pitchFamily="18" charset="0"/>
                            </a:rPr>
                          </m:ctrlPr>
                        </m:dPr>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𝑥</m:t>
                              </m:r>
                            </m:e>
                            <m:sub>
                              <m:r>
                                <a:rPr lang="en-US" sz="1400" i="1">
                                  <a:solidFill>
                                    <a:schemeClr val="accent6">
                                      <a:lumMod val="75000"/>
                                    </a:schemeClr>
                                  </a:solidFill>
                                  <a:latin typeface="Cambria Math" panose="02040503050406030204" pitchFamily="18" charset="0"/>
                                </a:rPr>
                                <m:t>𝑛</m:t>
                              </m:r>
                            </m:sub>
                          </m:sSub>
                          <m:r>
                            <a:rPr lang="en-US" sz="1400" i="1">
                              <a:solidFill>
                                <a:schemeClr val="accent6">
                                  <a:lumMod val="75000"/>
                                </a:schemeClr>
                              </a:solidFill>
                              <a:latin typeface="Cambria Math" panose="02040503050406030204" pitchFamily="18" charset="0"/>
                            </a:rPr>
                            <m:t>∣</m:t>
                          </m:r>
                          <m:sSub>
                            <m:sSubPr>
                              <m:ctrlPr>
                                <a:rPr lang="en-US" sz="1400" b="0" i="1">
                                  <a:solidFill>
                                    <a:schemeClr val="accent6">
                                      <a:lumMod val="75000"/>
                                    </a:schemeClr>
                                  </a:solidFill>
                                  <a:latin typeface="Cambria Math" panose="02040503050406030204" pitchFamily="18" charset="0"/>
                                </a:rPr>
                              </m:ctrlPr>
                            </m:sSubPr>
                            <m:e>
                              <m:r>
                                <a:rPr lang="en-US" sz="1400" b="0" i="1">
                                  <a:solidFill>
                                    <a:schemeClr val="accent6">
                                      <a:lumMod val="75000"/>
                                    </a:schemeClr>
                                  </a:solidFill>
                                  <a:latin typeface="Cambria Math" panose="02040503050406030204" pitchFamily="18" charset="0"/>
                                </a:rPr>
                                <m:t>𝜇</m:t>
                              </m:r>
                            </m:e>
                            <m:sub>
                              <m:r>
                                <a:rPr lang="en-US" sz="1400" b="0" i="1">
                                  <a:solidFill>
                                    <a:schemeClr val="accent6">
                                      <a:lumMod val="75000"/>
                                    </a:schemeClr>
                                  </a:solidFill>
                                  <a:latin typeface="Cambria Math" panose="02040503050406030204" pitchFamily="18" charset="0"/>
                                </a:rPr>
                                <m:t>𝑘</m:t>
                              </m:r>
                            </m:sub>
                          </m:sSub>
                          <m:r>
                            <a:rPr lang="vi-VN" sz="1400" b="0" i="1" smtClean="0">
                              <a:solidFill>
                                <a:schemeClr val="accent6">
                                  <a:lumMod val="75000"/>
                                </a:schemeClr>
                              </a:solidFill>
                              <a:latin typeface="Cambria Math" panose="02040503050406030204" pitchFamily="18" charset="0"/>
                            </a:rPr>
                            <m:t>,</m:t>
                          </m:r>
                          <m:sSubSup>
                            <m:sSubSupPr>
                              <m:ctrlPr>
                                <a:rPr lang="en-US" sz="1400" b="0" i="1">
                                  <a:solidFill>
                                    <a:schemeClr val="accent6">
                                      <a:lumMod val="75000"/>
                                    </a:schemeClr>
                                  </a:solidFill>
                                  <a:latin typeface="Cambria Math" panose="02040503050406030204" pitchFamily="18" charset="0"/>
                                </a:rPr>
                              </m:ctrlPr>
                            </m:sSubSupPr>
                            <m:e>
                              <m:r>
                                <a:rPr lang="en-US" sz="1400" b="0" i="1">
                                  <a:solidFill>
                                    <a:schemeClr val="accent6">
                                      <a:lumMod val="75000"/>
                                    </a:schemeClr>
                                  </a:solidFill>
                                  <a:latin typeface="Cambria Math" panose="02040503050406030204" pitchFamily="18" charset="0"/>
                                </a:rPr>
                                <m:t>𝜎</m:t>
                              </m:r>
                            </m:e>
                            <m:sub>
                              <m:r>
                                <a:rPr lang="en-US" sz="1400" b="0" i="1">
                                  <a:solidFill>
                                    <a:schemeClr val="accent6">
                                      <a:lumMod val="75000"/>
                                    </a:schemeClr>
                                  </a:solidFill>
                                  <a:latin typeface="Cambria Math" panose="02040503050406030204" pitchFamily="18" charset="0"/>
                                </a:rPr>
                                <m:t>𝑘</m:t>
                              </m:r>
                            </m:sub>
                            <m:sup>
                              <m:r>
                                <a:rPr lang="en-US" sz="1400" b="0" i="1">
                                  <a:solidFill>
                                    <a:schemeClr val="accent6">
                                      <a:lumMod val="75000"/>
                                    </a:schemeClr>
                                  </a:solidFill>
                                  <a:latin typeface="Cambria Math" panose="02040503050406030204" pitchFamily="18" charset="0"/>
                                </a:rPr>
                                <m:t>2</m:t>
                              </m:r>
                            </m:sup>
                          </m:sSubSup>
                        </m:e>
                      </m:d>
                    </m:oMath>
                  </m:oMathPara>
                </a14:m>
                <a:endParaRPr/>
              </a:p>
            </p:txBody>
          </p:sp>
        </mc:Choice>
        <mc:Fallback xmlns="">
          <p:sp>
            <p:nvSpPr>
              <p:cNvPr id="40" name="TextBox 39">
                <a:extLst>
                  <a:ext uri="{FF2B5EF4-FFF2-40B4-BE49-F238E27FC236}">
                    <a16:creationId xmlns:a16="http://schemas.microsoft.com/office/drawing/2014/main" id="{D8A8C116-CF02-0B56-C5A0-AA2977026245}"/>
                  </a:ext>
                </a:extLst>
              </p:cNvPr>
              <p:cNvSpPr txBox="1">
                <a:spLocks noRot="1" noChangeAspect="1" noMove="1" noResize="1" noEditPoints="1" noAdjustHandles="1" noChangeArrowheads="1" noChangeShapeType="1" noTextEdit="1"/>
              </p:cNvSpPr>
              <p:nvPr/>
            </p:nvSpPr>
            <p:spPr>
              <a:xfrm>
                <a:off x="976625" y="1966578"/>
                <a:ext cx="2869375" cy="605807"/>
              </a:xfrm>
              <a:prstGeom prst="rect">
                <a:avLst/>
              </a:prstGeom>
              <a:blipFill>
                <a:blip r:embed="rId4"/>
                <a:stretch>
                  <a:fillRect t="-116667" r="-3524" b="-179167"/>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D03895B-1301-6392-8C5D-43E85CAF0BBE}"/>
                  </a:ext>
                </a:extLst>
              </p:cNvPr>
              <p:cNvSpPr txBox="1"/>
              <p:nvPr/>
            </p:nvSpPr>
            <p:spPr>
              <a:xfrm>
                <a:off x="8178506" y="4714818"/>
                <a:ext cx="2769833" cy="1446550"/>
              </a:xfrm>
              <a:prstGeom prst="rect">
                <a:avLst/>
              </a:prstGeom>
              <a:noFill/>
            </p:spPr>
            <p:txBody>
              <a:bodyPr wrap="square">
                <a:spAutoFit/>
              </a:bodyPr>
              <a:lstStyle/>
              <a:p>
                <a:r>
                  <a:rPr lang="vi-VN" sz="1400" b="1" dirty="0">
                    <a:solidFill>
                      <a:srgbClr val="FF0000"/>
                    </a:solidFill>
                    <a:latin typeface="Arial"/>
                  </a:rPr>
                  <a:t>=&gt; Bế tắc</a:t>
                </a:r>
                <a:br>
                  <a:rPr lang="vi-VN" sz="1400" dirty="0">
                    <a:solidFill>
                      <a:srgbClr val="444B52"/>
                    </a:solidFill>
                    <a:latin typeface="Arial"/>
                  </a:rPr>
                </a:br>
                <a:r>
                  <a:rPr lang="vi-VN" sz="1400" dirty="0">
                    <a:solidFill>
                      <a:srgbClr val="444B52"/>
                    </a:solidFill>
                    <a:latin typeface="Arial"/>
                  </a:rPr>
                  <a:t>- Các đạo hàm riêng theo mỗi biến </a:t>
                </a:r>
                <a14:m>
                  <m:oMath xmlns:m="http://schemas.openxmlformats.org/officeDocument/2006/math">
                    <m:sSub>
                      <m:sSubPr>
                        <m:ctrlPr>
                          <a:rPr lang="en-US" sz="1400" b="1" i="1">
                            <a:solidFill>
                              <a:schemeClr val="accent6">
                                <a:lumMod val="75000"/>
                              </a:schemeClr>
                            </a:solidFill>
                            <a:latin typeface="Cambria Math" panose="02040503050406030204" pitchFamily="18" charset="0"/>
                          </a:rPr>
                        </m:ctrlPr>
                      </m:sSubPr>
                      <m:e>
                        <m:r>
                          <a:rPr lang="en-US" sz="1400" b="1" i="1">
                            <a:solidFill>
                              <a:schemeClr val="accent6">
                                <a:lumMod val="75000"/>
                              </a:schemeClr>
                            </a:solidFill>
                            <a:latin typeface="Cambria Math" panose="02040503050406030204" pitchFamily="18" charset="0"/>
                          </a:rPr>
                          <m:t>𝝅</m:t>
                        </m:r>
                      </m:e>
                      <m:sub>
                        <m:r>
                          <a:rPr lang="en-US" sz="1400" b="1" i="1">
                            <a:solidFill>
                              <a:schemeClr val="accent6">
                                <a:lumMod val="75000"/>
                              </a:schemeClr>
                            </a:solidFill>
                            <a:latin typeface="Cambria Math" panose="02040503050406030204" pitchFamily="18" charset="0"/>
                          </a:rPr>
                          <m:t>𝒌</m:t>
                        </m:r>
                      </m:sub>
                    </m:sSub>
                  </m:oMath>
                </a14:m>
                <a:r>
                  <a:rPr lang="vi-VN" sz="1400" dirty="0">
                    <a:solidFill>
                      <a:srgbClr val="444B52"/>
                    </a:solidFill>
                    <a:latin typeface="Arial"/>
                    <a:sym typeface="Wingdings" pitchFamily="2" charset="2"/>
                  </a:rPr>
                  <a:t>,</a:t>
                </a:r>
                <a:r>
                  <a:rPr lang="vi-VN" sz="1400" b="1" dirty="0">
                    <a:solidFill>
                      <a:srgbClr val="444B52"/>
                    </a:solidFill>
                    <a:latin typeface="Arial"/>
                    <a:sym typeface="Wingdings" pitchFamily="2" charset="2"/>
                  </a:rPr>
                  <a:t> </a:t>
                </a:r>
                <a14:m>
                  <m:oMath xmlns:m="http://schemas.openxmlformats.org/officeDocument/2006/math">
                    <m:sSub>
                      <m:sSubPr>
                        <m:ctrlPr>
                          <a:rPr lang="en-US" sz="1400" b="1" i="1">
                            <a:solidFill>
                              <a:schemeClr val="tx2">
                                <a:lumMod val="60000"/>
                                <a:lumOff val="40000"/>
                              </a:schemeClr>
                            </a:solidFill>
                            <a:latin typeface="Cambria Math" panose="02040503050406030204" pitchFamily="18" charset="0"/>
                          </a:rPr>
                        </m:ctrlPr>
                      </m:sSubPr>
                      <m:e>
                        <m:r>
                          <a:rPr lang="en-US" sz="1400" b="1" i="1">
                            <a:solidFill>
                              <a:schemeClr val="tx2">
                                <a:lumMod val="60000"/>
                                <a:lumOff val="40000"/>
                              </a:schemeClr>
                            </a:solidFill>
                            <a:latin typeface="Cambria Math" panose="02040503050406030204" pitchFamily="18" charset="0"/>
                          </a:rPr>
                          <m:t>𝝁</m:t>
                        </m:r>
                      </m:e>
                      <m:sub>
                        <m:r>
                          <a:rPr lang="en-US" sz="1400" b="1" i="1">
                            <a:solidFill>
                              <a:schemeClr val="tx2">
                                <a:lumMod val="60000"/>
                                <a:lumOff val="40000"/>
                              </a:schemeClr>
                            </a:solidFill>
                            <a:latin typeface="Cambria Math" panose="02040503050406030204" pitchFamily="18" charset="0"/>
                          </a:rPr>
                          <m:t>𝒌</m:t>
                        </m:r>
                      </m:sub>
                    </m:sSub>
                  </m:oMath>
                </a14:m>
                <a:r>
                  <a:rPr lang="vi-VN" sz="1400" dirty="0">
                    <a:solidFill>
                      <a:srgbClr val="444B52"/>
                    </a:solidFill>
                    <a:latin typeface="Arial"/>
                    <a:sym typeface="Wingdings" pitchFamily="2" charset="2"/>
                  </a:rPr>
                  <a:t>,</a:t>
                </a:r>
                <a:r>
                  <a:rPr lang="vi-VN" sz="1400" b="1" dirty="0">
                    <a:solidFill>
                      <a:srgbClr val="444B52"/>
                    </a:solidFill>
                    <a:latin typeface="Arial"/>
                    <a:sym typeface="Wingdings" pitchFamily="2" charset="2"/>
                  </a:rPr>
                  <a:t> </a:t>
                </a:r>
                <a14:m>
                  <m:oMath xmlns:m="http://schemas.openxmlformats.org/officeDocument/2006/math">
                    <m:sSub>
                      <m:sSubPr>
                        <m:ctrlPr>
                          <a:rPr lang="en-US" sz="1400" b="1" i="1" dirty="0">
                            <a:solidFill>
                              <a:srgbClr val="00B050"/>
                            </a:solidFill>
                            <a:latin typeface="Cambria Math" panose="02040503050406030204" pitchFamily="18" charset="0"/>
                          </a:rPr>
                        </m:ctrlPr>
                      </m:sSubPr>
                      <m:e>
                        <m:r>
                          <a:rPr lang="en-US" sz="1400" b="1" i="1" dirty="0">
                            <a:solidFill>
                              <a:srgbClr val="00B050"/>
                            </a:solidFill>
                            <a:latin typeface="Cambria Math" panose="02040503050406030204" pitchFamily="18" charset="0"/>
                          </a:rPr>
                          <m:t>𝝈</m:t>
                        </m:r>
                      </m:e>
                      <m:sub>
                        <m:r>
                          <a:rPr lang="en-US" sz="1400" b="1" i="1">
                            <a:solidFill>
                              <a:srgbClr val="00B050"/>
                            </a:solidFill>
                            <a:latin typeface="Cambria Math" panose="02040503050406030204" pitchFamily="18" charset="0"/>
                          </a:rPr>
                          <m:t>𝒌</m:t>
                        </m:r>
                      </m:sub>
                    </m:sSub>
                  </m:oMath>
                </a14:m>
                <a:r>
                  <a:rPr lang="vi-VN" sz="1400" dirty="0">
                    <a:solidFill>
                      <a:srgbClr val="444B52"/>
                    </a:solidFill>
                    <a:latin typeface="Arial"/>
                  </a:rPr>
                  <a:t> không thể rút từng biến sang một vế để tìm nghiệm đóng</a:t>
                </a:r>
              </a:p>
              <a:p>
                <a:endParaRPr lang="en-VN" dirty="0"/>
              </a:p>
            </p:txBody>
          </p:sp>
        </mc:Choice>
        <mc:Fallback xmlns="">
          <p:sp>
            <p:nvSpPr>
              <p:cNvPr id="7" name="TextBox 6">
                <a:extLst>
                  <a:ext uri="{FF2B5EF4-FFF2-40B4-BE49-F238E27FC236}">
                    <a16:creationId xmlns:a16="http://schemas.microsoft.com/office/drawing/2014/main" id="{6D03895B-1301-6392-8C5D-43E85CAF0BBE}"/>
                  </a:ext>
                </a:extLst>
              </p:cNvPr>
              <p:cNvSpPr txBox="1">
                <a:spLocks noRot="1" noChangeAspect="1" noMove="1" noResize="1" noEditPoints="1" noAdjustHandles="1" noChangeArrowheads="1" noChangeShapeType="1" noTextEdit="1"/>
              </p:cNvSpPr>
              <p:nvPr/>
            </p:nvSpPr>
            <p:spPr>
              <a:xfrm>
                <a:off x="8178506" y="4714818"/>
                <a:ext cx="2769833" cy="1446550"/>
              </a:xfrm>
              <a:prstGeom prst="rect">
                <a:avLst/>
              </a:prstGeom>
              <a:blipFill>
                <a:blip r:embed="rId5"/>
                <a:stretch>
                  <a:fillRect l="-913" t="-870"/>
                </a:stretch>
              </a:blipFill>
            </p:spPr>
            <p:txBody>
              <a:bodyPr/>
              <a:lstStyle/>
              <a:p>
                <a:r>
                  <a:rPr lang="en-VN">
                    <a:noFill/>
                  </a:rPr>
                  <a:t> </a:t>
                </a:r>
              </a:p>
            </p:txBody>
          </p:sp>
        </mc:Fallback>
      </mc:AlternateContent>
      <p:sp>
        <p:nvSpPr>
          <p:cNvPr id="10" name="TextBox 9">
            <a:extLst>
              <a:ext uri="{FF2B5EF4-FFF2-40B4-BE49-F238E27FC236}">
                <a16:creationId xmlns:a16="http://schemas.microsoft.com/office/drawing/2014/main" id="{B69EBADD-6524-8194-2A86-D9DD670C6FD9}"/>
              </a:ext>
            </a:extLst>
          </p:cNvPr>
          <p:cNvSpPr txBox="1"/>
          <p:nvPr/>
        </p:nvSpPr>
        <p:spPr>
          <a:xfrm>
            <a:off x="841955" y="3652137"/>
            <a:ext cx="2769833" cy="307777"/>
          </a:xfrm>
          <a:prstGeom prst="rect">
            <a:avLst/>
          </a:prstGeom>
          <a:noFill/>
        </p:spPr>
        <p:txBody>
          <a:bodyPr wrap="square">
            <a:spAutoFit/>
          </a:bodyPr>
          <a:lstStyle/>
          <a:p>
            <a:r>
              <a:rPr lang="vi-VN" sz="1400" dirty="0">
                <a:solidFill>
                  <a:srgbClr val="444B52"/>
                </a:solidFill>
                <a:latin typeface="Arial"/>
              </a:rPr>
              <a:t>- Ví dụ lấy đạo hàm riêng biến </a:t>
            </a:r>
            <a:r>
              <a:rPr lang="vi-VN" sz="1400" dirty="0">
                <a:solidFill>
                  <a:srgbClr val="0070C0"/>
                </a:solidFill>
                <a:latin typeface="Arial"/>
              </a:rPr>
              <a:t>𝝁</a:t>
            </a:r>
            <a:endParaRPr lang="en-VN" sz="1800" dirty="0">
              <a:solidFill>
                <a:srgbClr val="0070C0"/>
              </a:solidFill>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B69C9A8-0076-CA18-40A8-1CA5B958AA3C}"/>
                  </a:ext>
                </a:extLst>
              </p:cNvPr>
              <p:cNvSpPr txBox="1"/>
              <p:nvPr/>
            </p:nvSpPr>
            <p:spPr>
              <a:xfrm>
                <a:off x="3611788" y="3806026"/>
                <a:ext cx="3962620" cy="3050194"/>
              </a:xfrm>
              <a:prstGeom prst="rect">
                <a:avLst/>
              </a:prstGeom>
              <a:noFill/>
            </p:spPr>
            <p:txBody>
              <a:bodyPr wrap="square">
                <a:spAutoFit/>
              </a:bodyPr>
              <a:lstStyle/>
              <a:p>
                <a:pPr/>
                <a14:m>
                  <m:oMathPara xmlns:m="http://schemas.openxmlformats.org/officeDocument/2006/math">
                    <m:oMath>
                      <m:sSub>
                        <m:sSubPr>
                          <m:ctrlPr>
                            <a:rPr lang="en-VN" sz="1400" b="1" i="1" smtClean="0">
                              <a:solidFill>
                                <a:srgbClr val="0070C0"/>
                              </a:solidFill>
                              <a:latin typeface="Cambria Math" panose="02040503050406030204" pitchFamily="18" charset="0"/>
                            </a:rPr>
                          </m:ctrlPr>
                        </m:sSubPr>
                        <m:e>
                          <m:r>
                            <a:rPr lang="en-VN" sz="1400" b="1" i="1" smtClean="0">
                              <a:solidFill>
                                <a:srgbClr val="0070C0"/>
                              </a:solidFill>
                              <a:latin typeface="Cambria Math" panose="02040503050406030204" pitchFamily="18" charset="0"/>
                            </a:rPr>
                            <m:t>𝝁</m:t>
                          </m:r>
                        </m:e>
                        <m:sub>
                          <m:r>
                            <a:rPr lang="en-VN" sz="1400" b="1" i="1">
                              <a:solidFill>
                                <a:srgbClr val="0070C0"/>
                              </a:solidFill>
                              <a:latin typeface="Cambria Math" panose="02040503050406030204" pitchFamily="18" charset="0"/>
                            </a:rPr>
                            <m:t>𝒋</m:t>
                          </m:r>
                        </m:sub>
                      </m:sSub>
                      <m:r>
                        <a:rPr lang="en-VN" sz="1400" i="0">
                          <a:latin typeface="Cambria Math" panose="02040503050406030204" pitchFamily="18" charset="0"/>
                        </a:rPr>
                        <m:t>=</m:t>
                      </m:r>
                      <m:f>
                        <m:fPr>
                          <m:ctrlPr>
                            <a:rPr lang="en-VN" sz="1400" i="1">
                              <a:latin typeface="Cambria Math" panose="02040503050406030204" pitchFamily="18" charset="0"/>
                            </a:rPr>
                          </m:ctrlPr>
                        </m:fPr>
                        <m:num>
                          <m:nary>
                            <m:naryPr>
                              <m:chr m:val="∑"/>
                              <m:limLoc m:val="undOvr"/>
                              <m:ctrlPr>
                                <a:rPr lang="en-VN" sz="1400" i="1">
                                  <a:latin typeface="Cambria Math" panose="02040503050406030204" pitchFamily="18" charset="0"/>
                                </a:rPr>
                              </m:ctrlPr>
                            </m:naryPr>
                            <m:sub>
                              <m:r>
                                <a:rPr lang="en-VN" sz="1400" i="1">
                                  <a:latin typeface="Cambria Math" panose="02040503050406030204" pitchFamily="18" charset="0"/>
                                </a:rPr>
                                <m:t>𝑖</m:t>
                              </m:r>
                              <m:r>
                                <a:rPr lang="en-VN" sz="1400" i="0">
                                  <a:latin typeface="Cambria Math" panose="02040503050406030204" pitchFamily="18" charset="0"/>
                                </a:rPr>
                                <m:t>=1</m:t>
                              </m:r>
                            </m:sub>
                            <m:sup>
                              <m:r>
                                <a:rPr lang="en-VN" sz="1400" i="1">
                                  <a:latin typeface="Cambria Math" panose="02040503050406030204" pitchFamily="18" charset="0"/>
                                </a:rPr>
                                <m:t>𝑁</m:t>
                              </m:r>
                            </m:sup>
                            <m:e>
                              <m:d>
                                <m:dPr>
                                  <m:begChr m:val="["/>
                                  <m:endChr m:val="]"/>
                                  <m:ctrlPr>
                                    <a:rPr lang="en-VN" sz="1400" i="1">
                                      <a:latin typeface="Cambria Math" panose="02040503050406030204" pitchFamily="18" charset="0"/>
                                    </a:rPr>
                                  </m:ctrlPr>
                                </m:dPr>
                                <m:e>
                                  <m:f>
                                    <m:fPr>
                                      <m:ctrlPr>
                                        <a:rPr lang="en-VN" sz="1400" i="1">
                                          <a:latin typeface="Cambria Math" panose="02040503050406030204" pitchFamily="18" charset="0"/>
                                        </a:rPr>
                                      </m:ctrlPr>
                                    </m:fPr>
                                    <m:num>
                                      <m:sSub>
                                        <m:sSubPr>
                                          <m:ctrlPr>
                                            <a:rPr lang="en-VN" sz="1400" i="1">
                                              <a:latin typeface="Cambria Math" panose="02040503050406030204" pitchFamily="18" charset="0"/>
                                            </a:rPr>
                                          </m:ctrlPr>
                                        </m:sSubPr>
                                        <m:e>
                                          <m:r>
                                            <a:rPr lang="en-VN" sz="1400" i="1">
                                              <a:latin typeface="Cambria Math" panose="02040503050406030204" pitchFamily="18" charset="0"/>
                                            </a:rPr>
                                            <m:t>𝜋</m:t>
                                          </m:r>
                                        </m:e>
                                        <m:sub>
                                          <m:r>
                                            <a:rPr lang="en-VN" sz="1400" i="1">
                                              <a:latin typeface="Cambria Math" panose="02040503050406030204" pitchFamily="18" charset="0"/>
                                            </a:rPr>
                                            <m:t>𝑗</m:t>
                                          </m:r>
                                        </m:sub>
                                      </m:sSub>
                                      <m:f>
                                        <m:fPr>
                                          <m:ctrlPr>
                                            <a:rPr lang="en-VN" sz="1400" i="0">
                                              <a:latin typeface="Cambria Math" panose="02040503050406030204" pitchFamily="18" charset="0"/>
                                            </a:rPr>
                                          </m:ctrlPr>
                                        </m:fPr>
                                        <m:num>
                                          <m:r>
                                            <a:rPr lang="en-VN" sz="1400" i="0">
                                              <a:latin typeface="Cambria Math" panose="02040503050406030204" pitchFamily="18" charset="0"/>
                                            </a:rPr>
                                            <m:t>1</m:t>
                                          </m:r>
                                        </m:num>
                                        <m:den>
                                          <m:rad>
                                            <m:radPr>
                                              <m:degHide m:val="on"/>
                                              <m:ctrlPr>
                                                <a:rPr lang="en-VN" sz="1400" i="1">
                                                  <a:latin typeface="Cambria Math" panose="02040503050406030204" pitchFamily="18" charset="0"/>
                                                </a:rPr>
                                              </m:ctrlPr>
                                            </m:radPr>
                                            <m:deg/>
                                            <m:e>
                                              <m:r>
                                                <a:rPr lang="en-VN" sz="1400" i="0">
                                                  <a:latin typeface="Cambria Math" panose="02040503050406030204" pitchFamily="18" charset="0"/>
                                                </a:rPr>
                                                <m:t>2</m:t>
                                              </m:r>
                                              <m:r>
                                                <a:rPr lang="en-VN" sz="1400" i="1">
                                                  <a:latin typeface="Cambria Math" panose="02040503050406030204" pitchFamily="18" charset="0"/>
                                                </a:rPr>
                                                <m:t>𝜋</m:t>
                                              </m:r>
                                              <m:sSubSup>
                                                <m:sSubSupPr>
                                                  <m:ctrlPr>
                                                    <a:rPr lang="en-VN" sz="1400" i="1">
                                                      <a:latin typeface="Cambria Math" panose="02040503050406030204" pitchFamily="18" charset="0"/>
                                                    </a:rPr>
                                                  </m:ctrlPr>
                                                </m:sSubSupPr>
                                                <m:e>
                                                  <m:r>
                                                    <a:rPr lang="en-VN" sz="1400" i="1">
                                                      <a:latin typeface="Cambria Math" panose="02040503050406030204" pitchFamily="18" charset="0"/>
                                                    </a:rPr>
                                                    <m:t>𝜎</m:t>
                                                  </m:r>
                                                </m:e>
                                                <m:sub>
                                                  <m:r>
                                                    <a:rPr lang="en-VN" sz="1400" i="1">
                                                      <a:latin typeface="Cambria Math" panose="02040503050406030204" pitchFamily="18" charset="0"/>
                                                    </a:rPr>
                                                    <m:t>𝑗</m:t>
                                                  </m:r>
                                                </m:sub>
                                                <m:sup>
                                                  <m:r>
                                                    <a:rPr lang="en-VN" sz="1400" i="0">
                                                      <a:latin typeface="Cambria Math" panose="02040503050406030204" pitchFamily="18" charset="0"/>
                                                    </a:rPr>
                                                    <m:t>2</m:t>
                                                  </m:r>
                                                </m:sup>
                                              </m:sSubSup>
                                            </m:e>
                                          </m:rad>
                                        </m:den>
                                      </m:f>
                                      <m:func>
                                        <m:funcPr>
                                          <m:ctrlPr>
                                            <a:rPr lang="en-VN" sz="1400" i="0">
                                              <a:latin typeface="Cambria Math" panose="02040503050406030204" pitchFamily="18" charset="0"/>
                                            </a:rPr>
                                          </m:ctrlPr>
                                        </m:funcPr>
                                        <m:fName>
                                          <m:r>
                                            <m:rPr>
                                              <m:sty m:val="p"/>
                                            </m:rPr>
                                            <a:rPr lang="en-VN" sz="1400" i="0">
                                              <a:latin typeface="Cambria Math" panose="02040503050406030204" pitchFamily="18" charset="0"/>
                                            </a:rPr>
                                            <m:t>exp</m:t>
                                          </m:r>
                                        </m:fName>
                                        <m:e>
                                          <m:d>
                                            <m:dPr>
                                              <m:ctrlPr>
                                                <a:rPr lang="en-VN" sz="1400" i="0">
                                                  <a:latin typeface="Cambria Math" panose="02040503050406030204" pitchFamily="18" charset="0"/>
                                                </a:rPr>
                                              </m:ctrlPr>
                                            </m:dPr>
                                            <m:e>
                                              <m:r>
                                                <a:rPr lang="en-VN" sz="1400" i="0">
                                                  <a:latin typeface="Cambria Math" panose="02040503050406030204" pitchFamily="18" charset="0"/>
                                                </a:rPr>
                                                <m:t>−</m:t>
                                              </m:r>
                                              <m:f>
                                                <m:fPr>
                                                  <m:ctrlPr>
                                                    <a:rPr lang="en-VN" sz="1400" i="1">
                                                      <a:latin typeface="Cambria Math" panose="02040503050406030204" pitchFamily="18" charset="0"/>
                                                    </a:rPr>
                                                  </m:ctrlPr>
                                                </m:fPr>
                                                <m:num>
                                                  <m:sSup>
                                                    <m:sSupPr>
                                                      <m:ctrlPr>
                                                        <a:rPr lang="en-VN" sz="1400" i="1">
                                                          <a:latin typeface="Cambria Math" panose="02040503050406030204" pitchFamily="18" charset="0"/>
                                                        </a:rPr>
                                                      </m:ctrlPr>
                                                    </m:sSupPr>
                                                    <m:e>
                                                      <m:d>
                                                        <m:dPr>
                                                          <m:ctrlPr>
                                                            <a:rPr lang="en-VN" sz="1400" i="1">
                                                              <a:latin typeface="Cambria Math" panose="02040503050406030204" pitchFamily="18" charset="0"/>
                                                            </a:rPr>
                                                          </m:ctrlPr>
                                                        </m:dPr>
                                                        <m:e>
                                                          <m:sSub>
                                                            <m:sSubPr>
                                                              <m:ctrlPr>
                                                                <a:rPr lang="en-VN" sz="1400" i="1">
                                                                  <a:latin typeface="Cambria Math" panose="02040503050406030204" pitchFamily="18" charset="0"/>
                                                                </a:rPr>
                                                              </m:ctrlPr>
                                                            </m:sSubPr>
                                                            <m:e>
                                                              <m:r>
                                                                <a:rPr lang="en-VN" sz="1400" i="1">
                                                                  <a:latin typeface="Cambria Math" panose="02040503050406030204" pitchFamily="18" charset="0"/>
                                                                </a:rPr>
                                                                <m:t>𝑥</m:t>
                                                              </m:r>
                                                            </m:e>
                                                            <m:sub>
                                                              <m:r>
                                                                <a:rPr lang="en-VN" sz="1400" i="1">
                                                                  <a:latin typeface="Cambria Math" panose="02040503050406030204" pitchFamily="18" charset="0"/>
                                                                </a:rPr>
                                                                <m:t>𝑖</m:t>
                                                              </m:r>
                                                            </m:sub>
                                                          </m:sSub>
                                                          <m:r>
                                                            <a:rPr lang="en-VN" sz="1400" i="0">
                                                              <a:latin typeface="Cambria Math" panose="02040503050406030204" pitchFamily="18" charset="0"/>
                                                            </a:rPr>
                                                            <m:t>−</m:t>
                                                          </m:r>
                                                          <m:sSub>
                                                            <m:sSubPr>
                                                              <m:ctrlPr>
                                                                <a:rPr lang="en-VN" sz="1400" b="1" i="1" smtClean="0">
                                                                  <a:solidFill>
                                                                    <a:srgbClr val="0070C0"/>
                                                                  </a:solidFill>
                                                                  <a:latin typeface="Cambria Math" panose="02040503050406030204" pitchFamily="18" charset="0"/>
                                                                </a:rPr>
                                                              </m:ctrlPr>
                                                            </m:sSubPr>
                                                            <m:e>
                                                              <m:r>
                                                                <a:rPr lang="en-VN" sz="1400" b="1" i="1" smtClean="0">
                                                                  <a:solidFill>
                                                                    <a:srgbClr val="0070C0"/>
                                                                  </a:solidFill>
                                                                  <a:latin typeface="Cambria Math" panose="02040503050406030204" pitchFamily="18" charset="0"/>
                                                                </a:rPr>
                                                                <m:t>𝝁</m:t>
                                                              </m:r>
                                                            </m:e>
                                                            <m:sub>
                                                              <m:r>
                                                                <a:rPr lang="en-VN" sz="1400" b="1" i="1">
                                                                  <a:solidFill>
                                                                    <a:srgbClr val="0070C0"/>
                                                                  </a:solidFill>
                                                                  <a:latin typeface="Cambria Math" panose="02040503050406030204" pitchFamily="18" charset="0"/>
                                                                </a:rPr>
                                                                <m:t>𝒋</m:t>
                                                              </m:r>
                                                            </m:sub>
                                                          </m:sSub>
                                                        </m:e>
                                                      </m:d>
                                                    </m:e>
                                                    <m:sup>
                                                      <m:r>
                                                        <a:rPr lang="en-VN" sz="1400" b="0" i="0">
                                                          <a:latin typeface="Cambria Math" panose="02040503050406030204" pitchFamily="18" charset="0"/>
                                                        </a:rPr>
                                                        <m:t>2</m:t>
                                                      </m:r>
                                                    </m:sup>
                                                  </m:sSup>
                                                </m:num>
                                                <m:den>
                                                  <m:r>
                                                    <a:rPr lang="en-VN" sz="1400" b="0" i="0">
                                                      <a:latin typeface="Cambria Math" panose="02040503050406030204" pitchFamily="18" charset="0"/>
                                                    </a:rPr>
                                                    <m:t>2</m:t>
                                                  </m:r>
                                                  <m:sSubSup>
                                                    <m:sSubSupPr>
                                                      <m:ctrlPr>
                                                        <a:rPr lang="en-VN" sz="1400" b="0" i="1">
                                                          <a:latin typeface="Cambria Math" panose="02040503050406030204" pitchFamily="18" charset="0"/>
                                                        </a:rPr>
                                                      </m:ctrlPr>
                                                    </m:sSubSupPr>
                                                    <m:e>
                                                      <m:r>
                                                        <a:rPr lang="en-VN" sz="1400" b="0" i="1">
                                                          <a:latin typeface="Cambria Math" panose="02040503050406030204" pitchFamily="18" charset="0"/>
                                                        </a:rPr>
                                                        <m:t>𝜎</m:t>
                                                      </m:r>
                                                    </m:e>
                                                    <m:sub>
                                                      <m:r>
                                                        <a:rPr lang="en-VN" sz="1400" b="0" i="1">
                                                          <a:latin typeface="Cambria Math" panose="02040503050406030204" pitchFamily="18" charset="0"/>
                                                        </a:rPr>
                                                        <m:t>𝑗</m:t>
                                                      </m:r>
                                                    </m:sub>
                                                    <m:sup>
                                                      <m:r>
                                                        <a:rPr lang="en-VN" sz="1400" b="0" i="0">
                                                          <a:latin typeface="Cambria Math" panose="02040503050406030204" pitchFamily="18" charset="0"/>
                                                        </a:rPr>
                                                        <m:t>2</m:t>
                                                      </m:r>
                                                    </m:sup>
                                                  </m:sSubSup>
                                                </m:den>
                                              </m:f>
                                            </m:e>
                                          </m:d>
                                        </m:e>
                                      </m:func>
                                    </m:num>
                                    <m:den>
                                      <m:nary>
                                        <m:naryPr>
                                          <m:chr m:val="∑"/>
                                          <m:limLoc m:val="undOvr"/>
                                          <m:ctrlPr>
                                            <a:rPr lang="en-VN" sz="1400" b="0" i="1">
                                              <a:latin typeface="Cambria Math" panose="02040503050406030204" pitchFamily="18" charset="0"/>
                                            </a:rPr>
                                          </m:ctrlPr>
                                        </m:naryPr>
                                        <m:sub>
                                          <m:r>
                                            <a:rPr lang="en-VN" sz="1400" b="0" i="1">
                                              <a:latin typeface="Cambria Math" panose="02040503050406030204" pitchFamily="18" charset="0"/>
                                            </a:rPr>
                                            <m:t>𝑘</m:t>
                                          </m:r>
                                          <m:r>
                                            <a:rPr lang="en-VN" sz="1400" b="0" i="0">
                                              <a:latin typeface="Cambria Math" panose="02040503050406030204" pitchFamily="18" charset="0"/>
                                            </a:rPr>
                                            <m:t>=1</m:t>
                                          </m:r>
                                        </m:sub>
                                        <m:sup>
                                          <m:r>
                                            <a:rPr lang="en-VN" sz="1400" b="0" i="1">
                                              <a:latin typeface="Cambria Math" panose="02040503050406030204" pitchFamily="18" charset="0"/>
                                            </a:rPr>
                                            <m:t>𝐾</m:t>
                                          </m:r>
                                        </m:sup>
                                        <m:e>
                                          <m:sSub>
                                            <m:sSubPr>
                                              <m:ctrlPr>
                                                <a:rPr lang="en-VN" sz="1400" b="0" i="1">
                                                  <a:latin typeface="Cambria Math" panose="02040503050406030204" pitchFamily="18" charset="0"/>
                                                </a:rPr>
                                              </m:ctrlPr>
                                            </m:sSubPr>
                                            <m:e>
                                              <m:r>
                                                <a:rPr lang="en-VN" sz="1400" b="0" i="1">
                                                  <a:latin typeface="Cambria Math" panose="02040503050406030204" pitchFamily="18" charset="0"/>
                                                </a:rPr>
                                                <m:t>𝜋</m:t>
                                              </m:r>
                                            </m:e>
                                            <m:sub>
                                              <m:r>
                                                <a:rPr lang="en-VN" sz="1400" b="0" i="1">
                                                  <a:latin typeface="Cambria Math" panose="02040503050406030204" pitchFamily="18" charset="0"/>
                                                </a:rPr>
                                                <m:t>𝑘</m:t>
                                              </m:r>
                                            </m:sub>
                                          </m:sSub>
                                        </m:e>
                                      </m:nary>
                                      <m:f>
                                        <m:fPr>
                                          <m:ctrlPr>
                                            <a:rPr lang="en-VN" sz="1400" b="0" i="0">
                                              <a:latin typeface="Cambria Math" panose="02040503050406030204" pitchFamily="18" charset="0"/>
                                            </a:rPr>
                                          </m:ctrlPr>
                                        </m:fPr>
                                        <m:num>
                                          <m:r>
                                            <a:rPr lang="en-VN" sz="1400" b="0" i="0">
                                              <a:latin typeface="Cambria Math" panose="02040503050406030204" pitchFamily="18" charset="0"/>
                                            </a:rPr>
                                            <m:t>1</m:t>
                                          </m:r>
                                        </m:num>
                                        <m:den>
                                          <m:rad>
                                            <m:radPr>
                                              <m:degHide m:val="on"/>
                                              <m:ctrlPr>
                                                <a:rPr lang="en-VN" sz="1400" b="0" i="1">
                                                  <a:latin typeface="Cambria Math" panose="02040503050406030204" pitchFamily="18" charset="0"/>
                                                </a:rPr>
                                              </m:ctrlPr>
                                            </m:radPr>
                                            <m:deg/>
                                            <m:e>
                                              <m:r>
                                                <a:rPr lang="en-VN" sz="1400" b="0" i="0">
                                                  <a:latin typeface="Cambria Math" panose="02040503050406030204" pitchFamily="18" charset="0"/>
                                                </a:rPr>
                                                <m:t>2</m:t>
                                              </m:r>
                                              <m:r>
                                                <a:rPr lang="en-VN" sz="1400" b="0" i="1">
                                                  <a:latin typeface="Cambria Math" panose="02040503050406030204" pitchFamily="18" charset="0"/>
                                                </a:rPr>
                                                <m:t>𝜋</m:t>
                                              </m:r>
                                              <m:sSubSup>
                                                <m:sSubSupPr>
                                                  <m:ctrlPr>
                                                    <a:rPr lang="en-VN" sz="1400" b="0" i="1">
                                                      <a:latin typeface="Cambria Math" panose="02040503050406030204" pitchFamily="18" charset="0"/>
                                                    </a:rPr>
                                                  </m:ctrlPr>
                                                </m:sSubSupPr>
                                                <m:e>
                                                  <m:r>
                                                    <a:rPr lang="en-VN" sz="1400" b="0" i="1">
                                                      <a:latin typeface="Cambria Math" panose="02040503050406030204" pitchFamily="18" charset="0"/>
                                                    </a:rPr>
                                                    <m:t>𝜎</m:t>
                                                  </m:r>
                                                </m:e>
                                                <m:sub>
                                                  <m:r>
                                                    <a:rPr lang="en-VN" sz="1400" b="0" i="1">
                                                      <a:latin typeface="Cambria Math" panose="02040503050406030204" pitchFamily="18" charset="0"/>
                                                    </a:rPr>
                                                    <m:t>𝑘</m:t>
                                                  </m:r>
                                                </m:sub>
                                                <m:sup>
                                                  <m:r>
                                                    <a:rPr lang="en-VN" sz="1400" b="0" i="0">
                                                      <a:latin typeface="Cambria Math" panose="02040503050406030204" pitchFamily="18" charset="0"/>
                                                    </a:rPr>
                                                    <m:t>2</m:t>
                                                  </m:r>
                                                </m:sup>
                                              </m:sSubSup>
                                            </m:e>
                                          </m:rad>
                                        </m:den>
                                      </m:f>
                                      <m:func>
                                        <m:funcPr>
                                          <m:ctrlPr>
                                            <a:rPr lang="en-VN" sz="1400" b="0" i="0">
                                              <a:latin typeface="Cambria Math" panose="02040503050406030204" pitchFamily="18" charset="0"/>
                                            </a:rPr>
                                          </m:ctrlPr>
                                        </m:funcPr>
                                        <m:fName>
                                          <m:r>
                                            <m:rPr>
                                              <m:sty m:val="p"/>
                                            </m:rPr>
                                            <a:rPr lang="en-VN" sz="1400" b="0" i="0">
                                              <a:latin typeface="Cambria Math" panose="02040503050406030204" pitchFamily="18" charset="0"/>
                                            </a:rPr>
                                            <m:t>exp</m:t>
                                          </m:r>
                                        </m:fName>
                                        <m:e>
                                          <m:d>
                                            <m:dPr>
                                              <m:ctrlPr>
                                                <a:rPr lang="en-VN" sz="1400" b="0" i="0">
                                                  <a:latin typeface="Cambria Math" panose="02040503050406030204" pitchFamily="18" charset="0"/>
                                                </a:rPr>
                                              </m:ctrlPr>
                                            </m:dPr>
                                            <m:e>
                                              <m:r>
                                                <a:rPr lang="en-VN" sz="1400" b="0" i="0">
                                                  <a:latin typeface="Cambria Math" panose="02040503050406030204" pitchFamily="18" charset="0"/>
                                                </a:rPr>
                                                <m:t>−</m:t>
                                              </m:r>
                                              <m:f>
                                                <m:fPr>
                                                  <m:ctrlPr>
                                                    <a:rPr lang="en-VN" sz="1400" b="0" i="1">
                                                      <a:latin typeface="Cambria Math" panose="02040503050406030204" pitchFamily="18" charset="0"/>
                                                    </a:rPr>
                                                  </m:ctrlPr>
                                                </m:fPr>
                                                <m:num>
                                                  <m:sSup>
                                                    <m:sSupPr>
                                                      <m:ctrlPr>
                                                        <a:rPr lang="en-VN" sz="1400" b="0" i="1">
                                                          <a:latin typeface="Cambria Math" panose="02040503050406030204" pitchFamily="18" charset="0"/>
                                                        </a:rPr>
                                                      </m:ctrlPr>
                                                    </m:sSupPr>
                                                    <m:e>
                                                      <m:d>
                                                        <m:dPr>
                                                          <m:ctrlPr>
                                                            <a:rPr lang="en-VN" sz="1400" b="0" i="1">
                                                              <a:latin typeface="Cambria Math" panose="02040503050406030204" pitchFamily="18" charset="0"/>
                                                            </a:rPr>
                                                          </m:ctrlPr>
                                                        </m:dPr>
                                                        <m:e>
                                                          <m:sSub>
                                                            <m:sSubPr>
                                                              <m:ctrlPr>
                                                                <a:rPr lang="en-VN" sz="1400" b="0" i="1">
                                                                  <a:latin typeface="Cambria Math" panose="02040503050406030204" pitchFamily="18" charset="0"/>
                                                                </a:rPr>
                                                              </m:ctrlPr>
                                                            </m:sSubPr>
                                                            <m:e>
                                                              <m:r>
                                                                <a:rPr lang="en-VN" sz="1400" b="0" i="1">
                                                                  <a:latin typeface="Cambria Math" panose="02040503050406030204" pitchFamily="18" charset="0"/>
                                                                </a:rPr>
                                                                <m:t>𝑥</m:t>
                                                              </m:r>
                                                            </m:e>
                                                            <m:sub>
                                                              <m:r>
                                                                <a:rPr lang="en-VN" sz="1400" b="0" i="1">
                                                                  <a:latin typeface="Cambria Math" panose="02040503050406030204" pitchFamily="18" charset="0"/>
                                                                </a:rPr>
                                                                <m:t>𝑖</m:t>
                                                              </m:r>
                                                            </m:sub>
                                                          </m:sSub>
                                                          <m:r>
                                                            <a:rPr lang="en-VN" sz="1400" b="0" i="0">
                                                              <a:latin typeface="Cambria Math" panose="02040503050406030204" pitchFamily="18" charset="0"/>
                                                            </a:rPr>
                                                            <m:t>−</m:t>
                                                          </m:r>
                                                          <m:sSub>
                                                            <m:sSubPr>
                                                              <m:ctrlPr>
                                                                <a:rPr lang="en-VN" sz="1400" b="0" i="1">
                                                                  <a:latin typeface="Cambria Math" panose="02040503050406030204" pitchFamily="18" charset="0"/>
                                                                </a:rPr>
                                                              </m:ctrlPr>
                                                            </m:sSubPr>
                                                            <m:e>
                                                              <m:r>
                                                                <a:rPr lang="en-VN" sz="1400" b="0" i="1">
                                                                  <a:latin typeface="Cambria Math" panose="02040503050406030204" pitchFamily="18" charset="0"/>
                                                                </a:rPr>
                                                                <m:t>𝜇</m:t>
                                                              </m:r>
                                                            </m:e>
                                                            <m:sub>
                                                              <m:r>
                                                                <a:rPr lang="en-VN" sz="1400" b="0" i="1">
                                                                  <a:latin typeface="Cambria Math" panose="02040503050406030204" pitchFamily="18" charset="0"/>
                                                                </a:rPr>
                                                                <m:t>𝑘</m:t>
                                                              </m:r>
                                                            </m:sub>
                                                          </m:sSub>
                                                        </m:e>
                                                      </m:d>
                                                    </m:e>
                                                    <m:sup>
                                                      <m:r>
                                                        <a:rPr lang="en-VN" sz="1400" b="0" i="0">
                                                          <a:latin typeface="Cambria Math" panose="02040503050406030204" pitchFamily="18" charset="0"/>
                                                        </a:rPr>
                                                        <m:t>2</m:t>
                                                      </m:r>
                                                    </m:sup>
                                                  </m:sSup>
                                                </m:num>
                                                <m:den>
                                                  <m:r>
                                                    <a:rPr lang="en-VN" sz="1400" b="0" i="0">
                                                      <a:latin typeface="Cambria Math" panose="02040503050406030204" pitchFamily="18" charset="0"/>
                                                    </a:rPr>
                                                    <m:t>2</m:t>
                                                  </m:r>
                                                  <m:sSubSup>
                                                    <m:sSubSupPr>
                                                      <m:ctrlPr>
                                                        <a:rPr lang="en-VN" sz="1400" b="0" i="1">
                                                          <a:latin typeface="Cambria Math" panose="02040503050406030204" pitchFamily="18" charset="0"/>
                                                        </a:rPr>
                                                      </m:ctrlPr>
                                                    </m:sSubSupPr>
                                                    <m:e>
                                                      <m:r>
                                                        <a:rPr lang="en-VN" sz="1400" b="0" i="1">
                                                          <a:latin typeface="Cambria Math" panose="02040503050406030204" pitchFamily="18" charset="0"/>
                                                        </a:rPr>
                                                        <m:t>𝜎</m:t>
                                                      </m:r>
                                                    </m:e>
                                                    <m:sub>
                                                      <m:r>
                                                        <a:rPr lang="en-VN" sz="1400" b="0" i="1">
                                                          <a:latin typeface="Cambria Math" panose="02040503050406030204" pitchFamily="18" charset="0"/>
                                                        </a:rPr>
                                                        <m:t>𝑘</m:t>
                                                      </m:r>
                                                    </m:sub>
                                                    <m:sup>
                                                      <m:r>
                                                        <a:rPr lang="en-VN" sz="1400" b="0" i="0">
                                                          <a:latin typeface="Cambria Math" panose="02040503050406030204" pitchFamily="18" charset="0"/>
                                                        </a:rPr>
                                                        <m:t>2</m:t>
                                                      </m:r>
                                                    </m:sup>
                                                  </m:sSubSup>
                                                </m:den>
                                              </m:f>
                                            </m:e>
                                          </m:d>
                                        </m:e>
                                      </m:func>
                                    </m:den>
                                  </m:f>
                                </m:e>
                              </m:d>
                            </m:e>
                          </m:nary>
                          <m:sSub>
                            <m:sSubPr>
                              <m:ctrlPr>
                                <a:rPr lang="en-VN" sz="1400" b="0" i="1">
                                  <a:latin typeface="Cambria Math" panose="02040503050406030204" pitchFamily="18" charset="0"/>
                                </a:rPr>
                              </m:ctrlPr>
                            </m:sSubPr>
                            <m:e>
                              <m:r>
                                <a:rPr lang="en-VN" sz="1400" b="0" i="1">
                                  <a:latin typeface="Cambria Math" panose="02040503050406030204" pitchFamily="18" charset="0"/>
                                </a:rPr>
                                <m:t>𝑥</m:t>
                              </m:r>
                            </m:e>
                            <m:sub>
                              <m:r>
                                <a:rPr lang="en-VN" sz="1400" b="0" i="1">
                                  <a:latin typeface="Cambria Math" panose="02040503050406030204" pitchFamily="18" charset="0"/>
                                </a:rPr>
                                <m:t>𝑖</m:t>
                              </m:r>
                            </m:sub>
                          </m:sSub>
                        </m:num>
                        <m:den>
                          <m:nary>
                            <m:naryPr>
                              <m:chr m:val="∑"/>
                              <m:limLoc m:val="undOvr"/>
                              <m:ctrlPr>
                                <a:rPr lang="en-VN" sz="1400" b="0" i="1">
                                  <a:latin typeface="Cambria Math" panose="02040503050406030204" pitchFamily="18" charset="0"/>
                                </a:rPr>
                              </m:ctrlPr>
                            </m:naryPr>
                            <m:sub>
                              <m:r>
                                <a:rPr lang="en-VN" sz="1400" b="0" i="1">
                                  <a:latin typeface="Cambria Math" panose="02040503050406030204" pitchFamily="18" charset="0"/>
                                </a:rPr>
                                <m:t>𝑖</m:t>
                              </m:r>
                              <m:r>
                                <a:rPr lang="en-VN" sz="1400" b="0" i="0">
                                  <a:latin typeface="Cambria Math" panose="02040503050406030204" pitchFamily="18" charset="0"/>
                                </a:rPr>
                                <m:t>=1</m:t>
                              </m:r>
                            </m:sub>
                            <m:sup>
                              <m:r>
                                <a:rPr lang="en-VN" sz="1400" b="0" i="1">
                                  <a:latin typeface="Cambria Math" panose="02040503050406030204" pitchFamily="18" charset="0"/>
                                </a:rPr>
                                <m:t>𝑁</m:t>
                              </m:r>
                            </m:sup>
                            <m:e>
                              <m:d>
                                <m:dPr>
                                  <m:begChr m:val="["/>
                                  <m:endChr m:val="]"/>
                                  <m:ctrlPr>
                                    <a:rPr lang="en-VN" sz="1400" b="0" i="1">
                                      <a:latin typeface="Cambria Math" panose="02040503050406030204" pitchFamily="18" charset="0"/>
                                    </a:rPr>
                                  </m:ctrlPr>
                                </m:dPr>
                                <m:e>
                                  <m:f>
                                    <m:fPr>
                                      <m:ctrlPr>
                                        <a:rPr lang="en-VN" sz="1400" b="0" i="1">
                                          <a:latin typeface="Cambria Math" panose="02040503050406030204" pitchFamily="18" charset="0"/>
                                        </a:rPr>
                                      </m:ctrlPr>
                                    </m:fPr>
                                    <m:num>
                                      <m:sSub>
                                        <m:sSubPr>
                                          <m:ctrlPr>
                                            <a:rPr lang="en-VN" sz="1400" b="0" i="1">
                                              <a:latin typeface="Cambria Math" panose="02040503050406030204" pitchFamily="18" charset="0"/>
                                            </a:rPr>
                                          </m:ctrlPr>
                                        </m:sSubPr>
                                        <m:e>
                                          <m:r>
                                            <a:rPr lang="en-VN" sz="1400" b="0" i="1">
                                              <a:latin typeface="Cambria Math" panose="02040503050406030204" pitchFamily="18" charset="0"/>
                                            </a:rPr>
                                            <m:t>𝜋</m:t>
                                          </m:r>
                                        </m:e>
                                        <m:sub>
                                          <m:r>
                                            <a:rPr lang="en-VN" sz="1400" b="0" i="1">
                                              <a:latin typeface="Cambria Math" panose="02040503050406030204" pitchFamily="18" charset="0"/>
                                            </a:rPr>
                                            <m:t>𝑗</m:t>
                                          </m:r>
                                        </m:sub>
                                      </m:sSub>
                                      <m:f>
                                        <m:fPr>
                                          <m:ctrlPr>
                                            <a:rPr lang="en-VN" sz="1400" b="0" i="0">
                                              <a:latin typeface="Cambria Math" panose="02040503050406030204" pitchFamily="18" charset="0"/>
                                            </a:rPr>
                                          </m:ctrlPr>
                                        </m:fPr>
                                        <m:num>
                                          <m:r>
                                            <a:rPr lang="en-VN" sz="1400" b="0" i="0">
                                              <a:latin typeface="Cambria Math" panose="02040503050406030204" pitchFamily="18" charset="0"/>
                                            </a:rPr>
                                            <m:t>1</m:t>
                                          </m:r>
                                        </m:num>
                                        <m:den>
                                          <m:rad>
                                            <m:radPr>
                                              <m:degHide m:val="on"/>
                                              <m:ctrlPr>
                                                <a:rPr lang="en-VN" sz="1400" b="0" i="1">
                                                  <a:latin typeface="Cambria Math" panose="02040503050406030204" pitchFamily="18" charset="0"/>
                                                </a:rPr>
                                              </m:ctrlPr>
                                            </m:radPr>
                                            <m:deg/>
                                            <m:e>
                                              <m:r>
                                                <a:rPr lang="en-VN" sz="1400" b="0" i="0">
                                                  <a:latin typeface="Cambria Math" panose="02040503050406030204" pitchFamily="18" charset="0"/>
                                                </a:rPr>
                                                <m:t>2</m:t>
                                              </m:r>
                                              <m:r>
                                                <a:rPr lang="en-VN" sz="1400" b="0" i="1">
                                                  <a:latin typeface="Cambria Math" panose="02040503050406030204" pitchFamily="18" charset="0"/>
                                                </a:rPr>
                                                <m:t>𝜋</m:t>
                                              </m:r>
                                              <m:sSubSup>
                                                <m:sSubSupPr>
                                                  <m:ctrlPr>
                                                    <a:rPr lang="en-VN" sz="1400" b="0" i="1">
                                                      <a:latin typeface="Cambria Math" panose="02040503050406030204" pitchFamily="18" charset="0"/>
                                                    </a:rPr>
                                                  </m:ctrlPr>
                                                </m:sSubSupPr>
                                                <m:e>
                                                  <m:r>
                                                    <a:rPr lang="en-VN" sz="1400" b="0" i="1">
                                                      <a:latin typeface="Cambria Math" panose="02040503050406030204" pitchFamily="18" charset="0"/>
                                                    </a:rPr>
                                                    <m:t>𝜎</m:t>
                                                  </m:r>
                                                </m:e>
                                                <m:sub>
                                                  <m:r>
                                                    <a:rPr lang="en-VN" sz="1400" b="0" i="1">
                                                      <a:latin typeface="Cambria Math" panose="02040503050406030204" pitchFamily="18" charset="0"/>
                                                    </a:rPr>
                                                    <m:t>𝑗</m:t>
                                                  </m:r>
                                                </m:sub>
                                                <m:sup>
                                                  <m:r>
                                                    <a:rPr lang="en-VN" sz="1400" b="0" i="0">
                                                      <a:latin typeface="Cambria Math" panose="02040503050406030204" pitchFamily="18" charset="0"/>
                                                    </a:rPr>
                                                    <m:t>2</m:t>
                                                  </m:r>
                                                </m:sup>
                                              </m:sSubSup>
                                            </m:e>
                                          </m:rad>
                                        </m:den>
                                      </m:f>
                                      <m:func>
                                        <m:funcPr>
                                          <m:ctrlPr>
                                            <a:rPr lang="en-VN" sz="1400" b="0" i="0">
                                              <a:latin typeface="Cambria Math" panose="02040503050406030204" pitchFamily="18" charset="0"/>
                                            </a:rPr>
                                          </m:ctrlPr>
                                        </m:funcPr>
                                        <m:fName>
                                          <m:r>
                                            <m:rPr>
                                              <m:sty m:val="p"/>
                                            </m:rPr>
                                            <a:rPr lang="en-VN" sz="1400" b="0" i="0">
                                              <a:latin typeface="Cambria Math" panose="02040503050406030204" pitchFamily="18" charset="0"/>
                                            </a:rPr>
                                            <m:t>exp</m:t>
                                          </m:r>
                                        </m:fName>
                                        <m:e>
                                          <m:d>
                                            <m:dPr>
                                              <m:ctrlPr>
                                                <a:rPr lang="en-VN" sz="1400" b="0" i="0">
                                                  <a:latin typeface="Cambria Math" panose="02040503050406030204" pitchFamily="18" charset="0"/>
                                                </a:rPr>
                                              </m:ctrlPr>
                                            </m:dPr>
                                            <m:e>
                                              <m:r>
                                                <a:rPr lang="en-VN" sz="1400" b="0" i="0">
                                                  <a:latin typeface="Cambria Math" panose="02040503050406030204" pitchFamily="18" charset="0"/>
                                                </a:rPr>
                                                <m:t>−</m:t>
                                              </m:r>
                                              <m:f>
                                                <m:fPr>
                                                  <m:ctrlPr>
                                                    <a:rPr lang="en-VN" sz="1400" b="0" i="1">
                                                      <a:latin typeface="Cambria Math" panose="02040503050406030204" pitchFamily="18" charset="0"/>
                                                    </a:rPr>
                                                  </m:ctrlPr>
                                                </m:fPr>
                                                <m:num>
                                                  <m:sSup>
                                                    <m:sSupPr>
                                                      <m:ctrlPr>
                                                        <a:rPr lang="en-VN" sz="1400" b="0" i="1">
                                                          <a:latin typeface="Cambria Math" panose="02040503050406030204" pitchFamily="18" charset="0"/>
                                                        </a:rPr>
                                                      </m:ctrlPr>
                                                    </m:sSupPr>
                                                    <m:e>
                                                      <m:d>
                                                        <m:dPr>
                                                          <m:ctrlPr>
                                                            <a:rPr lang="en-VN" sz="1400" b="0" i="1">
                                                              <a:latin typeface="Cambria Math" panose="02040503050406030204" pitchFamily="18" charset="0"/>
                                                            </a:rPr>
                                                          </m:ctrlPr>
                                                        </m:dPr>
                                                        <m:e>
                                                          <m:sSub>
                                                            <m:sSubPr>
                                                              <m:ctrlPr>
                                                                <a:rPr lang="en-VN" sz="1400" b="0" i="1">
                                                                  <a:latin typeface="Cambria Math" panose="02040503050406030204" pitchFamily="18" charset="0"/>
                                                                </a:rPr>
                                                              </m:ctrlPr>
                                                            </m:sSubPr>
                                                            <m:e>
                                                              <m:r>
                                                                <a:rPr lang="en-VN" sz="1400" b="0" i="1">
                                                                  <a:latin typeface="Cambria Math" panose="02040503050406030204" pitchFamily="18" charset="0"/>
                                                                </a:rPr>
                                                                <m:t>𝑥</m:t>
                                                              </m:r>
                                                            </m:e>
                                                            <m:sub>
                                                              <m:r>
                                                                <a:rPr lang="en-VN" sz="1400" b="0" i="1">
                                                                  <a:latin typeface="Cambria Math" panose="02040503050406030204" pitchFamily="18" charset="0"/>
                                                                </a:rPr>
                                                                <m:t>𝑖</m:t>
                                                              </m:r>
                                                            </m:sub>
                                                          </m:sSub>
                                                          <m:r>
                                                            <a:rPr lang="en-VN" sz="1400" b="0" i="0">
                                                              <a:latin typeface="Cambria Math" panose="02040503050406030204" pitchFamily="18" charset="0"/>
                                                            </a:rPr>
                                                            <m:t>−</m:t>
                                                          </m:r>
                                                          <m:sSub>
                                                            <m:sSubPr>
                                                              <m:ctrlPr>
                                                                <a:rPr lang="en-VN" sz="1400" b="1" i="1" smtClean="0">
                                                                  <a:solidFill>
                                                                    <a:srgbClr val="0070C0"/>
                                                                  </a:solidFill>
                                                                  <a:latin typeface="Cambria Math" panose="02040503050406030204" pitchFamily="18" charset="0"/>
                                                                </a:rPr>
                                                              </m:ctrlPr>
                                                            </m:sSubPr>
                                                            <m:e>
                                                              <m:r>
                                                                <a:rPr lang="en-VN" sz="1400" b="1" i="1" smtClean="0">
                                                                  <a:solidFill>
                                                                    <a:srgbClr val="0070C0"/>
                                                                  </a:solidFill>
                                                                  <a:latin typeface="Cambria Math" panose="02040503050406030204" pitchFamily="18" charset="0"/>
                                                                </a:rPr>
                                                                <m:t>𝝁</m:t>
                                                              </m:r>
                                                            </m:e>
                                                            <m:sub>
                                                              <m:r>
                                                                <a:rPr lang="en-VN" sz="1400" b="1" i="1">
                                                                  <a:solidFill>
                                                                    <a:srgbClr val="0070C0"/>
                                                                  </a:solidFill>
                                                                  <a:latin typeface="Cambria Math" panose="02040503050406030204" pitchFamily="18" charset="0"/>
                                                                </a:rPr>
                                                                <m:t>𝒋</m:t>
                                                              </m:r>
                                                            </m:sub>
                                                          </m:sSub>
                                                        </m:e>
                                                      </m:d>
                                                    </m:e>
                                                    <m:sup>
                                                      <m:r>
                                                        <a:rPr lang="en-VN" sz="1400" b="0" i="0">
                                                          <a:latin typeface="Cambria Math" panose="02040503050406030204" pitchFamily="18" charset="0"/>
                                                        </a:rPr>
                                                        <m:t>2</m:t>
                                                      </m:r>
                                                    </m:sup>
                                                  </m:sSup>
                                                </m:num>
                                                <m:den>
                                                  <m:r>
                                                    <a:rPr lang="en-VN" sz="1400" b="0" i="0">
                                                      <a:latin typeface="Cambria Math" panose="02040503050406030204" pitchFamily="18" charset="0"/>
                                                    </a:rPr>
                                                    <m:t>2</m:t>
                                                  </m:r>
                                                  <m:sSubSup>
                                                    <m:sSubSupPr>
                                                      <m:ctrlPr>
                                                        <a:rPr lang="en-VN" sz="1400" b="0" i="1">
                                                          <a:latin typeface="Cambria Math" panose="02040503050406030204" pitchFamily="18" charset="0"/>
                                                        </a:rPr>
                                                      </m:ctrlPr>
                                                    </m:sSubSupPr>
                                                    <m:e>
                                                      <m:r>
                                                        <a:rPr lang="en-VN" sz="1400" b="0" i="1">
                                                          <a:latin typeface="Cambria Math" panose="02040503050406030204" pitchFamily="18" charset="0"/>
                                                        </a:rPr>
                                                        <m:t>𝜎</m:t>
                                                      </m:r>
                                                    </m:e>
                                                    <m:sub>
                                                      <m:r>
                                                        <a:rPr lang="en-VN" sz="1400" b="0" i="1">
                                                          <a:latin typeface="Cambria Math" panose="02040503050406030204" pitchFamily="18" charset="0"/>
                                                        </a:rPr>
                                                        <m:t>𝑗</m:t>
                                                      </m:r>
                                                    </m:sub>
                                                    <m:sup>
                                                      <m:r>
                                                        <a:rPr lang="en-VN" sz="1400" b="0" i="0">
                                                          <a:latin typeface="Cambria Math" panose="02040503050406030204" pitchFamily="18" charset="0"/>
                                                        </a:rPr>
                                                        <m:t>2</m:t>
                                                      </m:r>
                                                    </m:sup>
                                                  </m:sSubSup>
                                                </m:den>
                                              </m:f>
                                            </m:e>
                                          </m:d>
                                        </m:e>
                                      </m:func>
                                    </m:num>
                                    <m:den>
                                      <m:nary>
                                        <m:naryPr>
                                          <m:chr m:val="∑"/>
                                          <m:limLoc m:val="undOvr"/>
                                          <m:ctrlPr>
                                            <a:rPr lang="en-VN" sz="1400" b="0" i="1">
                                              <a:latin typeface="Cambria Math" panose="02040503050406030204" pitchFamily="18" charset="0"/>
                                            </a:rPr>
                                          </m:ctrlPr>
                                        </m:naryPr>
                                        <m:sub>
                                          <m:r>
                                            <a:rPr lang="en-VN" sz="1400" b="0" i="1">
                                              <a:latin typeface="Cambria Math" panose="02040503050406030204" pitchFamily="18" charset="0"/>
                                            </a:rPr>
                                            <m:t>𝑘</m:t>
                                          </m:r>
                                          <m:r>
                                            <a:rPr lang="en-VN" sz="1400" b="0" i="0">
                                              <a:latin typeface="Cambria Math" panose="02040503050406030204" pitchFamily="18" charset="0"/>
                                            </a:rPr>
                                            <m:t>=1</m:t>
                                          </m:r>
                                        </m:sub>
                                        <m:sup>
                                          <m:r>
                                            <a:rPr lang="en-VN" sz="1400" b="0" i="1">
                                              <a:latin typeface="Cambria Math" panose="02040503050406030204" pitchFamily="18" charset="0"/>
                                            </a:rPr>
                                            <m:t>𝐾</m:t>
                                          </m:r>
                                        </m:sup>
                                        <m:e>
                                          <m:sSub>
                                            <m:sSubPr>
                                              <m:ctrlPr>
                                                <a:rPr lang="en-VN" sz="1400" b="0" i="1">
                                                  <a:latin typeface="Cambria Math" panose="02040503050406030204" pitchFamily="18" charset="0"/>
                                                </a:rPr>
                                              </m:ctrlPr>
                                            </m:sSubPr>
                                            <m:e>
                                              <m:r>
                                                <a:rPr lang="en-VN" sz="1400" b="0" i="1">
                                                  <a:latin typeface="Cambria Math" panose="02040503050406030204" pitchFamily="18" charset="0"/>
                                                </a:rPr>
                                                <m:t>𝜋</m:t>
                                              </m:r>
                                            </m:e>
                                            <m:sub>
                                              <m:r>
                                                <a:rPr lang="en-VN" sz="1400" b="0" i="1">
                                                  <a:latin typeface="Cambria Math" panose="02040503050406030204" pitchFamily="18" charset="0"/>
                                                </a:rPr>
                                                <m:t>𝑘</m:t>
                                              </m:r>
                                            </m:sub>
                                          </m:sSub>
                                        </m:e>
                                      </m:nary>
                                      <m:f>
                                        <m:fPr>
                                          <m:ctrlPr>
                                            <a:rPr lang="en-VN" sz="1400" b="0" i="0">
                                              <a:latin typeface="Cambria Math" panose="02040503050406030204" pitchFamily="18" charset="0"/>
                                            </a:rPr>
                                          </m:ctrlPr>
                                        </m:fPr>
                                        <m:num>
                                          <m:r>
                                            <a:rPr lang="en-VN" sz="1400" b="0" i="0">
                                              <a:latin typeface="Cambria Math" panose="02040503050406030204" pitchFamily="18" charset="0"/>
                                            </a:rPr>
                                            <m:t>1</m:t>
                                          </m:r>
                                        </m:num>
                                        <m:den>
                                          <m:rad>
                                            <m:radPr>
                                              <m:degHide m:val="on"/>
                                              <m:ctrlPr>
                                                <a:rPr lang="en-VN" sz="1400" b="0" i="1">
                                                  <a:latin typeface="Cambria Math" panose="02040503050406030204" pitchFamily="18" charset="0"/>
                                                </a:rPr>
                                              </m:ctrlPr>
                                            </m:radPr>
                                            <m:deg/>
                                            <m:e>
                                              <m:r>
                                                <a:rPr lang="en-VN" sz="1400" b="0" i="0">
                                                  <a:latin typeface="Cambria Math" panose="02040503050406030204" pitchFamily="18" charset="0"/>
                                                </a:rPr>
                                                <m:t>2</m:t>
                                              </m:r>
                                              <m:r>
                                                <a:rPr lang="en-VN" sz="1400" b="0" i="1">
                                                  <a:latin typeface="Cambria Math" panose="02040503050406030204" pitchFamily="18" charset="0"/>
                                                </a:rPr>
                                                <m:t>𝜋</m:t>
                                              </m:r>
                                              <m:sSubSup>
                                                <m:sSubSupPr>
                                                  <m:ctrlPr>
                                                    <a:rPr lang="en-VN" sz="1400" b="0" i="1">
                                                      <a:latin typeface="Cambria Math" panose="02040503050406030204" pitchFamily="18" charset="0"/>
                                                    </a:rPr>
                                                  </m:ctrlPr>
                                                </m:sSubSupPr>
                                                <m:e>
                                                  <m:r>
                                                    <a:rPr lang="en-VN" sz="1400" b="0" i="1">
                                                      <a:latin typeface="Cambria Math" panose="02040503050406030204" pitchFamily="18" charset="0"/>
                                                    </a:rPr>
                                                    <m:t>𝜎</m:t>
                                                  </m:r>
                                                </m:e>
                                                <m:sub>
                                                  <m:r>
                                                    <a:rPr lang="en-VN" sz="1400" b="0" i="1">
                                                      <a:latin typeface="Cambria Math" panose="02040503050406030204" pitchFamily="18" charset="0"/>
                                                    </a:rPr>
                                                    <m:t>𝑘</m:t>
                                                  </m:r>
                                                </m:sub>
                                                <m:sup>
                                                  <m:r>
                                                    <a:rPr lang="en-VN" sz="1400" b="0" i="0">
                                                      <a:latin typeface="Cambria Math" panose="02040503050406030204" pitchFamily="18" charset="0"/>
                                                    </a:rPr>
                                                    <m:t>2</m:t>
                                                  </m:r>
                                                </m:sup>
                                              </m:sSubSup>
                                            </m:e>
                                          </m:rad>
                                        </m:den>
                                      </m:f>
                                      <m:func>
                                        <m:funcPr>
                                          <m:ctrlPr>
                                            <a:rPr lang="en-VN" sz="1400" b="0" i="0">
                                              <a:latin typeface="Cambria Math" panose="02040503050406030204" pitchFamily="18" charset="0"/>
                                            </a:rPr>
                                          </m:ctrlPr>
                                        </m:funcPr>
                                        <m:fName>
                                          <m:r>
                                            <m:rPr>
                                              <m:sty m:val="p"/>
                                            </m:rPr>
                                            <a:rPr lang="en-VN" sz="1400" b="0" i="0">
                                              <a:latin typeface="Cambria Math" panose="02040503050406030204" pitchFamily="18" charset="0"/>
                                            </a:rPr>
                                            <m:t>exp</m:t>
                                          </m:r>
                                        </m:fName>
                                        <m:e>
                                          <m:d>
                                            <m:dPr>
                                              <m:ctrlPr>
                                                <a:rPr lang="en-VN" sz="1400" b="0" i="0">
                                                  <a:latin typeface="Cambria Math" panose="02040503050406030204" pitchFamily="18" charset="0"/>
                                                </a:rPr>
                                              </m:ctrlPr>
                                            </m:dPr>
                                            <m:e>
                                              <m:r>
                                                <a:rPr lang="en-VN" sz="1400" b="0" i="0">
                                                  <a:latin typeface="Cambria Math" panose="02040503050406030204" pitchFamily="18" charset="0"/>
                                                </a:rPr>
                                                <m:t>−</m:t>
                                              </m:r>
                                              <m:f>
                                                <m:fPr>
                                                  <m:ctrlPr>
                                                    <a:rPr lang="en-VN" sz="1400" b="0" i="1">
                                                      <a:latin typeface="Cambria Math" panose="02040503050406030204" pitchFamily="18" charset="0"/>
                                                    </a:rPr>
                                                  </m:ctrlPr>
                                                </m:fPr>
                                                <m:num>
                                                  <m:sSup>
                                                    <m:sSupPr>
                                                      <m:ctrlPr>
                                                        <a:rPr lang="en-VN" sz="1400" b="0" i="1">
                                                          <a:latin typeface="Cambria Math" panose="02040503050406030204" pitchFamily="18" charset="0"/>
                                                        </a:rPr>
                                                      </m:ctrlPr>
                                                    </m:sSupPr>
                                                    <m:e>
                                                      <m:d>
                                                        <m:dPr>
                                                          <m:ctrlPr>
                                                            <a:rPr lang="en-VN" sz="1400" b="0" i="1">
                                                              <a:latin typeface="Cambria Math" panose="02040503050406030204" pitchFamily="18" charset="0"/>
                                                            </a:rPr>
                                                          </m:ctrlPr>
                                                        </m:dPr>
                                                        <m:e>
                                                          <m:sSub>
                                                            <m:sSubPr>
                                                              <m:ctrlPr>
                                                                <a:rPr lang="en-VN" sz="1400" b="0" i="1">
                                                                  <a:latin typeface="Cambria Math" panose="02040503050406030204" pitchFamily="18" charset="0"/>
                                                                </a:rPr>
                                                              </m:ctrlPr>
                                                            </m:sSubPr>
                                                            <m:e>
                                                              <m:r>
                                                                <a:rPr lang="en-VN" sz="1400" b="0" i="1">
                                                                  <a:latin typeface="Cambria Math" panose="02040503050406030204" pitchFamily="18" charset="0"/>
                                                                </a:rPr>
                                                                <m:t>𝑥</m:t>
                                                              </m:r>
                                                            </m:e>
                                                            <m:sub>
                                                              <m:r>
                                                                <a:rPr lang="en-VN" sz="1400" b="0" i="1">
                                                                  <a:latin typeface="Cambria Math" panose="02040503050406030204" pitchFamily="18" charset="0"/>
                                                                </a:rPr>
                                                                <m:t>𝑖</m:t>
                                                              </m:r>
                                                            </m:sub>
                                                          </m:sSub>
                                                          <m:r>
                                                            <a:rPr lang="en-VN" sz="1400" b="0" i="0">
                                                              <a:latin typeface="Cambria Math" panose="02040503050406030204" pitchFamily="18" charset="0"/>
                                                            </a:rPr>
                                                            <m:t>−</m:t>
                                                          </m:r>
                                                          <m:sSub>
                                                            <m:sSubPr>
                                                              <m:ctrlPr>
                                                                <a:rPr lang="en-VN" sz="1400" b="0" i="1">
                                                                  <a:latin typeface="Cambria Math" panose="02040503050406030204" pitchFamily="18" charset="0"/>
                                                                </a:rPr>
                                                              </m:ctrlPr>
                                                            </m:sSubPr>
                                                            <m:e>
                                                              <m:r>
                                                                <a:rPr lang="en-VN" sz="1400" b="0" i="1">
                                                                  <a:latin typeface="Cambria Math" panose="02040503050406030204" pitchFamily="18" charset="0"/>
                                                                </a:rPr>
                                                                <m:t>𝜇</m:t>
                                                              </m:r>
                                                            </m:e>
                                                            <m:sub>
                                                              <m:r>
                                                                <a:rPr lang="en-VN" sz="1400" b="0" i="1">
                                                                  <a:latin typeface="Cambria Math" panose="02040503050406030204" pitchFamily="18" charset="0"/>
                                                                </a:rPr>
                                                                <m:t>𝑘</m:t>
                                                              </m:r>
                                                            </m:sub>
                                                          </m:sSub>
                                                        </m:e>
                                                      </m:d>
                                                    </m:e>
                                                    <m:sup>
                                                      <m:r>
                                                        <a:rPr lang="en-VN" sz="1400" b="0" i="0">
                                                          <a:latin typeface="Cambria Math" panose="02040503050406030204" pitchFamily="18" charset="0"/>
                                                        </a:rPr>
                                                        <m:t>2</m:t>
                                                      </m:r>
                                                    </m:sup>
                                                  </m:sSup>
                                                </m:num>
                                                <m:den>
                                                  <m:r>
                                                    <a:rPr lang="en-VN" sz="1400" b="0" i="0">
                                                      <a:latin typeface="Cambria Math" panose="02040503050406030204" pitchFamily="18" charset="0"/>
                                                    </a:rPr>
                                                    <m:t>2</m:t>
                                                  </m:r>
                                                  <m:sSubSup>
                                                    <m:sSubSupPr>
                                                      <m:ctrlPr>
                                                        <a:rPr lang="en-VN" sz="1400" b="0" i="1">
                                                          <a:latin typeface="Cambria Math" panose="02040503050406030204" pitchFamily="18" charset="0"/>
                                                        </a:rPr>
                                                      </m:ctrlPr>
                                                    </m:sSubSupPr>
                                                    <m:e>
                                                      <m:r>
                                                        <a:rPr lang="en-VN" sz="1400" b="0" i="1">
                                                          <a:latin typeface="Cambria Math" panose="02040503050406030204" pitchFamily="18" charset="0"/>
                                                        </a:rPr>
                                                        <m:t>𝜎</m:t>
                                                      </m:r>
                                                    </m:e>
                                                    <m:sub>
                                                      <m:r>
                                                        <a:rPr lang="en-VN" sz="1400" b="0" i="1">
                                                          <a:latin typeface="Cambria Math" panose="02040503050406030204" pitchFamily="18" charset="0"/>
                                                        </a:rPr>
                                                        <m:t>𝑘</m:t>
                                                      </m:r>
                                                    </m:sub>
                                                    <m:sup>
                                                      <m:r>
                                                        <a:rPr lang="en-VN" sz="1400" b="0" i="0">
                                                          <a:latin typeface="Cambria Math" panose="02040503050406030204" pitchFamily="18" charset="0"/>
                                                        </a:rPr>
                                                        <m:t>2</m:t>
                                                      </m:r>
                                                    </m:sup>
                                                  </m:sSubSup>
                                                </m:den>
                                              </m:f>
                                            </m:e>
                                          </m:d>
                                        </m:e>
                                      </m:func>
                                    </m:den>
                                  </m:f>
                                </m:e>
                              </m:d>
                            </m:e>
                          </m:nary>
                        </m:den>
                      </m:f>
                    </m:oMath>
                  </m:oMathPara>
                </a14:m>
                <a:endParaRPr lang="en-VN" sz="1400" dirty="0"/>
              </a:p>
            </p:txBody>
          </p:sp>
        </mc:Choice>
        <mc:Fallback xmlns="">
          <p:sp>
            <p:nvSpPr>
              <p:cNvPr id="8" name="TextBox 7">
                <a:extLst>
                  <a:ext uri="{FF2B5EF4-FFF2-40B4-BE49-F238E27FC236}">
                    <a16:creationId xmlns:a16="http://schemas.microsoft.com/office/drawing/2014/main" id="{AB69C9A8-0076-CA18-40A8-1CA5B958AA3C}"/>
                  </a:ext>
                </a:extLst>
              </p:cNvPr>
              <p:cNvSpPr txBox="1">
                <a:spLocks noRot="1" noChangeAspect="1" noMove="1" noResize="1" noEditPoints="1" noAdjustHandles="1" noChangeArrowheads="1" noChangeShapeType="1" noTextEdit="1"/>
              </p:cNvSpPr>
              <p:nvPr/>
            </p:nvSpPr>
            <p:spPr>
              <a:xfrm>
                <a:off x="3611788" y="3806026"/>
                <a:ext cx="3962620" cy="3050194"/>
              </a:xfrm>
              <a:prstGeom prst="rect">
                <a:avLst/>
              </a:prstGeom>
              <a:blipFill>
                <a:blip r:embed="rId6"/>
                <a:stretch>
                  <a:fillRect b="-4979"/>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B86FD596-7CDB-ED27-AA5B-066067084CE2}"/>
                  </a:ext>
                </a:extLst>
              </p:cNvPr>
              <p:cNvSpPr txBox="1"/>
              <p:nvPr/>
            </p:nvSpPr>
            <p:spPr>
              <a:xfrm>
                <a:off x="5434003" y="1922687"/>
                <a:ext cx="3459986" cy="693588"/>
              </a:xfrm>
              <a:prstGeom prst="rect">
                <a:avLst/>
              </a:prstGeom>
              <a:noFill/>
            </p:spPr>
            <p:txBody>
              <a:bodyPr wrap="none" lIns="0" tIns="0" rIns="0" bIns="0" rtlCol="0">
                <a:spAutoFit/>
              </a:bodyPr>
              <a:lstStyle/>
              <a:p>
                <a:pPr/>
                <a14:m>
                  <m:oMathPara xmlns:m="http://schemas.openxmlformats.org/officeDocument/2006/math">
                    <m:oMath>
                      <m:func>
                        <m:funcPr>
                          <m:ctrlPr>
                            <a:rPr lang="en-US" sz="1400" i="1" smtClean="0">
                              <a:solidFill>
                                <a:srgbClr val="0070C0"/>
                              </a:solidFill>
                              <a:latin typeface="Cambria Math" panose="02040503050406030204" pitchFamily="18" charset="0"/>
                            </a:rPr>
                          </m:ctrlPr>
                        </m:funcPr>
                        <m:fName>
                          <m:r>
                            <m:rPr>
                              <m:sty m:val="p"/>
                            </m:rPr>
                            <a:rPr lang="en-US" sz="1400" i="1" smtClean="0">
                              <a:solidFill>
                                <a:srgbClr val="0070C0"/>
                              </a:solidFill>
                              <a:latin typeface="Cambria Math" panose="02040503050406030204" pitchFamily="18" charset="0"/>
                            </a:rPr>
                            <m:t>ln</m:t>
                          </m:r>
                        </m:fName>
                        <m:e>
                          <m:r>
                            <a:rPr lang="en-VN" sz="1400" i="1">
                              <a:latin typeface="Cambria Math" panose="02040503050406030204" pitchFamily="18" charset="0"/>
                            </a:rPr>
                            <m:t>𝐿</m:t>
                          </m:r>
                        </m:e>
                      </m:func>
                      <m:d>
                        <m:dPr>
                          <m:ctrlPr>
                            <a:rPr lang="en-US" sz="1400" i="1">
                              <a:latin typeface="Cambria Math" panose="02040503050406030204" pitchFamily="18" charset="0"/>
                            </a:rPr>
                          </m:ctrlPr>
                        </m:dPr>
                        <m:e>
                          <m:r>
                            <a:rPr lang="en-US" sz="1400" i="1">
                              <a:latin typeface="Cambria Math" panose="02040503050406030204" pitchFamily="18" charset="0"/>
                            </a:rPr>
                            <m:t>𝜃</m:t>
                          </m:r>
                          <m:r>
                            <a:rPr lang="en-US" sz="1400" i="1">
                              <a:latin typeface="Cambria Math" panose="02040503050406030204" pitchFamily="18" charset="0"/>
                            </a:rPr>
                            <m:t>∣</m:t>
                          </m:r>
                          <m:r>
                            <a:rPr lang="en-US" sz="1400" i="1">
                              <a:latin typeface="Cambria Math" panose="02040503050406030204" pitchFamily="18" charset="0"/>
                            </a:rPr>
                            <m:t>𝑥</m:t>
                          </m:r>
                        </m:e>
                      </m:d>
                      <m:r>
                        <a:rPr lang="en-US" sz="1400" i="1">
                          <a:latin typeface="Cambria Math" panose="02040503050406030204" pitchFamily="18" charset="0"/>
                        </a:rPr>
                        <m:t>=</m:t>
                      </m:r>
                      <m:nary>
                        <m:naryPr>
                          <m:chr m:val="∑"/>
                          <m:limLoc m:val="undOvr"/>
                          <m:ctrlPr>
                            <a:rPr lang="en-US" sz="1400" i="1">
                              <a:latin typeface="Cambria Math" panose="02040503050406030204" pitchFamily="18" charset="0"/>
                            </a:rPr>
                          </m:ctrlPr>
                        </m:naryPr>
                        <m:sub>
                          <m:r>
                            <a:rPr lang="en-US" sz="1400" i="1">
                              <a:latin typeface="Cambria Math" panose="02040503050406030204" pitchFamily="18" charset="0"/>
                            </a:rPr>
                            <m:t>𝑛</m:t>
                          </m:r>
                          <m:r>
                            <a:rPr lang="en-US" sz="1400" i="1">
                              <a:latin typeface="Cambria Math" panose="02040503050406030204" pitchFamily="18" charset="0"/>
                            </a:rPr>
                            <m:t>=1</m:t>
                          </m:r>
                        </m:sub>
                        <m:sup>
                          <m:r>
                            <a:rPr lang="en-US" sz="1400" i="1">
                              <a:latin typeface="Cambria Math" panose="02040503050406030204" pitchFamily="18" charset="0"/>
                            </a:rPr>
                            <m:t>𝑁</m:t>
                          </m:r>
                        </m:sup>
                        <m:e>
                          <m:func>
                            <m:funcPr>
                              <m:ctrlPr>
                                <a:rPr lang="en-US" sz="1400" i="1" smtClean="0">
                                  <a:solidFill>
                                    <a:srgbClr val="0070C0"/>
                                  </a:solidFill>
                                  <a:latin typeface="Cambria Math" panose="02040503050406030204" pitchFamily="18" charset="0"/>
                                </a:rPr>
                              </m:ctrlPr>
                            </m:funcPr>
                            <m:fName>
                              <m:r>
                                <m:rPr>
                                  <m:sty m:val="p"/>
                                </m:rPr>
                                <a:rPr lang="en-US" sz="1400" i="1" smtClean="0">
                                  <a:solidFill>
                                    <a:srgbClr val="0070C0"/>
                                  </a:solidFill>
                                  <a:latin typeface="Cambria Math" panose="02040503050406030204" pitchFamily="18" charset="0"/>
                                </a:rPr>
                                <m:t>ln</m:t>
                              </m:r>
                            </m:fName>
                            <m:e>
                              <m:d>
                                <m:dPr>
                                  <m:ctrlPr>
                                    <a:rPr lang="en-US" sz="1400" i="1">
                                      <a:solidFill>
                                        <a:schemeClr val="accent6">
                                          <a:lumMod val="75000"/>
                                        </a:schemeClr>
                                      </a:solidFill>
                                      <a:latin typeface="Cambria Math" panose="02040503050406030204" pitchFamily="18" charset="0"/>
                                    </a:rPr>
                                  </m:ctrlPr>
                                </m:dPr>
                                <m:e>
                                  <m:nary>
                                    <m:naryPr>
                                      <m:chr m:val="∑"/>
                                      <m:limLoc m:val="undOvr"/>
                                      <m:ctrlPr>
                                        <a:rPr lang="en-US" sz="1400" i="1">
                                          <a:solidFill>
                                            <a:schemeClr val="accent6">
                                              <a:lumMod val="75000"/>
                                            </a:schemeClr>
                                          </a:solidFill>
                                          <a:latin typeface="Cambria Math" panose="02040503050406030204" pitchFamily="18" charset="0"/>
                                        </a:rPr>
                                      </m:ctrlPr>
                                    </m:naryPr>
                                    <m:sub>
                                      <m:r>
                                        <a:rPr lang="en-US" sz="1400" i="1">
                                          <a:solidFill>
                                            <a:schemeClr val="accent6">
                                              <a:lumMod val="75000"/>
                                            </a:schemeClr>
                                          </a:solidFill>
                                          <a:latin typeface="Cambria Math" panose="02040503050406030204" pitchFamily="18" charset="0"/>
                                        </a:rPr>
                                        <m:t>𝑘</m:t>
                                      </m:r>
                                      <m:r>
                                        <a:rPr lang="en-US" sz="1400" i="1">
                                          <a:solidFill>
                                            <a:schemeClr val="accent6">
                                              <a:lumMod val="75000"/>
                                            </a:schemeClr>
                                          </a:solidFill>
                                          <a:latin typeface="Cambria Math" panose="02040503050406030204" pitchFamily="18" charset="0"/>
                                        </a:rPr>
                                        <m:t>=1</m:t>
                                      </m:r>
                                    </m:sub>
                                    <m:sup>
                                      <m:r>
                                        <a:rPr lang="en-US" sz="1400" i="1">
                                          <a:solidFill>
                                            <a:schemeClr val="accent6">
                                              <a:lumMod val="75000"/>
                                            </a:schemeClr>
                                          </a:solidFill>
                                          <a:latin typeface="Cambria Math" panose="02040503050406030204" pitchFamily="18" charset="0"/>
                                        </a:rPr>
                                        <m:t>𝐾</m:t>
                                      </m:r>
                                    </m:sup>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𝜋</m:t>
                                          </m:r>
                                        </m:e>
                                        <m:sub>
                                          <m:r>
                                            <a:rPr lang="en-US" sz="1400" i="1">
                                              <a:solidFill>
                                                <a:schemeClr val="accent6">
                                                  <a:lumMod val="75000"/>
                                                </a:schemeClr>
                                              </a:solidFill>
                                              <a:latin typeface="Cambria Math" panose="02040503050406030204" pitchFamily="18" charset="0"/>
                                            </a:rPr>
                                            <m:t>𝑘</m:t>
                                          </m:r>
                                        </m:sub>
                                      </m:sSub>
                                    </m:e>
                                  </m:nary>
                                  <m:r>
                                    <a:rPr lang="en-US" sz="1400" i="1">
                                      <a:solidFill>
                                        <a:schemeClr val="accent6">
                                          <a:lumMod val="75000"/>
                                        </a:schemeClr>
                                      </a:solidFill>
                                      <a:latin typeface="Cambria Math" panose="02040503050406030204" pitchFamily="18" charset="0"/>
                                    </a:rPr>
                                    <m:t>𝒩</m:t>
                                  </m:r>
                                  <m:d>
                                    <m:dPr>
                                      <m:ctrlPr>
                                        <a:rPr lang="en-US" sz="1400" i="1">
                                          <a:solidFill>
                                            <a:schemeClr val="accent6">
                                              <a:lumMod val="75000"/>
                                            </a:schemeClr>
                                          </a:solidFill>
                                          <a:latin typeface="Cambria Math" panose="02040503050406030204" pitchFamily="18" charset="0"/>
                                        </a:rPr>
                                      </m:ctrlPr>
                                    </m:dPr>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𝑥</m:t>
                                          </m:r>
                                        </m:e>
                                        <m:sub>
                                          <m:r>
                                            <a:rPr lang="en-US" sz="1400" i="1">
                                              <a:solidFill>
                                                <a:schemeClr val="accent6">
                                                  <a:lumMod val="75000"/>
                                                </a:schemeClr>
                                              </a:solidFill>
                                              <a:latin typeface="Cambria Math" panose="02040503050406030204" pitchFamily="18" charset="0"/>
                                            </a:rPr>
                                            <m:t>𝑛</m:t>
                                          </m:r>
                                        </m:sub>
                                      </m:sSub>
                                      <m:r>
                                        <a:rPr lang="en-US" sz="1400" i="1">
                                          <a:solidFill>
                                            <a:schemeClr val="accent6">
                                              <a:lumMod val="75000"/>
                                            </a:schemeClr>
                                          </a:solidFill>
                                          <a:latin typeface="Cambria Math" panose="02040503050406030204" pitchFamily="18" charset="0"/>
                                        </a:rPr>
                                        <m:t>∣</m:t>
                                      </m:r>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𝜇</m:t>
                                          </m:r>
                                        </m:e>
                                        <m:sub>
                                          <m:r>
                                            <a:rPr lang="en-US" sz="1400" i="1">
                                              <a:solidFill>
                                                <a:schemeClr val="accent6">
                                                  <a:lumMod val="75000"/>
                                                </a:schemeClr>
                                              </a:solidFill>
                                              <a:latin typeface="Cambria Math" panose="02040503050406030204" pitchFamily="18" charset="0"/>
                                            </a:rPr>
                                            <m:t>𝑘</m:t>
                                          </m:r>
                                        </m:sub>
                                      </m:sSub>
                                      <m:r>
                                        <a:rPr lang="en-US" sz="1400" i="1">
                                          <a:solidFill>
                                            <a:schemeClr val="accent6">
                                              <a:lumMod val="75000"/>
                                            </a:schemeClr>
                                          </a:solidFill>
                                          <a:latin typeface="Cambria Math" panose="02040503050406030204" pitchFamily="18" charset="0"/>
                                        </a:rPr>
                                        <m:t>,</m:t>
                                      </m:r>
                                      <m:sSubSup>
                                        <m:sSubSupPr>
                                          <m:ctrlPr>
                                            <a:rPr lang="en-US" sz="1400" i="1">
                                              <a:solidFill>
                                                <a:schemeClr val="accent6">
                                                  <a:lumMod val="75000"/>
                                                </a:schemeClr>
                                              </a:solidFill>
                                              <a:latin typeface="Cambria Math" panose="02040503050406030204" pitchFamily="18" charset="0"/>
                                            </a:rPr>
                                          </m:ctrlPr>
                                        </m:sSubSupPr>
                                        <m:e>
                                          <m:r>
                                            <a:rPr lang="en-US" sz="1400" i="1">
                                              <a:solidFill>
                                                <a:schemeClr val="accent6">
                                                  <a:lumMod val="75000"/>
                                                </a:schemeClr>
                                              </a:solidFill>
                                              <a:latin typeface="Cambria Math" panose="02040503050406030204" pitchFamily="18" charset="0"/>
                                            </a:rPr>
                                            <m:t>𝜎</m:t>
                                          </m:r>
                                        </m:e>
                                        <m:sub>
                                          <m:r>
                                            <a:rPr lang="en-US" sz="1400" i="1">
                                              <a:solidFill>
                                                <a:schemeClr val="accent6">
                                                  <a:lumMod val="75000"/>
                                                </a:schemeClr>
                                              </a:solidFill>
                                              <a:latin typeface="Cambria Math" panose="02040503050406030204" pitchFamily="18" charset="0"/>
                                            </a:rPr>
                                            <m:t>𝑘</m:t>
                                          </m:r>
                                        </m:sub>
                                        <m:sup>
                                          <m:r>
                                            <a:rPr lang="en-US" sz="1400" i="1">
                                              <a:solidFill>
                                                <a:schemeClr val="accent6">
                                                  <a:lumMod val="75000"/>
                                                </a:schemeClr>
                                              </a:solidFill>
                                              <a:latin typeface="Cambria Math" panose="02040503050406030204" pitchFamily="18" charset="0"/>
                                            </a:rPr>
                                            <m:t>2</m:t>
                                          </m:r>
                                        </m:sup>
                                      </m:sSubSup>
                                    </m:e>
                                  </m:d>
                                </m:e>
                              </m:d>
                            </m:e>
                          </m:func>
                        </m:e>
                      </m:nary>
                    </m:oMath>
                  </m:oMathPara>
                </a14:m>
                <a:endParaRPr dirty="0"/>
              </a:p>
            </p:txBody>
          </p:sp>
        </mc:Choice>
        <mc:Fallback xmlns="">
          <p:sp>
            <p:nvSpPr>
              <p:cNvPr id="14" name="TextBox 13">
                <a:extLst>
                  <a:ext uri="{FF2B5EF4-FFF2-40B4-BE49-F238E27FC236}">
                    <a16:creationId xmlns:a16="http://schemas.microsoft.com/office/drawing/2014/main" id="{B86FD596-7CDB-ED27-AA5B-066067084CE2}"/>
                  </a:ext>
                </a:extLst>
              </p:cNvPr>
              <p:cNvSpPr txBox="1">
                <a:spLocks noRot="1" noChangeAspect="1" noMove="1" noResize="1" noEditPoints="1" noAdjustHandles="1" noChangeArrowheads="1" noChangeShapeType="1" noTextEdit="1"/>
              </p:cNvSpPr>
              <p:nvPr/>
            </p:nvSpPr>
            <p:spPr>
              <a:xfrm>
                <a:off x="5434003" y="1922687"/>
                <a:ext cx="3459986" cy="693588"/>
              </a:xfrm>
              <a:prstGeom prst="rect">
                <a:avLst/>
              </a:prstGeom>
              <a:blipFill>
                <a:blip r:embed="rId7"/>
                <a:stretch>
                  <a:fillRect l="-730" t="-94545" r="-2920" b="-150909"/>
                </a:stretch>
              </a:blipFill>
            </p:spPr>
            <p:txBody>
              <a:bodyPr/>
              <a:lstStyle/>
              <a:p>
                <a:r>
                  <a:rPr lang="en-VN">
                    <a:noFill/>
                  </a:rPr>
                  <a:t> </a:t>
                </a:r>
              </a:p>
            </p:txBody>
          </p:sp>
        </mc:Fallback>
      </mc:AlternateContent>
      <p:sp>
        <p:nvSpPr>
          <p:cNvPr id="15" name="Right Arrow 14">
            <a:extLst>
              <a:ext uri="{FF2B5EF4-FFF2-40B4-BE49-F238E27FC236}">
                <a16:creationId xmlns:a16="http://schemas.microsoft.com/office/drawing/2014/main" id="{F20DACB8-E1D6-2037-1D0A-EA6239EEC5FC}"/>
              </a:ext>
            </a:extLst>
          </p:cNvPr>
          <p:cNvSpPr/>
          <p:nvPr/>
        </p:nvSpPr>
        <p:spPr>
          <a:xfrm rot="19550922">
            <a:off x="5302157" y="2575174"/>
            <a:ext cx="581883" cy="384721"/>
          </a:xfrm>
          <a:prstGeom prst="rightArrow">
            <a:avLst/>
          </a:prstGeom>
          <a:ln>
            <a:solidFill>
              <a:schemeClr val="tx2">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VN">
              <a:solidFill>
                <a:schemeClr val="tx2">
                  <a:lumMod val="60000"/>
                  <a:lumOff val="40000"/>
                </a:schemeClr>
              </a:solidFill>
            </a:endParaRPr>
          </a:p>
        </p:txBody>
      </p:sp>
    </p:spTree>
    <p:extLst>
      <p:ext uri="{BB962C8B-B14F-4D97-AF65-F5344CB8AC3E}">
        <p14:creationId xmlns:p14="http://schemas.microsoft.com/office/powerpoint/2010/main" val="9931990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1AFED-9652-00C4-BAE4-04E41551FA8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C07F8CA-AF8B-5D1E-482D-2AF2D5EFB878}"/>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DFC7060-D933-596D-631C-5375D615A6DD}"/>
                  </a:ext>
                </a:extLst>
              </p:cNvPr>
              <p:cNvSpPr txBox="1"/>
              <p:nvPr/>
            </p:nvSpPr>
            <p:spPr>
              <a:xfrm>
                <a:off x="364066" y="1267771"/>
                <a:ext cx="11283437" cy="2354491"/>
              </a:xfrm>
              <a:prstGeom prst="rect">
                <a:avLst/>
              </a:prstGeom>
              <a:noFill/>
            </p:spPr>
            <p:txBody>
              <a:bodyPr wrap="square">
                <a:spAutoFit/>
              </a:bodyPr>
              <a:lstStyle/>
              <a:p>
                <a:pPr>
                  <a:spcAft>
                    <a:spcPts val="600"/>
                  </a:spcAft>
                </a:pPr>
                <a:r>
                  <a:rPr lang="vi-VN" sz="1400" b="1" dirty="0">
                    <a:solidFill>
                      <a:srgbClr val="1B8A7A"/>
                    </a:solidFill>
                    <a:latin typeface="Arial"/>
                  </a:rPr>
                  <a:t>2.1. Gaussian Mixture Model (GMM) - </a:t>
                </a:r>
                <a:r>
                  <a:rPr lang="vi-VN" sz="1000" b="1" dirty="0">
                    <a:solidFill>
                      <a:schemeClr val="accent5">
                        <a:lumMod val="60000"/>
                        <a:lumOff val="40000"/>
                      </a:schemeClr>
                    </a:solidFill>
                    <a:latin typeface="Arial"/>
                  </a:rPr>
                  <a:t>Mô hình hỗn hợp phân phối chuẩn</a:t>
                </a:r>
                <a:endParaRPr lang="vi-VN" sz="1400" b="1" dirty="0">
                  <a:solidFill>
                    <a:schemeClr val="bg2">
                      <a:lumMod val="50000"/>
                    </a:schemeClr>
                  </a:solidFill>
                  <a:latin typeface="Arial"/>
                </a:endParaRPr>
              </a:p>
              <a:p>
                <a:pPr>
                  <a:spcAft>
                    <a:spcPts val="600"/>
                  </a:spcAft>
                </a:pPr>
                <a:r>
                  <a:rPr lang="vi-VN" sz="1400" b="1" dirty="0">
                    <a:solidFill>
                      <a:schemeClr val="bg2">
                        <a:lumMod val="50000"/>
                      </a:schemeClr>
                    </a:solidFill>
                    <a:latin typeface="Arial"/>
                  </a:rPr>
                  <a:t>2.1.3. Tìm cực trị hàm mục tiêu</a:t>
                </a:r>
              </a:p>
              <a:p>
                <a:pPr>
                  <a:spcAft>
                    <a:spcPts val="600"/>
                  </a:spcAft>
                </a:pPr>
                <a:r>
                  <a:rPr lang="vi-VN" sz="1400" dirty="0">
                    <a:solidFill>
                      <a:srgbClr val="444B52"/>
                    </a:solidFill>
                    <a:latin typeface="Arial"/>
                  </a:rPr>
                  <a:t>	</a:t>
                </a:r>
              </a:p>
              <a:p>
                <a:pPr>
                  <a:spcAft>
                    <a:spcPts val="600"/>
                  </a:spcAft>
                </a:pPr>
                <a:endParaRPr lang="vi-VN" sz="1400" dirty="0">
                  <a:solidFill>
                    <a:srgbClr val="444B52"/>
                  </a:solidFill>
                  <a:latin typeface="Arial"/>
                </a:endParaRPr>
              </a:p>
              <a:p>
                <a:pPr>
                  <a:spcAft>
                    <a:spcPts val="600"/>
                  </a:spcAft>
                </a:pPr>
                <a:r>
                  <a:rPr lang="vi-VN" sz="1400" dirty="0">
                    <a:solidFill>
                      <a:srgbClr val="444B52"/>
                    </a:solidFill>
                    <a:latin typeface="Arial"/>
                  </a:rPr>
                  <a:t>	</a:t>
                </a:r>
              </a:p>
              <a:p>
                <a:pPr>
                  <a:spcAft>
                    <a:spcPts val="600"/>
                  </a:spcAft>
                </a:pPr>
                <a:r>
                  <a:rPr lang="vi-VN" sz="1400" dirty="0">
                    <a:solidFill>
                      <a:srgbClr val="444B52"/>
                    </a:solidFill>
                    <a:latin typeface="Arial"/>
                  </a:rPr>
                  <a:t>	- Từ hàm mục tiêu ở 2.1.2, ta thực hiện:</a:t>
                </a:r>
              </a:p>
              <a:p>
                <a:pPr>
                  <a:spcAft>
                    <a:spcPts val="600"/>
                  </a:spcAft>
                </a:pPr>
                <a:r>
                  <a:rPr lang="vi-VN" sz="1400" dirty="0">
                    <a:solidFill>
                      <a:srgbClr val="444B52"/>
                    </a:solidFill>
                    <a:latin typeface="Arial"/>
                  </a:rPr>
                  <a:t>		+ Lấy logarit 2 vế (cho dễ đạo hàm và tránh tràn số underflow)</a:t>
                </a:r>
              </a:p>
              <a:p>
                <a:pPr>
                  <a:spcAft>
                    <a:spcPts val="600"/>
                  </a:spcAft>
                </a:pPr>
                <a:r>
                  <a:rPr lang="vi-VN" sz="1400" dirty="0">
                    <a:solidFill>
                      <a:srgbClr val="444B52"/>
                    </a:solidFill>
                    <a:latin typeface="Arial"/>
                  </a:rPr>
                  <a:t>		+ Tìm đạo hàm riêng theo từng biến </a:t>
                </a:r>
                <a14:m>
                  <m:oMath xmlns:m="http://schemas.openxmlformats.org/officeDocument/2006/math">
                    <m:sSub>
                      <m:sSubPr>
                        <m:ctrlPr>
                          <a:rPr lang="en-US" sz="1400" b="1" i="1">
                            <a:solidFill>
                              <a:schemeClr val="accent6">
                                <a:lumMod val="75000"/>
                              </a:schemeClr>
                            </a:solidFill>
                            <a:latin typeface="Cambria Math" panose="02040503050406030204" pitchFamily="18" charset="0"/>
                          </a:rPr>
                        </m:ctrlPr>
                      </m:sSubPr>
                      <m:e>
                        <m:r>
                          <a:rPr lang="en-US" sz="1400" b="1" i="1">
                            <a:solidFill>
                              <a:schemeClr val="accent6">
                                <a:lumMod val="75000"/>
                              </a:schemeClr>
                            </a:solidFill>
                            <a:latin typeface="Cambria Math" panose="02040503050406030204" pitchFamily="18" charset="0"/>
                          </a:rPr>
                          <m:t>𝝅</m:t>
                        </m:r>
                      </m:e>
                      <m:sub>
                        <m:r>
                          <a:rPr lang="en-US" sz="1400" b="1" i="1">
                            <a:solidFill>
                              <a:schemeClr val="accent6">
                                <a:lumMod val="75000"/>
                              </a:schemeClr>
                            </a:solidFill>
                            <a:latin typeface="Cambria Math" panose="02040503050406030204" pitchFamily="18" charset="0"/>
                          </a:rPr>
                          <m:t>𝒌</m:t>
                        </m:r>
                      </m:sub>
                    </m:sSub>
                  </m:oMath>
                </a14:m>
                <a:r>
                  <a:rPr lang="vi-VN" sz="1400" dirty="0">
                    <a:solidFill>
                      <a:srgbClr val="444B52"/>
                    </a:solidFill>
                    <a:latin typeface="Arial"/>
                    <a:sym typeface="Wingdings" pitchFamily="2" charset="2"/>
                  </a:rPr>
                  <a:t>,</a:t>
                </a:r>
                <a:r>
                  <a:rPr lang="vi-VN" sz="1400" b="1" dirty="0">
                    <a:solidFill>
                      <a:srgbClr val="444B52"/>
                    </a:solidFill>
                    <a:latin typeface="Arial"/>
                    <a:sym typeface="Wingdings" pitchFamily="2" charset="2"/>
                  </a:rPr>
                  <a:t> </a:t>
                </a:r>
                <a14:m>
                  <m:oMath xmlns:m="http://schemas.openxmlformats.org/officeDocument/2006/math">
                    <m:sSub>
                      <m:sSubPr>
                        <m:ctrlPr>
                          <a:rPr lang="en-US" sz="1400" b="1" i="1">
                            <a:solidFill>
                              <a:schemeClr val="tx2">
                                <a:lumMod val="60000"/>
                                <a:lumOff val="40000"/>
                              </a:schemeClr>
                            </a:solidFill>
                            <a:latin typeface="Cambria Math" panose="02040503050406030204" pitchFamily="18" charset="0"/>
                          </a:rPr>
                        </m:ctrlPr>
                      </m:sSubPr>
                      <m:e>
                        <m:r>
                          <a:rPr lang="en-US" sz="1400" b="1" i="1">
                            <a:solidFill>
                              <a:schemeClr val="tx2">
                                <a:lumMod val="60000"/>
                                <a:lumOff val="40000"/>
                              </a:schemeClr>
                            </a:solidFill>
                            <a:latin typeface="Cambria Math" panose="02040503050406030204" pitchFamily="18" charset="0"/>
                          </a:rPr>
                          <m:t>𝝁</m:t>
                        </m:r>
                      </m:e>
                      <m:sub>
                        <m:r>
                          <a:rPr lang="en-US" sz="1400" b="1" i="1">
                            <a:solidFill>
                              <a:schemeClr val="tx2">
                                <a:lumMod val="60000"/>
                                <a:lumOff val="40000"/>
                              </a:schemeClr>
                            </a:solidFill>
                            <a:latin typeface="Cambria Math" panose="02040503050406030204" pitchFamily="18" charset="0"/>
                          </a:rPr>
                          <m:t>𝒌</m:t>
                        </m:r>
                      </m:sub>
                    </m:sSub>
                  </m:oMath>
                </a14:m>
                <a:r>
                  <a:rPr lang="vi-VN" sz="1400" dirty="0">
                    <a:solidFill>
                      <a:srgbClr val="444B52"/>
                    </a:solidFill>
                    <a:latin typeface="Arial"/>
                    <a:sym typeface="Wingdings" pitchFamily="2" charset="2"/>
                  </a:rPr>
                  <a:t>,</a:t>
                </a:r>
                <a:r>
                  <a:rPr lang="vi-VN" sz="1400" b="1" dirty="0">
                    <a:solidFill>
                      <a:srgbClr val="444B52"/>
                    </a:solidFill>
                    <a:latin typeface="Arial"/>
                    <a:sym typeface="Wingdings" pitchFamily="2" charset="2"/>
                  </a:rPr>
                  <a:t> </a:t>
                </a:r>
                <a14:m>
                  <m:oMath xmlns:m="http://schemas.openxmlformats.org/officeDocument/2006/math">
                    <m:sSub>
                      <m:sSubPr>
                        <m:ctrlPr>
                          <a:rPr lang="en-US" sz="1400" b="1" i="1" dirty="0">
                            <a:solidFill>
                              <a:srgbClr val="00B050"/>
                            </a:solidFill>
                            <a:latin typeface="Cambria Math" panose="02040503050406030204" pitchFamily="18" charset="0"/>
                          </a:rPr>
                        </m:ctrlPr>
                      </m:sSubPr>
                      <m:e>
                        <m:r>
                          <a:rPr lang="en-US" sz="1400" b="1" i="1" dirty="0">
                            <a:solidFill>
                              <a:srgbClr val="00B050"/>
                            </a:solidFill>
                            <a:latin typeface="Cambria Math" panose="02040503050406030204" pitchFamily="18" charset="0"/>
                          </a:rPr>
                          <m:t>𝝈</m:t>
                        </m:r>
                      </m:e>
                      <m:sub>
                        <m:r>
                          <a:rPr lang="en-US" sz="1400" b="1" i="1">
                            <a:solidFill>
                              <a:srgbClr val="00B050"/>
                            </a:solidFill>
                            <a:latin typeface="Cambria Math" panose="02040503050406030204" pitchFamily="18" charset="0"/>
                          </a:rPr>
                          <m:t>𝒌</m:t>
                        </m:r>
                      </m:sub>
                    </m:sSub>
                  </m:oMath>
                </a14:m>
                <a:r>
                  <a:rPr lang="vi-VN" sz="1400" dirty="0">
                    <a:solidFill>
                      <a:srgbClr val="444B52"/>
                    </a:solidFill>
                    <a:latin typeface="Arial"/>
                  </a:rPr>
                  <a:t>, rồi cho đạo hàm bằng 0 tìm cực trị</a:t>
                </a:r>
              </a:p>
            </p:txBody>
          </p:sp>
        </mc:Choice>
        <mc:Fallback xmlns="">
          <p:sp>
            <p:nvSpPr>
              <p:cNvPr id="12" name="TextBox 11">
                <a:extLst>
                  <a:ext uri="{FF2B5EF4-FFF2-40B4-BE49-F238E27FC236}">
                    <a16:creationId xmlns:a16="http://schemas.microsoft.com/office/drawing/2014/main" id="{2DFC7060-D933-596D-631C-5375D615A6DD}"/>
                  </a:ext>
                </a:extLst>
              </p:cNvPr>
              <p:cNvSpPr txBox="1">
                <a:spLocks noRot="1" noChangeAspect="1" noMove="1" noResize="1" noEditPoints="1" noAdjustHandles="1" noChangeArrowheads="1" noChangeShapeType="1" noTextEdit="1"/>
              </p:cNvSpPr>
              <p:nvPr/>
            </p:nvSpPr>
            <p:spPr>
              <a:xfrm>
                <a:off x="364066" y="1267771"/>
                <a:ext cx="11283437" cy="2354491"/>
              </a:xfrm>
              <a:prstGeom prst="rect">
                <a:avLst/>
              </a:prstGeom>
              <a:blipFill>
                <a:blip r:embed="rId3"/>
                <a:stretch>
                  <a:fillRect l="-112" t="-535" b="-1070"/>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52E1C093-A174-ACCA-2F46-DDDBD3B55E28}"/>
                  </a:ext>
                </a:extLst>
              </p:cNvPr>
              <p:cNvSpPr txBox="1"/>
              <p:nvPr/>
            </p:nvSpPr>
            <p:spPr>
              <a:xfrm>
                <a:off x="976625" y="1966578"/>
                <a:ext cx="2869375" cy="605807"/>
              </a:xfrm>
              <a:prstGeom prst="rect">
                <a:avLst/>
              </a:prstGeom>
              <a:noFill/>
            </p:spPr>
            <p:txBody>
              <a:bodyPr wrap="none" lIns="0" tIns="0" rIns="0" bIns="0" rtlCol="0">
                <a:spAutoFit/>
              </a:bodyPr>
              <a:lstStyle/>
              <a:p>
                <a:pPr/>
                <a14:m>
                  <m:oMathPara xmlns:m="http://schemas.openxmlformats.org/officeDocument/2006/math">
                    <m:oMath>
                      <m:r>
                        <a:rPr lang="en-VN" sz="1400" i="1">
                          <a:latin typeface="Cambria Math" panose="02040503050406030204" pitchFamily="18" charset="0"/>
                        </a:rPr>
                        <m:t>𝐿</m:t>
                      </m:r>
                      <m:d>
                        <m:dPr>
                          <m:ctrlPr>
                            <a:rPr lang="en-US" sz="1400" i="1">
                              <a:latin typeface="Cambria Math" panose="02040503050406030204" pitchFamily="18" charset="0"/>
                            </a:rPr>
                          </m:ctrlPr>
                        </m:dPr>
                        <m:e>
                          <m:r>
                            <a:rPr lang="en-US" sz="1400" i="1">
                              <a:latin typeface="Cambria Math" panose="02040503050406030204" pitchFamily="18" charset="0"/>
                            </a:rPr>
                            <m:t>𝜃</m:t>
                          </m:r>
                          <m:r>
                            <a:rPr lang="en-VN" sz="1400">
                              <a:latin typeface="Cambria Math" panose="02040503050406030204" pitchFamily="18" charset="0"/>
                            </a:rPr>
                            <m:t>∣</m:t>
                          </m:r>
                          <m:r>
                            <a:rPr lang="en-VN" sz="1400" i="1">
                              <a:latin typeface="Cambria Math" panose="02040503050406030204" pitchFamily="18" charset="0"/>
                            </a:rPr>
                            <m:t>𝑥</m:t>
                          </m:r>
                        </m:e>
                      </m:d>
                      <m:r>
                        <a:rPr lang="vi-VN" sz="1400" smtClean="0">
                          <a:latin typeface="Cambria Math" panose="02040503050406030204" pitchFamily="18" charset="0"/>
                        </a:rPr>
                        <m:t>=</m:t>
                      </m:r>
                      <m:nary>
                        <m:naryPr>
                          <m:chr m:val="∏"/>
                          <m:limLoc m:val="undOvr"/>
                          <m:ctrlPr>
                            <a:rPr lang="en-US" sz="1400" i="1">
                              <a:latin typeface="Cambria Math" panose="02040503050406030204" pitchFamily="18" charset="0"/>
                            </a:rPr>
                          </m:ctrlPr>
                        </m:naryPr>
                        <m:sub>
                          <m:r>
                            <a:rPr lang="en-US" sz="1400" i="1">
                              <a:latin typeface="Cambria Math" panose="02040503050406030204" pitchFamily="18" charset="0"/>
                            </a:rPr>
                            <m:t>𝑛</m:t>
                          </m:r>
                          <m:r>
                            <a:rPr lang="en-US" sz="1400" i="1">
                              <a:latin typeface="Cambria Math" panose="02040503050406030204" pitchFamily="18" charset="0"/>
                            </a:rPr>
                            <m:t>=1</m:t>
                          </m:r>
                        </m:sub>
                        <m:sup>
                          <m:r>
                            <a:rPr lang="en-US" sz="1400" i="1">
                              <a:latin typeface="Cambria Math" panose="02040503050406030204" pitchFamily="18" charset="0"/>
                            </a:rPr>
                            <m:t>𝑁</m:t>
                          </m:r>
                        </m:sup>
                        <m:e>
                          <m:nary>
                            <m:naryPr>
                              <m:chr m:val="∑"/>
                              <m:limLoc m:val="undOvr"/>
                              <m:ctrlPr>
                                <a:rPr lang="en-US" sz="1400" i="1">
                                  <a:solidFill>
                                    <a:schemeClr val="accent6">
                                      <a:lumMod val="75000"/>
                                    </a:schemeClr>
                                  </a:solidFill>
                                  <a:latin typeface="Cambria Math" panose="02040503050406030204" pitchFamily="18" charset="0"/>
                                </a:rPr>
                              </m:ctrlPr>
                            </m:naryPr>
                            <m:sub>
                              <m:r>
                                <a:rPr lang="en-US" sz="1400" i="1">
                                  <a:solidFill>
                                    <a:schemeClr val="accent6">
                                      <a:lumMod val="75000"/>
                                    </a:schemeClr>
                                  </a:solidFill>
                                  <a:latin typeface="Cambria Math" panose="02040503050406030204" pitchFamily="18" charset="0"/>
                                </a:rPr>
                                <m:t>𝑘</m:t>
                              </m:r>
                              <m:r>
                                <a:rPr lang="en-US" sz="1400" i="1">
                                  <a:solidFill>
                                    <a:schemeClr val="accent6">
                                      <a:lumMod val="75000"/>
                                    </a:schemeClr>
                                  </a:solidFill>
                                  <a:latin typeface="Cambria Math" panose="02040503050406030204" pitchFamily="18" charset="0"/>
                                </a:rPr>
                                <m:t>=1</m:t>
                              </m:r>
                            </m:sub>
                            <m:sup>
                              <m:r>
                                <a:rPr lang="en-US" sz="1400" i="1">
                                  <a:solidFill>
                                    <a:schemeClr val="accent6">
                                      <a:lumMod val="75000"/>
                                    </a:schemeClr>
                                  </a:solidFill>
                                  <a:latin typeface="Cambria Math" panose="02040503050406030204" pitchFamily="18" charset="0"/>
                                </a:rPr>
                                <m:t>𝐾</m:t>
                              </m:r>
                            </m:sup>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𝜋</m:t>
                                  </m:r>
                                </m:e>
                                <m:sub>
                                  <m:r>
                                    <a:rPr lang="en-US" sz="1400" i="1">
                                      <a:solidFill>
                                        <a:schemeClr val="accent6">
                                          <a:lumMod val="75000"/>
                                        </a:schemeClr>
                                      </a:solidFill>
                                      <a:latin typeface="Cambria Math" panose="02040503050406030204" pitchFamily="18" charset="0"/>
                                    </a:rPr>
                                    <m:t>𝑘</m:t>
                                  </m:r>
                                </m:sub>
                              </m:sSub>
                            </m:e>
                          </m:nary>
                        </m:e>
                      </m:nary>
                      <m:r>
                        <a:rPr lang="en-US" sz="1400" i="1" smtClean="0">
                          <a:solidFill>
                            <a:schemeClr val="accent6">
                              <a:lumMod val="75000"/>
                            </a:schemeClr>
                          </a:solidFill>
                          <a:latin typeface="Cambria Math" panose="02040503050406030204" pitchFamily="18" charset="0"/>
                        </a:rPr>
                        <m:t>𝒩</m:t>
                      </m:r>
                      <m:d>
                        <m:dPr>
                          <m:ctrlPr>
                            <a:rPr lang="en-US" sz="1400" i="1">
                              <a:solidFill>
                                <a:schemeClr val="accent6">
                                  <a:lumMod val="75000"/>
                                </a:schemeClr>
                              </a:solidFill>
                              <a:latin typeface="Cambria Math" panose="02040503050406030204" pitchFamily="18" charset="0"/>
                            </a:rPr>
                          </m:ctrlPr>
                        </m:dPr>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𝑥</m:t>
                              </m:r>
                            </m:e>
                            <m:sub>
                              <m:r>
                                <a:rPr lang="en-US" sz="1400" i="1">
                                  <a:solidFill>
                                    <a:schemeClr val="accent6">
                                      <a:lumMod val="75000"/>
                                    </a:schemeClr>
                                  </a:solidFill>
                                  <a:latin typeface="Cambria Math" panose="02040503050406030204" pitchFamily="18" charset="0"/>
                                </a:rPr>
                                <m:t>𝑛</m:t>
                              </m:r>
                            </m:sub>
                          </m:sSub>
                          <m:r>
                            <a:rPr lang="en-US" sz="1400" i="1">
                              <a:solidFill>
                                <a:schemeClr val="accent6">
                                  <a:lumMod val="75000"/>
                                </a:schemeClr>
                              </a:solidFill>
                              <a:latin typeface="Cambria Math" panose="02040503050406030204" pitchFamily="18" charset="0"/>
                            </a:rPr>
                            <m:t>∣</m:t>
                          </m:r>
                          <m:sSub>
                            <m:sSubPr>
                              <m:ctrlPr>
                                <a:rPr lang="en-US" sz="1400" b="0" i="1">
                                  <a:solidFill>
                                    <a:schemeClr val="accent6">
                                      <a:lumMod val="75000"/>
                                    </a:schemeClr>
                                  </a:solidFill>
                                  <a:latin typeface="Cambria Math" panose="02040503050406030204" pitchFamily="18" charset="0"/>
                                </a:rPr>
                              </m:ctrlPr>
                            </m:sSubPr>
                            <m:e>
                              <m:r>
                                <a:rPr lang="en-US" sz="1400" b="0" i="1">
                                  <a:solidFill>
                                    <a:schemeClr val="accent6">
                                      <a:lumMod val="75000"/>
                                    </a:schemeClr>
                                  </a:solidFill>
                                  <a:latin typeface="Cambria Math" panose="02040503050406030204" pitchFamily="18" charset="0"/>
                                </a:rPr>
                                <m:t>𝜇</m:t>
                              </m:r>
                            </m:e>
                            <m:sub>
                              <m:r>
                                <a:rPr lang="en-US" sz="1400" b="0" i="1">
                                  <a:solidFill>
                                    <a:schemeClr val="accent6">
                                      <a:lumMod val="75000"/>
                                    </a:schemeClr>
                                  </a:solidFill>
                                  <a:latin typeface="Cambria Math" panose="02040503050406030204" pitchFamily="18" charset="0"/>
                                </a:rPr>
                                <m:t>𝑘</m:t>
                              </m:r>
                            </m:sub>
                          </m:sSub>
                          <m:r>
                            <a:rPr lang="vi-VN" sz="1400" b="0" i="1" smtClean="0">
                              <a:solidFill>
                                <a:schemeClr val="accent6">
                                  <a:lumMod val="75000"/>
                                </a:schemeClr>
                              </a:solidFill>
                              <a:latin typeface="Cambria Math" panose="02040503050406030204" pitchFamily="18" charset="0"/>
                            </a:rPr>
                            <m:t>,</m:t>
                          </m:r>
                          <m:sSubSup>
                            <m:sSubSupPr>
                              <m:ctrlPr>
                                <a:rPr lang="en-US" sz="1400" b="0" i="1">
                                  <a:solidFill>
                                    <a:schemeClr val="accent6">
                                      <a:lumMod val="75000"/>
                                    </a:schemeClr>
                                  </a:solidFill>
                                  <a:latin typeface="Cambria Math" panose="02040503050406030204" pitchFamily="18" charset="0"/>
                                </a:rPr>
                              </m:ctrlPr>
                            </m:sSubSupPr>
                            <m:e>
                              <m:r>
                                <a:rPr lang="en-US" sz="1400" b="0" i="1">
                                  <a:solidFill>
                                    <a:schemeClr val="accent6">
                                      <a:lumMod val="75000"/>
                                    </a:schemeClr>
                                  </a:solidFill>
                                  <a:latin typeface="Cambria Math" panose="02040503050406030204" pitchFamily="18" charset="0"/>
                                </a:rPr>
                                <m:t>𝜎</m:t>
                              </m:r>
                            </m:e>
                            <m:sub>
                              <m:r>
                                <a:rPr lang="en-US" sz="1400" b="0" i="1">
                                  <a:solidFill>
                                    <a:schemeClr val="accent6">
                                      <a:lumMod val="75000"/>
                                    </a:schemeClr>
                                  </a:solidFill>
                                  <a:latin typeface="Cambria Math" panose="02040503050406030204" pitchFamily="18" charset="0"/>
                                </a:rPr>
                                <m:t>𝑘</m:t>
                              </m:r>
                            </m:sub>
                            <m:sup>
                              <m:r>
                                <a:rPr lang="en-US" sz="1400" b="0" i="1">
                                  <a:solidFill>
                                    <a:schemeClr val="accent6">
                                      <a:lumMod val="75000"/>
                                    </a:schemeClr>
                                  </a:solidFill>
                                  <a:latin typeface="Cambria Math" panose="02040503050406030204" pitchFamily="18" charset="0"/>
                                </a:rPr>
                                <m:t>2</m:t>
                              </m:r>
                            </m:sup>
                          </m:sSubSup>
                        </m:e>
                      </m:d>
                    </m:oMath>
                  </m:oMathPara>
                </a14:m>
                <a:endParaRPr dirty="0"/>
              </a:p>
            </p:txBody>
          </p:sp>
        </mc:Choice>
        <mc:Fallback xmlns="">
          <p:sp>
            <p:nvSpPr>
              <p:cNvPr id="40" name="TextBox 39">
                <a:extLst>
                  <a:ext uri="{FF2B5EF4-FFF2-40B4-BE49-F238E27FC236}">
                    <a16:creationId xmlns:a16="http://schemas.microsoft.com/office/drawing/2014/main" id="{52E1C093-A174-ACCA-2F46-DDDBD3B55E28}"/>
                  </a:ext>
                </a:extLst>
              </p:cNvPr>
              <p:cNvSpPr txBox="1">
                <a:spLocks noRot="1" noChangeAspect="1" noMove="1" noResize="1" noEditPoints="1" noAdjustHandles="1" noChangeArrowheads="1" noChangeShapeType="1" noTextEdit="1"/>
              </p:cNvSpPr>
              <p:nvPr/>
            </p:nvSpPr>
            <p:spPr>
              <a:xfrm>
                <a:off x="976625" y="1966578"/>
                <a:ext cx="2869375" cy="605807"/>
              </a:xfrm>
              <a:prstGeom prst="rect">
                <a:avLst/>
              </a:prstGeom>
              <a:blipFill>
                <a:blip r:embed="rId4"/>
                <a:stretch>
                  <a:fillRect t="-116667" r="-3524" b="-179167"/>
                </a:stretch>
              </a:blipFill>
            </p:spPr>
            <p:txBody>
              <a:bodyPr/>
              <a:lstStyle/>
              <a:p>
                <a:r>
                  <a:rPr lang="en-VN">
                    <a:noFill/>
                  </a:rPr>
                  <a:t> </a:t>
                </a:r>
              </a:p>
            </p:txBody>
          </p:sp>
        </mc:Fallback>
      </mc:AlternateContent>
      <p:sp>
        <p:nvSpPr>
          <p:cNvPr id="3" name="TextBox 2">
            <a:extLst>
              <a:ext uri="{FF2B5EF4-FFF2-40B4-BE49-F238E27FC236}">
                <a16:creationId xmlns:a16="http://schemas.microsoft.com/office/drawing/2014/main" id="{C1ADFF8B-FBBB-304F-DE4A-81FF396C375D}"/>
              </a:ext>
            </a:extLst>
          </p:cNvPr>
          <p:cNvSpPr txBox="1"/>
          <p:nvPr/>
        </p:nvSpPr>
        <p:spPr>
          <a:xfrm>
            <a:off x="10015504" y="6358097"/>
            <a:ext cx="1606530" cy="307777"/>
          </a:xfrm>
          <a:prstGeom prst="rect">
            <a:avLst/>
          </a:prstGeom>
          <a:noFill/>
        </p:spPr>
        <p:txBody>
          <a:bodyPr wrap="none" rtlCol="0">
            <a:spAutoFit/>
          </a:bodyPr>
          <a:lstStyle/>
          <a:p>
            <a:r>
              <a:rPr lang="vi-VN" sz="1400" dirty="0"/>
              <a:t>Phương pháp EM</a:t>
            </a:r>
            <a:endParaRPr lang="el-GR" sz="1400" dirty="0"/>
          </a:p>
        </p:txBody>
      </p:sp>
      <p:sp>
        <p:nvSpPr>
          <p:cNvPr id="4" name="Right Arrow 3">
            <a:extLst>
              <a:ext uri="{FF2B5EF4-FFF2-40B4-BE49-F238E27FC236}">
                <a16:creationId xmlns:a16="http://schemas.microsoft.com/office/drawing/2014/main" id="{5EE693B1-ADB6-0737-4D5E-3540B72A32BC}"/>
              </a:ext>
            </a:extLst>
          </p:cNvPr>
          <p:cNvSpPr/>
          <p:nvPr/>
        </p:nvSpPr>
        <p:spPr>
          <a:xfrm>
            <a:off x="11622034" y="6319626"/>
            <a:ext cx="350891" cy="384721"/>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VN"/>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BE79E60-ABF8-9DDD-7657-CDE93FF0DF40}"/>
                  </a:ext>
                </a:extLst>
              </p:cNvPr>
              <p:cNvSpPr txBox="1"/>
              <p:nvPr/>
            </p:nvSpPr>
            <p:spPr>
              <a:xfrm>
                <a:off x="3611788" y="3806026"/>
                <a:ext cx="3962620" cy="3050194"/>
              </a:xfrm>
              <a:prstGeom prst="rect">
                <a:avLst/>
              </a:prstGeom>
              <a:noFill/>
            </p:spPr>
            <p:txBody>
              <a:bodyPr wrap="square">
                <a:spAutoFit/>
              </a:bodyPr>
              <a:lstStyle/>
              <a:p>
                <a:pPr/>
                <a14:m>
                  <m:oMathPara xmlns:m="http://schemas.openxmlformats.org/officeDocument/2006/math">
                    <m:oMath>
                      <m:sSub>
                        <m:sSubPr>
                          <m:ctrlPr>
                            <a:rPr lang="en-VN" sz="1400" b="1" i="1" smtClean="0">
                              <a:solidFill>
                                <a:srgbClr val="0070C0"/>
                              </a:solidFill>
                              <a:latin typeface="Cambria Math" panose="02040503050406030204" pitchFamily="18" charset="0"/>
                            </a:rPr>
                          </m:ctrlPr>
                        </m:sSubPr>
                        <m:e>
                          <m:r>
                            <a:rPr lang="en-VN" sz="1400" b="1" i="1" smtClean="0">
                              <a:solidFill>
                                <a:srgbClr val="0070C0"/>
                              </a:solidFill>
                              <a:latin typeface="Cambria Math" panose="02040503050406030204" pitchFamily="18" charset="0"/>
                            </a:rPr>
                            <m:t>𝝁</m:t>
                          </m:r>
                        </m:e>
                        <m:sub>
                          <m:r>
                            <a:rPr lang="en-VN" sz="1400" b="1" i="1">
                              <a:solidFill>
                                <a:srgbClr val="0070C0"/>
                              </a:solidFill>
                              <a:latin typeface="Cambria Math" panose="02040503050406030204" pitchFamily="18" charset="0"/>
                            </a:rPr>
                            <m:t>𝒋</m:t>
                          </m:r>
                        </m:sub>
                      </m:sSub>
                      <m:r>
                        <a:rPr lang="en-VN" sz="1400" i="0">
                          <a:latin typeface="Cambria Math" panose="02040503050406030204" pitchFamily="18" charset="0"/>
                        </a:rPr>
                        <m:t>=</m:t>
                      </m:r>
                      <m:f>
                        <m:fPr>
                          <m:ctrlPr>
                            <a:rPr lang="en-VN" sz="1400" i="1">
                              <a:latin typeface="Cambria Math" panose="02040503050406030204" pitchFamily="18" charset="0"/>
                            </a:rPr>
                          </m:ctrlPr>
                        </m:fPr>
                        <m:num>
                          <m:nary>
                            <m:naryPr>
                              <m:chr m:val="∑"/>
                              <m:limLoc m:val="undOvr"/>
                              <m:ctrlPr>
                                <a:rPr lang="en-VN" sz="1400" i="1">
                                  <a:latin typeface="Cambria Math" panose="02040503050406030204" pitchFamily="18" charset="0"/>
                                </a:rPr>
                              </m:ctrlPr>
                            </m:naryPr>
                            <m:sub>
                              <m:r>
                                <a:rPr lang="en-VN" sz="1400" i="1">
                                  <a:latin typeface="Cambria Math" panose="02040503050406030204" pitchFamily="18" charset="0"/>
                                </a:rPr>
                                <m:t>𝑖</m:t>
                              </m:r>
                              <m:r>
                                <a:rPr lang="en-VN" sz="1400" i="0">
                                  <a:latin typeface="Cambria Math" panose="02040503050406030204" pitchFamily="18" charset="0"/>
                                </a:rPr>
                                <m:t>=1</m:t>
                              </m:r>
                            </m:sub>
                            <m:sup>
                              <m:r>
                                <a:rPr lang="en-VN" sz="1400" i="1">
                                  <a:latin typeface="Cambria Math" panose="02040503050406030204" pitchFamily="18" charset="0"/>
                                </a:rPr>
                                <m:t>𝑁</m:t>
                              </m:r>
                            </m:sup>
                            <m:e>
                              <m:d>
                                <m:dPr>
                                  <m:begChr m:val="["/>
                                  <m:endChr m:val="]"/>
                                  <m:ctrlPr>
                                    <a:rPr lang="en-VN" sz="1400" i="1">
                                      <a:latin typeface="Cambria Math" panose="02040503050406030204" pitchFamily="18" charset="0"/>
                                    </a:rPr>
                                  </m:ctrlPr>
                                </m:dPr>
                                <m:e>
                                  <m:f>
                                    <m:fPr>
                                      <m:ctrlPr>
                                        <a:rPr lang="en-VN" sz="1400" i="1">
                                          <a:latin typeface="Cambria Math" panose="02040503050406030204" pitchFamily="18" charset="0"/>
                                        </a:rPr>
                                      </m:ctrlPr>
                                    </m:fPr>
                                    <m:num>
                                      <m:sSub>
                                        <m:sSubPr>
                                          <m:ctrlPr>
                                            <a:rPr lang="en-VN" sz="1400" i="1">
                                              <a:latin typeface="Cambria Math" panose="02040503050406030204" pitchFamily="18" charset="0"/>
                                            </a:rPr>
                                          </m:ctrlPr>
                                        </m:sSubPr>
                                        <m:e>
                                          <m:r>
                                            <a:rPr lang="en-VN" sz="1400" i="1">
                                              <a:latin typeface="Cambria Math" panose="02040503050406030204" pitchFamily="18" charset="0"/>
                                            </a:rPr>
                                            <m:t>𝜋</m:t>
                                          </m:r>
                                        </m:e>
                                        <m:sub>
                                          <m:r>
                                            <a:rPr lang="en-VN" sz="1400" i="1">
                                              <a:latin typeface="Cambria Math" panose="02040503050406030204" pitchFamily="18" charset="0"/>
                                            </a:rPr>
                                            <m:t>𝑗</m:t>
                                          </m:r>
                                        </m:sub>
                                      </m:sSub>
                                      <m:f>
                                        <m:fPr>
                                          <m:ctrlPr>
                                            <a:rPr lang="en-VN" sz="1400" i="0">
                                              <a:latin typeface="Cambria Math" panose="02040503050406030204" pitchFamily="18" charset="0"/>
                                            </a:rPr>
                                          </m:ctrlPr>
                                        </m:fPr>
                                        <m:num>
                                          <m:r>
                                            <a:rPr lang="en-VN" sz="1400" i="0">
                                              <a:latin typeface="Cambria Math" panose="02040503050406030204" pitchFamily="18" charset="0"/>
                                            </a:rPr>
                                            <m:t>1</m:t>
                                          </m:r>
                                        </m:num>
                                        <m:den>
                                          <m:rad>
                                            <m:radPr>
                                              <m:degHide m:val="on"/>
                                              <m:ctrlPr>
                                                <a:rPr lang="en-VN" sz="1400" i="1">
                                                  <a:latin typeface="Cambria Math" panose="02040503050406030204" pitchFamily="18" charset="0"/>
                                                </a:rPr>
                                              </m:ctrlPr>
                                            </m:radPr>
                                            <m:deg/>
                                            <m:e>
                                              <m:r>
                                                <a:rPr lang="en-VN" sz="1400" i="0">
                                                  <a:latin typeface="Cambria Math" panose="02040503050406030204" pitchFamily="18" charset="0"/>
                                                </a:rPr>
                                                <m:t>2</m:t>
                                              </m:r>
                                              <m:r>
                                                <a:rPr lang="en-VN" sz="1400" i="1">
                                                  <a:latin typeface="Cambria Math" panose="02040503050406030204" pitchFamily="18" charset="0"/>
                                                </a:rPr>
                                                <m:t>𝜋</m:t>
                                              </m:r>
                                              <m:sSubSup>
                                                <m:sSubSupPr>
                                                  <m:ctrlPr>
                                                    <a:rPr lang="en-VN" sz="1400" i="1">
                                                      <a:latin typeface="Cambria Math" panose="02040503050406030204" pitchFamily="18" charset="0"/>
                                                    </a:rPr>
                                                  </m:ctrlPr>
                                                </m:sSubSupPr>
                                                <m:e>
                                                  <m:r>
                                                    <a:rPr lang="en-VN" sz="1400" i="1">
                                                      <a:latin typeface="Cambria Math" panose="02040503050406030204" pitchFamily="18" charset="0"/>
                                                    </a:rPr>
                                                    <m:t>𝜎</m:t>
                                                  </m:r>
                                                </m:e>
                                                <m:sub>
                                                  <m:r>
                                                    <a:rPr lang="en-VN" sz="1400" i="1">
                                                      <a:latin typeface="Cambria Math" panose="02040503050406030204" pitchFamily="18" charset="0"/>
                                                    </a:rPr>
                                                    <m:t>𝑗</m:t>
                                                  </m:r>
                                                </m:sub>
                                                <m:sup>
                                                  <m:r>
                                                    <a:rPr lang="en-VN" sz="1400" i="0">
                                                      <a:latin typeface="Cambria Math" panose="02040503050406030204" pitchFamily="18" charset="0"/>
                                                    </a:rPr>
                                                    <m:t>2</m:t>
                                                  </m:r>
                                                </m:sup>
                                              </m:sSubSup>
                                            </m:e>
                                          </m:rad>
                                        </m:den>
                                      </m:f>
                                      <m:func>
                                        <m:funcPr>
                                          <m:ctrlPr>
                                            <a:rPr lang="en-VN" sz="1400" i="0">
                                              <a:latin typeface="Cambria Math" panose="02040503050406030204" pitchFamily="18" charset="0"/>
                                            </a:rPr>
                                          </m:ctrlPr>
                                        </m:funcPr>
                                        <m:fName>
                                          <m:r>
                                            <m:rPr>
                                              <m:sty m:val="p"/>
                                            </m:rPr>
                                            <a:rPr lang="en-VN" sz="1400" i="0">
                                              <a:latin typeface="Cambria Math" panose="02040503050406030204" pitchFamily="18" charset="0"/>
                                            </a:rPr>
                                            <m:t>exp</m:t>
                                          </m:r>
                                        </m:fName>
                                        <m:e>
                                          <m:d>
                                            <m:dPr>
                                              <m:ctrlPr>
                                                <a:rPr lang="en-VN" sz="1400" i="0">
                                                  <a:latin typeface="Cambria Math" panose="02040503050406030204" pitchFamily="18" charset="0"/>
                                                </a:rPr>
                                              </m:ctrlPr>
                                            </m:dPr>
                                            <m:e>
                                              <m:r>
                                                <a:rPr lang="en-VN" sz="1400" i="0">
                                                  <a:latin typeface="Cambria Math" panose="02040503050406030204" pitchFamily="18" charset="0"/>
                                                </a:rPr>
                                                <m:t>−</m:t>
                                              </m:r>
                                              <m:f>
                                                <m:fPr>
                                                  <m:ctrlPr>
                                                    <a:rPr lang="en-VN" sz="1400" i="1">
                                                      <a:latin typeface="Cambria Math" panose="02040503050406030204" pitchFamily="18" charset="0"/>
                                                    </a:rPr>
                                                  </m:ctrlPr>
                                                </m:fPr>
                                                <m:num>
                                                  <m:sSup>
                                                    <m:sSupPr>
                                                      <m:ctrlPr>
                                                        <a:rPr lang="en-VN" sz="1400" i="1">
                                                          <a:latin typeface="Cambria Math" panose="02040503050406030204" pitchFamily="18" charset="0"/>
                                                        </a:rPr>
                                                      </m:ctrlPr>
                                                    </m:sSupPr>
                                                    <m:e>
                                                      <m:d>
                                                        <m:dPr>
                                                          <m:ctrlPr>
                                                            <a:rPr lang="en-VN" sz="1400" i="1">
                                                              <a:latin typeface="Cambria Math" panose="02040503050406030204" pitchFamily="18" charset="0"/>
                                                            </a:rPr>
                                                          </m:ctrlPr>
                                                        </m:dPr>
                                                        <m:e>
                                                          <m:sSub>
                                                            <m:sSubPr>
                                                              <m:ctrlPr>
                                                                <a:rPr lang="en-VN" sz="1400" i="1">
                                                                  <a:latin typeface="Cambria Math" panose="02040503050406030204" pitchFamily="18" charset="0"/>
                                                                </a:rPr>
                                                              </m:ctrlPr>
                                                            </m:sSubPr>
                                                            <m:e>
                                                              <m:r>
                                                                <a:rPr lang="en-VN" sz="1400" i="1">
                                                                  <a:latin typeface="Cambria Math" panose="02040503050406030204" pitchFamily="18" charset="0"/>
                                                                </a:rPr>
                                                                <m:t>𝑥</m:t>
                                                              </m:r>
                                                            </m:e>
                                                            <m:sub>
                                                              <m:r>
                                                                <a:rPr lang="en-VN" sz="1400" i="1">
                                                                  <a:latin typeface="Cambria Math" panose="02040503050406030204" pitchFamily="18" charset="0"/>
                                                                </a:rPr>
                                                                <m:t>𝑖</m:t>
                                                              </m:r>
                                                            </m:sub>
                                                          </m:sSub>
                                                          <m:r>
                                                            <a:rPr lang="en-VN" sz="1400" i="0">
                                                              <a:latin typeface="Cambria Math" panose="02040503050406030204" pitchFamily="18" charset="0"/>
                                                            </a:rPr>
                                                            <m:t>−</m:t>
                                                          </m:r>
                                                          <m:sSub>
                                                            <m:sSubPr>
                                                              <m:ctrlPr>
                                                                <a:rPr lang="en-VN" sz="1400" b="1" i="1" smtClean="0">
                                                                  <a:solidFill>
                                                                    <a:srgbClr val="0070C0"/>
                                                                  </a:solidFill>
                                                                  <a:latin typeface="Cambria Math" panose="02040503050406030204" pitchFamily="18" charset="0"/>
                                                                </a:rPr>
                                                              </m:ctrlPr>
                                                            </m:sSubPr>
                                                            <m:e>
                                                              <m:r>
                                                                <a:rPr lang="en-VN" sz="1400" b="1" i="1" smtClean="0">
                                                                  <a:solidFill>
                                                                    <a:srgbClr val="0070C0"/>
                                                                  </a:solidFill>
                                                                  <a:latin typeface="Cambria Math" panose="02040503050406030204" pitchFamily="18" charset="0"/>
                                                                </a:rPr>
                                                                <m:t>𝝁</m:t>
                                                              </m:r>
                                                            </m:e>
                                                            <m:sub>
                                                              <m:r>
                                                                <a:rPr lang="en-VN" sz="1400" b="1" i="1">
                                                                  <a:solidFill>
                                                                    <a:srgbClr val="0070C0"/>
                                                                  </a:solidFill>
                                                                  <a:latin typeface="Cambria Math" panose="02040503050406030204" pitchFamily="18" charset="0"/>
                                                                </a:rPr>
                                                                <m:t>𝒋</m:t>
                                                              </m:r>
                                                            </m:sub>
                                                          </m:sSub>
                                                        </m:e>
                                                      </m:d>
                                                    </m:e>
                                                    <m:sup>
                                                      <m:r>
                                                        <a:rPr lang="en-VN" sz="1400" b="0" i="0">
                                                          <a:latin typeface="Cambria Math" panose="02040503050406030204" pitchFamily="18" charset="0"/>
                                                        </a:rPr>
                                                        <m:t>2</m:t>
                                                      </m:r>
                                                    </m:sup>
                                                  </m:sSup>
                                                </m:num>
                                                <m:den>
                                                  <m:r>
                                                    <a:rPr lang="en-VN" sz="1400" b="0" i="0">
                                                      <a:latin typeface="Cambria Math" panose="02040503050406030204" pitchFamily="18" charset="0"/>
                                                    </a:rPr>
                                                    <m:t>2</m:t>
                                                  </m:r>
                                                  <m:sSubSup>
                                                    <m:sSubSupPr>
                                                      <m:ctrlPr>
                                                        <a:rPr lang="en-VN" sz="1400" b="0" i="1">
                                                          <a:latin typeface="Cambria Math" panose="02040503050406030204" pitchFamily="18" charset="0"/>
                                                        </a:rPr>
                                                      </m:ctrlPr>
                                                    </m:sSubSupPr>
                                                    <m:e>
                                                      <m:r>
                                                        <a:rPr lang="en-VN" sz="1400" b="0" i="1">
                                                          <a:latin typeface="Cambria Math" panose="02040503050406030204" pitchFamily="18" charset="0"/>
                                                        </a:rPr>
                                                        <m:t>𝜎</m:t>
                                                      </m:r>
                                                    </m:e>
                                                    <m:sub>
                                                      <m:r>
                                                        <a:rPr lang="en-VN" sz="1400" b="0" i="1">
                                                          <a:latin typeface="Cambria Math" panose="02040503050406030204" pitchFamily="18" charset="0"/>
                                                        </a:rPr>
                                                        <m:t>𝑗</m:t>
                                                      </m:r>
                                                    </m:sub>
                                                    <m:sup>
                                                      <m:r>
                                                        <a:rPr lang="en-VN" sz="1400" b="0" i="0">
                                                          <a:latin typeface="Cambria Math" panose="02040503050406030204" pitchFamily="18" charset="0"/>
                                                        </a:rPr>
                                                        <m:t>2</m:t>
                                                      </m:r>
                                                    </m:sup>
                                                  </m:sSubSup>
                                                </m:den>
                                              </m:f>
                                            </m:e>
                                          </m:d>
                                        </m:e>
                                      </m:func>
                                    </m:num>
                                    <m:den>
                                      <m:nary>
                                        <m:naryPr>
                                          <m:chr m:val="∑"/>
                                          <m:limLoc m:val="undOvr"/>
                                          <m:ctrlPr>
                                            <a:rPr lang="en-VN" sz="1400" b="0" i="1">
                                              <a:latin typeface="Cambria Math" panose="02040503050406030204" pitchFamily="18" charset="0"/>
                                            </a:rPr>
                                          </m:ctrlPr>
                                        </m:naryPr>
                                        <m:sub>
                                          <m:r>
                                            <a:rPr lang="en-VN" sz="1400" b="0" i="1">
                                              <a:latin typeface="Cambria Math" panose="02040503050406030204" pitchFamily="18" charset="0"/>
                                            </a:rPr>
                                            <m:t>𝑘</m:t>
                                          </m:r>
                                          <m:r>
                                            <a:rPr lang="en-VN" sz="1400" b="0" i="0">
                                              <a:latin typeface="Cambria Math" panose="02040503050406030204" pitchFamily="18" charset="0"/>
                                            </a:rPr>
                                            <m:t>=1</m:t>
                                          </m:r>
                                        </m:sub>
                                        <m:sup>
                                          <m:r>
                                            <a:rPr lang="en-VN" sz="1400" b="0" i="1">
                                              <a:latin typeface="Cambria Math" panose="02040503050406030204" pitchFamily="18" charset="0"/>
                                            </a:rPr>
                                            <m:t>𝐾</m:t>
                                          </m:r>
                                        </m:sup>
                                        <m:e>
                                          <m:sSub>
                                            <m:sSubPr>
                                              <m:ctrlPr>
                                                <a:rPr lang="en-VN" sz="1400" b="0" i="1">
                                                  <a:latin typeface="Cambria Math" panose="02040503050406030204" pitchFamily="18" charset="0"/>
                                                </a:rPr>
                                              </m:ctrlPr>
                                            </m:sSubPr>
                                            <m:e>
                                              <m:r>
                                                <a:rPr lang="en-VN" sz="1400" b="0" i="1">
                                                  <a:latin typeface="Cambria Math" panose="02040503050406030204" pitchFamily="18" charset="0"/>
                                                </a:rPr>
                                                <m:t>𝜋</m:t>
                                              </m:r>
                                            </m:e>
                                            <m:sub>
                                              <m:r>
                                                <a:rPr lang="en-VN" sz="1400" b="0" i="1">
                                                  <a:latin typeface="Cambria Math" panose="02040503050406030204" pitchFamily="18" charset="0"/>
                                                </a:rPr>
                                                <m:t>𝑘</m:t>
                                              </m:r>
                                            </m:sub>
                                          </m:sSub>
                                        </m:e>
                                      </m:nary>
                                      <m:f>
                                        <m:fPr>
                                          <m:ctrlPr>
                                            <a:rPr lang="en-VN" sz="1400" b="0" i="0">
                                              <a:latin typeface="Cambria Math" panose="02040503050406030204" pitchFamily="18" charset="0"/>
                                            </a:rPr>
                                          </m:ctrlPr>
                                        </m:fPr>
                                        <m:num>
                                          <m:r>
                                            <a:rPr lang="en-VN" sz="1400" b="0" i="0">
                                              <a:latin typeface="Cambria Math" panose="02040503050406030204" pitchFamily="18" charset="0"/>
                                            </a:rPr>
                                            <m:t>1</m:t>
                                          </m:r>
                                        </m:num>
                                        <m:den>
                                          <m:rad>
                                            <m:radPr>
                                              <m:degHide m:val="on"/>
                                              <m:ctrlPr>
                                                <a:rPr lang="en-VN" sz="1400" b="0" i="1">
                                                  <a:latin typeface="Cambria Math" panose="02040503050406030204" pitchFamily="18" charset="0"/>
                                                </a:rPr>
                                              </m:ctrlPr>
                                            </m:radPr>
                                            <m:deg/>
                                            <m:e>
                                              <m:r>
                                                <a:rPr lang="en-VN" sz="1400" b="0" i="0">
                                                  <a:latin typeface="Cambria Math" panose="02040503050406030204" pitchFamily="18" charset="0"/>
                                                </a:rPr>
                                                <m:t>2</m:t>
                                              </m:r>
                                              <m:r>
                                                <a:rPr lang="en-VN" sz="1400" b="0" i="1">
                                                  <a:latin typeface="Cambria Math" panose="02040503050406030204" pitchFamily="18" charset="0"/>
                                                </a:rPr>
                                                <m:t>𝜋</m:t>
                                              </m:r>
                                              <m:sSubSup>
                                                <m:sSubSupPr>
                                                  <m:ctrlPr>
                                                    <a:rPr lang="en-VN" sz="1400" b="0" i="1">
                                                      <a:latin typeface="Cambria Math" panose="02040503050406030204" pitchFamily="18" charset="0"/>
                                                    </a:rPr>
                                                  </m:ctrlPr>
                                                </m:sSubSupPr>
                                                <m:e>
                                                  <m:r>
                                                    <a:rPr lang="en-VN" sz="1400" b="0" i="1">
                                                      <a:latin typeface="Cambria Math" panose="02040503050406030204" pitchFamily="18" charset="0"/>
                                                    </a:rPr>
                                                    <m:t>𝜎</m:t>
                                                  </m:r>
                                                </m:e>
                                                <m:sub>
                                                  <m:r>
                                                    <a:rPr lang="en-VN" sz="1400" b="0" i="1">
                                                      <a:latin typeface="Cambria Math" panose="02040503050406030204" pitchFamily="18" charset="0"/>
                                                    </a:rPr>
                                                    <m:t>𝑘</m:t>
                                                  </m:r>
                                                </m:sub>
                                                <m:sup>
                                                  <m:r>
                                                    <a:rPr lang="en-VN" sz="1400" b="0" i="0">
                                                      <a:latin typeface="Cambria Math" panose="02040503050406030204" pitchFamily="18" charset="0"/>
                                                    </a:rPr>
                                                    <m:t>2</m:t>
                                                  </m:r>
                                                </m:sup>
                                              </m:sSubSup>
                                            </m:e>
                                          </m:rad>
                                        </m:den>
                                      </m:f>
                                      <m:func>
                                        <m:funcPr>
                                          <m:ctrlPr>
                                            <a:rPr lang="en-VN" sz="1400" b="0" i="0">
                                              <a:latin typeface="Cambria Math" panose="02040503050406030204" pitchFamily="18" charset="0"/>
                                            </a:rPr>
                                          </m:ctrlPr>
                                        </m:funcPr>
                                        <m:fName>
                                          <m:r>
                                            <m:rPr>
                                              <m:sty m:val="p"/>
                                            </m:rPr>
                                            <a:rPr lang="en-VN" sz="1400" b="0" i="0">
                                              <a:latin typeface="Cambria Math" panose="02040503050406030204" pitchFamily="18" charset="0"/>
                                            </a:rPr>
                                            <m:t>exp</m:t>
                                          </m:r>
                                        </m:fName>
                                        <m:e>
                                          <m:d>
                                            <m:dPr>
                                              <m:ctrlPr>
                                                <a:rPr lang="en-VN" sz="1400" b="0" i="0">
                                                  <a:latin typeface="Cambria Math" panose="02040503050406030204" pitchFamily="18" charset="0"/>
                                                </a:rPr>
                                              </m:ctrlPr>
                                            </m:dPr>
                                            <m:e>
                                              <m:r>
                                                <a:rPr lang="en-VN" sz="1400" b="0" i="0">
                                                  <a:latin typeface="Cambria Math" panose="02040503050406030204" pitchFamily="18" charset="0"/>
                                                </a:rPr>
                                                <m:t>−</m:t>
                                              </m:r>
                                              <m:f>
                                                <m:fPr>
                                                  <m:ctrlPr>
                                                    <a:rPr lang="en-VN" sz="1400" b="0" i="1">
                                                      <a:latin typeface="Cambria Math" panose="02040503050406030204" pitchFamily="18" charset="0"/>
                                                    </a:rPr>
                                                  </m:ctrlPr>
                                                </m:fPr>
                                                <m:num>
                                                  <m:sSup>
                                                    <m:sSupPr>
                                                      <m:ctrlPr>
                                                        <a:rPr lang="en-VN" sz="1400" b="0" i="1">
                                                          <a:latin typeface="Cambria Math" panose="02040503050406030204" pitchFamily="18" charset="0"/>
                                                        </a:rPr>
                                                      </m:ctrlPr>
                                                    </m:sSupPr>
                                                    <m:e>
                                                      <m:d>
                                                        <m:dPr>
                                                          <m:ctrlPr>
                                                            <a:rPr lang="en-VN" sz="1400" b="0" i="1">
                                                              <a:latin typeface="Cambria Math" panose="02040503050406030204" pitchFamily="18" charset="0"/>
                                                            </a:rPr>
                                                          </m:ctrlPr>
                                                        </m:dPr>
                                                        <m:e>
                                                          <m:sSub>
                                                            <m:sSubPr>
                                                              <m:ctrlPr>
                                                                <a:rPr lang="en-VN" sz="1400" b="0" i="1">
                                                                  <a:latin typeface="Cambria Math" panose="02040503050406030204" pitchFamily="18" charset="0"/>
                                                                </a:rPr>
                                                              </m:ctrlPr>
                                                            </m:sSubPr>
                                                            <m:e>
                                                              <m:r>
                                                                <a:rPr lang="en-VN" sz="1400" b="0" i="1">
                                                                  <a:latin typeface="Cambria Math" panose="02040503050406030204" pitchFamily="18" charset="0"/>
                                                                </a:rPr>
                                                                <m:t>𝑥</m:t>
                                                              </m:r>
                                                            </m:e>
                                                            <m:sub>
                                                              <m:r>
                                                                <a:rPr lang="en-VN" sz="1400" b="0" i="1">
                                                                  <a:latin typeface="Cambria Math" panose="02040503050406030204" pitchFamily="18" charset="0"/>
                                                                </a:rPr>
                                                                <m:t>𝑖</m:t>
                                                              </m:r>
                                                            </m:sub>
                                                          </m:sSub>
                                                          <m:r>
                                                            <a:rPr lang="en-VN" sz="1400" b="0" i="0">
                                                              <a:latin typeface="Cambria Math" panose="02040503050406030204" pitchFamily="18" charset="0"/>
                                                            </a:rPr>
                                                            <m:t>−</m:t>
                                                          </m:r>
                                                          <m:sSub>
                                                            <m:sSubPr>
                                                              <m:ctrlPr>
                                                                <a:rPr lang="en-VN" sz="1400" b="0" i="1">
                                                                  <a:latin typeface="Cambria Math" panose="02040503050406030204" pitchFamily="18" charset="0"/>
                                                                </a:rPr>
                                                              </m:ctrlPr>
                                                            </m:sSubPr>
                                                            <m:e>
                                                              <m:r>
                                                                <a:rPr lang="en-VN" sz="1400" b="0" i="1">
                                                                  <a:latin typeface="Cambria Math" panose="02040503050406030204" pitchFamily="18" charset="0"/>
                                                                </a:rPr>
                                                                <m:t>𝜇</m:t>
                                                              </m:r>
                                                            </m:e>
                                                            <m:sub>
                                                              <m:r>
                                                                <a:rPr lang="en-VN" sz="1400" b="0" i="1">
                                                                  <a:latin typeface="Cambria Math" panose="02040503050406030204" pitchFamily="18" charset="0"/>
                                                                </a:rPr>
                                                                <m:t>𝑘</m:t>
                                                              </m:r>
                                                            </m:sub>
                                                          </m:sSub>
                                                        </m:e>
                                                      </m:d>
                                                    </m:e>
                                                    <m:sup>
                                                      <m:r>
                                                        <a:rPr lang="en-VN" sz="1400" b="0" i="0">
                                                          <a:latin typeface="Cambria Math" panose="02040503050406030204" pitchFamily="18" charset="0"/>
                                                        </a:rPr>
                                                        <m:t>2</m:t>
                                                      </m:r>
                                                    </m:sup>
                                                  </m:sSup>
                                                </m:num>
                                                <m:den>
                                                  <m:r>
                                                    <a:rPr lang="en-VN" sz="1400" b="0" i="0">
                                                      <a:latin typeface="Cambria Math" panose="02040503050406030204" pitchFamily="18" charset="0"/>
                                                    </a:rPr>
                                                    <m:t>2</m:t>
                                                  </m:r>
                                                  <m:sSubSup>
                                                    <m:sSubSupPr>
                                                      <m:ctrlPr>
                                                        <a:rPr lang="en-VN" sz="1400" b="0" i="1">
                                                          <a:latin typeface="Cambria Math" panose="02040503050406030204" pitchFamily="18" charset="0"/>
                                                        </a:rPr>
                                                      </m:ctrlPr>
                                                    </m:sSubSupPr>
                                                    <m:e>
                                                      <m:r>
                                                        <a:rPr lang="en-VN" sz="1400" b="0" i="1">
                                                          <a:latin typeface="Cambria Math" panose="02040503050406030204" pitchFamily="18" charset="0"/>
                                                        </a:rPr>
                                                        <m:t>𝜎</m:t>
                                                      </m:r>
                                                    </m:e>
                                                    <m:sub>
                                                      <m:r>
                                                        <a:rPr lang="en-VN" sz="1400" b="0" i="1">
                                                          <a:latin typeface="Cambria Math" panose="02040503050406030204" pitchFamily="18" charset="0"/>
                                                        </a:rPr>
                                                        <m:t>𝑘</m:t>
                                                      </m:r>
                                                    </m:sub>
                                                    <m:sup>
                                                      <m:r>
                                                        <a:rPr lang="en-VN" sz="1400" b="0" i="0">
                                                          <a:latin typeface="Cambria Math" panose="02040503050406030204" pitchFamily="18" charset="0"/>
                                                        </a:rPr>
                                                        <m:t>2</m:t>
                                                      </m:r>
                                                    </m:sup>
                                                  </m:sSubSup>
                                                </m:den>
                                              </m:f>
                                            </m:e>
                                          </m:d>
                                        </m:e>
                                      </m:func>
                                    </m:den>
                                  </m:f>
                                </m:e>
                              </m:d>
                            </m:e>
                          </m:nary>
                          <m:sSub>
                            <m:sSubPr>
                              <m:ctrlPr>
                                <a:rPr lang="en-VN" sz="1400" b="0" i="1">
                                  <a:latin typeface="Cambria Math" panose="02040503050406030204" pitchFamily="18" charset="0"/>
                                </a:rPr>
                              </m:ctrlPr>
                            </m:sSubPr>
                            <m:e>
                              <m:r>
                                <a:rPr lang="en-VN" sz="1400" b="0" i="1">
                                  <a:latin typeface="Cambria Math" panose="02040503050406030204" pitchFamily="18" charset="0"/>
                                </a:rPr>
                                <m:t>𝑥</m:t>
                              </m:r>
                            </m:e>
                            <m:sub>
                              <m:r>
                                <a:rPr lang="en-VN" sz="1400" b="0" i="1">
                                  <a:latin typeface="Cambria Math" panose="02040503050406030204" pitchFamily="18" charset="0"/>
                                </a:rPr>
                                <m:t>𝑖</m:t>
                              </m:r>
                            </m:sub>
                          </m:sSub>
                        </m:num>
                        <m:den>
                          <m:nary>
                            <m:naryPr>
                              <m:chr m:val="∑"/>
                              <m:limLoc m:val="undOvr"/>
                              <m:ctrlPr>
                                <a:rPr lang="en-VN" sz="1400" b="0" i="1">
                                  <a:latin typeface="Cambria Math" panose="02040503050406030204" pitchFamily="18" charset="0"/>
                                </a:rPr>
                              </m:ctrlPr>
                            </m:naryPr>
                            <m:sub>
                              <m:r>
                                <a:rPr lang="en-VN" sz="1400" b="0" i="1">
                                  <a:latin typeface="Cambria Math" panose="02040503050406030204" pitchFamily="18" charset="0"/>
                                </a:rPr>
                                <m:t>𝑖</m:t>
                              </m:r>
                              <m:r>
                                <a:rPr lang="en-VN" sz="1400" b="0" i="0">
                                  <a:latin typeface="Cambria Math" panose="02040503050406030204" pitchFamily="18" charset="0"/>
                                </a:rPr>
                                <m:t>=1</m:t>
                              </m:r>
                            </m:sub>
                            <m:sup>
                              <m:r>
                                <a:rPr lang="en-VN" sz="1400" b="0" i="1">
                                  <a:latin typeface="Cambria Math" panose="02040503050406030204" pitchFamily="18" charset="0"/>
                                </a:rPr>
                                <m:t>𝑁</m:t>
                              </m:r>
                            </m:sup>
                            <m:e>
                              <m:d>
                                <m:dPr>
                                  <m:begChr m:val="["/>
                                  <m:endChr m:val="]"/>
                                  <m:ctrlPr>
                                    <a:rPr lang="en-VN" sz="1400" b="0" i="1">
                                      <a:latin typeface="Cambria Math" panose="02040503050406030204" pitchFamily="18" charset="0"/>
                                    </a:rPr>
                                  </m:ctrlPr>
                                </m:dPr>
                                <m:e>
                                  <m:f>
                                    <m:fPr>
                                      <m:ctrlPr>
                                        <a:rPr lang="en-VN" sz="1400" b="0" i="1">
                                          <a:latin typeface="Cambria Math" panose="02040503050406030204" pitchFamily="18" charset="0"/>
                                        </a:rPr>
                                      </m:ctrlPr>
                                    </m:fPr>
                                    <m:num>
                                      <m:sSub>
                                        <m:sSubPr>
                                          <m:ctrlPr>
                                            <a:rPr lang="en-VN" sz="1400" b="0" i="1">
                                              <a:latin typeface="Cambria Math" panose="02040503050406030204" pitchFamily="18" charset="0"/>
                                            </a:rPr>
                                          </m:ctrlPr>
                                        </m:sSubPr>
                                        <m:e>
                                          <m:r>
                                            <a:rPr lang="en-VN" sz="1400" b="0" i="1">
                                              <a:latin typeface="Cambria Math" panose="02040503050406030204" pitchFamily="18" charset="0"/>
                                            </a:rPr>
                                            <m:t>𝜋</m:t>
                                          </m:r>
                                        </m:e>
                                        <m:sub>
                                          <m:r>
                                            <a:rPr lang="en-VN" sz="1400" b="0" i="1">
                                              <a:latin typeface="Cambria Math" panose="02040503050406030204" pitchFamily="18" charset="0"/>
                                            </a:rPr>
                                            <m:t>𝑗</m:t>
                                          </m:r>
                                        </m:sub>
                                      </m:sSub>
                                      <m:f>
                                        <m:fPr>
                                          <m:ctrlPr>
                                            <a:rPr lang="en-VN" sz="1400" b="0" i="0">
                                              <a:latin typeface="Cambria Math" panose="02040503050406030204" pitchFamily="18" charset="0"/>
                                            </a:rPr>
                                          </m:ctrlPr>
                                        </m:fPr>
                                        <m:num>
                                          <m:r>
                                            <a:rPr lang="en-VN" sz="1400" b="0" i="0">
                                              <a:latin typeface="Cambria Math" panose="02040503050406030204" pitchFamily="18" charset="0"/>
                                            </a:rPr>
                                            <m:t>1</m:t>
                                          </m:r>
                                        </m:num>
                                        <m:den>
                                          <m:rad>
                                            <m:radPr>
                                              <m:degHide m:val="on"/>
                                              <m:ctrlPr>
                                                <a:rPr lang="en-VN" sz="1400" b="0" i="1">
                                                  <a:latin typeface="Cambria Math" panose="02040503050406030204" pitchFamily="18" charset="0"/>
                                                </a:rPr>
                                              </m:ctrlPr>
                                            </m:radPr>
                                            <m:deg/>
                                            <m:e>
                                              <m:r>
                                                <a:rPr lang="en-VN" sz="1400" b="0" i="0">
                                                  <a:latin typeface="Cambria Math" panose="02040503050406030204" pitchFamily="18" charset="0"/>
                                                </a:rPr>
                                                <m:t>2</m:t>
                                              </m:r>
                                              <m:r>
                                                <a:rPr lang="en-VN" sz="1400" b="0" i="1">
                                                  <a:latin typeface="Cambria Math" panose="02040503050406030204" pitchFamily="18" charset="0"/>
                                                </a:rPr>
                                                <m:t>𝜋</m:t>
                                              </m:r>
                                              <m:sSubSup>
                                                <m:sSubSupPr>
                                                  <m:ctrlPr>
                                                    <a:rPr lang="en-VN" sz="1400" b="0" i="1">
                                                      <a:latin typeface="Cambria Math" panose="02040503050406030204" pitchFamily="18" charset="0"/>
                                                    </a:rPr>
                                                  </m:ctrlPr>
                                                </m:sSubSupPr>
                                                <m:e>
                                                  <m:r>
                                                    <a:rPr lang="en-VN" sz="1400" b="0" i="1">
                                                      <a:latin typeface="Cambria Math" panose="02040503050406030204" pitchFamily="18" charset="0"/>
                                                    </a:rPr>
                                                    <m:t>𝜎</m:t>
                                                  </m:r>
                                                </m:e>
                                                <m:sub>
                                                  <m:r>
                                                    <a:rPr lang="en-VN" sz="1400" b="0" i="1">
                                                      <a:latin typeface="Cambria Math" panose="02040503050406030204" pitchFamily="18" charset="0"/>
                                                    </a:rPr>
                                                    <m:t>𝑗</m:t>
                                                  </m:r>
                                                </m:sub>
                                                <m:sup>
                                                  <m:r>
                                                    <a:rPr lang="en-VN" sz="1400" b="0" i="0">
                                                      <a:latin typeface="Cambria Math" panose="02040503050406030204" pitchFamily="18" charset="0"/>
                                                    </a:rPr>
                                                    <m:t>2</m:t>
                                                  </m:r>
                                                </m:sup>
                                              </m:sSubSup>
                                            </m:e>
                                          </m:rad>
                                        </m:den>
                                      </m:f>
                                      <m:func>
                                        <m:funcPr>
                                          <m:ctrlPr>
                                            <a:rPr lang="en-VN" sz="1400" b="0" i="0">
                                              <a:latin typeface="Cambria Math" panose="02040503050406030204" pitchFamily="18" charset="0"/>
                                            </a:rPr>
                                          </m:ctrlPr>
                                        </m:funcPr>
                                        <m:fName>
                                          <m:r>
                                            <m:rPr>
                                              <m:sty m:val="p"/>
                                            </m:rPr>
                                            <a:rPr lang="en-VN" sz="1400" b="0" i="0">
                                              <a:latin typeface="Cambria Math" panose="02040503050406030204" pitchFamily="18" charset="0"/>
                                            </a:rPr>
                                            <m:t>exp</m:t>
                                          </m:r>
                                        </m:fName>
                                        <m:e>
                                          <m:d>
                                            <m:dPr>
                                              <m:ctrlPr>
                                                <a:rPr lang="en-VN" sz="1400" b="0" i="0">
                                                  <a:latin typeface="Cambria Math" panose="02040503050406030204" pitchFamily="18" charset="0"/>
                                                </a:rPr>
                                              </m:ctrlPr>
                                            </m:dPr>
                                            <m:e>
                                              <m:r>
                                                <a:rPr lang="en-VN" sz="1400" b="0" i="0">
                                                  <a:latin typeface="Cambria Math" panose="02040503050406030204" pitchFamily="18" charset="0"/>
                                                </a:rPr>
                                                <m:t>−</m:t>
                                              </m:r>
                                              <m:f>
                                                <m:fPr>
                                                  <m:ctrlPr>
                                                    <a:rPr lang="en-VN" sz="1400" b="0" i="1">
                                                      <a:latin typeface="Cambria Math" panose="02040503050406030204" pitchFamily="18" charset="0"/>
                                                    </a:rPr>
                                                  </m:ctrlPr>
                                                </m:fPr>
                                                <m:num>
                                                  <m:sSup>
                                                    <m:sSupPr>
                                                      <m:ctrlPr>
                                                        <a:rPr lang="en-VN" sz="1400" b="0" i="1">
                                                          <a:latin typeface="Cambria Math" panose="02040503050406030204" pitchFamily="18" charset="0"/>
                                                        </a:rPr>
                                                      </m:ctrlPr>
                                                    </m:sSupPr>
                                                    <m:e>
                                                      <m:d>
                                                        <m:dPr>
                                                          <m:ctrlPr>
                                                            <a:rPr lang="en-VN" sz="1400" b="0" i="1">
                                                              <a:latin typeface="Cambria Math" panose="02040503050406030204" pitchFamily="18" charset="0"/>
                                                            </a:rPr>
                                                          </m:ctrlPr>
                                                        </m:dPr>
                                                        <m:e>
                                                          <m:sSub>
                                                            <m:sSubPr>
                                                              <m:ctrlPr>
                                                                <a:rPr lang="en-VN" sz="1400" b="0" i="1">
                                                                  <a:latin typeface="Cambria Math" panose="02040503050406030204" pitchFamily="18" charset="0"/>
                                                                </a:rPr>
                                                              </m:ctrlPr>
                                                            </m:sSubPr>
                                                            <m:e>
                                                              <m:r>
                                                                <a:rPr lang="en-VN" sz="1400" b="0" i="1">
                                                                  <a:latin typeface="Cambria Math" panose="02040503050406030204" pitchFamily="18" charset="0"/>
                                                                </a:rPr>
                                                                <m:t>𝑥</m:t>
                                                              </m:r>
                                                            </m:e>
                                                            <m:sub>
                                                              <m:r>
                                                                <a:rPr lang="en-VN" sz="1400" b="0" i="1">
                                                                  <a:latin typeface="Cambria Math" panose="02040503050406030204" pitchFamily="18" charset="0"/>
                                                                </a:rPr>
                                                                <m:t>𝑖</m:t>
                                                              </m:r>
                                                            </m:sub>
                                                          </m:sSub>
                                                          <m:r>
                                                            <a:rPr lang="en-VN" sz="1400" b="0" i="0">
                                                              <a:latin typeface="Cambria Math" panose="02040503050406030204" pitchFamily="18" charset="0"/>
                                                            </a:rPr>
                                                            <m:t>−</m:t>
                                                          </m:r>
                                                          <m:sSub>
                                                            <m:sSubPr>
                                                              <m:ctrlPr>
                                                                <a:rPr lang="en-VN" sz="1400" b="1" i="1" smtClean="0">
                                                                  <a:solidFill>
                                                                    <a:srgbClr val="0070C0"/>
                                                                  </a:solidFill>
                                                                  <a:latin typeface="Cambria Math" panose="02040503050406030204" pitchFamily="18" charset="0"/>
                                                                </a:rPr>
                                                              </m:ctrlPr>
                                                            </m:sSubPr>
                                                            <m:e>
                                                              <m:r>
                                                                <a:rPr lang="en-VN" sz="1400" b="1" i="1" smtClean="0">
                                                                  <a:solidFill>
                                                                    <a:srgbClr val="0070C0"/>
                                                                  </a:solidFill>
                                                                  <a:latin typeface="Cambria Math" panose="02040503050406030204" pitchFamily="18" charset="0"/>
                                                                </a:rPr>
                                                                <m:t>𝝁</m:t>
                                                              </m:r>
                                                            </m:e>
                                                            <m:sub>
                                                              <m:r>
                                                                <a:rPr lang="en-VN" sz="1400" b="1" i="1">
                                                                  <a:solidFill>
                                                                    <a:srgbClr val="0070C0"/>
                                                                  </a:solidFill>
                                                                  <a:latin typeface="Cambria Math" panose="02040503050406030204" pitchFamily="18" charset="0"/>
                                                                </a:rPr>
                                                                <m:t>𝒋</m:t>
                                                              </m:r>
                                                            </m:sub>
                                                          </m:sSub>
                                                        </m:e>
                                                      </m:d>
                                                    </m:e>
                                                    <m:sup>
                                                      <m:r>
                                                        <a:rPr lang="en-VN" sz="1400" b="0" i="0">
                                                          <a:latin typeface="Cambria Math" panose="02040503050406030204" pitchFamily="18" charset="0"/>
                                                        </a:rPr>
                                                        <m:t>2</m:t>
                                                      </m:r>
                                                    </m:sup>
                                                  </m:sSup>
                                                </m:num>
                                                <m:den>
                                                  <m:r>
                                                    <a:rPr lang="en-VN" sz="1400" b="0" i="0">
                                                      <a:latin typeface="Cambria Math" panose="02040503050406030204" pitchFamily="18" charset="0"/>
                                                    </a:rPr>
                                                    <m:t>2</m:t>
                                                  </m:r>
                                                  <m:sSubSup>
                                                    <m:sSubSupPr>
                                                      <m:ctrlPr>
                                                        <a:rPr lang="en-VN" sz="1400" b="0" i="1">
                                                          <a:latin typeface="Cambria Math" panose="02040503050406030204" pitchFamily="18" charset="0"/>
                                                        </a:rPr>
                                                      </m:ctrlPr>
                                                    </m:sSubSupPr>
                                                    <m:e>
                                                      <m:r>
                                                        <a:rPr lang="en-VN" sz="1400" b="0" i="1">
                                                          <a:latin typeface="Cambria Math" panose="02040503050406030204" pitchFamily="18" charset="0"/>
                                                        </a:rPr>
                                                        <m:t>𝜎</m:t>
                                                      </m:r>
                                                    </m:e>
                                                    <m:sub>
                                                      <m:r>
                                                        <a:rPr lang="en-VN" sz="1400" b="0" i="1">
                                                          <a:latin typeface="Cambria Math" panose="02040503050406030204" pitchFamily="18" charset="0"/>
                                                        </a:rPr>
                                                        <m:t>𝑗</m:t>
                                                      </m:r>
                                                    </m:sub>
                                                    <m:sup>
                                                      <m:r>
                                                        <a:rPr lang="en-VN" sz="1400" b="0" i="0">
                                                          <a:latin typeface="Cambria Math" panose="02040503050406030204" pitchFamily="18" charset="0"/>
                                                        </a:rPr>
                                                        <m:t>2</m:t>
                                                      </m:r>
                                                    </m:sup>
                                                  </m:sSubSup>
                                                </m:den>
                                              </m:f>
                                            </m:e>
                                          </m:d>
                                        </m:e>
                                      </m:func>
                                    </m:num>
                                    <m:den>
                                      <m:nary>
                                        <m:naryPr>
                                          <m:chr m:val="∑"/>
                                          <m:limLoc m:val="undOvr"/>
                                          <m:ctrlPr>
                                            <a:rPr lang="en-VN" sz="1400" b="0" i="1">
                                              <a:latin typeface="Cambria Math" panose="02040503050406030204" pitchFamily="18" charset="0"/>
                                            </a:rPr>
                                          </m:ctrlPr>
                                        </m:naryPr>
                                        <m:sub>
                                          <m:r>
                                            <a:rPr lang="en-VN" sz="1400" b="0" i="1">
                                              <a:latin typeface="Cambria Math" panose="02040503050406030204" pitchFamily="18" charset="0"/>
                                            </a:rPr>
                                            <m:t>𝑘</m:t>
                                          </m:r>
                                          <m:r>
                                            <a:rPr lang="en-VN" sz="1400" b="0" i="0">
                                              <a:latin typeface="Cambria Math" panose="02040503050406030204" pitchFamily="18" charset="0"/>
                                            </a:rPr>
                                            <m:t>=1</m:t>
                                          </m:r>
                                        </m:sub>
                                        <m:sup>
                                          <m:r>
                                            <a:rPr lang="en-VN" sz="1400" b="0" i="1">
                                              <a:latin typeface="Cambria Math" panose="02040503050406030204" pitchFamily="18" charset="0"/>
                                            </a:rPr>
                                            <m:t>𝐾</m:t>
                                          </m:r>
                                        </m:sup>
                                        <m:e>
                                          <m:sSub>
                                            <m:sSubPr>
                                              <m:ctrlPr>
                                                <a:rPr lang="en-VN" sz="1400" b="0" i="1">
                                                  <a:latin typeface="Cambria Math" panose="02040503050406030204" pitchFamily="18" charset="0"/>
                                                </a:rPr>
                                              </m:ctrlPr>
                                            </m:sSubPr>
                                            <m:e>
                                              <m:r>
                                                <a:rPr lang="en-VN" sz="1400" b="0" i="1">
                                                  <a:latin typeface="Cambria Math" panose="02040503050406030204" pitchFamily="18" charset="0"/>
                                                </a:rPr>
                                                <m:t>𝜋</m:t>
                                              </m:r>
                                            </m:e>
                                            <m:sub>
                                              <m:r>
                                                <a:rPr lang="en-VN" sz="1400" b="0" i="1">
                                                  <a:latin typeface="Cambria Math" panose="02040503050406030204" pitchFamily="18" charset="0"/>
                                                </a:rPr>
                                                <m:t>𝑘</m:t>
                                              </m:r>
                                            </m:sub>
                                          </m:sSub>
                                        </m:e>
                                      </m:nary>
                                      <m:f>
                                        <m:fPr>
                                          <m:ctrlPr>
                                            <a:rPr lang="en-VN" sz="1400" b="0" i="0">
                                              <a:latin typeface="Cambria Math" panose="02040503050406030204" pitchFamily="18" charset="0"/>
                                            </a:rPr>
                                          </m:ctrlPr>
                                        </m:fPr>
                                        <m:num>
                                          <m:r>
                                            <a:rPr lang="en-VN" sz="1400" b="0" i="0">
                                              <a:latin typeface="Cambria Math" panose="02040503050406030204" pitchFamily="18" charset="0"/>
                                            </a:rPr>
                                            <m:t>1</m:t>
                                          </m:r>
                                        </m:num>
                                        <m:den>
                                          <m:rad>
                                            <m:radPr>
                                              <m:degHide m:val="on"/>
                                              <m:ctrlPr>
                                                <a:rPr lang="en-VN" sz="1400" b="0" i="1">
                                                  <a:latin typeface="Cambria Math" panose="02040503050406030204" pitchFamily="18" charset="0"/>
                                                </a:rPr>
                                              </m:ctrlPr>
                                            </m:radPr>
                                            <m:deg/>
                                            <m:e>
                                              <m:r>
                                                <a:rPr lang="en-VN" sz="1400" b="0" i="0">
                                                  <a:latin typeface="Cambria Math" panose="02040503050406030204" pitchFamily="18" charset="0"/>
                                                </a:rPr>
                                                <m:t>2</m:t>
                                              </m:r>
                                              <m:r>
                                                <a:rPr lang="en-VN" sz="1400" b="0" i="1">
                                                  <a:latin typeface="Cambria Math" panose="02040503050406030204" pitchFamily="18" charset="0"/>
                                                </a:rPr>
                                                <m:t>𝜋</m:t>
                                              </m:r>
                                              <m:sSubSup>
                                                <m:sSubSupPr>
                                                  <m:ctrlPr>
                                                    <a:rPr lang="en-VN" sz="1400" b="0" i="1">
                                                      <a:latin typeface="Cambria Math" panose="02040503050406030204" pitchFamily="18" charset="0"/>
                                                    </a:rPr>
                                                  </m:ctrlPr>
                                                </m:sSubSupPr>
                                                <m:e>
                                                  <m:r>
                                                    <a:rPr lang="en-VN" sz="1400" b="0" i="1">
                                                      <a:latin typeface="Cambria Math" panose="02040503050406030204" pitchFamily="18" charset="0"/>
                                                    </a:rPr>
                                                    <m:t>𝜎</m:t>
                                                  </m:r>
                                                </m:e>
                                                <m:sub>
                                                  <m:r>
                                                    <a:rPr lang="en-VN" sz="1400" b="0" i="1">
                                                      <a:latin typeface="Cambria Math" panose="02040503050406030204" pitchFamily="18" charset="0"/>
                                                    </a:rPr>
                                                    <m:t>𝑘</m:t>
                                                  </m:r>
                                                </m:sub>
                                                <m:sup>
                                                  <m:r>
                                                    <a:rPr lang="en-VN" sz="1400" b="0" i="0">
                                                      <a:latin typeface="Cambria Math" panose="02040503050406030204" pitchFamily="18" charset="0"/>
                                                    </a:rPr>
                                                    <m:t>2</m:t>
                                                  </m:r>
                                                </m:sup>
                                              </m:sSubSup>
                                            </m:e>
                                          </m:rad>
                                        </m:den>
                                      </m:f>
                                      <m:func>
                                        <m:funcPr>
                                          <m:ctrlPr>
                                            <a:rPr lang="en-VN" sz="1400" b="0" i="0">
                                              <a:latin typeface="Cambria Math" panose="02040503050406030204" pitchFamily="18" charset="0"/>
                                            </a:rPr>
                                          </m:ctrlPr>
                                        </m:funcPr>
                                        <m:fName>
                                          <m:r>
                                            <m:rPr>
                                              <m:sty m:val="p"/>
                                            </m:rPr>
                                            <a:rPr lang="en-VN" sz="1400" b="0" i="0">
                                              <a:latin typeface="Cambria Math" panose="02040503050406030204" pitchFamily="18" charset="0"/>
                                            </a:rPr>
                                            <m:t>exp</m:t>
                                          </m:r>
                                        </m:fName>
                                        <m:e>
                                          <m:d>
                                            <m:dPr>
                                              <m:ctrlPr>
                                                <a:rPr lang="en-VN" sz="1400" b="0" i="0">
                                                  <a:latin typeface="Cambria Math" panose="02040503050406030204" pitchFamily="18" charset="0"/>
                                                </a:rPr>
                                              </m:ctrlPr>
                                            </m:dPr>
                                            <m:e>
                                              <m:r>
                                                <a:rPr lang="en-VN" sz="1400" b="0" i="0">
                                                  <a:latin typeface="Cambria Math" panose="02040503050406030204" pitchFamily="18" charset="0"/>
                                                </a:rPr>
                                                <m:t>−</m:t>
                                              </m:r>
                                              <m:f>
                                                <m:fPr>
                                                  <m:ctrlPr>
                                                    <a:rPr lang="en-VN" sz="1400" b="0" i="1">
                                                      <a:latin typeface="Cambria Math" panose="02040503050406030204" pitchFamily="18" charset="0"/>
                                                    </a:rPr>
                                                  </m:ctrlPr>
                                                </m:fPr>
                                                <m:num>
                                                  <m:sSup>
                                                    <m:sSupPr>
                                                      <m:ctrlPr>
                                                        <a:rPr lang="en-VN" sz="1400" b="0" i="1">
                                                          <a:latin typeface="Cambria Math" panose="02040503050406030204" pitchFamily="18" charset="0"/>
                                                        </a:rPr>
                                                      </m:ctrlPr>
                                                    </m:sSupPr>
                                                    <m:e>
                                                      <m:d>
                                                        <m:dPr>
                                                          <m:ctrlPr>
                                                            <a:rPr lang="en-VN" sz="1400" b="0" i="1">
                                                              <a:latin typeface="Cambria Math" panose="02040503050406030204" pitchFamily="18" charset="0"/>
                                                            </a:rPr>
                                                          </m:ctrlPr>
                                                        </m:dPr>
                                                        <m:e>
                                                          <m:sSub>
                                                            <m:sSubPr>
                                                              <m:ctrlPr>
                                                                <a:rPr lang="en-VN" sz="1400" b="0" i="1">
                                                                  <a:latin typeface="Cambria Math" panose="02040503050406030204" pitchFamily="18" charset="0"/>
                                                                </a:rPr>
                                                              </m:ctrlPr>
                                                            </m:sSubPr>
                                                            <m:e>
                                                              <m:r>
                                                                <a:rPr lang="en-VN" sz="1400" b="0" i="1">
                                                                  <a:latin typeface="Cambria Math" panose="02040503050406030204" pitchFamily="18" charset="0"/>
                                                                </a:rPr>
                                                                <m:t>𝑥</m:t>
                                                              </m:r>
                                                            </m:e>
                                                            <m:sub>
                                                              <m:r>
                                                                <a:rPr lang="en-VN" sz="1400" b="0" i="1">
                                                                  <a:latin typeface="Cambria Math" panose="02040503050406030204" pitchFamily="18" charset="0"/>
                                                                </a:rPr>
                                                                <m:t>𝑖</m:t>
                                                              </m:r>
                                                            </m:sub>
                                                          </m:sSub>
                                                          <m:r>
                                                            <a:rPr lang="en-VN" sz="1400" b="0" i="0">
                                                              <a:latin typeface="Cambria Math" panose="02040503050406030204" pitchFamily="18" charset="0"/>
                                                            </a:rPr>
                                                            <m:t>−</m:t>
                                                          </m:r>
                                                          <m:sSub>
                                                            <m:sSubPr>
                                                              <m:ctrlPr>
                                                                <a:rPr lang="en-VN" sz="1400" b="0" i="1">
                                                                  <a:latin typeface="Cambria Math" panose="02040503050406030204" pitchFamily="18" charset="0"/>
                                                                </a:rPr>
                                                              </m:ctrlPr>
                                                            </m:sSubPr>
                                                            <m:e>
                                                              <m:r>
                                                                <a:rPr lang="en-VN" sz="1400" b="0" i="1">
                                                                  <a:latin typeface="Cambria Math" panose="02040503050406030204" pitchFamily="18" charset="0"/>
                                                                </a:rPr>
                                                                <m:t>𝜇</m:t>
                                                              </m:r>
                                                            </m:e>
                                                            <m:sub>
                                                              <m:r>
                                                                <a:rPr lang="en-VN" sz="1400" b="0" i="1">
                                                                  <a:latin typeface="Cambria Math" panose="02040503050406030204" pitchFamily="18" charset="0"/>
                                                                </a:rPr>
                                                                <m:t>𝑘</m:t>
                                                              </m:r>
                                                            </m:sub>
                                                          </m:sSub>
                                                        </m:e>
                                                      </m:d>
                                                    </m:e>
                                                    <m:sup>
                                                      <m:r>
                                                        <a:rPr lang="en-VN" sz="1400" b="0" i="0">
                                                          <a:latin typeface="Cambria Math" panose="02040503050406030204" pitchFamily="18" charset="0"/>
                                                        </a:rPr>
                                                        <m:t>2</m:t>
                                                      </m:r>
                                                    </m:sup>
                                                  </m:sSup>
                                                </m:num>
                                                <m:den>
                                                  <m:r>
                                                    <a:rPr lang="en-VN" sz="1400" b="0" i="0">
                                                      <a:latin typeface="Cambria Math" panose="02040503050406030204" pitchFamily="18" charset="0"/>
                                                    </a:rPr>
                                                    <m:t>2</m:t>
                                                  </m:r>
                                                  <m:sSubSup>
                                                    <m:sSubSupPr>
                                                      <m:ctrlPr>
                                                        <a:rPr lang="en-VN" sz="1400" b="0" i="1">
                                                          <a:latin typeface="Cambria Math" panose="02040503050406030204" pitchFamily="18" charset="0"/>
                                                        </a:rPr>
                                                      </m:ctrlPr>
                                                    </m:sSubSupPr>
                                                    <m:e>
                                                      <m:r>
                                                        <a:rPr lang="en-VN" sz="1400" b="0" i="1">
                                                          <a:latin typeface="Cambria Math" panose="02040503050406030204" pitchFamily="18" charset="0"/>
                                                        </a:rPr>
                                                        <m:t>𝜎</m:t>
                                                      </m:r>
                                                    </m:e>
                                                    <m:sub>
                                                      <m:r>
                                                        <a:rPr lang="en-VN" sz="1400" b="0" i="1">
                                                          <a:latin typeface="Cambria Math" panose="02040503050406030204" pitchFamily="18" charset="0"/>
                                                        </a:rPr>
                                                        <m:t>𝑘</m:t>
                                                      </m:r>
                                                    </m:sub>
                                                    <m:sup>
                                                      <m:r>
                                                        <a:rPr lang="en-VN" sz="1400" b="0" i="0">
                                                          <a:latin typeface="Cambria Math" panose="02040503050406030204" pitchFamily="18" charset="0"/>
                                                        </a:rPr>
                                                        <m:t>2</m:t>
                                                      </m:r>
                                                    </m:sup>
                                                  </m:sSubSup>
                                                </m:den>
                                              </m:f>
                                            </m:e>
                                          </m:d>
                                        </m:e>
                                      </m:func>
                                    </m:den>
                                  </m:f>
                                </m:e>
                              </m:d>
                            </m:e>
                          </m:nary>
                        </m:den>
                      </m:f>
                    </m:oMath>
                  </m:oMathPara>
                </a14:m>
                <a:endParaRPr lang="en-VN" sz="1400" dirty="0"/>
              </a:p>
            </p:txBody>
          </p:sp>
        </mc:Choice>
        <mc:Fallback xmlns="">
          <p:sp>
            <p:nvSpPr>
              <p:cNvPr id="5" name="TextBox 4">
                <a:extLst>
                  <a:ext uri="{FF2B5EF4-FFF2-40B4-BE49-F238E27FC236}">
                    <a16:creationId xmlns:a16="http://schemas.microsoft.com/office/drawing/2014/main" id="{0BE79E60-ABF8-9DDD-7657-CDE93FF0DF40}"/>
                  </a:ext>
                </a:extLst>
              </p:cNvPr>
              <p:cNvSpPr txBox="1">
                <a:spLocks noRot="1" noChangeAspect="1" noMove="1" noResize="1" noEditPoints="1" noAdjustHandles="1" noChangeArrowheads="1" noChangeShapeType="1" noTextEdit="1"/>
              </p:cNvSpPr>
              <p:nvPr/>
            </p:nvSpPr>
            <p:spPr>
              <a:xfrm>
                <a:off x="3611788" y="3806026"/>
                <a:ext cx="3962620" cy="3050194"/>
              </a:xfrm>
              <a:prstGeom prst="rect">
                <a:avLst/>
              </a:prstGeom>
              <a:blipFill>
                <a:blip r:embed="rId5"/>
                <a:stretch>
                  <a:fillRect b="-4979"/>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41554131-A7A7-39DA-7308-D78B2AD787D1}"/>
                  </a:ext>
                </a:extLst>
              </p:cNvPr>
              <p:cNvSpPr txBox="1"/>
              <p:nvPr/>
            </p:nvSpPr>
            <p:spPr>
              <a:xfrm>
                <a:off x="8178506" y="4714818"/>
                <a:ext cx="2769833" cy="1446550"/>
              </a:xfrm>
              <a:prstGeom prst="rect">
                <a:avLst/>
              </a:prstGeom>
              <a:noFill/>
            </p:spPr>
            <p:txBody>
              <a:bodyPr wrap="square">
                <a:spAutoFit/>
              </a:bodyPr>
              <a:lstStyle/>
              <a:p>
                <a:r>
                  <a:rPr lang="vi-VN" sz="1400" b="1" dirty="0">
                    <a:solidFill>
                      <a:srgbClr val="FF0000"/>
                    </a:solidFill>
                    <a:latin typeface="Arial"/>
                  </a:rPr>
                  <a:t>=&gt; Bế tắc</a:t>
                </a:r>
                <a:br>
                  <a:rPr lang="vi-VN" sz="1400" dirty="0">
                    <a:solidFill>
                      <a:srgbClr val="444B52"/>
                    </a:solidFill>
                    <a:latin typeface="Arial"/>
                  </a:rPr>
                </a:br>
                <a:r>
                  <a:rPr lang="vi-VN" sz="1400" dirty="0">
                    <a:solidFill>
                      <a:srgbClr val="444B52"/>
                    </a:solidFill>
                    <a:latin typeface="Arial"/>
                  </a:rPr>
                  <a:t>- Các đạo hàm riêng theo mỗi biến </a:t>
                </a:r>
                <a14:m>
                  <m:oMath xmlns:m="http://schemas.openxmlformats.org/officeDocument/2006/math">
                    <m:sSub>
                      <m:sSubPr>
                        <m:ctrlPr>
                          <a:rPr lang="en-US" sz="1400" b="1" i="1">
                            <a:solidFill>
                              <a:schemeClr val="accent6">
                                <a:lumMod val="75000"/>
                              </a:schemeClr>
                            </a:solidFill>
                            <a:latin typeface="Cambria Math" panose="02040503050406030204" pitchFamily="18" charset="0"/>
                          </a:rPr>
                        </m:ctrlPr>
                      </m:sSubPr>
                      <m:e>
                        <m:r>
                          <a:rPr lang="en-US" sz="1400" b="1" i="1">
                            <a:solidFill>
                              <a:schemeClr val="accent6">
                                <a:lumMod val="75000"/>
                              </a:schemeClr>
                            </a:solidFill>
                            <a:latin typeface="Cambria Math" panose="02040503050406030204" pitchFamily="18" charset="0"/>
                          </a:rPr>
                          <m:t>𝝅</m:t>
                        </m:r>
                      </m:e>
                      <m:sub>
                        <m:r>
                          <a:rPr lang="en-US" sz="1400" b="1" i="1">
                            <a:solidFill>
                              <a:schemeClr val="accent6">
                                <a:lumMod val="75000"/>
                              </a:schemeClr>
                            </a:solidFill>
                            <a:latin typeface="Cambria Math" panose="02040503050406030204" pitchFamily="18" charset="0"/>
                          </a:rPr>
                          <m:t>𝒌</m:t>
                        </m:r>
                      </m:sub>
                    </m:sSub>
                  </m:oMath>
                </a14:m>
                <a:r>
                  <a:rPr lang="vi-VN" sz="1400" dirty="0">
                    <a:solidFill>
                      <a:srgbClr val="444B52"/>
                    </a:solidFill>
                    <a:latin typeface="Arial"/>
                    <a:sym typeface="Wingdings" pitchFamily="2" charset="2"/>
                  </a:rPr>
                  <a:t>,</a:t>
                </a:r>
                <a:r>
                  <a:rPr lang="vi-VN" sz="1400" b="1" dirty="0">
                    <a:solidFill>
                      <a:srgbClr val="444B52"/>
                    </a:solidFill>
                    <a:latin typeface="Arial"/>
                    <a:sym typeface="Wingdings" pitchFamily="2" charset="2"/>
                  </a:rPr>
                  <a:t> </a:t>
                </a:r>
                <a14:m>
                  <m:oMath xmlns:m="http://schemas.openxmlformats.org/officeDocument/2006/math">
                    <m:sSub>
                      <m:sSubPr>
                        <m:ctrlPr>
                          <a:rPr lang="en-US" sz="1400" b="1" i="1">
                            <a:solidFill>
                              <a:schemeClr val="tx2">
                                <a:lumMod val="60000"/>
                                <a:lumOff val="40000"/>
                              </a:schemeClr>
                            </a:solidFill>
                            <a:latin typeface="Cambria Math" panose="02040503050406030204" pitchFamily="18" charset="0"/>
                          </a:rPr>
                        </m:ctrlPr>
                      </m:sSubPr>
                      <m:e>
                        <m:r>
                          <a:rPr lang="en-US" sz="1400" b="1" i="1">
                            <a:solidFill>
                              <a:schemeClr val="tx2">
                                <a:lumMod val="60000"/>
                                <a:lumOff val="40000"/>
                              </a:schemeClr>
                            </a:solidFill>
                            <a:latin typeface="Cambria Math" panose="02040503050406030204" pitchFamily="18" charset="0"/>
                          </a:rPr>
                          <m:t>𝝁</m:t>
                        </m:r>
                      </m:e>
                      <m:sub>
                        <m:r>
                          <a:rPr lang="en-US" sz="1400" b="1" i="1">
                            <a:solidFill>
                              <a:schemeClr val="tx2">
                                <a:lumMod val="60000"/>
                                <a:lumOff val="40000"/>
                              </a:schemeClr>
                            </a:solidFill>
                            <a:latin typeface="Cambria Math" panose="02040503050406030204" pitchFamily="18" charset="0"/>
                          </a:rPr>
                          <m:t>𝒌</m:t>
                        </m:r>
                      </m:sub>
                    </m:sSub>
                  </m:oMath>
                </a14:m>
                <a:r>
                  <a:rPr lang="vi-VN" sz="1400" dirty="0">
                    <a:solidFill>
                      <a:srgbClr val="444B52"/>
                    </a:solidFill>
                    <a:latin typeface="Arial"/>
                    <a:sym typeface="Wingdings" pitchFamily="2" charset="2"/>
                  </a:rPr>
                  <a:t>,</a:t>
                </a:r>
                <a:r>
                  <a:rPr lang="vi-VN" sz="1400" b="1" dirty="0">
                    <a:solidFill>
                      <a:srgbClr val="444B52"/>
                    </a:solidFill>
                    <a:latin typeface="Arial"/>
                    <a:sym typeface="Wingdings" pitchFamily="2" charset="2"/>
                  </a:rPr>
                  <a:t> </a:t>
                </a:r>
                <a14:m>
                  <m:oMath xmlns:m="http://schemas.openxmlformats.org/officeDocument/2006/math">
                    <m:sSub>
                      <m:sSubPr>
                        <m:ctrlPr>
                          <a:rPr lang="en-US" sz="1400" b="1" i="1" dirty="0">
                            <a:solidFill>
                              <a:srgbClr val="00B050"/>
                            </a:solidFill>
                            <a:latin typeface="Cambria Math" panose="02040503050406030204" pitchFamily="18" charset="0"/>
                          </a:rPr>
                        </m:ctrlPr>
                      </m:sSubPr>
                      <m:e>
                        <m:r>
                          <a:rPr lang="en-US" sz="1400" b="1" i="1" dirty="0">
                            <a:solidFill>
                              <a:srgbClr val="00B050"/>
                            </a:solidFill>
                            <a:latin typeface="Cambria Math" panose="02040503050406030204" pitchFamily="18" charset="0"/>
                          </a:rPr>
                          <m:t>𝝈</m:t>
                        </m:r>
                      </m:e>
                      <m:sub>
                        <m:r>
                          <a:rPr lang="en-US" sz="1400" b="1" i="1">
                            <a:solidFill>
                              <a:srgbClr val="00B050"/>
                            </a:solidFill>
                            <a:latin typeface="Cambria Math" panose="02040503050406030204" pitchFamily="18" charset="0"/>
                          </a:rPr>
                          <m:t>𝒌</m:t>
                        </m:r>
                      </m:sub>
                    </m:sSub>
                  </m:oMath>
                </a14:m>
                <a:r>
                  <a:rPr lang="vi-VN" sz="1400" dirty="0">
                    <a:solidFill>
                      <a:srgbClr val="444B52"/>
                    </a:solidFill>
                    <a:latin typeface="Arial"/>
                  </a:rPr>
                  <a:t> không thể rút từng biến sang một vế để tìm nghiệm đóng</a:t>
                </a:r>
              </a:p>
              <a:p>
                <a:endParaRPr lang="en-VN" dirty="0"/>
              </a:p>
            </p:txBody>
          </p:sp>
        </mc:Choice>
        <mc:Fallback xmlns="">
          <p:sp>
            <p:nvSpPr>
              <p:cNvPr id="7" name="TextBox 6">
                <a:extLst>
                  <a:ext uri="{FF2B5EF4-FFF2-40B4-BE49-F238E27FC236}">
                    <a16:creationId xmlns:a16="http://schemas.microsoft.com/office/drawing/2014/main" id="{41554131-A7A7-39DA-7308-D78B2AD787D1}"/>
                  </a:ext>
                </a:extLst>
              </p:cNvPr>
              <p:cNvSpPr txBox="1">
                <a:spLocks noRot="1" noChangeAspect="1" noMove="1" noResize="1" noEditPoints="1" noAdjustHandles="1" noChangeArrowheads="1" noChangeShapeType="1" noTextEdit="1"/>
              </p:cNvSpPr>
              <p:nvPr/>
            </p:nvSpPr>
            <p:spPr>
              <a:xfrm>
                <a:off x="8178506" y="4714818"/>
                <a:ext cx="2769833" cy="1446550"/>
              </a:xfrm>
              <a:prstGeom prst="rect">
                <a:avLst/>
              </a:prstGeom>
              <a:blipFill>
                <a:blip r:embed="rId6"/>
                <a:stretch>
                  <a:fillRect l="-913" t="-870"/>
                </a:stretch>
              </a:blipFill>
            </p:spPr>
            <p:txBody>
              <a:bodyPr/>
              <a:lstStyle/>
              <a:p>
                <a:r>
                  <a:rPr lang="en-VN">
                    <a:noFill/>
                  </a:rPr>
                  <a:t> </a:t>
                </a:r>
              </a:p>
            </p:txBody>
          </p:sp>
        </mc:Fallback>
      </mc:AlternateContent>
      <p:sp>
        <p:nvSpPr>
          <p:cNvPr id="10" name="TextBox 9">
            <a:extLst>
              <a:ext uri="{FF2B5EF4-FFF2-40B4-BE49-F238E27FC236}">
                <a16:creationId xmlns:a16="http://schemas.microsoft.com/office/drawing/2014/main" id="{F2031957-3BA2-423E-AD58-32954355D8AC}"/>
              </a:ext>
            </a:extLst>
          </p:cNvPr>
          <p:cNvSpPr txBox="1"/>
          <p:nvPr/>
        </p:nvSpPr>
        <p:spPr>
          <a:xfrm>
            <a:off x="841955" y="3652137"/>
            <a:ext cx="2769833" cy="307777"/>
          </a:xfrm>
          <a:prstGeom prst="rect">
            <a:avLst/>
          </a:prstGeom>
          <a:noFill/>
        </p:spPr>
        <p:txBody>
          <a:bodyPr wrap="square">
            <a:spAutoFit/>
          </a:bodyPr>
          <a:lstStyle/>
          <a:p>
            <a:r>
              <a:rPr lang="vi-VN" sz="1400" dirty="0">
                <a:solidFill>
                  <a:srgbClr val="444B52"/>
                </a:solidFill>
                <a:latin typeface="Arial"/>
              </a:rPr>
              <a:t>- Ví dụ lấy đạo hàm riêng biến </a:t>
            </a:r>
            <a:r>
              <a:rPr lang="vi-VN" sz="1400" dirty="0">
                <a:solidFill>
                  <a:srgbClr val="0070C0"/>
                </a:solidFill>
                <a:latin typeface="Arial"/>
              </a:rPr>
              <a:t>𝝁</a:t>
            </a:r>
            <a:endParaRPr lang="en-VN" sz="1800" dirty="0">
              <a:solidFill>
                <a:srgbClr val="0070C0"/>
              </a:solidFill>
            </a:endParaRP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25853602-1F50-D6C0-9858-43465628AADE}"/>
                  </a:ext>
                </a:extLst>
              </p:cNvPr>
              <p:cNvSpPr txBox="1"/>
              <p:nvPr/>
            </p:nvSpPr>
            <p:spPr>
              <a:xfrm>
                <a:off x="5434003" y="1922687"/>
                <a:ext cx="3459986" cy="693588"/>
              </a:xfrm>
              <a:prstGeom prst="rect">
                <a:avLst/>
              </a:prstGeom>
              <a:noFill/>
            </p:spPr>
            <p:txBody>
              <a:bodyPr wrap="none" lIns="0" tIns="0" rIns="0" bIns="0" rtlCol="0">
                <a:spAutoFit/>
              </a:bodyPr>
              <a:lstStyle/>
              <a:p>
                <a:pPr/>
                <a14:m>
                  <m:oMathPara xmlns:m="http://schemas.openxmlformats.org/officeDocument/2006/math">
                    <m:oMath>
                      <m:func>
                        <m:funcPr>
                          <m:ctrlPr>
                            <a:rPr lang="en-US" sz="1400" i="1" smtClean="0">
                              <a:solidFill>
                                <a:srgbClr val="0070C0"/>
                              </a:solidFill>
                              <a:latin typeface="Cambria Math" panose="02040503050406030204" pitchFamily="18" charset="0"/>
                            </a:rPr>
                          </m:ctrlPr>
                        </m:funcPr>
                        <m:fName>
                          <m:r>
                            <m:rPr>
                              <m:sty m:val="p"/>
                            </m:rPr>
                            <a:rPr lang="en-US" sz="1400" i="1" smtClean="0">
                              <a:solidFill>
                                <a:srgbClr val="0070C0"/>
                              </a:solidFill>
                              <a:latin typeface="Cambria Math" panose="02040503050406030204" pitchFamily="18" charset="0"/>
                            </a:rPr>
                            <m:t>ln</m:t>
                          </m:r>
                        </m:fName>
                        <m:e>
                          <m:r>
                            <a:rPr lang="en-VN" sz="1400" i="1">
                              <a:latin typeface="Cambria Math" panose="02040503050406030204" pitchFamily="18" charset="0"/>
                            </a:rPr>
                            <m:t>𝐿</m:t>
                          </m:r>
                        </m:e>
                      </m:func>
                      <m:d>
                        <m:dPr>
                          <m:ctrlPr>
                            <a:rPr lang="en-US" sz="1400" i="1">
                              <a:latin typeface="Cambria Math" panose="02040503050406030204" pitchFamily="18" charset="0"/>
                            </a:rPr>
                          </m:ctrlPr>
                        </m:dPr>
                        <m:e>
                          <m:r>
                            <a:rPr lang="en-US" sz="1400" i="1">
                              <a:latin typeface="Cambria Math" panose="02040503050406030204" pitchFamily="18" charset="0"/>
                            </a:rPr>
                            <m:t>𝜃</m:t>
                          </m:r>
                          <m:r>
                            <a:rPr lang="en-US" sz="1400" i="1">
                              <a:latin typeface="Cambria Math" panose="02040503050406030204" pitchFamily="18" charset="0"/>
                            </a:rPr>
                            <m:t>∣</m:t>
                          </m:r>
                          <m:r>
                            <a:rPr lang="en-US" sz="1400" i="1">
                              <a:latin typeface="Cambria Math" panose="02040503050406030204" pitchFamily="18" charset="0"/>
                            </a:rPr>
                            <m:t>𝑥</m:t>
                          </m:r>
                        </m:e>
                      </m:d>
                      <m:r>
                        <a:rPr lang="en-US" sz="1400" i="1">
                          <a:latin typeface="Cambria Math" panose="02040503050406030204" pitchFamily="18" charset="0"/>
                        </a:rPr>
                        <m:t>=</m:t>
                      </m:r>
                      <m:nary>
                        <m:naryPr>
                          <m:chr m:val="∑"/>
                          <m:limLoc m:val="undOvr"/>
                          <m:ctrlPr>
                            <a:rPr lang="en-US" sz="1400" i="1">
                              <a:latin typeface="Cambria Math" panose="02040503050406030204" pitchFamily="18" charset="0"/>
                            </a:rPr>
                          </m:ctrlPr>
                        </m:naryPr>
                        <m:sub>
                          <m:r>
                            <a:rPr lang="en-US" sz="1400" i="1">
                              <a:latin typeface="Cambria Math" panose="02040503050406030204" pitchFamily="18" charset="0"/>
                            </a:rPr>
                            <m:t>𝑛</m:t>
                          </m:r>
                          <m:r>
                            <a:rPr lang="en-US" sz="1400" i="1">
                              <a:latin typeface="Cambria Math" panose="02040503050406030204" pitchFamily="18" charset="0"/>
                            </a:rPr>
                            <m:t>=1</m:t>
                          </m:r>
                        </m:sub>
                        <m:sup>
                          <m:r>
                            <a:rPr lang="en-US" sz="1400" i="1">
                              <a:latin typeface="Cambria Math" panose="02040503050406030204" pitchFamily="18" charset="0"/>
                            </a:rPr>
                            <m:t>𝑁</m:t>
                          </m:r>
                        </m:sup>
                        <m:e>
                          <m:func>
                            <m:funcPr>
                              <m:ctrlPr>
                                <a:rPr lang="en-US" sz="1400" i="1" smtClean="0">
                                  <a:solidFill>
                                    <a:srgbClr val="0070C0"/>
                                  </a:solidFill>
                                  <a:latin typeface="Cambria Math" panose="02040503050406030204" pitchFamily="18" charset="0"/>
                                </a:rPr>
                              </m:ctrlPr>
                            </m:funcPr>
                            <m:fName>
                              <m:r>
                                <m:rPr>
                                  <m:sty m:val="p"/>
                                </m:rPr>
                                <a:rPr lang="en-US" sz="1400" i="1" smtClean="0">
                                  <a:solidFill>
                                    <a:srgbClr val="0070C0"/>
                                  </a:solidFill>
                                  <a:latin typeface="Cambria Math" panose="02040503050406030204" pitchFamily="18" charset="0"/>
                                </a:rPr>
                                <m:t>ln</m:t>
                              </m:r>
                            </m:fName>
                            <m:e>
                              <m:d>
                                <m:dPr>
                                  <m:ctrlPr>
                                    <a:rPr lang="en-US" sz="1400" i="1">
                                      <a:solidFill>
                                        <a:schemeClr val="accent6">
                                          <a:lumMod val="75000"/>
                                        </a:schemeClr>
                                      </a:solidFill>
                                      <a:latin typeface="Cambria Math" panose="02040503050406030204" pitchFamily="18" charset="0"/>
                                    </a:rPr>
                                  </m:ctrlPr>
                                </m:dPr>
                                <m:e>
                                  <m:nary>
                                    <m:naryPr>
                                      <m:chr m:val="∑"/>
                                      <m:limLoc m:val="undOvr"/>
                                      <m:ctrlPr>
                                        <a:rPr lang="en-US" sz="1400" i="1">
                                          <a:solidFill>
                                            <a:schemeClr val="accent6">
                                              <a:lumMod val="75000"/>
                                            </a:schemeClr>
                                          </a:solidFill>
                                          <a:latin typeface="Cambria Math" panose="02040503050406030204" pitchFamily="18" charset="0"/>
                                        </a:rPr>
                                      </m:ctrlPr>
                                    </m:naryPr>
                                    <m:sub>
                                      <m:r>
                                        <a:rPr lang="en-US" sz="1400" i="1">
                                          <a:solidFill>
                                            <a:schemeClr val="accent6">
                                              <a:lumMod val="75000"/>
                                            </a:schemeClr>
                                          </a:solidFill>
                                          <a:latin typeface="Cambria Math" panose="02040503050406030204" pitchFamily="18" charset="0"/>
                                        </a:rPr>
                                        <m:t>𝑘</m:t>
                                      </m:r>
                                      <m:r>
                                        <a:rPr lang="en-US" sz="1400" i="1">
                                          <a:solidFill>
                                            <a:schemeClr val="accent6">
                                              <a:lumMod val="75000"/>
                                            </a:schemeClr>
                                          </a:solidFill>
                                          <a:latin typeface="Cambria Math" panose="02040503050406030204" pitchFamily="18" charset="0"/>
                                        </a:rPr>
                                        <m:t>=1</m:t>
                                      </m:r>
                                    </m:sub>
                                    <m:sup>
                                      <m:r>
                                        <a:rPr lang="en-US" sz="1400" i="1">
                                          <a:solidFill>
                                            <a:schemeClr val="accent6">
                                              <a:lumMod val="75000"/>
                                            </a:schemeClr>
                                          </a:solidFill>
                                          <a:latin typeface="Cambria Math" panose="02040503050406030204" pitchFamily="18" charset="0"/>
                                        </a:rPr>
                                        <m:t>𝐾</m:t>
                                      </m:r>
                                    </m:sup>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𝜋</m:t>
                                          </m:r>
                                        </m:e>
                                        <m:sub>
                                          <m:r>
                                            <a:rPr lang="en-US" sz="1400" i="1">
                                              <a:solidFill>
                                                <a:schemeClr val="accent6">
                                                  <a:lumMod val="75000"/>
                                                </a:schemeClr>
                                              </a:solidFill>
                                              <a:latin typeface="Cambria Math" panose="02040503050406030204" pitchFamily="18" charset="0"/>
                                            </a:rPr>
                                            <m:t>𝑘</m:t>
                                          </m:r>
                                        </m:sub>
                                      </m:sSub>
                                    </m:e>
                                  </m:nary>
                                  <m:r>
                                    <a:rPr lang="en-US" sz="1400" i="1">
                                      <a:solidFill>
                                        <a:schemeClr val="accent6">
                                          <a:lumMod val="75000"/>
                                        </a:schemeClr>
                                      </a:solidFill>
                                      <a:latin typeface="Cambria Math" panose="02040503050406030204" pitchFamily="18" charset="0"/>
                                    </a:rPr>
                                    <m:t>𝒩</m:t>
                                  </m:r>
                                  <m:d>
                                    <m:dPr>
                                      <m:ctrlPr>
                                        <a:rPr lang="en-US" sz="1400" i="1">
                                          <a:solidFill>
                                            <a:schemeClr val="accent6">
                                              <a:lumMod val="75000"/>
                                            </a:schemeClr>
                                          </a:solidFill>
                                          <a:latin typeface="Cambria Math" panose="02040503050406030204" pitchFamily="18" charset="0"/>
                                        </a:rPr>
                                      </m:ctrlPr>
                                    </m:dPr>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𝑥</m:t>
                                          </m:r>
                                        </m:e>
                                        <m:sub>
                                          <m:r>
                                            <a:rPr lang="en-US" sz="1400" i="1">
                                              <a:solidFill>
                                                <a:schemeClr val="accent6">
                                                  <a:lumMod val="75000"/>
                                                </a:schemeClr>
                                              </a:solidFill>
                                              <a:latin typeface="Cambria Math" panose="02040503050406030204" pitchFamily="18" charset="0"/>
                                            </a:rPr>
                                            <m:t>𝑛</m:t>
                                          </m:r>
                                        </m:sub>
                                      </m:sSub>
                                      <m:r>
                                        <a:rPr lang="en-US" sz="1400" i="1">
                                          <a:solidFill>
                                            <a:schemeClr val="accent6">
                                              <a:lumMod val="75000"/>
                                            </a:schemeClr>
                                          </a:solidFill>
                                          <a:latin typeface="Cambria Math" panose="02040503050406030204" pitchFamily="18" charset="0"/>
                                        </a:rPr>
                                        <m:t>∣</m:t>
                                      </m:r>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𝜇</m:t>
                                          </m:r>
                                        </m:e>
                                        <m:sub>
                                          <m:r>
                                            <a:rPr lang="en-US" sz="1400" i="1">
                                              <a:solidFill>
                                                <a:schemeClr val="accent6">
                                                  <a:lumMod val="75000"/>
                                                </a:schemeClr>
                                              </a:solidFill>
                                              <a:latin typeface="Cambria Math" panose="02040503050406030204" pitchFamily="18" charset="0"/>
                                            </a:rPr>
                                            <m:t>𝑘</m:t>
                                          </m:r>
                                        </m:sub>
                                      </m:sSub>
                                      <m:r>
                                        <a:rPr lang="en-US" sz="1400" i="1">
                                          <a:solidFill>
                                            <a:schemeClr val="accent6">
                                              <a:lumMod val="75000"/>
                                            </a:schemeClr>
                                          </a:solidFill>
                                          <a:latin typeface="Cambria Math" panose="02040503050406030204" pitchFamily="18" charset="0"/>
                                        </a:rPr>
                                        <m:t>,</m:t>
                                      </m:r>
                                      <m:sSubSup>
                                        <m:sSubSupPr>
                                          <m:ctrlPr>
                                            <a:rPr lang="en-US" sz="1400" i="1">
                                              <a:solidFill>
                                                <a:schemeClr val="accent6">
                                                  <a:lumMod val="75000"/>
                                                </a:schemeClr>
                                              </a:solidFill>
                                              <a:latin typeface="Cambria Math" panose="02040503050406030204" pitchFamily="18" charset="0"/>
                                            </a:rPr>
                                          </m:ctrlPr>
                                        </m:sSubSupPr>
                                        <m:e>
                                          <m:r>
                                            <a:rPr lang="en-US" sz="1400" i="1">
                                              <a:solidFill>
                                                <a:schemeClr val="accent6">
                                                  <a:lumMod val="75000"/>
                                                </a:schemeClr>
                                              </a:solidFill>
                                              <a:latin typeface="Cambria Math" panose="02040503050406030204" pitchFamily="18" charset="0"/>
                                            </a:rPr>
                                            <m:t>𝜎</m:t>
                                          </m:r>
                                        </m:e>
                                        <m:sub>
                                          <m:r>
                                            <a:rPr lang="en-US" sz="1400" i="1">
                                              <a:solidFill>
                                                <a:schemeClr val="accent6">
                                                  <a:lumMod val="75000"/>
                                                </a:schemeClr>
                                              </a:solidFill>
                                              <a:latin typeface="Cambria Math" panose="02040503050406030204" pitchFamily="18" charset="0"/>
                                            </a:rPr>
                                            <m:t>𝑘</m:t>
                                          </m:r>
                                        </m:sub>
                                        <m:sup>
                                          <m:r>
                                            <a:rPr lang="en-US" sz="1400" i="1">
                                              <a:solidFill>
                                                <a:schemeClr val="accent6">
                                                  <a:lumMod val="75000"/>
                                                </a:schemeClr>
                                              </a:solidFill>
                                              <a:latin typeface="Cambria Math" panose="02040503050406030204" pitchFamily="18" charset="0"/>
                                            </a:rPr>
                                            <m:t>2</m:t>
                                          </m:r>
                                        </m:sup>
                                      </m:sSubSup>
                                    </m:e>
                                  </m:d>
                                </m:e>
                              </m:d>
                            </m:e>
                          </m:func>
                        </m:e>
                      </m:nary>
                    </m:oMath>
                  </m:oMathPara>
                </a14:m>
                <a:endParaRPr dirty="0"/>
              </a:p>
            </p:txBody>
          </p:sp>
        </mc:Choice>
        <mc:Fallback xmlns="">
          <p:sp>
            <p:nvSpPr>
              <p:cNvPr id="19" name="TextBox 18">
                <a:extLst>
                  <a:ext uri="{FF2B5EF4-FFF2-40B4-BE49-F238E27FC236}">
                    <a16:creationId xmlns:a16="http://schemas.microsoft.com/office/drawing/2014/main" id="{25853602-1F50-D6C0-9858-43465628AADE}"/>
                  </a:ext>
                </a:extLst>
              </p:cNvPr>
              <p:cNvSpPr txBox="1">
                <a:spLocks noRot="1" noChangeAspect="1" noMove="1" noResize="1" noEditPoints="1" noAdjustHandles="1" noChangeArrowheads="1" noChangeShapeType="1" noTextEdit="1"/>
              </p:cNvSpPr>
              <p:nvPr/>
            </p:nvSpPr>
            <p:spPr>
              <a:xfrm>
                <a:off x="5434003" y="1922687"/>
                <a:ext cx="3459986" cy="693588"/>
              </a:xfrm>
              <a:prstGeom prst="rect">
                <a:avLst/>
              </a:prstGeom>
              <a:blipFill>
                <a:blip r:embed="rId7"/>
                <a:stretch>
                  <a:fillRect l="-730" t="-94545" r="-2920" b="-150909"/>
                </a:stretch>
              </a:blipFill>
            </p:spPr>
            <p:txBody>
              <a:bodyPr/>
              <a:lstStyle/>
              <a:p>
                <a:r>
                  <a:rPr lang="en-VN">
                    <a:noFill/>
                  </a:rPr>
                  <a:t> </a:t>
                </a:r>
              </a:p>
            </p:txBody>
          </p:sp>
        </mc:Fallback>
      </mc:AlternateContent>
      <p:sp>
        <p:nvSpPr>
          <p:cNvPr id="20" name="Right Arrow 19">
            <a:extLst>
              <a:ext uri="{FF2B5EF4-FFF2-40B4-BE49-F238E27FC236}">
                <a16:creationId xmlns:a16="http://schemas.microsoft.com/office/drawing/2014/main" id="{8C049384-6DFC-613C-DC69-D6F245C92CB1}"/>
              </a:ext>
            </a:extLst>
          </p:cNvPr>
          <p:cNvSpPr/>
          <p:nvPr/>
        </p:nvSpPr>
        <p:spPr>
          <a:xfrm rot="19550922">
            <a:off x="5302157" y="2575174"/>
            <a:ext cx="581883" cy="384721"/>
          </a:xfrm>
          <a:prstGeom prst="rightArrow">
            <a:avLst/>
          </a:prstGeom>
          <a:ln>
            <a:solidFill>
              <a:schemeClr val="tx2">
                <a:lumMod val="60000"/>
                <a:lumOff val="4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VN">
              <a:solidFill>
                <a:schemeClr val="tx2">
                  <a:lumMod val="60000"/>
                  <a:lumOff val="40000"/>
                </a:schemeClr>
              </a:solidFill>
            </a:endParaRPr>
          </a:p>
        </p:txBody>
      </p:sp>
    </p:spTree>
    <p:extLst>
      <p:ext uri="{BB962C8B-B14F-4D97-AF65-F5344CB8AC3E}">
        <p14:creationId xmlns:p14="http://schemas.microsoft.com/office/powerpoint/2010/main" val="7243998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4E671-5D4C-9F55-BE69-80B9B008385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C9F6AE7-0D30-C450-3534-23D8D520C00A}"/>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p:sp>
        <p:nvSpPr>
          <p:cNvPr id="4" name="TextBox 3">
            <a:extLst>
              <a:ext uri="{FF2B5EF4-FFF2-40B4-BE49-F238E27FC236}">
                <a16:creationId xmlns:a16="http://schemas.microsoft.com/office/drawing/2014/main" id="{43CEF9CD-25B2-534A-BAB7-6103B72EF176}"/>
              </a:ext>
            </a:extLst>
          </p:cNvPr>
          <p:cNvSpPr txBox="1"/>
          <p:nvPr/>
        </p:nvSpPr>
        <p:spPr>
          <a:xfrm>
            <a:off x="364066" y="1267772"/>
            <a:ext cx="10961159" cy="892552"/>
          </a:xfrm>
          <a:prstGeom prst="rect">
            <a:avLst/>
          </a:prstGeom>
          <a:noFill/>
        </p:spPr>
        <p:txBody>
          <a:bodyPr wrap="square">
            <a:spAutoFit/>
          </a:bodyPr>
          <a:lstStyle/>
          <a:p>
            <a:pPr>
              <a:spcAft>
                <a:spcPts val="600"/>
              </a:spcAft>
            </a:pPr>
            <a:r>
              <a:rPr lang="vi-VN" sz="1400" b="1" dirty="0">
                <a:solidFill>
                  <a:srgbClr val="1B8A7A"/>
                </a:solidFill>
                <a:latin typeface="Arial"/>
              </a:rPr>
              <a:t>2.2. Expectation-Maximization (EM) - </a:t>
            </a:r>
            <a:r>
              <a:rPr lang="vi-VN" sz="1000" b="1" dirty="0">
                <a:solidFill>
                  <a:schemeClr val="accent5">
                    <a:lumMod val="60000"/>
                    <a:lumOff val="40000"/>
                  </a:schemeClr>
                </a:solidFill>
                <a:latin typeface="Arial"/>
              </a:rPr>
              <a:t>Phương pháp cực đại hoá kỳ vọng</a:t>
            </a:r>
            <a:endParaRPr lang="vi-VN" sz="1400" dirty="0">
              <a:solidFill>
                <a:schemeClr val="bg2">
                  <a:lumMod val="50000"/>
                </a:schemeClr>
              </a:solidFill>
              <a:latin typeface="Arial"/>
            </a:endParaRPr>
          </a:p>
          <a:p>
            <a:pPr>
              <a:spcAft>
                <a:spcPts val="600"/>
              </a:spcAft>
            </a:pPr>
            <a:r>
              <a:rPr lang="vi-VN" sz="1400" dirty="0">
                <a:solidFill>
                  <a:srgbClr val="444B52"/>
                </a:solidFill>
                <a:latin typeface="Arial"/>
              </a:rPr>
              <a:t>Giữ nguyên mục tiêu là “cực đại hoá hàm hợp lý” (Maximize Log-likelihood),</a:t>
            </a:r>
          </a:p>
          <a:p>
            <a:pPr>
              <a:spcAft>
                <a:spcPts val="600"/>
              </a:spcAft>
            </a:pPr>
            <a:r>
              <a:rPr lang="vi-VN" sz="1400" b="1" dirty="0">
                <a:solidFill>
                  <a:srgbClr val="444B52"/>
                </a:solidFill>
                <a:latin typeface="Arial"/>
              </a:rPr>
              <a:t>Nhưng với hướng tiếp cận “xác suất thống kê”:</a:t>
            </a:r>
          </a:p>
        </p:txBody>
      </p:sp>
    </p:spTree>
    <p:extLst>
      <p:ext uri="{BB962C8B-B14F-4D97-AF65-F5344CB8AC3E}">
        <p14:creationId xmlns:p14="http://schemas.microsoft.com/office/powerpoint/2010/main" val="14018409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10404-E99B-51E1-47E6-DDCFDA951B6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219DB0C9-249C-392D-6F83-51BC9745C815}"/>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362107B-ED25-D4D0-2230-FE8E4FB095B8}"/>
                  </a:ext>
                </a:extLst>
              </p:cNvPr>
              <p:cNvSpPr txBox="1"/>
              <p:nvPr/>
            </p:nvSpPr>
            <p:spPr>
              <a:xfrm>
                <a:off x="364066" y="1267772"/>
                <a:ext cx="10961159" cy="1477328"/>
              </a:xfrm>
              <a:prstGeom prst="rect">
                <a:avLst/>
              </a:prstGeom>
              <a:noFill/>
            </p:spPr>
            <p:txBody>
              <a:bodyPr wrap="square">
                <a:spAutoFit/>
              </a:bodyPr>
              <a:lstStyle/>
              <a:p>
                <a:pPr>
                  <a:spcAft>
                    <a:spcPts val="600"/>
                  </a:spcAft>
                </a:pPr>
                <a:r>
                  <a:rPr lang="vi-VN" sz="1400" b="1" dirty="0">
                    <a:solidFill>
                      <a:srgbClr val="1B8A7A"/>
                    </a:solidFill>
                    <a:latin typeface="Arial"/>
                  </a:rPr>
                  <a:t>2.2. Expectation-Maximization (EM) - </a:t>
                </a:r>
                <a:r>
                  <a:rPr lang="vi-VN" sz="1000" b="1" dirty="0">
                    <a:solidFill>
                      <a:schemeClr val="accent5">
                        <a:lumMod val="60000"/>
                        <a:lumOff val="40000"/>
                      </a:schemeClr>
                    </a:solidFill>
                    <a:latin typeface="Arial"/>
                  </a:rPr>
                  <a:t>Phương pháp cực đại hoá kỳ vọng</a:t>
                </a:r>
                <a:endParaRPr lang="vi-VN" sz="1400" dirty="0">
                  <a:solidFill>
                    <a:schemeClr val="bg2">
                      <a:lumMod val="50000"/>
                    </a:schemeClr>
                  </a:solidFill>
                  <a:latin typeface="Arial"/>
                </a:endParaRPr>
              </a:p>
              <a:p>
                <a:pPr>
                  <a:spcAft>
                    <a:spcPts val="600"/>
                  </a:spcAft>
                </a:pPr>
                <a:r>
                  <a:rPr lang="vi-VN" sz="1400" dirty="0">
                    <a:solidFill>
                      <a:srgbClr val="444B52"/>
                    </a:solidFill>
                    <a:latin typeface="Arial"/>
                  </a:rPr>
                  <a:t>Giữ nguyên mục tiêu là “cực đại hoá hàm hợp lý” (Maximize Log-likelihood),</a:t>
                </a:r>
              </a:p>
              <a:p>
                <a:pPr>
                  <a:spcAft>
                    <a:spcPts val="600"/>
                  </a:spcAft>
                </a:pPr>
                <a:r>
                  <a:rPr lang="vi-VN" sz="1400" b="1" dirty="0">
                    <a:solidFill>
                      <a:srgbClr val="444B52"/>
                    </a:solidFill>
                    <a:latin typeface="Arial"/>
                  </a:rPr>
                  <a:t>Nhưng với hướng tiếp cận “xác suất thống kê”:</a:t>
                </a:r>
              </a:p>
              <a:p>
                <a:pPr>
                  <a:spcAft>
                    <a:spcPts val="600"/>
                  </a:spcAft>
                </a:pPr>
                <a:r>
                  <a:rPr lang="vi-VN" sz="1400" dirty="0">
                    <a:solidFill>
                      <a:srgbClr val="444B52"/>
                    </a:solidFill>
                    <a:latin typeface="Arial"/>
                  </a:rPr>
                  <a:t>	“Datapoint</a:t>
                </a:r>
                <a14:m>
                  <m:oMath xmlns:m="http://schemas.openxmlformats.org/officeDocument/2006/math">
                    <m:r>
                      <a:rPr lang="vi-VN" sz="1400">
                        <a:solidFill>
                          <a:schemeClr val="accent6">
                            <a:lumMod val="75000"/>
                          </a:schemeClr>
                        </a:solidFill>
                        <a:latin typeface="Cambria Math" panose="02040503050406030204" pitchFamily="18" charset="0"/>
                      </a:rPr>
                      <m:t> </m:t>
                    </m:r>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𝑥</m:t>
                        </m:r>
                      </m:e>
                      <m:sub>
                        <m:r>
                          <a:rPr lang="en-US" sz="1400" i="1">
                            <a:solidFill>
                              <a:schemeClr val="accent6">
                                <a:lumMod val="75000"/>
                              </a:schemeClr>
                            </a:solidFill>
                            <a:latin typeface="Cambria Math" panose="02040503050406030204" pitchFamily="18" charset="0"/>
                          </a:rPr>
                          <m:t>𝑛</m:t>
                        </m:r>
                      </m:sub>
                    </m:sSub>
                  </m:oMath>
                </a14:m>
                <a:r>
                  <a:rPr lang="vi-VN" sz="1400" dirty="0">
                    <a:solidFill>
                      <a:srgbClr val="444B52"/>
                    </a:solidFill>
                    <a:latin typeface="Arial"/>
                  </a:rPr>
                  <a:t> được sinh từ Phân phối chuẩn nào?”</a:t>
                </a:r>
              </a:p>
              <a:p>
                <a:pPr>
                  <a:spcAft>
                    <a:spcPts val="600"/>
                  </a:spcAft>
                </a:pPr>
                <a:r>
                  <a:rPr lang="vi-VN" sz="1400" dirty="0">
                    <a:solidFill>
                      <a:srgbClr val="444B52"/>
                    </a:solidFill>
                    <a:latin typeface="Arial"/>
                  </a:rPr>
                  <a:t>		&lt;=&gt; Biến ẩn (latent variable): Ký hiệu là </a:t>
                </a:r>
                <a14:m>
                  <m:oMath xmlns:m="http://schemas.openxmlformats.org/officeDocument/2006/math">
                    <m:sSub>
                      <m:sSubPr>
                        <m:ctrlPr>
                          <a:rPr lang="en-US" sz="1400" b="1" i="1">
                            <a:solidFill>
                              <a:srgbClr val="FF0000"/>
                            </a:solidFill>
                            <a:latin typeface="Cambria Math" panose="02040503050406030204" pitchFamily="18" charset="0"/>
                          </a:rPr>
                        </m:ctrlPr>
                      </m:sSubPr>
                      <m:e>
                        <m:r>
                          <a:rPr lang="en-US" sz="1400" b="1" i="1">
                            <a:solidFill>
                              <a:srgbClr val="FF0000"/>
                            </a:solidFill>
                            <a:latin typeface="Cambria Math" panose="02040503050406030204" pitchFamily="18" charset="0"/>
                          </a:rPr>
                          <m:t>𝒛</m:t>
                        </m:r>
                      </m:e>
                      <m:sub>
                        <m:r>
                          <a:rPr lang="en-US" sz="1400" b="1" i="1">
                            <a:solidFill>
                              <a:srgbClr val="FF0000"/>
                            </a:solidFill>
                            <a:latin typeface="Cambria Math" panose="02040503050406030204" pitchFamily="18" charset="0"/>
                          </a:rPr>
                          <m:t>𝒏</m:t>
                        </m:r>
                      </m:sub>
                    </m:sSub>
                  </m:oMath>
                </a14:m>
                <a:endParaRPr lang="vi-VN" sz="1400" b="1" dirty="0">
                  <a:solidFill>
                    <a:srgbClr val="444B52"/>
                  </a:solidFill>
                  <a:latin typeface="Arial"/>
                </a:endParaRPr>
              </a:p>
            </p:txBody>
          </p:sp>
        </mc:Choice>
        <mc:Fallback xmlns="">
          <p:sp>
            <p:nvSpPr>
              <p:cNvPr id="4" name="TextBox 3">
                <a:extLst>
                  <a:ext uri="{FF2B5EF4-FFF2-40B4-BE49-F238E27FC236}">
                    <a16:creationId xmlns:a16="http://schemas.microsoft.com/office/drawing/2014/main" id="{D362107B-ED25-D4D0-2230-FE8E4FB095B8}"/>
                  </a:ext>
                </a:extLst>
              </p:cNvPr>
              <p:cNvSpPr txBox="1">
                <a:spLocks noRot="1" noChangeAspect="1" noMove="1" noResize="1" noEditPoints="1" noAdjustHandles="1" noChangeArrowheads="1" noChangeShapeType="1" noTextEdit="1"/>
              </p:cNvSpPr>
              <p:nvPr/>
            </p:nvSpPr>
            <p:spPr>
              <a:xfrm>
                <a:off x="364066" y="1267772"/>
                <a:ext cx="10961159" cy="1477328"/>
              </a:xfrm>
              <a:prstGeom prst="rect">
                <a:avLst/>
              </a:prstGeom>
              <a:blipFill>
                <a:blip r:embed="rId3"/>
                <a:stretch>
                  <a:fillRect l="-116" t="-847" b="-3390"/>
                </a:stretch>
              </a:blipFill>
            </p:spPr>
            <p:txBody>
              <a:bodyPr/>
              <a:lstStyle/>
              <a:p>
                <a:r>
                  <a:rPr lang="en-VN">
                    <a:noFill/>
                  </a:rPr>
                  <a:t> </a:t>
                </a:r>
              </a:p>
            </p:txBody>
          </p:sp>
        </mc:Fallback>
      </mc:AlternateContent>
    </p:spTree>
    <p:extLst>
      <p:ext uri="{BB962C8B-B14F-4D97-AF65-F5344CB8AC3E}">
        <p14:creationId xmlns:p14="http://schemas.microsoft.com/office/powerpoint/2010/main" val="38146915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3E78D-DD12-86AB-270A-707665DFF2C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66B31B5-A84C-724D-54C8-B17C790CF384}"/>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803EEA61-8CFA-7847-573A-ADDAC8FC0306}"/>
                  </a:ext>
                </a:extLst>
              </p:cNvPr>
              <p:cNvSpPr txBox="1"/>
              <p:nvPr/>
            </p:nvSpPr>
            <p:spPr>
              <a:xfrm>
                <a:off x="364066" y="1267772"/>
                <a:ext cx="10961159" cy="2062103"/>
              </a:xfrm>
              <a:prstGeom prst="rect">
                <a:avLst/>
              </a:prstGeom>
              <a:noFill/>
            </p:spPr>
            <p:txBody>
              <a:bodyPr wrap="square">
                <a:spAutoFit/>
              </a:bodyPr>
              <a:lstStyle/>
              <a:p>
                <a:pPr>
                  <a:spcAft>
                    <a:spcPts val="600"/>
                  </a:spcAft>
                </a:pPr>
                <a:r>
                  <a:rPr lang="vi-VN" sz="1400" b="1" dirty="0">
                    <a:solidFill>
                      <a:srgbClr val="1B8A7A"/>
                    </a:solidFill>
                    <a:latin typeface="Arial"/>
                  </a:rPr>
                  <a:t>2.2. Expectation-Maximization (EM) - </a:t>
                </a:r>
                <a:r>
                  <a:rPr lang="vi-VN" sz="1000" b="1" dirty="0">
                    <a:solidFill>
                      <a:schemeClr val="accent5">
                        <a:lumMod val="60000"/>
                        <a:lumOff val="40000"/>
                      </a:schemeClr>
                    </a:solidFill>
                    <a:latin typeface="Arial"/>
                  </a:rPr>
                  <a:t>Phương pháp cực đại hoá kỳ vọng</a:t>
                </a:r>
                <a:endParaRPr lang="vi-VN" sz="1400" dirty="0">
                  <a:solidFill>
                    <a:schemeClr val="bg2">
                      <a:lumMod val="50000"/>
                    </a:schemeClr>
                  </a:solidFill>
                  <a:latin typeface="Arial"/>
                </a:endParaRPr>
              </a:p>
              <a:p>
                <a:pPr>
                  <a:spcAft>
                    <a:spcPts val="600"/>
                  </a:spcAft>
                </a:pPr>
                <a:r>
                  <a:rPr lang="vi-VN" sz="1400" dirty="0">
                    <a:solidFill>
                      <a:srgbClr val="444B52"/>
                    </a:solidFill>
                    <a:latin typeface="Arial"/>
                  </a:rPr>
                  <a:t>Giữ nguyên mục tiêu là “cực đại hoá hàm hợp lý” (Maximize Log-likelihood),</a:t>
                </a:r>
              </a:p>
              <a:p>
                <a:pPr>
                  <a:spcAft>
                    <a:spcPts val="600"/>
                  </a:spcAft>
                </a:pPr>
                <a:r>
                  <a:rPr lang="vi-VN" sz="1400" b="1" dirty="0">
                    <a:solidFill>
                      <a:srgbClr val="444B52"/>
                    </a:solidFill>
                    <a:latin typeface="Arial"/>
                  </a:rPr>
                  <a:t>Nhưng với hướng tiếp cận “xác suất thống kê”:</a:t>
                </a:r>
              </a:p>
              <a:p>
                <a:pPr>
                  <a:spcAft>
                    <a:spcPts val="600"/>
                  </a:spcAft>
                </a:pPr>
                <a:r>
                  <a:rPr lang="vi-VN" sz="1400" dirty="0">
                    <a:solidFill>
                      <a:srgbClr val="444B52"/>
                    </a:solidFill>
                    <a:latin typeface="Arial"/>
                  </a:rPr>
                  <a:t>	“Datapoint</a:t>
                </a:r>
                <a14:m>
                  <m:oMath xmlns:m="http://schemas.openxmlformats.org/officeDocument/2006/math">
                    <m:r>
                      <a:rPr lang="vi-VN" sz="1400">
                        <a:solidFill>
                          <a:schemeClr val="accent6">
                            <a:lumMod val="75000"/>
                          </a:schemeClr>
                        </a:solidFill>
                        <a:latin typeface="Cambria Math" panose="02040503050406030204" pitchFamily="18" charset="0"/>
                      </a:rPr>
                      <m:t> </m:t>
                    </m:r>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𝑥</m:t>
                        </m:r>
                      </m:e>
                      <m:sub>
                        <m:r>
                          <a:rPr lang="en-US" sz="1400" i="1">
                            <a:solidFill>
                              <a:schemeClr val="accent6">
                                <a:lumMod val="75000"/>
                              </a:schemeClr>
                            </a:solidFill>
                            <a:latin typeface="Cambria Math" panose="02040503050406030204" pitchFamily="18" charset="0"/>
                          </a:rPr>
                          <m:t>𝑛</m:t>
                        </m:r>
                      </m:sub>
                    </m:sSub>
                  </m:oMath>
                </a14:m>
                <a:r>
                  <a:rPr lang="vi-VN" sz="1400" dirty="0">
                    <a:solidFill>
                      <a:srgbClr val="444B52"/>
                    </a:solidFill>
                    <a:latin typeface="Arial"/>
                  </a:rPr>
                  <a:t> được sinh từ Phân phối chuẩn nào?”</a:t>
                </a:r>
              </a:p>
              <a:p>
                <a:pPr>
                  <a:spcAft>
                    <a:spcPts val="600"/>
                  </a:spcAft>
                </a:pPr>
                <a:r>
                  <a:rPr lang="vi-VN" sz="1400" dirty="0">
                    <a:solidFill>
                      <a:srgbClr val="444B52"/>
                    </a:solidFill>
                    <a:latin typeface="Arial"/>
                  </a:rPr>
                  <a:t>		&lt;=&gt; Biến ẩn (latent variable): Ký hiệu là </a:t>
                </a:r>
                <a14:m>
                  <m:oMath xmlns:m="http://schemas.openxmlformats.org/officeDocument/2006/math">
                    <m:sSub>
                      <m:sSubPr>
                        <m:ctrlPr>
                          <a:rPr lang="en-US" sz="1400" b="1" i="1">
                            <a:solidFill>
                              <a:srgbClr val="FF0000"/>
                            </a:solidFill>
                            <a:latin typeface="Cambria Math" panose="02040503050406030204" pitchFamily="18" charset="0"/>
                          </a:rPr>
                        </m:ctrlPr>
                      </m:sSubPr>
                      <m:e>
                        <m:r>
                          <a:rPr lang="en-US" sz="1400" b="1" i="1">
                            <a:solidFill>
                              <a:srgbClr val="FF0000"/>
                            </a:solidFill>
                            <a:latin typeface="Cambria Math" panose="02040503050406030204" pitchFamily="18" charset="0"/>
                          </a:rPr>
                          <m:t>𝒛</m:t>
                        </m:r>
                      </m:e>
                      <m:sub>
                        <m:r>
                          <a:rPr lang="en-US" sz="1400" b="1" i="1">
                            <a:solidFill>
                              <a:srgbClr val="FF0000"/>
                            </a:solidFill>
                            <a:latin typeface="Cambria Math" panose="02040503050406030204" pitchFamily="18" charset="0"/>
                          </a:rPr>
                          <m:t>𝒏</m:t>
                        </m:r>
                      </m:sub>
                    </m:sSub>
                  </m:oMath>
                </a14:m>
                <a:endParaRPr lang="vi-VN" sz="1400" b="1" dirty="0">
                  <a:solidFill>
                    <a:srgbClr val="444B52"/>
                  </a:solidFill>
                  <a:latin typeface="Arial"/>
                </a:endParaRPr>
              </a:p>
              <a:p>
                <a:pPr>
                  <a:spcAft>
                    <a:spcPts val="600"/>
                  </a:spcAft>
                </a:pPr>
                <a:r>
                  <a:rPr lang="vi-VN" sz="1400" dirty="0">
                    <a:solidFill>
                      <a:srgbClr val="444B52"/>
                    </a:solidFill>
                    <a:latin typeface="Arial"/>
                  </a:rPr>
                  <a:t>	“Xác suất Datapoint </a:t>
                </a:r>
                <a14:m>
                  <m:oMath xmlns:m="http://schemas.openxmlformats.org/officeDocument/2006/math">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𝑥</m:t>
                        </m:r>
                      </m:e>
                      <m:sub>
                        <m:r>
                          <a:rPr lang="en-US" sz="1400" i="1">
                            <a:solidFill>
                              <a:schemeClr val="accent6">
                                <a:lumMod val="75000"/>
                              </a:schemeClr>
                            </a:solidFill>
                            <a:latin typeface="Cambria Math" panose="02040503050406030204" pitchFamily="18" charset="0"/>
                          </a:rPr>
                          <m:t>𝑛</m:t>
                        </m:r>
                      </m:sub>
                    </m:sSub>
                  </m:oMath>
                </a14:m>
                <a:r>
                  <a:rPr lang="vi-VN" sz="1400" dirty="0">
                    <a:solidFill>
                      <a:srgbClr val="444B52"/>
                    </a:solidFill>
                    <a:latin typeface="Arial"/>
                  </a:rPr>
                  <a:t> được sinh từ Phân phối chuẩn thứ </a:t>
                </a:r>
                <a14:m>
                  <m:oMath xmlns:m="http://schemas.openxmlformats.org/officeDocument/2006/math">
                    <m:r>
                      <a:rPr lang="en-US" sz="1400" b="0" i="1">
                        <a:solidFill>
                          <a:schemeClr val="accent6">
                            <a:lumMod val="75000"/>
                          </a:schemeClr>
                        </a:solidFill>
                        <a:latin typeface="Cambria Math" panose="02040503050406030204" pitchFamily="18" charset="0"/>
                      </a:rPr>
                      <m:t>𝑘</m:t>
                    </m:r>
                  </m:oMath>
                </a14:m>
                <a:r>
                  <a:rPr lang="vi-VN" sz="1400" dirty="0">
                    <a:solidFill>
                      <a:srgbClr val="444B52"/>
                    </a:solidFill>
                    <a:latin typeface="Arial"/>
                  </a:rPr>
                  <a:t> là bao nhiêu?”</a:t>
                </a:r>
              </a:p>
              <a:p>
                <a:pPr>
                  <a:spcAft>
                    <a:spcPts val="600"/>
                  </a:spcAft>
                </a:pPr>
                <a:r>
                  <a:rPr lang="vi-VN" sz="1400" dirty="0">
                    <a:solidFill>
                      <a:srgbClr val="444B52"/>
                    </a:solidFill>
                    <a:latin typeface="Arial"/>
                  </a:rPr>
                  <a:t>		&lt;=&gt; Tìm xác suất nguyên nhân </a:t>
                </a:r>
                <a:r>
                  <a:rPr lang="vi-VN" sz="1400" b="1" dirty="0">
                    <a:solidFill>
                      <a:srgbClr val="444B52"/>
                    </a:solidFill>
                    <a:highlight>
                      <a:srgbClr val="FFFF00"/>
                    </a:highlight>
                    <a:latin typeface="Arial"/>
                  </a:rPr>
                  <a:t>sau</a:t>
                </a:r>
                <a:r>
                  <a:rPr lang="vi-VN" sz="1400" dirty="0">
                    <a:solidFill>
                      <a:srgbClr val="444B52"/>
                    </a:solidFill>
                    <a:latin typeface="Arial"/>
                  </a:rPr>
                  <a:t> khi biết </a:t>
                </a:r>
                <a:r>
                  <a:rPr lang="vi-VN" sz="1400" b="1" dirty="0">
                    <a:solidFill>
                      <a:srgbClr val="444B52"/>
                    </a:solidFill>
                    <a:highlight>
                      <a:srgbClr val="00FF00"/>
                    </a:highlight>
                    <a:latin typeface="Arial"/>
                  </a:rPr>
                  <a:t>kết quả</a:t>
                </a:r>
                <a:endParaRPr lang="vi-VN" sz="1400" b="1" dirty="0">
                  <a:solidFill>
                    <a:srgbClr val="FF0000"/>
                  </a:solidFill>
                  <a:latin typeface="Arial"/>
                </a:endParaRPr>
              </a:p>
            </p:txBody>
          </p:sp>
        </mc:Choice>
        <mc:Fallback xmlns="">
          <p:sp>
            <p:nvSpPr>
              <p:cNvPr id="4" name="TextBox 3">
                <a:extLst>
                  <a:ext uri="{FF2B5EF4-FFF2-40B4-BE49-F238E27FC236}">
                    <a16:creationId xmlns:a16="http://schemas.microsoft.com/office/drawing/2014/main" id="{803EEA61-8CFA-7847-573A-ADDAC8FC0306}"/>
                  </a:ext>
                </a:extLst>
              </p:cNvPr>
              <p:cNvSpPr txBox="1">
                <a:spLocks noRot="1" noChangeAspect="1" noMove="1" noResize="1" noEditPoints="1" noAdjustHandles="1" noChangeArrowheads="1" noChangeShapeType="1" noTextEdit="1"/>
              </p:cNvSpPr>
              <p:nvPr/>
            </p:nvSpPr>
            <p:spPr>
              <a:xfrm>
                <a:off x="364066" y="1267772"/>
                <a:ext cx="10961159" cy="2062103"/>
              </a:xfrm>
              <a:prstGeom prst="rect">
                <a:avLst/>
              </a:prstGeom>
              <a:blipFill>
                <a:blip r:embed="rId3"/>
                <a:stretch>
                  <a:fillRect l="-116" t="-610" b="-1220"/>
                </a:stretch>
              </a:blipFill>
            </p:spPr>
            <p:txBody>
              <a:bodyPr/>
              <a:lstStyle/>
              <a:p>
                <a:r>
                  <a:rPr lang="en-VN">
                    <a:noFill/>
                  </a:rPr>
                  <a:t> </a:t>
                </a:r>
              </a:p>
            </p:txBody>
          </p:sp>
        </mc:Fallback>
      </mc:AlternateContent>
    </p:spTree>
    <p:extLst>
      <p:ext uri="{BB962C8B-B14F-4D97-AF65-F5344CB8AC3E}">
        <p14:creationId xmlns:p14="http://schemas.microsoft.com/office/powerpoint/2010/main" val="9957837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3C6BB-EB6D-77DC-7CF8-E73CF15A15B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07CBCD10-9CED-E17E-614E-F8706E90AB2A}"/>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3A50792-8828-92E8-53E8-3D656C009C42}"/>
                  </a:ext>
                </a:extLst>
              </p:cNvPr>
              <p:cNvSpPr txBox="1"/>
              <p:nvPr/>
            </p:nvSpPr>
            <p:spPr>
              <a:xfrm>
                <a:off x="364066" y="1267772"/>
                <a:ext cx="10961159" cy="2646878"/>
              </a:xfrm>
              <a:prstGeom prst="rect">
                <a:avLst/>
              </a:prstGeom>
              <a:noFill/>
            </p:spPr>
            <p:txBody>
              <a:bodyPr wrap="square">
                <a:spAutoFit/>
              </a:bodyPr>
              <a:lstStyle/>
              <a:p>
                <a:pPr>
                  <a:spcAft>
                    <a:spcPts val="600"/>
                  </a:spcAft>
                </a:pPr>
                <a:r>
                  <a:rPr lang="vi-VN" sz="1400" b="1" dirty="0">
                    <a:solidFill>
                      <a:srgbClr val="1B8A7A"/>
                    </a:solidFill>
                    <a:latin typeface="Arial"/>
                  </a:rPr>
                  <a:t>2.2. Expectation-Maximization (EM) - </a:t>
                </a:r>
                <a:r>
                  <a:rPr lang="vi-VN" sz="1000" b="1" dirty="0">
                    <a:solidFill>
                      <a:schemeClr val="accent5">
                        <a:lumMod val="60000"/>
                        <a:lumOff val="40000"/>
                      </a:schemeClr>
                    </a:solidFill>
                    <a:latin typeface="Arial"/>
                  </a:rPr>
                  <a:t>Phương pháp cực đại hoá kỳ vọng</a:t>
                </a:r>
                <a:endParaRPr lang="vi-VN" sz="1400" dirty="0">
                  <a:solidFill>
                    <a:schemeClr val="bg2">
                      <a:lumMod val="50000"/>
                    </a:schemeClr>
                  </a:solidFill>
                  <a:latin typeface="Arial"/>
                </a:endParaRPr>
              </a:p>
              <a:p>
                <a:pPr>
                  <a:spcAft>
                    <a:spcPts val="600"/>
                  </a:spcAft>
                </a:pPr>
                <a:r>
                  <a:rPr lang="vi-VN" sz="1400" dirty="0">
                    <a:solidFill>
                      <a:srgbClr val="444B52"/>
                    </a:solidFill>
                    <a:latin typeface="Arial"/>
                  </a:rPr>
                  <a:t>Giữ nguyên mục tiêu là “cực đại hoá hàm hợp lý” (Maximize Log-likelihood),</a:t>
                </a:r>
              </a:p>
              <a:p>
                <a:pPr>
                  <a:spcAft>
                    <a:spcPts val="600"/>
                  </a:spcAft>
                </a:pPr>
                <a:r>
                  <a:rPr lang="vi-VN" sz="1400" b="1" dirty="0">
                    <a:solidFill>
                      <a:srgbClr val="444B52"/>
                    </a:solidFill>
                    <a:latin typeface="Arial"/>
                  </a:rPr>
                  <a:t>Nhưng với hướng tiếp cận “xác suất thống kê”:</a:t>
                </a:r>
              </a:p>
              <a:p>
                <a:pPr>
                  <a:spcAft>
                    <a:spcPts val="600"/>
                  </a:spcAft>
                </a:pPr>
                <a:r>
                  <a:rPr lang="vi-VN" sz="1400" dirty="0">
                    <a:solidFill>
                      <a:srgbClr val="444B52"/>
                    </a:solidFill>
                    <a:latin typeface="Arial"/>
                  </a:rPr>
                  <a:t>	“Datapoint</a:t>
                </a:r>
                <a14:m>
                  <m:oMath xmlns:m="http://schemas.openxmlformats.org/officeDocument/2006/math">
                    <m:r>
                      <a:rPr lang="vi-VN" sz="1400">
                        <a:solidFill>
                          <a:schemeClr val="accent6">
                            <a:lumMod val="75000"/>
                          </a:schemeClr>
                        </a:solidFill>
                        <a:latin typeface="Cambria Math" panose="02040503050406030204" pitchFamily="18" charset="0"/>
                      </a:rPr>
                      <m:t> </m:t>
                    </m:r>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𝑥</m:t>
                        </m:r>
                      </m:e>
                      <m:sub>
                        <m:r>
                          <a:rPr lang="en-US" sz="1400" i="1">
                            <a:solidFill>
                              <a:schemeClr val="accent6">
                                <a:lumMod val="75000"/>
                              </a:schemeClr>
                            </a:solidFill>
                            <a:latin typeface="Cambria Math" panose="02040503050406030204" pitchFamily="18" charset="0"/>
                          </a:rPr>
                          <m:t>𝑛</m:t>
                        </m:r>
                      </m:sub>
                    </m:sSub>
                  </m:oMath>
                </a14:m>
                <a:r>
                  <a:rPr lang="vi-VN" sz="1400" dirty="0">
                    <a:solidFill>
                      <a:srgbClr val="444B52"/>
                    </a:solidFill>
                    <a:latin typeface="Arial"/>
                  </a:rPr>
                  <a:t> được sinh từ Phân phối chuẩn nào?”</a:t>
                </a:r>
              </a:p>
              <a:p>
                <a:pPr>
                  <a:spcAft>
                    <a:spcPts val="600"/>
                  </a:spcAft>
                </a:pPr>
                <a:r>
                  <a:rPr lang="vi-VN" sz="1400" dirty="0">
                    <a:solidFill>
                      <a:srgbClr val="444B52"/>
                    </a:solidFill>
                    <a:latin typeface="Arial"/>
                  </a:rPr>
                  <a:t>		&lt;=&gt; Biến ẩn (latent variable): Ký hiệu là </a:t>
                </a:r>
                <a14:m>
                  <m:oMath xmlns:m="http://schemas.openxmlformats.org/officeDocument/2006/math">
                    <m:sSub>
                      <m:sSubPr>
                        <m:ctrlPr>
                          <a:rPr lang="en-US" sz="1400" b="1" i="1">
                            <a:solidFill>
                              <a:srgbClr val="FF0000"/>
                            </a:solidFill>
                            <a:latin typeface="Cambria Math" panose="02040503050406030204" pitchFamily="18" charset="0"/>
                          </a:rPr>
                        </m:ctrlPr>
                      </m:sSubPr>
                      <m:e>
                        <m:r>
                          <a:rPr lang="en-US" sz="1400" b="1" i="1">
                            <a:solidFill>
                              <a:srgbClr val="FF0000"/>
                            </a:solidFill>
                            <a:latin typeface="Cambria Math" panose="02040503050406030204" pitchFamily="18" charset="0"/>
                          </a:rPr>
                          <m:t>𝒛</m:t>
                        </m:r>
                      </m:e>
                      <m:sub>
                        <m:r>
                          <a:rPr lang="en-US" sz="1400" b="1" i="1">
                            <a:solidFill>
                              <a:srgbClr val="FF0000"/>
                            </a:solidFill>
                            <a:latin typeface="Cambria Math" panose="02040503050406030204" pitchFamily="18" charset="0"/>
                          </a:rPr>
                          <m:t>𝒏</m:t>
                        </m:r>
                      </m:sub>
                    </m:sSub>
                  </m:oMath>
                </a14:m>
                <a:endParaRPr lang="vi-VN" sz="1400" b="1" dirty="0">
                  <a:solidFill>
                    <a:srgbClr val="444B52"/>
                  </a:solidFill>
                  <a:latin typeface="Arial"/>
                </a:endParaRPr>
              </a:p>
              <a:p>
                <a:pPr>
                  <a:spcAft>
                    <a:spcPts val="600"/>
                  </a:spcAft>
                </a:pPr>
                <a:r>
                  <a:rPr lang="vi-VN" sz="1400" dirty="0">
                    <a:solidFill>
                      <a:srgbClr val="444B52"/>
                    </a:solidFill>
                    <a:latin typeface="Arial"/>
                  </a:rPr>
                  <a:t>	“Xác suất Datapoint </a:t>
                </a:r>
                <a14:m>
                  <m:oMath xmlns:m="http://schemas.openxmlformats.org/officeDocument/2006/math">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𝑥</m:t>
                        </m:r>
                      </m:e>
                      <m:sub>
                        <m:r>
                          <a:rPr lang="en-US" sz="1400" i="1">
                            <a:solidFill>
                              <a:schemeClr val="accent6">
                                <a:lumMod val="75000"/>
                              </a:schemeClr>
                            </a:solidFill>
                            <a:latin typeface="Cambria Math" panose="02040503050406030204" pitchFamily="18" charset="0"/>
                          </a:rPr>
                          <m:t>𝑛</m:t>
                        </m:r>
                      </m:sub>
                    </m:sSub>
                  </m:oMath>
                </a14:m>
                <a:r>
                  <a:rPr lang="vi-VN" sz="1400" dirty="0">
                    <a:solidFill>
                      <a:srgbClr val="444B52"/>
                    </a:solidFill>
                    <a:latin typeface="Arial"/>
                  </a:rPr>
                  <a:t> được sinh từ Phân phối chuẩn thứ </a:t>
                </a:r>
                <a14:m>
                  <m:oMath xmlns:m="http://schemas.openxmlformats.org/officeDocument/2006/math">
                    <m:r>
                      <a:rPr lang="en-US" sz="1400" b="0" i="1">
                        <a:solidFill>
                          <a:schemeClr val="accent6">
                            <a:lumMod val="75000"/>
                          </a:schemeClr>
                        </a:solidFill>
                        <a:latin typeface="Cambria Math" panose="02040503050406030204" pitchFamily="18" charset="0"/>
                      </a:rPr>
                      <m:t>𝑘</m:t>
                    </m:r>
                  </m:oMath>
                </a14:m>
                <a:r>
                  <a:rPr lang="vi-VN" sz="1400" dirty="0">
                    <a:solidFill>
                      <a:srgbClr val="444B52"/>
                    </a:solidFill>
                    <a:latin typeface="Arial"/>
                  </a:rPr>
                  <a:t> là bao nhiêu?”</a:t>
                </a:r>
              </a:p>
              <a:p>
                <a:pPr>
                  <a:spcAft>
                    <a:spcPts val="600"/>
                  </a:spcAft>
                </a:pPr>
                <a:r>
                  <a:rPr lang="vi-VN" sz="1400" dirty="0">
                    <a:solidFill>
                      <a:srgbClr val="444B52"/>
                    </a:solidFill>
                    <a:latin typeface="Arial"/>
                  </a:rPr>
                  <a:t>		&lt;=&gt; Tìm xác suất nguyên nhân </a:t>
                </a:r>
                <a:r>
                  <a:rPr lang="vi-VN" sz="1400" b="1" dirty="0">
                    <a:solidFill>
                      <a:srgbClr val="444B52"/>
                    </a:solidFill>
                    <a:highlight>
                      <a:srgbClr val="FFFF00"/>
                    </a:highlight>
                    <a:latin typeface="Arial"/>
                  </a:rPr>
                  <a:t>sau</a:t>
                </a:r>
                <a:r>
                  <a:rPr lang="vi-VN" sz="1400" dirty="0">
                    <a:solidFill>
                      <a:srgbClr val="444B52"/>
                    </a:solidFill>
                    <a:latin typeface="Arial"/>
                  </a:rPr>
                  <a:t> khi biết </a:t>
                </a:r>
                <a:r>
                  <a:rPr lang="vi-VN" sz="1400" b="1" dirty="0">
                    <a:solidFill>
                      <a:srgbClr val="444B52"/>
                    </a:solidFill>
                    <a:highlight>
                      <a:srgbClr val="00FF00"/>
                    </a:highlight>
                    <a:latin typeface="Arial"/>
                  </a:rPr>
                  <a:t>kết quả</a:t>
                </a:r>
                <a:endParaRPr lang="vi-VN" sz="1400" b="1" dirty="0">
                  <a:solidFill>
                    <a:srgbClr val="FF0000"/>
                  </a:solidFill>
                  <a:latin typeface="Arial"/>
                </a:endParaRPr>
              </a:p>
              <a:p>
                <a:pPr>
                  <a:spcAft>
                    <a:spcPts val="600"/>
                  </a:spcAft>
                </a:pPr>
                <a:r>
                  <a:rPr lang="vi-VN" sz="1400" dirty="0">
                    <a:solidFill>
                      <a:srgbClr val="444B52"/>
                    </a:solidFill>
                    <a:latin typeface="Arial"/>
                  </a:rPr>
                  <a:t>	</a:t>
                </a:r>
              </a:p>
              <a:p>
                <a:pPr>
                  <a:spcAft>
                    <a:spcPts val="600"/>
                  </a:spcAft>
                </a:pPr>
                <a:r>
                  <a:rPr lang="vi-VN" sz="1400" dirty="0">
                    <a:solidFill>
                      <a:srgbClr val="444B52"/>
                    </a:solidFill>
                    <a:latin typeface="Arial"/>
                  </a:rPr>
                  <a:t>	=&gt; Dùng định lý Bayes cho xác suất </a:t>
                </a:r>
                <a:r>
                  <a:rPr lang="vi-VN" sz="1400" b="1" dirty="0">
                    <a:solidFill>
                      <a:srgbClr val="444B52"/>
                    </a:solidFill>
                    <a:highlight>
                      <a:srgbClr val="FFFF00"/>
                    </a:highlight>
                    <a:latin typeface="Arial"/>
                  </a:rPr>
                  <a:t>hậu</a:t>
                </a:r>
                <a:r>
                  <a:rPr lang="vi-VN" sz="1400" b="1" dirty="0">
                    <a:solidFill>
                      <a:srgbClr val="444B52"/>
                    </a:solidFill>
                    <a:latin typeface="Arial"/>
                  </a:rPr>
                  <a:t> </a:t>
                </a:r>
                <a:r>
                  <a:rPr lang="vi-VN" sz="1400" b="1" dirty="0">
                    <a:solidFill>
                      <a:srgbClr val="444B52"/>
                    </a:solidFill>
                    <a:highlight>
                      <a:srgbClr val="00FF00"/>
                    </a:highlight>
                    <a:latin typeface="Arial"/>
                  </a:rPr>
                  <a:t>nghiệm</a:t>
                </a:r>
                <a:endParaRPr lang="vi-VN" sz="1400" dirty="0">
                  <a:solidFill>
                    <a:srgbClr val="444B52"/>
                  </a:solidFill>
                  <a:latin typeface="Arial"/>
                </a:endParaRPr>
              </a:p>
            </p:txBody>
          </p:sp>
        </mc:Choice>
        <mc:Fallback xmlns="">
          <p:sp>
            <p:nvSpPr>
              <p:cNvPr id="4" name="TextBox 3">
                <a:extLst>
                  <a:ext uri="{FF2B5EF4-FFF2-40B4-BE49-F238E27FC236}">
                    <a16:creationId xmlns:a16="http://schemas.microsoft.com/office/drawing/2014/main" id="{43A50792-8828-92E8-53E8-3D656C009C42}"/>
                  </a:ext>
                </a:extLst>
              </p:cNvPr>
              <p:cNvSpPr txBox="1">
                <a:spLocks noRot="1" noChangeAspect="1" noMove="1" noResize="1" noEditPoints="1" noAdjustHandles="1" noChangeArrowheads="1" noChangeShapeType="1" noTextEdit="1"/>
              </p:cNvSpPr>
              <p:nvPr/>
            </p:nvSpPr>
            <p:spPr>
              <a:xfrm>
                <a:off x="364066" y="1267772"/>
                <a:ext cx="10961159" cy="2646878"/>
              </a:xfrm>
              <a:prstGeom prst="rect">
                <a:avLst/>
              </a:prstGeom>
              <a:blipFill>
                <a:blip r:embed="rId3"/>
                <a:stretch>
                  <a:fillRect l="-116" t="-476" b="-1429"/>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1B3F8637-1255-EC59-855A-3ABBD563DCAF}"/>
                  </a:ext>
                </a:extLst>
              </p:cNvPr>
              <p:cNvSpPr txBox="1"/>
              <p:nvPr/>
            </p:nvSpPr>
            <p:spPr>
              <a:xfrm>
                <a:off x="7501866" y="2136728"/>
                <a:ext cx="3902735" cy="454483"/>
              </a:xfrm>
              <a:prstGeom prst="rect">
                <a:avLst/>
              </a:prstGeom>
              <a:noFill/>
            </p:spPr>
            <p:txBody>
              <a:bodyPr wrap="square" lIns="0" tIns="0" rIns="0" bIns="0" rtlCol="0">
                <a:spAutoFit/>
              </a:bodyPr>
              <a:lstStyle/>
              <a:p>
                <a:pPr/>
                <a14:m>
                  <m:oMathPara xmlns:m="http://schemas.openxmlformats.org/officeDocument/2006/math">
                    <m:oMath>
                      <m:r>
                        <a:rPr lang="en-US" sz="1400" b="1" i="1" smtClean="0">
                          <a:solidFill>
                            <a:srgbClr val="FF0000"/>
                          </a:solidFill>
                          <a:latin typeface="Cambria Math" panose="02040503050406030204" pitchFamily="18" charset="0"/>
                        </a:rPr>
                        <m:t>𝑷</m:t>
                      </m:r>
                      <m:d>
                        <m:dPr>
                          <m:ctrlPr>
                            <a:rPr lang="en-US" sz="1400" b="1" i="1">
                              <a:solidFill>
                                <a:srgbClr val="FF0000"/>
                              </a:solidFill>
                              <a:latin typeface="Cambria Math" panose="02040503050406030204" pitchFamily="18" charset="0"/>
                            </a:rPr>
                          </m:ctrlPr>
                        </m:dPr>
                        <m:e>
                          <m:sSub>
                            <m:sSubPr>
                              <m:ctrlPr>
                                <a:rPr lang="en-US" sz="1400" b="1" i="1">
                                  <a:solidFill>
                                    <a:srgbClr val="FF0000"/>
                                  </a:solidFill>
                                  <a:latin typeface="Cambria Math" panose="02040503050406030204" pitchFamily="18" charset="0"/>
                                </a:rPr>
                              </m:ctrlPr>
                            </m:sSubPr>
                            <m:e>
                              <m:r>
                                <a:rPr lang="en-US" sz="1400" b="1" i="1">
                                  <a:solidFill>
                                    <a:srgbClr val="FF0000"/>
                                  </a:solidFill>
                                  <a:latin typeface="Cambria Math" panose="02040503050406030204" pitchFamily="18" charset="0"/>
                                </a:rPr>
                                <m:t>𝒛</m:t>
                              </m:r>
                            </m:e>
                            <m:sub>
                              <m:r>
                                <a:rPr lang="en-US" sz="1400" b="1" i="1">
                                  <a:solidFill>
                                    <a:srgbClr val="FF0000"/>
                                  </a:solidFill>
                                  <a:latin typeface="Cambria Math" panose="02040503050406030204" pitchFamily="18" charset="0"/>
                                </a:rPr>
                                <m:t>𝒏</m:t>
                              </m:r>
                            </m:sub>
                          </m:sSub>
                          <m:r>
                            <a:rPr lang="en-US" sz="1400" b="1" i="1">
                              <a:solidFill>
                                <a:srgbClr val="FF0000"/>
                              </a:solidFill>
                              <a:latin typeface="Cambria Math" panose="02040503050406030204" pitchFamily="18" charset="0"/>
                            </a:rPr>
                            <m:t>=</m:t>
                          </m:r>
                          <m:r>
                            <a:rPr lang="en-US" sz="1400" b="1" i="1">
                              <a:solidFill>
                                <a:srgbClr val="FF0000"/>
                              </a:solidFill>
                              <a:latin typeface="Cambria Math" panose="02040503050406030204" pitchFamily="18" charset="0"/>
                            </a:rPr>
                            <m:t>𝒌</m:t>
                          </m:r>
                          <m:r>
                            <a:rPr lang="en-US" sz="1400" b="1" i="1">
                              <a:solidFill>
                                <a:srgbClr val="FF0000"/>
                              </a:solidFill>
                              <a:latin typeface="Cambria Math" panose="02040503050406030204" pitchFamily="18" charset="0"/>
                            </a:rPr>
                            <m:t>∣</m:t>
                          </m:r>
                          <m:sSub>
                            <m:sSubPr>
                              <m:ctrlPr>
                                <a:rPr lang="en-US" sz="1400" b="1" i="1">
                                  <a:solidFill>
                                    <a:srgbClr val="FF0000"/>
                                  </a:solidFill>
                                  <a:latin typeface="Cambria Math" panose="02040503050406030204" pitchFamily="18" charset="0"/>
                                </a:rPr>
                              </m:ctrlPr>
                            </m:sSubPr>
                            <m:e>
                              <m:r>
                                <a:rPr lang="en-US" sz="1400" b="1" i="1">
                                  <a:solidFill>
                                    <a:srgbClr val="FF0000"/>
                                  </a:solidFill>
                                  <a:latin typeface="Cambria Math" panose="02040503050406030204" pitchFamily="18" charset="0"/>
                                </a:rPr>
                                <m:t>𝒙</m:t>
                              </m:r>
                            </m:e>
                            <m:sub>
                              <m:r>
                                <a:rPr lang="en-US" sz="1400" b="1" i="1">
                                  <a:solidFill>
                                    <a:srgbClr val="FF0000"/>
                                  </a:solidFill>
                                  <a:latin typeface="Cambria Math" panose="02040503050406030204" pitchFamily="18" charset="0"/>
                                </a:rPr>
                                <m:t>𝒏</m:t>
                              </m:r>
                            </m:sub>
                          </m:sSub>
                          <m:r>
                            <a:rPr lang="en-US" sz="1400" b="1" i="1">
                              <a:solidFill>
                                <a:srgbClr val="FF0000"/>
                              </a:solidFill>
                              <a:latin typeface="Cambria Math" panose="02040503050406030204" pitchFamily="18" charset="0"/>
                            </a:rPr>
                            <m:t>,</m:t>
                          </m:r>
                          <m:r>
                            <a:rPr lang="en-US" sz="1400" b="1" i="1">
                              <a:solidFill>
                                <a:srgbClr val="FF0000"/>
                              </a:solidFill>
                              <a:latin typeface="Cambria Math" panose="02040503050406030204" pitchFamily="18" charset="0"/>
                            </a:rPr>
                            <m:t>𝜽</m:t>
                          </m:r>
                        </m:e>
                      </m:d>
                      <m:r>
                        <a:rPr lang="en-US" sz="1400" i="1">
                          <a:latin typeface="Cambria Math" panose="02040503050406030204" pitchFamily="18" charset="0"/>
                        </a:rPr>
                        <m:t>=</m:t>
                      </m:r>
                      <m:f>
                        <m:fPr>
                          <m:ctrlPr>
                            <a:rPr lang="en-US" sz="1400" i="1" smtClean="0">
                              <a:solidFill>
                                <a:srgbClr val="7030A0"/>
                              </a:solidFill>
                              <a:latin typeface="Cambria Math" panose="02040503050406030204" pitchFamily="18" charset="0"/>
                            </a:rPr>
                          </m:ctrlPr>
                        </m:fPr>
                        <m:num>
                          <m:r>
                            <a:rPr lang="en-US" sz="1400" i="1" smtClean="0">
                              <a:solidFill>
                                <a:srgbClr val="7030A0"/>
                              </a:solidFill>
                              <a:latin typeface="Cambria Math" panose="02040503050406030204" pitchFamily="18" charset="0"/>
                            </a:rPr>
                            <m:t>𝑃</m:t>
                          </m:r>
                          <m:d>
                            <m:dPr>
                              <m:ctrlPr>
                                <a:rPr lang="en-US" sz="1400" i="1">
                                  <a:solidFill>
                                    <a:srgbClr val="7030A0"/>
                                  </a:solidFill>
                                  <a:latin typeface="Cambria Math" panose="02040503050406030204" pitchFamily="18" charset="0"/>
                                </a:rPr>
                              </m:ctrlPr>
                            </m:dPr>
                            <m:e>
                              <m:sSub>
                                <m:sSubPr>
                                  <m:ctrlPr>
                                    <a:rPr lang="en-US" sz="1400" i="1">
                                      <a:solidFill>
                                        <a:srgbClr val="7030A0"/>
                                      </a:solidFill>
                                      <a:latin typeface="Cambria Math" panose="02040503050406030204" pitchFamily="18" charset="0"/>
                                    </a:rPr>
                                  </m:ctrlPr>
                                </m:sSubPr>
                                <m:e>
                                  <m:r>
                                    <a:rPr lang="en-US" sz="1400" i="1">
                                      <a:solidFill>
                                        <a:srgbClr val="7030A0"/>
                                      </a:solidFill>
                                      <a:latin typeface="Cambria Math" panose="02040503050406030204" pitchFamily="18" charset="0"/>
                                    </a:rPr>
                                    <m:t>𝑧</m:t>
                                  </m:r>
                                </m:e>
                                <m:sub>
                                  <m:r>
                                    <a:rPr lang="en-US" sz="1400" i="1">
                                      <a:solidFill>
                                        <a:srgbClr val="7030A0"/>
                                      </a:solidFill>
                                      <a:latin typeface="Cambria Math" panose="02040503050406030204" pitchFamily="18" charset="0"/>
                                    </a:rPr>
                                    <m:t>𝑛</m:t>
                                  </m:r>
                                </m:sub>
                              </m:sSub>
                              <m:r>
                                <a:rPr lang="en-US" sz="1400" i="1">
                                  <a:solidFill>
                                    <a:srgbClr val="7030A0"/>
                                  </a:solidFill>
                                  <a:latin typeface="Cambria Math" panose="02040503050406030204" pitchFamily="18" charset="0"/>
                                </a:rPr>
                                <m:t>=</m:t>
                              </m:r>
                              <m:r>
                                <a:rPr lang="en-US" sz="1400" i="1">
                                  <a:solidFill>
                                    <a:srgbClr val="7030A0"/>
                                  </a:solidFill>
                                  <a:latin typeface="Cambria Math" panose="02040503050406030204" pitchFamily="18" charset="0"/>
                                </a:rPr>
                                <m:t>𝑘</m:t>
                              </m:r>
                              <m:r>
                                <a:rPr lang="en-US" sz="1400" i="1">
                                  <a:solidFill>
                                    <a:srgbClr val="7030A0"/>
                                  </a:solidFill>
                                  <a:latin typeface="Cambria Math" panose="02040503050406030204" pitchFamily="18" charset="0"/>
                                </a:rPr>
                                <m:t>∣</m:t>
                              </m:r>
                              <m:r>
                                <a:rPr lang="en-US" sz="1400" i="1">
                                  <a:solidFill>
                                    <a:srgbClr val="7030A0"/>
                                  </a:solidFill>
                                  <a:latin typeface="Cambria Math" panose="02040503050406030204" pitchFamily="18" charset="0"/>
                                </a:rPr>
                                <m:t>𝜃</m:t>
                              </m:r>
                            </m:e>
                          </m:d>
                          <m:r>
                            <a:rPr lang="en-US" sz="1400" i="1" smtClean="0">
                              <a:solidFill>
                                <a:schemeClr val="accent6">
                                  <a:lumMod val="75000"/>
                                </a:schemeClr>
                              </a:solidFill>
                              <a:latin typeface="Cambria Math" panose="02040503050406030204" pitchFamily="18" charset="0"/>
                            </a:rPr>
                            <m:t>𝑃</m:t>
                          </m:r>
                          <m:d>
                            <m:dPr>
                              <m:ctrlPr>
                                <a:rPr lang="en-US" sz="1400" i="1">
                                  <a:solidFill>
                                    <a:schemeClr val="accent6">
                                      <a:lumMod val="75000"/>
                                    </a:schemeClr>
                                  </a:solidFill>
                                  <a:latin typeface="Cambria Math" panose="02040503050406030204" pitchFamily="18" charset="0"/>
                                </a:rPr>
                              </m:ctrlPr>
                            </m:dPr>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𝑥</m:t>
                                  </m:r>
                                </m:e>
                                <m:sub>
                                  <m:r>
                                    <a:rPr lang="en-US" sz="1400" i="1">
                                      <a:solidFill>
                                        <a:schemeClr val="accent6">
                                          <a:lumMod val="75000"/>
                                        </a:schemeClr>
                                      </a:solidFill>
                                      <a:latin typeface="Cambria Math" panose="02040503050406030204" pitchFamily="18" charset="0"/>
                                    </a:rPr>
                                    <m:t>𝑛</m:t>
                                  </m:r>
                                </m:sub>
                              </m:sSub>
                              <m:r>
                                <a:rPr lang="en-US" sz="1400" i="1">
                                  <a:solidFill>
                                    <a:schemeClr val="accent6">
                                      <a:lumMod val="75000"/>
                                    </a:schemeClr>
                                  </a:solidFill>
                                  <a:latin typeface="Cambria Math" panose="02040503050406030204" pitchFamily="18" charset="0"/>
                                </a:rPr>
                                <m:t>∣</m:t>
                              </m:r>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𝑧</m:t>
                                  </m:r>
                                </m:e>
                                <m:sub>
                                  <m:r>
                                    <a:rPr lang="en-US" sz="1400" i="1">
                                      <a:solidFill>
                                        <a:schemeClr val="accent6">
                                          <a:lumMod val="75000"/>
                                        </a:schemeClr>
                                      </a:solidFill>
                                      <a:latin typeface="Cambria Math" panose="02040503050406030204" pitchFamily="18" charset="0"/>
                                    </a:rPr>
                                    <m:t>𝑛</m:t>
                                  </m:r>
                                </m:sub>
                              </m:sSub>
                              <m:r>
                                <a:rPr lang="en-US" sz="1400" i="1">
                                  <a:solidFill>
                                    <a:schemeClr val="accent6">
                                      <a:lumMod val="75000"/>
                                    </a:schemeClr>
                                  </a:solidFill>
                                  <a:latin typeface="Cambria Math" panose="02040503050406030204" pitchFamily="18" charset="0"/>
                                </a:rPr>
                                <m:t>=</m:t>
                              </m:r>
                              <m:r>
                                <a:rPr lang="en-US" sz="1400" i="1">
                                  <a:solidFill>
                                    <a:schemeClr val="accent6">
                                      <a:lumMod val="75000"/>
                                    </a:schemeClr>
                                  </a:solidFill>
                                  <a:latin typeface="Cambria Math" panose="02040503050406030204" pitchFamily="18" charset="0"/>
                                </a:rPr>
                                <m:t>𝑘</m:t>
                              </m:r>
                              <m:r>
                                <a:rPr lang="en-US" sz="1400" i="1">
                                  <a:solidFill>
                                    <a:schemeClr val="accent6">
                                      <a:lumMod val="75000"/>
                                    </a:schemeClr>
                                  </a:solidFill>
                                  <a:latin typeface="Cambria Math" panose="02040503050406030204" pitchFamily="18" charset="0"/>
                                </a:rPr>
                                <m:t>,</m:t>
                              </m:r>
                              <m:r>
                                <a:rPr lang="en-US" sz="1400" i="1">
                                  <a:solidFill>
                                    <a:schemeClr val="accent6">
                                      <a:lumMod val="75000"/>
                                    </a:schemeClr>
                                  </a:solidFill>
                                  <a:latin typeface="Cambria Math" panose="02040503050406030204" pitchFamily="18" charset="0"/>
                                </a:rPr>
                                <m:t>𝜃</m:t>
                              </m:r>
                            </m:e>
                          </m:d>
                        </m:num>
                        <m:den>
                          <m:r>
                            <a:rPr lang="en-US" sz="1400" i="1" smtClean="0">
                              <a:solidFill>
                                <a:schemeClr val="accent5">
                                  <a:lumMod val="75000"/>
                                </a:schemeClr>
                              </a:solidFill>
                              <a:latin typeface="Cambria Math" panose="02040503050406030204" pitchFamily="18" charset="0"/>
                            </a:rPr>
                            <m:t>𝑃</m:t>
                          </m:r>
                          <m:d>
                            <m:dPr>
                              <m:ctrlPr>
                                <a:rPr lang="en-US" sz="1400" i="1">
                                  <a:solidFill>
                                    <a:schemeClr val="accent5">
                                      <a:lumMod val="75000"/>
                                    </a:schemeClr>
                                  </a:solidFill>
                                  <a:latin typeface="Cambria Math" panose="02040503050406030204" pitchFamily="18" charset="0"/>
                                </a:rPr>
                              </m:ctrlPr>
                            </m:dPr>
                            <m:e>
                              <m:sSub>
                                <m:sSubPr>
                                  <m:ctrlPr>
                                    <a:rPr lang="en-US" sz="1400" i="1">
                                      <a:solidFill>
                                        <a:schemeClr val="accent5">
                                          <a:lumMod val="75000"/>
                                        </a:schemeClr>
                                      </a:solidFill>
                                      <a:latin typeface="Cambria Math" panose="02040503050406030204" pitchFamily="18" charset="0"/>
                                    </a:rPr>
                                  </m:ctrlPr>
                                </m:sSubPr>
                                <m:e>
                                  <m:r>
                                    <a:rPr lang="en-US" sz="1400" i="1">
                                      <a:solidFill>
                                        <a:schemeClr val="accent5">
                                          <a:lumMod val="75000"/>
                                        </a:schemeClr>
                                      </a:solidFill>
                                      <a:latin typeface="Cambria Math" panose="02040503050406030204" pitchFamily="18" charset="0"/>
                                    </a:rPr>
                                    <m:t>𝑥</m:t>
                                  </m:r>
                                </m:e>
                                <m:sub>
                                  <m:r>
                                    <a:rPr lang="en-US" sz="1400" i="1">
                                      <a:solidFill>
                                        <a:schemeClr val="accent5">
                                          <a:lumMod val="75000"/>
                                        </a:schemeClr>
                                      </a:solidFill>
                                      <a:latin typeface="Cambria Math" panose="02040503050406030204" pitchFamily="18" charset="0"/>
                                    </a:rPr>
                                    <m:t>𝑛</m:t>
                                  </m:r>
                                </m:sub>
                              </m:sSub>
                              <m:r>
                                <a:rPr lang="en-US" sz="1400" i="1">
                                  <a:solidFill>
                                    <a:schemeClr val="accent5">
                                      <a:lumMod val="75000"/>
                                    </a:schemeClr>
                                  </a:solidFill>
                                  <a:latin typeface="Cambria Math" panose="02040503050406030204" pitchFamily="18" charset="0"/>
                                </a:rPr>
                                <m:t>∣</m:t>
                              </m:r>
                              <m:r>
                                <a:rPr lang="en-US" sz="1400" i="1">
                                  <a:solidFill>
                                    <a:schemeClr val="accent5">
                                      <a:lumMod val="75000"/>
                                    </a:schemeClr>
                                  </a:solidFill>
                                  <a:latin typeface="Cambria Math" panose="02040503050406030204" pitchFamily="18" charset="0"/>
                                </a:rPr>
                                <m:t>𝜃</m:t>
                              </m:r>
                            </m:e>
                          </m:d>
                        </m:den>
                      </m:f>
                    </m:oMath>
                  </m:oMathPara>
                </a14:m>
                <a:endParaRPr lang="en-VN" sz="1400" dirty="0"/>
              </a:p>
            </p:txBody>
          </p:sp>
        </mc:Choice>
        <mc:Fallback xmlns="">
          <p:sp>
            <p:nvSpPr>
              <p:cNvPr id="6" name="TextBox 5">
                <a:extLst>
                  <a:ext uri="{FF2B5EF4-FFF2-40B4-BE49-F238E27FC236}">
                    <a16:creationId xmlns:a16="http://schemas.microsoft.com/office/drawing/2014/main" id="{1B3F8637-1255-EC59-855A-3ABBD563DCAF}"/>
                  </a:ext>
                </a:extLst>
              </p:cNvPr>
              <p:cNvSpPr txBox="1">
                <a:spLocks noRot="1" noChangeAspect="1" noMove="1" noResize="1" noEditPoints="1" noAdjustHandles="1" noChangeArrowheads="1" noChangeShapeType="1" noTextEdit="1"/>
              </p:cNvSpPr>
              <p:nvPr/>
            </p:nvSpPr>
            <p:spPr>
              <a:xfrm>
                <a:off x="7501866" y="2136728"/>
                <a:ext cx="3902735" cy="454483"/>
              </a:xfrm>
              <a:prstGeom prst="rect">
                <a:avLst/>
              </a:prstGeom>
              <a:blipFill>
                <a:blip r:embed="rId4"/>
                <a:stretch>
                  <a:fillRect l="-971" t="-2703" b="-8108"/>
                </a:stretch>
              </a:blipFill>
            </p:spPr>
            <p:txBody>
              <a:bodyPr/>
              <a:lstStyle/>
              <a:p>
                <a:r>
                  <a:rPr lang="en-VN">
                    <a:noFill/>
                  </a:rPr>
                  <a:t> </a:t>
                </a:r>
              </a:p>
            </p:txBody>
          </p:sp>
        </mc:Fallback>
      </mc:AlternateContent>
    </p:spTree>
    <p:extLst>
      <p:ext uri="{BB962C8B-B14F-4D97-AF65-F5344CB8AC3E}">
        <p14:creationId xmlns:p14="http://schemas.microsoft.com/office/powerpoint/2010/main" val="2885972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17EAB-0697-FD60-EBEC-BBCAC383F5B1}"/>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172289B-5AA9-B854-814C-EE89483F80B0}"/>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C03B49BE-0DAC-4D85-C211-E8102A0BBA68}"/>
                  </a:ext>
                </a:extLst>
              </p:cNvPr>
              <p:cNvSpPr txBox="1"/>
              <p:nvPr/>
            </p:nvSpPr>
            <p:spPr>
              <a:xfrm>
                <a:off x="364066" y="1267772"/>
                <a:ext cx="7044267" cy="2646878"/>
              </a:xfrm>
              <a:prstGeom prst="rect">
                <a:avLst/>
              </a:prstGeom>
              <a:noFill/>
            </p:spPr>
            <p:txBody>
              <a:bodyPr wrap="square">
                <a:spAutoFit/>
              </a:bodyPr>
              <a:lstStyle/>
              <a:p>
                <a:pPr>
                  <a:spcAft>
                    <a:spcPts val="600"/>
                  </a:spcAft>
                </a:pPr>
                <a:r>
                  <a:rPr lang="vi-VN" sz="1400" b="1" dirty="0">
                    <a:solidFill>
                      <a:srgbClr val="1B8A7A"/>
                    </a:solidFill>
                    <a:latin typeface="Arial"/>
                  </a:rPr>
                  <a:t>2.2. Expectation-Maximization (EM) - </a:t>
                </a:r>
                <a:r>
                  <a:rPr lang="vi-VN" sz="1000" b="1" dirty="0">
                    <a:solidFill>
                      <a:schemeClr val="accent5">
                        <a:lumMod val="60000"/>
                        <a:lumOff val="40000"/>
                      </a:schemeClr>
                    </a:solidFill>
                    <a:latin typeface="Arial"/>
                  </a:rPr>
                  <a:t>Phương pháp cực đại hoá kỳ vọng</a:t>
                </a:r>
                <a:endParaRPr lang="vi-VN" sz="1400" dirty="0">
                  <a:solidFill>
                    <a:schemeClr val="bg2">
                      <a:lumMod val="50000"/>
                    </a:schemeClr>
                  </a:solidFill>
                  <a:latin typeface="Arial"/>
                </a:endParaRPr>
              </a:p>
              <a:p>
                <a:pPr>
                  <a:spcAft>
                    <a:spcPts val="600"/>
                  </a:spcAft>
                </a:pPr>
                <a:r>
                  <a:rPr lang="vi-VN" sz="1400" dirty="0">
                    <a:solidFill>
                      <a:srgbClr val="444B52"/>
                    </a:solidFill>
                    <a:latin typeface="Arial"/>
                  </a:rPr>
                  <a:t>Giữ nguyên mục tiêu là “cực đại hoá hàm hợp lý” (Maximize Log-likelihood),</a:t>
                </a:r>
              </a:p>
              <a:p>
                <a:pPr>
                  <a:spcAft>
                    <a:spcPts val="600"/>
                  </a:spcAft>
                </a:pPr>
                <a:r>
                  <a:rPr lang="vi-VN" sz="1400" b="1" dirty="0">
                    <a:solidFill>
                      <a:srgbClr val="444B52"/>
                    </a:solidFill>
                    <a:latin typeface="Arial"/>
                  </a:rPr>
                  <a:t>Nhưng với hướng tiếp cận “xác suất thống kê”:</a:t>
                </a:r>
              </a:p>
              <a:p>
                <a:pPr>
                  <a:spcAft>
                    <a:spcPts val="600"/>
                  </a:spcAft>
                </a:pPr>
                <a:r>
                  <a:rPr lang="vi-VN" sz="1400" dirty="0">
                    <a:solidFill>
                      <a:srgbClr val="444B52"/>
                    </a:solidFill>
                    <a:latin typeface="Arial"/>
                  </a:rPr>
                  <a:t>	“Datapoint</a:t>
                </a:r>
                <a14:m>
                  <m:oMath xmlns:m="http://schemas.openxmlformats.org/officeDocument/2006/math">
                    <m:r>
                      <a:rPr lang="vi-VN" sz="1400">
                        <a:solidFill>
                          <a:schemeClr val="accent6">
                            <a:lumMod val="75000"/>
                          </a:schemeClr>
                        </a:solidFill>
                        <a:latin typeface="Cambria Math" panose="02040503050406030204" pitchFamily="18" charset="0"/>
                      </a:rPr>
                      <m:t> </m:t>
                    </m:r>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𝑥</m:t>
                        </m:r>
                      </m:e>
                      <m:sub>
                        <m:r>
                          <a:rPr lang="en-US" sz="1400" i="1">
                            <a:solidFill>
                              <a:schemeClr val="accent6">
                                <a:lumMod val="75000"/>
                              </a:schemeClr>
                            </a:solidFill>
                            <a:latin typeface="Cambria Math" panose="02040503050406030204" pitchFamily="18" charset="0"/>
                          </a:rPr>
                          <m:t>𝑛</m:t>
                        </m:r>
                      </m:sub>
                    </m:sSub>
                  </m:oMath>
                </a14:m>
                <a:r>
                  <a:rPr lang="vi-VN" sz="1400" dirty="0">
                    <a:solidFill>
                      <a:srgbClr val="444B52"/>
                    </a:solidFill>
                    <a:latin typeface="Arial"/>
                  </a:rPr>
                  <a:t> được sinh từ Phân phối chuẩn nào?”</a:t>
                </a:r>
              </a:p>
              <a:p>
                <a:pPr>
                  <a:spcAft>
                    <a:spcPts val="600"/>
                  </a:spcAft>
                </a:pPr>
                <a:r>
                  <a:rPr lang="vi-VN" sz="1400" dirty="0">
                    <a:solidFill>
                      <a:srgbClr val="444B52"/>
                    </a:solidFill>
                    <a:latin typeface="Arial"/>
                  </a:rPr>
                  <a:t>		&lt;=&gt; Biến ẩn (latent variable): Ký hiệu là </a:t>
                </a:r>
                <a14:m>
                  <m:oMath xmlns:m="http://schemas.openxmlformats.org/officeDocument/2006/math">
                    <m:sSub>
                      <m:sSubPr>
                        <m:ctrlPr>
                          <a:rPr lang="en-US" sz="1400" b="1" i="1">
                            <a:solidFill>
                              <a:srgbClr val="FF0000"/>
                            </a:solidFill>
                            <a:latin typeface="Cambria Math" panose="02040503050406030204" pitchFamily="18" charset="0"/>
                          </a:rPr>
                        </m:ctrlPr>
                      </m:sSubPr>
                      <m:e>
                        <m:r>
                          <a:rPr lang="en-US" sz="1400" b="1" i="1">
                            <a:solidFill>
                              <a:srgbClr val="FF0000"/>
                            </a:solidFill>
                            <a:latin typeface="Cambria Math" panose="02040503050406030204" pitchFamily="18" charset="0"/>
                          </a:rPr>
                          <m:t>𝒛</m:t>
                        </m:r>
                      </m:e>
                      <m:sub>
                        <m:r>
                          <a:rPr lang="en-US" sz="1400" b="1" i="1">
                            <a:solidFill>
                              <a:srgbClr val="FF0000"/>
                            </a:solidFill>
                            <a:latin typeface="Cambria Math" panose="02040503050406030204" pitchFamily="18" charset="0"/>
                          </a:rPr>
                          <m:t>𝒏</m:t>
                        </m:r>
                      </m:sub>
                    </m:sSub>
                  </m:oMath>
                </a14:m>
                <a:endParaRPr lang="vi-VN" sz="1400" b="1" dirty="0">
                  <a:solidFill>
                    <a:srgbClr val="444B52"/>
                  </a:solidFill>
                  <a:latin typeface="Arial"/>
                </a:endParaRPr>
              </a:p>
              <a:p>
                <a:pPr>
                  <a:spcAft>
                    <a:spcPts val="600"/>
                  </a:spcAft>
                </a:pPr>
                <a:r>
                  <a:rPr lang="vi-VN" sz="1400" dirty="0">
                    <a:solidFill>
                      <a:srgbClr val="444B52"/>
                    </a:solidFill>
                    <a:latin typeface="Arial"/>
                  </a:rPr>
                  <a:t>	“Xác suất Datapoint </a:t>
                </a:r>
                <a14:m>
                  <m:oMath xmlns:m="http://schemas.openxmlformats.org/officeDocument/2006/math">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𝑥</m:t>
                        </m:r>
                      </m:e>
                      <m:sub>
                        <m:r>
                          <a:rPr lang="en-US" sz="1400" i="1">
                            <a:solidFill>
                              <a:schemeClr val="accent6">
                                <a:lumMod val="75000"/>
                              </a:schemeClr>
                            </a:solidFill>
                            <a:latin typeface="Cambria Math" panose="02040503050406030204" pitchFamily="18" charset="0"/>
                          </a:rPr>
                          <m:t>𝑛</m:t>
                        </m:r>
                      </m:sub>
                    </m:sSub>
                  </m:oMath>
                </a14:m>
                <a:r>
                  <a:rPr lang="vi-VN" sz="1400" dirty="0">
                    <a:solidFill>
                      <a:srgbClr val="444B52"/>
                    </a:solidFill>
                    <a:latin typeface="Arial"/>
                  </a:rPr>
                  <a:t> được sinh từ Phân phối chuẩn thứ </a:t>
                </a:r>
                <a14:m>
                  <m:oMath xmlns:m="http://schemas.openxmlformats.org/officeDocument/2006/math">
                    <m:r>
                      <a:rPr lang="en-US" sz="1400" b="0" i="1">
                        <a:solidFill>
                          <a:schemeClr val="accent6">
                            <a:lumMod val="75000"/>
                          </a:schemeClr>
                        </a:solidFill>
                        <a:latin typeface="Cambria Math" panose="02040503050406030204" pitchFamily="18" charset="0"/>
                      </a:rPr>
                      <m:t>𝑘</m:t>
                    </m:r>
                  </m:oMath>
                </a14:m>
                <a:r>
                  <a:rPr lang="vi-VN" sz="1400" dirty="0">
                    <a:solidFill>
                      <a:srgbClr val="444B52"/>
                    </a:solidFill>
                    <a:latin typeface="Arial"/>
                  </a:rPr>
                  <a:t> là bao nhiêu?”</a:t>
                </a:r>
              </a:p>
              <a:p>
                <a:pPr>
                  <a:spcAft>
                    <a:spcPts val="600"/>
                  </a:spcAft>
                </a:pPr>
                <a:r>
                  <a:rPr lang="vi-VN" sz="1400" dirty="0">
                    <a:solidFill>
                      <a:srgbClr val="444B52"/>
                    </a:solidFill>
                    <a:latin typeface="Arial"/>
                  </a:rPr>
                  <a:t>		&lt;=&gt; Tìm xác suất nguyên nhân </a:t>
                </a:r>
                <a:r>
                  <a:rPr lang="vi-VN" sz="1400" b="1" dirty="0">
                    <a:solidFill>
                      <a:srgbClr val="444B52"/>
                    </a:solidFill>
                    <a:highlight>
                      <a:srgbClr val="FFFF00"/>
                    </a:highlight>
                    <a:latin typeface="Arial"/>
                  </a:rPr>
                  <a:t>sau</a:t>
                </a:r>
                <a:r>
                  <a:rPr lang="vi-VN" sz="1400" dirty="0">
                    <a:solidFill>
                      <a:srgbClr val="444B52"/>
                    </a:solidFill>
                    <a:latin typeface="Arial"/>
                  </a:rPr>
                  <a:t> khi biết </a:t>
                </a:r>
                <a:r>
                  <a:rPr lang="vi-VN" sz="1400" b="1" dirty="0">
                    <a:solidFill>
                      <a:srgbClr val="444B52"/>
                    </a:solidFill>
                    <a:highlight>
                      <a:srgbClr val="00FF00"/>
                    </a:highlight>
                    <a:latin typeface="Arial"/>
                  </a:rPr>
                  <a:t>kết quả</a:t>
                </a:r>
                <a:endParaRPr lang="vi-VN" sz="1400" b="1" dirty="0">
                  <a:solidFill>
                    <a:srgbClr val="FF0000"/>
                  </a:solidFill>
                  <a:latin typeface="Arial"/>
                </a:endParaRPr>
              </a:p>
              <a:p>
                <a:pPr>
                  <a:spcAft>
                    <a:spcPts val="600"/>
                  </a:spcAft>
                </a:pPr>
                <a:r>
                  <a:rPr lang="vi-VN" sz="1400" dirty="0">
                    <a:solidFill>
                      <a:srgbClr val="444B52"/>
                    </a:solidFill>
                    <a:latin typeface="Arial"/>
                  </a:rPr>
                  <a:t>	</a:t>
                </a:r>
              </a:p>
              <a:p>
                <a:pPr>
                  <a:spcAft>
                    <a:spcPts val="600"/>
                  </a:spcAft>
                </a:pPr>
                <a:r>
                  <a:rPr lang="vi-VN" sz="1400" dirty="0">
                    <a:solidFill>
                      <a:srgbClr val="444B52"/>
                    </a:solidFill>
                    <a:latin typeface="Arial"/>
                  </a:rPr>
                  <a:t>	=&gt; Dùng định lý Bayes cho xác suất </a:t>
                </a:r>
                <a:r>
                  <a:rPr lang="vi-VN" sz="1400" b="1" dirty="0">
                    <a:solidFill>
                      <a:srgbClr val="444B52"/>
                    </a:solidFill>
                    <a:highlight>
                      <a:srgbClr val="FFFF00"/>
                    </a:highlight>
                    <a:latin typeface="Arial"/>
                  </a:rPr>
                  <a:t>hậu</a:t>
                </a:r>
                <a:r>
                  <a:rPr lang="vi-VN" sz="1400" b="1" dirty="0">
                    <a:solidFill>
                      <a:srgbClr val="444B52"/>
                    </a:solidFill>
                    <a:latin typeface="Arial"/>
                  </a:rPr>
                  <a:t> </a:t>
                </a:r>
                <a:r>
                  <a:rPr lang="vi-VN" sz="1400" b="1" dirty="0">
                    <a:solidFill>
                      <a:srgbClr val="444B52"/>
                    </a:solidFill>
                    <a:highlight>
                      <a:srgbClr val="00FF00"/>
                    </a:highlight>
                    <a:latin typeface="Arial"/>
                  </a:rPr>
                  <a:t>nghiệm</a:t>
                </a:r>
                <a:endParaRPr lang="vi-VN" sz="1400" dirty="0">
                  <a:solidFill>
                    <a:srgbClr val="444B52"/>
                  </a:solidFill>
                  <a:latin typeface="Arial"/>
                </a:endParaRPr>
              </a:p>
            </p:txBody>
          </p:sp>
        </mc:Choice>
        <mc:Fallback xmlns="">
          <p:sp>
            <p:nvSpPr>
              <p:cNvPr id="4" name="TextBox 3">
                <a:extLst>
                  <a:ext uri="{FF2B5EF4-FFF2-40B4-BE49-F238E27FC236}">
                    <a16:creationId xmlns:a16="http://schemas.microsoft.com/office/drawing/2014/main" id="{C03B49BE-0DAC-4D85-C211-E8102A0BBA68}"/>
                  </a:ext>
                </a:extLst>
              </p:cNvPr>
              <p:cNvSpPr txBox="1">
                <a:spLocks noRot="1" noChangeAspect="1" noMove="1" noResize="1" noEditPoints="1" noAdjustHandles="1" noChangeArrowheads="1" noChangeShapeType="1" noTextEdit="1"/>
              </p:cNvSpPr>
              <p:nvPr/>
            </p:nvSpPr>
            <p:spPr>
              <a:xfrm>
                <a:off x="364066" y="1267772"/>
                <a:ext cx="7044267" cy="2646878"/>
              </a:xfrm>
              <a:prstGeom prst="rect">
                <a:avLst/>
              </a:prstGeom>
              <a:blipFill>
                <a:blip r:embed="rId3"/>
                <a:stretch>
                  <a:fillRect l="-180" t="-476" b="-1429"/>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155DD26-5A43-A23E-02D0-9FB587BF785F}"/>
                  </a:ext>
                </a:extLst>
              </p:cNvPr>
              <p:cNvSpPr txBox="1"/>
              <p:nvPr/>
            </p:nvSpPr>
            <p:spPr>
              <a:xfrm>
                <a:off x="8503483" y="3636521"/>
                <a:ext cx="2326599" cy="630878"/>
              </a:xfrm>
              <a:prstGeom prst="rect">
                <a:avLst/>
              </a:prstGeom>
              <a:noFill/>
            </p:spPr>
            <p:txBody>
              <a:bodyPr wrap="none" lIns="0" tIns="0" rIns="0" bIns="0" rtlCol="0">
                <a:spAutoFit/>
              </a:bodyPr>
              <a:lstStyle/>
              <a:p>
                <a:pPr/>
                <a14:m>
                  <m:oMathPara xmlns:m="http://schemas.openxmlformats.org/officeDocument/2006/math">
                    <m:oMath>
                      <m:borderBox>
                        <m:borderBoxPr>
                          <m:ctrlPr>
                            <a:rPr lang="en-US" sz="1400" b="1" i="1">
                              <a:solidFill>
                                <a:srgbClr val="FF0000"/>
                              </a:solidFill>
                              <a:latin typeface="Cambria Math" panose="02040503050406030204" pitchFamily="18" charset="0"/>
                            </a:rPr>
                          </m:ctrlPr>
                        </m:borderBoxPr>
                        <m:e>
                          <m:sSub>
                            <m:sSubPr>
                              <m:ctrlPr>
                                <a:rPr lang="en-US" sz="1400" b="1" i="1">
                                  <a:solidFill>
                                    <a:srgbClr val="FF0000"/>
                                  </a:solidFill>
                                  <a:latin typeface="Cambria Math" panose="02040503050406030204" pitchFamily="18" charset="0"/>
                                </a:rPr>
                              </m:ctrlPr>
                            </m:sSubPr>
                            <m:e>
                              <m:r>
                                <a:rPr lang="en-US" sz="1400" b="1" i="1">
                                  <a:solidFill>
                                    <a:srgbClr val="FF0000"/>
                                  </a:solidFill>
                                  <a:latin typeface="Cambria Math" panose="02040503050406030204" pitchFamily="18" charset="0"/>
                                </a:rPr>
                                <m:t>𝜸</m:t>
                              </m:r>
                            </m:e>
                            <m:sub>
                              <m:r>
                                <a:rPr lang="en-US" sz="1400" b="1" i="1">
                                  <a:solidFill>
                                    <a:srgbClr val="FF0000"/>
                                  </a:solidFill>
                                  <a:latin typeface="Cambria Math" panose="02040503050406030204" pitchFamily="18" charset="0"/>
                                </a:rPr>
                                <m:t>𝒏𝒌</m:t>
                              </m:r>
                            </m:sub>
                          </m:sSub>
                          <m:r>
                            <a:rPr lang="en-US" sz="1400" i="1">
                              <a:latin typeface="Cambria Math" panose="02040503050406030204" pitchFamily="18" charset="0"/>
                            </a:rPr>
                            <m:t>=</m:t>
                          </m:r>
                          <m:f>
                            <m:fPr>
                              <m:ctrlPr>
                                <a:rPr lang="en-US" sz="1400" i="1">
                                  <a:solidFill>
                                    <a:srgbClr val="7030A0"/>
                                  </a:solidFill>
                                  <a:latin typeface="Cambria Math" panose="02040503050406030204" pitchFamily="18" charset="0"/>
                                </a:rPr>
                              </m:ctrlPr>
                            </m:fPr>
                            <m:num>
                              <m:sSub>
                                <m:sSubPr>
                                  <m:ctrlPr>
                                    <a:rPr lang="en-US" sz="1400" i="1">
                                      <a:solidFill>
                                        <a:srgbClr val="7030A0"/>
                                      </a:solidFill>
                                      <a:latin typeface="Cambria Math" panose="02040503050406030204" pitchFamily="18" charset="0"/>
                                    </a:rPr>
                                  </m:ctrlPr>
                                </m:sSubPr>
                                <m:e>
                                  <m:r>
                                    <a:rPr lang="en-US" sz="1400" i="1">
                                      <a:solidFill>
                                        <a:srgbClr val="7030A0"/>
                                      </a:solidFill>
                                      <a:latin typeface="Cambria Math" panose="02040503050406030204" pitchFamily="18" charset="0"/>
                                    </a:rPr>
                                    <m:t>𝜋</m:t>
                                  </m:r>
                                </m:e>
                                <m:sub>
                                  <m:r>
                                    <a:rPr lang="en-US" sz="1400" i="1">
                                      <a:solidFill>
                                        <a:srgbClr val="7030A0"/>
                                      </a:solidFill>
                                      <a:latin typeface="Cambria Math" panose="02040503050406030204" pitchFamily="18" charset="0"/>
                                    </a:rPr>
                                    <m:t>𝑘</m:t>
                                  </m:r>
                                </m:sub>
                              </m:sSub>
                              <m:r>
                                <a:rPr lang="en-US" sz="1400" i="1" smtClean="0">
                                  <a:solidFill>
                                    <a:schemeClr val="accent6">
                                      <a:lumMod val="75000"/>
                                    </a:schemeClr>
                                  </a:solidFill>
                                  <a:latin typeface="Cambria Math" panose="02040503050406030204" pitchFamily="18" charset="0"/>
                                </a:rPr>
                                <m:t>𝒩</m:t>
                              </m:r>
                              <m:d>
                                <m:dPr>
                                  <m:ctrlPr>
                                    <a:rPr lang="en-US" sz="1400" i="1">
                                      <a:solidFill>
                                        <a:schemeClr val="accent6">
                                          <a:lumMod val="75000"/>
                                        </a:schemeClr>
                                      </a:solidFill>
                                      <a:latin typeface="Cambria Math" panose="02040503050406030204" pitchFamily="18" charset="0"/>
                                    </a:rPr>
                                  </m:ctrlPr>
                                </m:dPr>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𝑥</m:t>
                                      </m:r>
                                    </m:e>
                                    <m:sub>
                                      <m:r>
                                        <a:rPr lang="en-US" sz="1400" i="1">
                                          <a:solidFill>
                                            <a:schemeClr val="accent6">
                                              <a:lumMod val="75000"/>
                                            </a:schemeClr>
                                          </a:solidFill>
                                          <a:latin typeface="Cambria Math" panose="02040503050406030204" pitchFamily="18" charset="0"/>
                                        </a:rPr>
                                        <m:t>𝑛</m:t>
                                      </m:r>
                                    </m:sub>
                                  </m:sSub>
                                  <m:r>
                                    <a:rPr lang="en-US" sz="1400" i="1">
                                      <a:solidFill>
                                        <a:schemeClr val="accent6">
                                          <a:lumMod val="75000"/>
                                        </a:schemeClr>
                                      </a:solidFill>
                                      <a:latin typeface="Cambria Math" panose="02040503050406030204" pitchFamily="18" charset="0"/>
                                    </a:rPr>
                                    <m:t>∣</m:t>
                                  </m:r>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𝜇</m:t>
                                      </m:r>
                                    </m:e>
                                    <m:sub>
                                      <m:r>
                                        <a:rPr lang="en-US" sz="1400" i="1">
                                          <a:solidFill>
                                            <a:schemeClr val="accent6">
                                              <a:lumMod val="75000"/>
                                            </a:schemeClr>
                                          </a:solidFill>
                                          <a:latin typeface="Cambria Math" panose="02040503050406030204" pitchFamily="18" charset="0"/>
                                        </a:rPr>
                                        <m:t>𝑘</m:t>
                                      </m:r>
                                    </m:sub>
                                  </m:sSub>
                                  <m:r>
                                    <a:rPr lang="en-US" sz="1400" i="1">
                                      <a:solidFill>
                                        <a:schemeClr val="accent6">
                                          <a:lumMod val="75000"/>
                                        </a:schemeClr>
                                      </a:solidFill>
                                      <a:latin typeface="Cambria Math" panose="02040503050406030204" pitchFamily="18" charset="0"/>
                                    </a:rPr>
                                    <m:t>,</m:t>
                                  </m:r>
                                  <m:sSubSup>
                                    <m:sSubSupPr>
                                      <m:ctrlPr>
                                        <a:rPr lang="en-US" sz="1400" i="1">
                                          <a:solidFill>
                                            <a:schemeClr val="accent6">
                                              <a:lumMod val="75000"/>
                                            </a:schemeClr>
                                          </a:solidFill>
                                          <a:latin typeface="Cambria Math" panose="02040503050406030204" pitchFamily="18" charset="0"/>
                                        </a:rPr>
                                      </m:ctrlPr>
                                    </m:sSubSupPr>
                                    <m:e>
                                      <m:r>
                                        <a:rPr lang="en-US" sz="1400" i="1">
                                          <a:solidFill>
                                            <a:schemeClr val="accent6">
                                              <a:lumMod val="75000"/>
                                            </a:schemeClr>
                                          </a:solidFill>
                                          <a:latin typeface="Cambria Math" panose="02040503050406030204" pitchFamily="18" charset="0"/>
                                        </a:rPr>
                                        <m:t>𝜎</m:t>
                                      </m:r>
                                    </m:e>
                                    <m:sub>
                                      <m:r>
                                        <a:rPr lang="en-US" sz="1400" i="1">
                                          <a:solidFill>
                                            <a:schemeClr val="accent6">
                                              <a:lumMod val="75000"/>
                                            </a:schemeClr>
                                          </a:solidFill>
                                          <a:latin typeface="Cambria Math" panose="02040503050406030204" pitchFamily="18" charset="0"/>
                                        </a:rPr>
                                        <m:t>𝑘</m:t>
                                      </m:r>
                                    </m:sub>
                                    <m:sup>
                                      <m:r>
                                        <a:rPr lang="en-US" sz="1400" i="1">
                                          <a:solidFill>
                                            <a:schemeClr val="accent6">
                                              <a:lumMod val="75000"/>
                                            </a:schemeClr>
                                          </a:solidFill>
                                          <a:latin typeface="Cambria Math" panose="02040503050406030204" pitchFamily="18" charset="0"/>
                                        </a:rPr>
                                        <m:t>2</m:t>
                                      </m:r>
                                    </m:sup>
                                  </m:sSubSup>
                                </m:e>
                              </m:d>
                            </m:num>
                            <m:den>
                              <m:nary>
                                <m:naryPr>
                                  <m:chr m:val="∑"/>
                                  <m:limLoc m:val="undOvr"/>
                                  <m:ctrlPr>
                                    <a:rPr lang="en-US" sz="1400" i="1">
                                      <a:solidFill>
                                        <a:schemeClr val="accent5">
                                          <a:lumMod val="75000"/>
                                        </a:schemeClr>
                                      </a:solidFill>
                                      <a:latin typeface="Cambria Math" panose="02040503050406030204" pitchFamily="18" charset="0"/>
                                    </a:rPr>
                                  </m:ctrlPr>
                                </m:naryPr>
                                <m:sub>
                                  <m:r>
                                    <a:rPr lang="en-US" sz="1400" i="1">
                                      <a:solidFill>
                                        <a:schemeClr val="accent5">
                                          <a:lumMod val="75000"/>
                                        </a:schemeClr>
                                      </a:solidFill>
                                      <a:latin typeface="Cambria Math" panose="02040503050406030204" pitchFamily="18" charset="0"/>
                                    </a:rPr>
                                    <m:t>𝑗</m:t>
                                  </m:r>
                                  <m:r>
                                    <a:rPr lang="en-US" sz="1400" i="1">
                                      <a:solidFill>
                                        <a:schemeClr val="accent5">
                                          <a:lumMod val="75000"/>
                                        </a:schemeClr>
                                      </a:solidFill>
                                      <a:latin typeface="Cambria Math" panose="02040503050406030204" pitchFamily="18" charset="0"/>
                                    </a:rPr>
                                    <m:t>=1</m:t>
                                  </m:r>
                                </m:sub>
                                <m:sup>
                                  <m:r>
                                    <a:rPr lang="en-US" sz="1400" i="1">
                                      <a:solidFill>
                                        <a:schemeClr val="accent5">
                                          <a:lumMod val="75000"/>
                                        </a:schemeClr>
                                      </a:solidFill>
                                      <a:latin typeface="Cambria Math" panose="02040503050406030204" pitchFamily="18" charset="0"/>
                                    </a:rPr>
                                    <m:t>𝐾</m:t>
                                  </m:r>
                                </m:sup>
                                <m:e>
                                  <m:sSub>
                                    <m:sSubPr>
                                      <m:ctrlPr>
                                        <a:rPr lang="en-US" sz="1400" i="1">
                                          <a:solidFill>
                                            <a:schemeClr val="accent5">
                                              <a:lumMod val="75000"/>
                                            </a:schemeClr>
                                          </a:solidFill>
                                          <a:latin typeface="Cambria Math" panose="02040503050406030204" pitchFamily="18" charset="0"/>
                                        </a:rPr>
                                      </m:ctrlPr>
                                    </m:sSubPr>
                                    <m:e>
                                      <m:r>
                                        <a:rPr lang="en-US" sz="1400" i="1">
                                          <a:solidFill>
                                            <a:schemeClr val="accent5">
                                              <a:lumMod val="75000"/>
                                            </a:schemeClr>
                                          </a:solidFill>
                                          <a:latin typeface="Cambria Math" panose="02040503050406030204" pitchFamily="18" charset="0"/>
                                        </a:rPr>
                                        <m:t>𝜋</m:t>
                                      </m:r>
                                    </m:e>
                                    <m:sub>
                                      <m:r>
                                        <a:rPr lang="en-US" sz="1400" i="1">
                                          <a:solidFill>
                                            <a:schemeClr val="accent5">
                                              <a:lumMod val="75000"/>
                                            </a:schemeClr>
                                          </a:solidFill>
                                          <a:latin typeface="Cambria Math" panose="02040503050406030204" pitchFamily="18" charset="0"/>
                                        </a:rPr>
                                        <m:t>𝑗</m:t>
                                      </m:r>
                                    </m:sub>
                                  </m:sSub>
                                </m:e>
                              </m:nary>
                              <m:r>
                                <a:rPr lang="en-US" sz="1400" i="1" smtClean="0">
                                  <a:solidFill>
                                    <a:schemeClr val="accent5">
                                      <a:lumMod val="75000"/>
                                    </a:schemeClr>
                                  </a:solidFill>
                                  <a:latin typeface="Cambria Math" panose="02040503050406030204" pitchFamily="18" charset="0"/>
                                </a:rPr>
                                <m:t>𝒩</m:t>
                              </m:r>
                              <m:d>
                                <m:dPr>
                                  <m:ctrlPr>
                                    <a:rPr lang="en-US" sz="1400" i="1">
                                      <a:solidFill>
                                        <a:schemeClr val="accent5">
                                          <a:lumMod val="75000"/>
                                        </a:schemeClr>
                                      </a:solidFill>
                                      <a:latin typeface="Cambria Math" panose="02040503050406030204" pitchFamily="18" charset="0"/>
                                    </a:rPr>
                                  </m:ctrlPr>
                                </m:dPr>
                                <m:e>
                                  <m:sSub>
                                    <m:sSubPr>
                                      <m:ctrlPr>
                                        <a:rPr lang="en-US" sz="1400" i="1">
                                          <a:solidFill>
                                            <a:schemeClr val="accent5">
                                              <a:lumMod val="75000"/>
                                            </a:schemeClr>
                                          </a:solidFill>
                                          <a:latin typeface="Cambria Math" panose="02040503050406030204" pitchFamily="18" charset="0"/>
                                        </a:rPr>
                                      </m:ctrlPr>
                                    </m:sSubPr>
                                    <m:e>
                                      <m:r>
                                        <a:rPr lang="en-US" sz="1400" i="1">
                                          <a:solidFill>
                                            <a:schemeClr val="accent5">
                                              <a:lumMod val="75000"/>
                                            </a:schemeClr>
                                          </a:solidFill>
                                          <a:latin typeface="Cambria Math" panose="02040503050406030204" pitchFamily="18" charset="0"/>
                                        </a:rPr>
                                        <m:t>𝑥</m:t>
                                      </m:r>
                                    </m:e>
                                    <m:sub>
                                      <m:r>
                                        <a:rPr lang="en-US" sz="1400" i="1">
                                          <a:solidFill>
                                            <a:schemeClr val="accent5">
                                              <a:lumMod val="75000"/>
                                            </a:schemeClr>
                                          </a:solidFill>
                                          <a:latin typeface="Cambria Math" panose="02040503050406030204" pitchFamily="18" charset="0"/>
                                        </a:rPr>
                                        <m:t>𝑛</m:t>
                                      </m:r>
                                    </m:sub>
                                  </m:sSub>
                                  <m:r>
                                    <a:rPr lang="en-US" sz="1400" i="1">
                                      <a:solidFill>
                                        <a:schemeClr val="accent5">
                                          <a:lumMod val="75000"/>
                                        </a:schemeClr>
                                      </a:solidFill>
                                      <a:latin typeface="Cambria Math" panose="02040503050406030204" pitchFamily="18" charset="0"/>
                                    </a:rPr>
                                    <m:t>∣</m:t>
                                  </m:r>
                                  <m:sSub>
                                    <m:sSubPr>
                                      <m:ctrlPr>
                                        <a:rPr lang="en-US" sz="1400" i="1">
                                          <a:solidFill>
                                            <a:schemeClr val="accent5">
                                              <a:lumMod val="75000"/>
                                            </a:schemeClr>
                                          </a:solidFill>
                                          <a:latin typeface="Cambria Math" panose="02040503050406030204" pitchFamily="18" charset="0"/>
                                        </a:rPr>
                                      </m:ctrlPr>
                                    </m:sSubPr>
                                    <m:e>
                                      <m:r>
                                        <a:rPr lang="en-US" sz="1400" i="1">
                                          <a:solidFill>
                                            <a:schemeClr val="accent5">
                                              <a:lumMod val="75000"/>
                                            </a:schemeClr>
                                          </a:solidFill>
                                          <a:latin typeface="Cambria Math" panose="02040503050406030204" pitchFamily="18" charset="0"/>
                                        </a:rPr>
                                        <m:t>𝜇</m:t>
                                      </m:r>
                                    </m:e>
                                    <m:sub>
                                      <m:r>
                                        <a:rPr lang="en-US" sz="1400" i="1">
                                          <a:solidFill>
                                            <a:schemeClr val="accent5">
                                              <a:lumMod val="75000"/>
                                            </a:schemeClr>
                                          </a:solidFill>
                                          <a:latin typeface="Cambria Math" panose="02040503050406030204" pitchFamily="18" charset="0"/>
                                        </a:rPr>
                                        <m:t>𝑗</m:t>
                                      </m:r>
                                    </m:sub>
                                  </m:sSub>
                                  <m:r>
                                    <a:rPr lang="en-US" sz="1400" i="1">
                                      <a:solidFill>
                                        <a:schemeClr val="accent5">
                                          <a:lumMod val="75000"/>
                                        </a:schemeClr>
                                      </a:solidFill>
                                      <a:latin typeface="Cambria Math" panose="02040503050406030204" pitchFamily="18" charset="0"/>
                                    </a:rPr>
                                    <m:t>,</m:t>
                                  </m:r>
                                  <m:sSubSup>
                                    <m:sSubSupPr>
                                      <m:ctrlPr>
                                        <a:rPr lang="en-US" sz="1400" i="1">
                                          <a:solidFill>
                                            <a:schemeClr val="accent5">
                                              <a:lumMod val="75000"/>
                                            </a:schemeClr>
                                          </a:solidFill>
                                          <a:latin typeface="Cambria Math" panose="02040503050406030204" pitchFamily="18" charset="0"/>
                                        </a:rPr>
                                      </m:ctrlPr>
                                    </m:sSubSupPr>
                                    <m:e>
                                      <m:r>
                                        <a:rPr lang="en-US" sz="1400" i="1">
                                          <a:solidFill>
                                            <a:schemeClr val="accent5">
                                              <a:lumMod val="75000"/>
                                            </a:schemeClr>
                                          </a:solidFill>
                                          <a:latin typeface="Cambria Math" panose="02040503050406030204" pitchFamily="18" charset="0"/>
                                        </a:rPr>
                                        <m:t>𝜎</m:t>
                                      </m:r>
                                    </m:e>
                                    <m:sub>
                                      <m:r>
                                        <a:rPr lang="en-US" sz="1400" i="1">
                                          <a:solidFill>
                                            <a:schemeClr val="accent5">
                                              <a:lumMod val="75000"/>
                                            </a:schemeClr>
                                          </a:solidFill>
                                          <a:latin typeface="Cambria Math" panose="02040503050406030204" pitchFamily="18" charset="0"/>
                                        </a:rPr>
                                        <m:t>𝑗</m:t>
                                      </m:r>
                                    </m:sub>
                                    <m:sup>
                                      <m:r>
                                        <a:rPr lang="en-US" sz="1400" i="1">
                                          <a:solidFill>
                                            <a:schemeClr val="accent5">
                                              <a:lumMod val="75000"/>
                                            </a:schemeClr>
                                          </a:solidFill>
                                          <a:latin typeface="Cambria Math" panose="02040503050406030204" pitchFamily="18" charset="0"/>
                                        </a:rPr>
                                        <m:t>2</m:t>
                                      </m:r>
                                    </m:sup>
                                  </m:sSubSup>
                                </m:e>
                              </m:d>
                            </m:den>
                          </m:f>
                        </m:e>
                      </m:borderBox>
                    </m:oMath>
                  </m:oMathPara>
                </a14:m>
                <a:endParaRPr lang="en-VN" sz="1400" dirty="0"/>
              </a:p>
            </p:txBody>
          </p:sp>
        </mc:Choice>
        <mc:Fallback xmlns="">
          <p:sp>
            <p:nvSpPr>
              <p:cNvPr id="9" name="TextBox 8">
                <a:extLst>
                  <a:ext uri="{FF2B5EF4-FFF2-40B4-BE49-F238E27FC236}">
                    <a16:creationId xmlns:a16="http://schemas.microsoft.com/office/drawing/2014/main" id="{5155DD26-5A43-A23E-02D0-9FB587BF785F}"/>
                  </a:ext>
                </a:extLst>
              </p:cNvPr>
              <p:cNvSpPr txBox="1">
                <a:spLocks noRot="1" noChangeAspect="1" noMove="1" noResize="1" noEditPoints="1" noAdjustHandles="1" noChangeArrowheads="1" noChangeShapeType="1" noTextEdit="1"/>
              </p:cNvSpPr>
              <p:nvPr/>
            </p:nvSpPr>
            <p:spPr>
              <a:xfrm>
                <a:off x="8503483" y="3636521"/>
                <a:ext cx="2326599" cy="630878"/>
              </a:xfrm>
              <a:prstGeom prst="rect">
                <a:avLst/>
              </a:prstGeom>
              <a:blipFill>
                <a:blip r:embed="rId4"/>
                <a:stretch>
                  <a:fillRect t="-8000" b="-76000"/>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0E13CFF-9067-FE6C-EB4F-A3E87BAAA9F9}"/>
                  </a:ext>
                </a:extLst>
              </p:cNvPr>
              <p:cNvSpPr txBox="1"/>
              <p:nvPr/>
            </p:nvSpPr>
            <p:spPr>
              <a:xfrm>
                <a:off x="8503483" y="4568898"/>
                <a:ext cx="3282117" cy="1548950"/>
              </a:xfrm>
              <a:prstGeom prst="rect">
                <a:avLst/>
              </a:prstGeom>
              <a:noFill/>
            </p:spPr>
            <p:txBody>
              <a:bodyPr wrap="none" lIns="0" tIns="0" rIns="0" bIns="0" rtlCol="0">
                <a:spAutoFit/>
              </a:bodyPr>
              <a:lstStyle/>
              <a:p>
                <a:pPr/>
                <a14:m>
                  <m:oMathPara xmlns:m="http://schemas.openxmlformats.org/officeDocument/2006/math">
                    <m:oMath>
                      <m:borderBox>
                        <m:borderBoxPr>
                          <m:ctrlPr>
                            <a:rPr lang="en-US" sz="1400" b="1" i="1">
                              <a:solidFill>
                                <a:srgbClr val="FF0000"/>
                              </a:solidFill>
                              <a:latin typeface="Cambria Math" panose="02040503050406030204" pitchFamily="18" charset="0"/>
                            </a:rPr>
                          </m:ctrlPr>
                        </m:borderBoxPr>
                        <m:e>
                          <m:sSub>
                            <m:sSubPr>
                              <m:ctrlPr>
                                <a:rPr lang="en-US" sz="1400" b="1" i="1">
                                  <a:solidFill>
                                    <a:srgbClr val="FF0000"/>
                                  </a:solidFill>
                                  <a:latin typeface="Cambria Math" panose="02040503050406030204" pitchFamily="18" charset="0"/>
                                </a:rPr>
                              </m:ctrlPr>
                            </m:sSubPr>
                            <m:e>
                              <m:r>
                                <a:rPr lang="en-US" sz="1400" b="1" i="1">
                                  <a:solidFill>
                                    <a:srgbClr val="FF0000"/>
                                  </a:solidFill>
                                  <a:latin typeface="Cambria Math" panose="02040503050406030204" pitchFamily="18" charset="0"/>
                                </a:rPr>
                                <m:t>𝜸</m:t>
                              </m:r>
                            </m:e>
                            <m:sub>
                              <m:r>
                                <a:rPr lang="en-US" sz="1400" b="1" i="1">
                                  <a:solidFill>
                                    <a:srgbClr val="FF0000"/>
                                  </a:solidFill>
                                  <a:latin typeface="Cambria Math" panose="02040503050406030204" pitchFamily="18" charset="0"/>
                                </a:rPr>
                                <m:t>𝒏𝒌</m:t>
                              </m:r>
                            </m:sub>
                          </m:sSub>
                          <m:r>
                            <a:rPr lang="en-US" sz="1400" i="1">
                              <a:latin typeface="Cambria Math" panose="02040503050406030204" pitchFamily="18" charset="0"/>
                            </a:rPr>
                            <m:t>=</m:t>
                          </m:r>
                          <m:f>
                            <m:fPr>
                              <m:ctrlPr>
                                <a:rPr lang="en-US" sz="1400" i="1">
                                  <a:solidFill>
                                    <a:srgbClr val="7030A0"/>
                                  </a:solidFill>
                                  <a:latin typeface="Cambria Math" panose="02040503050406030204" pitchFamily="18" charset="0"/>
                                </a:rPr>
                              </m:ctrlPr>
                            </m:fPr>
                            <m:num>
                              <m:sSub>
                                <m:sSubPr>
                                  <m:ctrlPr>
                                    <a:rPr lang="en-US" sz="1400" i="1">
                                      <a:solidFill>
                                        <a:srgbClr val="7030A0"/>
                                      </a:solidFill>
                                      <a:latin typeface="Cambria Math" panose="02040503050406030204" pitchFamily="18" charset="0"/>
                                    </a:rPr>
                                  </m:ctrlPr>
                                </m:sSubPr>
                                <m:e>
                                  <m:r>
                                    <a:rPr lang="en-US" sz="1400" i="1">
                                      <a:solidFill>
                                        <a:srgbClr val="7030A0"/>
                                      </a:solidFill>
                                      <a:latin typeface="Cambria Math" panose="02040503050406030204" pitchFamily="18" charset="0"/>
                                    </a:rPr>
                                    <m:t>𝜋</m:t>
                                  </m:r>
                                </m:e>
                                <m:sub>
                                  <m:r>
                                    <a:rPr lang="en-US" sz="1400" i="1">
                                      <a:solidFill>
                                        <a:srgbClr val="7030A0"/>
                                      </a:solidFill>
                                      <a:latin typeface="Cambria Math" panose="02040503050406030204" pitchFamily="18" charset="0"/>
                                    </a:rPr>
                                    <m:t>𝑘</m:t>
                                  </m:r>
                                </m:sub>
                              </m:sSub>
                              <m:f>
                                <m:fPr>
                                  <m:ctrlPr>
                                    <a:rPr lang="en-US" sz="1400" i="1">
                                      <a:solidFill>
                                        <a:schemeClr val="accent6">
                                          <a:lumMod val="75000"/>
                                        </a:schemeClr>
                                      </a:solidFill>
                                      <a:latin typeface="Cambria Math" panose="02040503050406030204" pitchFamily="18" charset="0"/>
                                    </a:rPr>
                                  </m:ctrlPr>
                                </m:fPr>
                                <m:num>
                                  <m:r>
                                    <a:rPr lang="en-US" sz="1400" i="1">
                                      <a:solidFill>
                                        <a:schemeClr val="accent6">
                                          <a:lumMod val="75000"/>
                                        </a:schemeClr>
                                      </a:solidFill>
                                      <a:latin typeface="Cambria Math" panose="02040503050406030204" pitchFamily="18" charset="0"/>
                                    </a:rPr>
                                    <m:t>1</m:t>
                                  </m:r>
                                </m:num>
                                <m:den>
                                  <m:rad>
                                    <m:radPr>
                                      <m:degHide m:val="on"/>
                                      <m:ctrlPr>
                                        <a:rPr lang="en-US" sz="1400" i="1">
                                          <a:solidFill>
                                            <a:schemeClr val="accent6">
                                              <a:lumMod val="75000"/>
                                            </a:schemeClr>
                                          </a:solidFill>
                                          <a:latin typeface="Cambria Math" panose="02040503050406030204" pitchFamily="18" charset="0"/>
                                        </a:rPr>
                                      </m:ctrlPr>
                                    </m:radPr>
                                    <m:deg/>
                                    <m:e>
                                      <m:r>
                                        <a:rPr lang="en-US" sz="1400" i="1">
                                          <a:solidFill>
                                            <a:schemeClr val="accent6">
                                              <a:lumMod val="75000"/>
                                            </a:schemeClr>
                                          </a:solidFill>
                                          <a:latin typeface="Cambria Math" panose="02040503050406030204" pitchFamily="18" charset="0"/>
                                        </a:rPr>
                                        <m:t>2</m:t>
                                      </m:r>
                                      <m:r>
                                        <a:rPr lang="en-US" sz="1400" i="1">
                                          <a:solidFill>
                                            <a:schemeClr val="accent6">
                                              <a:lumMod val="75000"/>
                                            </a:schemeClr>
                                          </a:solidFill>
                                          <a:latin typeface="Cambria Math" panose="02040503050406030204" pitchFamily="18" charset="0"/>
                                        </a:rPr>
                                        <m:t>𝜋</m:t>
                                      </m:r>
                                      <m:sSubSup>
                                        <m:sSubSupPr>
                                          <m:ctrlPr>
                                            <a:rPr lang="en-US" sz="1400" i="1">
                                              <a:solidFill>
                                                <a:schemeClr val="accent6">
                                                  <a:lumMod val="75000"/>
                                                </a:schemeClr>
                                              </a:solidFill>
                                              <a:latin typeface="Cambria Math" panose="02040503050406030204" pitchFamily="18" charset="0"/>
                                            </a:rPr>
                                          </m:ctrlPr>
                                        </m:sSubSupPr>
                                        <m:e>
                                          <m:r>
                                            <a:rPr lang="en-US" sz="1400" i="1">
                                              <a:solidFill>
                                                <a:schemeClr val="accent6">
                                                  <a:lumMod val="75000"/>
                                                </a:schemeClr>
                                              </a:solidFill>
                                              <a:latin typeface="Cambria Math" panose="02040503050406030204" pitchFamily="18" charset="0"/>
                                            </a:rPr>
                                            <m:t>𝜎</m:t>
                                          </m:r>
                                        </m:e>
                                        <m:sub>
                                          <m:r>
                                            <a:rPr lang="en-US" sz="1400" i="1">
                                              <a:solidFill>
                                                <a:schemeClr val="accent6">
                                                  <a:lumMod val="75000"/>
                                                </a:schemeClr>
                                              </a:solidFill>
                                              <a:latin typeface="Cambria Math" panose="02040503050406030204" pitchFamily="18" charset="0"/>
                                            </a:rPr>
                                            <m:t>𝑘</m:t>
                                          </m:r>
                                        </m:sub>
                                        <m:sup>
                                          <m:r>
                                            <a:rPr lang="en-US" sz="1400" i="1">
                                              <a:solidFill>
                                                <a:schemeClr val="accent6">
                                                  <a:lumMod val="75000"/>
                                                </a:schemeClr>
                                              </a:solidFill>
                                              <a:latin typeface="Cambria Math" panose="02040503050406030204" pitchFamily="18" charset="0"/>
                                            </a:rPr>
                                            <m:t>2</m:t>
                                          </m:r>
                                        </m:sup>
                                      </m:sSubSup>
                                    </m:e>
                                  </m:rad>
                                </m:den>
                              </m:f>
                              <m:func>
                                <m:funcPr>
                                  <m:ctrlPr>
                                    <a:rPr lang="en-US" sz="1400" i="1">
                                      <a:solidFill>
                                        <a:schemeClr val="accent6">
                                          <a:lumMod val="75000"/>
                                        </a:schemeClr>
                                      </a:solidFill>
                                      <a:latin typeface="Cambria Math" panose="02040503050406030204" pitchFamily="18" charset="0"/>
                                    </a:rPr>
                                  </m:ctrlPr>
                                </m:funcPr>
                                <m:fName>
                                  <m:r>
                                    <m:rPr>
                                      <m:sty m:val="p"/>
                                    </m:rPr>
                                    <a:rPr lang="en-US" sz="1400" i="1">
                                      <a:solidFill>
                                        <a:schemeClr val="accent6">
                                          <a:lumMod val="75000"/>
                                        </a:schemeClr>
                                      </a:solidFill>
                                      <a:latin typeface="Cambria Math" panose="02040503050406030204" pitchFamily="18" charset="0"/>
                                    </a:rPr>
                                    <m:t>exp</m:t>
                                  </m:r>
                                </m:fName>
                                <m:e>
                                  <m:d>
                                    <m:dPr>
                                      <m:ctrlPr>
                                        <a:rPr lang="en-US" sz="1400" i="1">
                                          <a:solidFill>
                                            <a:schemeClr val="accent6">
                                              <a:lumMod val="75000"/>
                                            </a:schemeClr>
                                          </a:solidFill>
                                          <a:latin typeface="Cambria Math" panose="02040503050406030204" pitchFamily="18" charset="0"/>
                                        </a:rPr>
                                      </m:ctrlPr>
                                    </m:dPr>
                                    <m:e>
                                      <m:r>
                                        <a:rPr lang="en-US" sz="1400" i="1">
                                          <a:solidFill>
                                            <a:schemeClr val="accent6">
                                              <a:lumMod val="75000"/>
                                            </a:schemeClr>
                                          </a:solidFill>
                                          <a:latin typeface="Cambria Math" panose="02040503050406030204" pitchFamily="18" charset="0"/>
                                        </a:rPr>
                                        <m:t>−</m:t>
                                      </m:r>
                                      <m:f>
                                        <m:fPr>
                                          <m:ctrlPr>
                                            <a:rPr lang="en-US" sz="1400" i="1">
                                              <a:solidFill>
                                                <a:schemeClr val="accent6">
                                                  <a:lumMod val="75000"/>
                                                </a:schemeClr>
                                              </a:solidFill>
                                              <a:latin typeface="Cambria Math" panose="02040503050406030204" pitchFamily="18" charset="0"/>
                                            </a:rPr>
                                          </m:ctrlPr>
                                        </m:fPr>
                                        <m:num>
                                          <m:sSup>
                                            <m:sSupPr>
                                              <m:ctrlPr>
                                                <a:rPr lang="en-US" sz="1400" i="1">
                                                  <a:solidFill>
                                                    <a:schemeClr val="accent6">
                                                      <a:lumMod val="75000"/>
                                                    </a:schemeClr>
                                                  </a:solidFill>
                                                  <a:latin typeface="Cambria Math" panose="02040503050406030204" pitchFamily="18" charset="0"/>
                                                </a:rPr>
                                              </m:ctrlPr>
                                            </m:sSupPr>
                                            <m:e>
                                              <m:d>
                                                <m:dPr>
                                                  <m:ctrlPr>
                                                    <a:rPr lang="en-US" sz="1400" i="1">
                                                      <a:solidFill>
                                                        <a:schemeClr val="accent6">
                                                          <a:lumMod val="75000"/>
                                                        </a:schemeClr>
                                                      </a:solidFill>
                                                      <a:latin typeface="Cambria Math" panose="02040503050406030204" pitchFamily="18" charset="0"/>
                                                    </a:rPr>
                                                  </m:ctrlPr>
                                                </m:dPr>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𝑥</m:t>
                                                      </m:r>
                                                    </m:e>
                                                    <m:sub>
                                                      <m:r>
                                                        <a:rPr lang="en-US" sz="1400" i="1">
                                                          <a:solidFill>
                                                            <a:schemeClr val="accent6">
                                                              <a:lumMod val="75000"/>
                                                            </a:schemeClr>
                                                          </a:solidFill>
                                                          <a:latin typeface="Cambria Math" panose="02040503050406030204" pitchFamily="18" charset="0"/>
                                                        </a:rPr>
                                                        <m:t>𝑛</m:t>
                                                      </m:r>
                                                    </m:sub>
                                                  </m:sSub>
                                                  <m:r>
                                                    <a:rPr lang="en-US" sz="1400" i="1">
                                                      <a:solidFill>
                                                        <a:schemeClr val="accent6">
                                                          <a:lumMod val="75000"/>
                                                        </a:schemeClr>
                                                      </a:solidFill>
                                                      <a:latin typeface="Cambria Math" panose="02040503050406030204" pitchFamily="18" charset="0"/>
                                                    </a:rPr>
                                                    <m:t>−</m:t>
                                                  </m:r>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𝜇</m:t>
                                                      </m:r>
                                                    </m:e>
                                                    <m:sub>
                                                      <m:r>
                                                        <a:rPr lang="en-US" sz="1400" i="1">
                                                          <a:solidFill>
                                                            <a:schemeClr val="accent6">
                                                              <a:lumMod val="75000"/>
                                                            </a:schemeClr>
                                                          </a:solidFill>
                                                          <a:latin typeface="Cambria Math" panose="02040503050406030204" pitchFamily="18" charset="0"/>
                                                        </a:rPr>
                                                        <m:t>𝑘</m:t>
                                                      </m:r>
                                                    </m:sub>
                                                  </m:sSub>
                                                </m:e>
                                              </m:d>
                                            </m:e>
                                            <m:sup>
                                              <m:r>
                                                <a:rPr lang="en-US" sz="1400" i="1">
                                                  <a:solidFill>
                                                    <a:schemeClr val="accent6">
                                                      <a:lumMod val="75000"/>
                                                    </a:schemeClr>
                                                  </a:solidFill>
                                                  <a:latin typeface="Cambria Math" panose="02040503050406030204" pitchFamily="18" charset="0"/>
                                                </a:rPr>
                                                <m:t>2</m:t>
                                              </m:r>
                                            </m:sup>
                                          </m:sSup>
                                        </m:num>
                                        <m:den>
                                          <m:r>
                                            <a:rPr lang="en-US" sz="1400" i="1">
                                              <a:solidFill>
                                                <a:schemeClr val="accent6">
                                                  <a:lumMod val="75000"/>
                                                </a:schemeClr>
                                              </a:solidFill>
                                              <a:latin typeface="Cambria Math" panose="02040503050406030204" pitchFamily="18" charset="0"/>
                                            </a:rPr>
                                            <m:t>2</m:t>
                                          </m:r>
                                          <m:sSubSup>
                                            <m:sSubSupPr>
                                              <m:ctrlPr>
                                                <a:rPr lang="en-US" sz="1400" i="1">
                                                  <a:solidFill>
                                                    <a:schemeClr val="accent6">
                                                      <a:lumMod val="75000"/>
                                                    </a:schemeClr>
                                                  </a:solidFill>
                                                  <a:latin typeface="Cambria Math" panose="02040503050406030204" pitchFamily="18" charset="0"/>
                                                </a:rPr>
                                              </m:ctrlPr>
                                            </m:sSubSupPr>
                                            <m:e>
                                              <m:r>
                                                <a:rPr lang="en-US" sz="1400" i="1">
                                                  <a:solidFill>
                                                    <a:schemeClr val="accent6">
                                                      <a:lumMod val="75000"/>
                                                    </a:schemeClr>
                                                  </a:solidFill>
                                                  <a:latin typeface="Cambria Math" panose="02040503050406030204" pitchFamily="18" charset="0"/>
                                                </a:rPr>
                                                <m:t>𝜎</m:t>
                                              </m:r>
                                            </m:e>
                                            <m:sub>
                                              <m:r>
                                                <a:rPr lang="en-US" sz="1400" i="1">
                                                  <a:solidFill>
                                                    <a:schemeClr val="accent6">
                                                      <a:lumMod val="75000"/>
                                                    </a:schemeClr>
                                                  </a:solidFill>
                                                  <a:latin typeface="Cambria Math" panose="02040503050406030204" pitchFamily="18" charset="0"/>
                                                </a:rPr>
                                                <m:t>𝑘</m:t>
                                              </m:r>
                                            </m:sub>
                                            <m:sup>
                                              <m:r>
                                                <a:rPr lang="en-US" sz="1400" i="1">
                                                  <a:solidFill>
                                                    <a:schemeClr val="accent6">
                                                      <a:lumMod val="75000"/>
                                                    </a:schemeClr>
                                                  </a:solidFill>
                                                  <a:latin typeface="Cambria Math" panose="02040503050406030204" pitchFamily="18" charset="0"/>
                                                </a:rPr>
                                                <m:t>2</m:t>
                                              </m:r>
                                            </m:sup>
                                          </m:sSubSup>
                                        </m:den>
                                      </m:f>
                                    </m:e>
                                  </m:d>
                                </m:e>
                              </m:func>
                            </m:num>
                            <m:den>
                              <m:nary>
                                <m:naryPr>
                                  <m:chr m:val="∑"/>
                                  <m:limLoc m:val="undOvr"/>
                                  <m:ctrlPr>
                                    <a:rPr lang="en-US" sz="1400" i="1">
                                      <a:solidFill>
                                        <a:schemeClr val="accent5">
                                          <a:lumMod val="75000"/>
                                        </a:schemeClr>
                                      </a:solidFill>
                                      <a:latin typeface="Cambria Math" panose="02040503050406030204" pitchFamily="18" charset="0"/>
                                    </a:rPr>
                                  </m:ctrlPr>
                                </m:naryPr>
                                <m:sub>
                                  <m:r>
                                    <a:rPr lang="en-US" sz="1400" i="1">
                                      <a:solidFill>
                                        <a:schemeClr val="accent5">
                                          <a:lumMod val="75000"/>
                                        </a:schemeClr>
                                      </a:solidFill>
                                      <a:latin typeface="Cambria Math" panose="02040503050406030204" pitchFamily="18" charset="0"/>
                                    </a:rPr>
                                    <m:t>𝑗</m:t>
                                  </m:r>
                                  <m:r>
                                    <a:rPr lang="en-US" sz="1400" i="1">
                                      <a:solidFill>
                                        <a:schemeClr val="accent5">
                                          <a:lumMod val="75000"/>
                                        </a:schemeClr>
                                      </a:solidFill>
                                      <a:latin typeface="Cambria Math" panose="02040503050406030204" pitchFamily="18" charset="0"/>
                                    </a:rPr>
                                    <m:t>=1</m:t>
                                  </m:r>
                                </m:sub>
                                <m:sup>
                                  <m:r>
                                    <a:rPr lang="en-US" sz="1400" i="1">
                                      <a:solidFill>
                                        <a:schemeClr val="accent5">
                                          <a:lumMod val="75000"/>
                                        </a:schemeClr>
                                      </a:solidFill>
                                      <a:latin typeface="Cambria Math" panose="02040503050406030204" pitchFamily="18" charset="0"/>
                                    </a:rPr>
                                    <m:t>𝐾</m:t>
                                  </m:r>
                                </m:sup>
                                <m:e>
                                  <m:sSub>
                                    <m:sSubPr>
                                      <m:ctrlPr>
                                        <a:rPr lang="en-US" sz="1400" i="1">
                                          <a:solidFill>
                                            <a:schemeClr val="accent5">
                                              <a:lumMod val="75000"/>
                                            </a:schemeClr>
                                          </a:solidFill>
                                          <a:latin typeface="Cambria Math" panose="02040503050406030204" pitchFamily="18" charset="0"/>
                                        </a:rPr>
                                      </m:ctrlPr>
                                    </m:sSubPr>
                                    <m:e>
                                      <m:r>
                                        <a:rPr lang="en-US" sz="1400" i="1">
                                          <a:solidFill>
                                            <a:schemeClr val="accent5">
                                              <a:lumMod val="75000"/>
                                            </a:schemeClr>
                                          </a:solidFill>
                                          <a:latin typeface="Cambria Math" panose="02040503050406030204" pitchFamily="18" charset="0"/>
                                        </a:rPr>
                                        <m:t>𝜋</m:t>
                                      </m:r>
                                    </m:e>
                                    <m:sub>
                                      <m:r>
                                        <a:rPr lang="en-US" sz="1400" i="1">
                                          <a:solidFill>
                                            <a:schemeClr val="accent5">
                                              <a:lumMod val="75000"/>
                                            </a:schemeClr>
                                          </a:solidFill>
                                          <a:latin typeface="Cambria Math" panose="02040503050406030204" pitchFamily="18" charset="0"/>
                                        </a:rPr>
                                        <m:t>𝑗</m:t>
                                      </m:r>
                                    </m:sub>
                                  </m:sSub>
                                </m:e>
                              </m:nary>
                              <m:f>
                                <m:fPr>
                                  <m:ctrlPr>
                                    <a:rPr lang="en-US" sz="1400" i="1">
                                      <a:solidFill>
                                        <a:schemeClr val="accent5">
                                          <a:lumMod val="75000"/>
                                        </a:schemeClr>
                                      </a:solidFill>
                                      <a:latin typeface="Cambria Math" panose="02040503050406030204" pitchFamily="18" charset="0"/>
                                    </a:rPr>
                                  </m:ctrlPr>
                                </m:fPr>
                                <m:num>
                                  <m:r>
                                    <a:rPr lang="en-US" sz="1400" i="1">
                                      <a:solidFill>
                                        <a:schemeClr val="accent5">
                                          <a:lumMod val="75000"/>
                                        </a:schemeClr>
                                      </a:solidFill>
                                      <a:latin typeface="Cambria Math" panose="02040503050406030204" pitchFamily="18" charset="0"/>
                                    </a:rPr>
                                    <m:t>1</m:t>
                                  </m:r>
                                </m:num>
                                <m:den>
                                  <m:rad>
                                    <m:radPr>
                                      <m:degHide m:val="on"/>
                                      <m:ctrlPr>
                                        <a:rPr lang="en-US" sz="1400" i="1">
                                          <a:solidFill>
                                            <a:schemeClr val="accent5">
                                              <a:lumMod val="75000"/>
                                            </a:schemeClr>
                                          </a:solidFill>
                                          <a:latin typeface="Cambria Math" panose="02040503050406030204" pitchFamily="18" charset="0"/>
                                        </a:rPr>
                                      </m:ctrlPr>
                                    </m:radPr>
                                    <m:deg/>
                                    <m:e>
                                      <m:r>
                                        <a:rPr lang="en-US" sz="1400" i="1">
                                          <a:solidFill>
                                            <a:schemeClr val="accent5">
                                              <a:lumMod val="75000"/>
                                            </a:schemeClr>
                                          </a:solidFill>
                                          <a:latin typeface="Cambria Math" panose="02040503050406030204" pitchFamily="18" charset="0"/>
                                        </a:rPr>
                                        <m:t>2</m:t>
                                      </m:r>
                                      <m:r>
                                        <a:rPr lang="en-US" sz="1400" i="1">
                                          <a:solidFill>
                                            <a:schemeClr val="accent5">
                                              <a:lumMod val="75000"/>
                                            </a:schemeClr>
                                          </a:solidFill>
                                          <a:latin typeface="Cambria Math" panose="02040503050406030204" pitchFamily="18" charset="0"/>
                                        </a:rPr>
                                        <m:t>𝜋</m:t>
                                      </m:r>
                                      <m:sSubSup>
                                        <m:sSubSupPr>
                                          <m:ctrlPr>
                                            <a:rPr lang="en-US" sz="1400" i="1">
                                              <a:solidFill>
                                                <a:schemeClr val="accent5">
                                                  <a:lumMod val="75000"/>
                                                </a:schemeClr>
                                              </a:solidFill>
                                              <a:latin typeface="Cambria Math" panose="02040503050406030204" pitchFamily="18" charset="0"/>
                                            </a:rPr>
                                          </m:ctrlPr>
                                        </m:sSubSupPr>
                                        <m:e>
                                          <m:r>
                                            <a:rPr lang="en-US" sz="1400" i="1">
                                              <a:solidFill>
                                                <a:schemeClr val="accent5">
                                                  <a:lumMod val="75000"/>
                                                </a:schemeClr>
                                              </a:solidFill>
                                              <a:latin typeface="Cambria Math" panose="02040503050406030204" pitchFamily="18" charset="0"/>
                                            </a:rPr>
                                            <m:t>𝜎</m:t>
                                          </m:r>
                                        </m:e>
                                        <m:sub>
                                          <m:r>
                                            <a:rPr lang="en-US" sz="1400" i="1">
                                              <a:solidFill>
                                                <a:schemeClr val="accent5">
                                                  <a:lumMod val="75000"/>
                                                </a:schemeClr>
                                              </a:solidFill>
                                              <a:latin typeface="Cambria Math" panose="02040503050406030204" pitchFamily="18" charset="0"/>
                                            </a:rPr>
                                            <m:t>𝑗</m:t>
                                          </m:r>
                                        </m:sub>
                                        <m:sup>
                                          <m:r>
                                            <a:rPr lang="en-US" sz="1400" i="1">
                                              <a:solidFill>
                                                <a:schemeClr val="accent5">
                                                  <a:lumMod val="75000"/>
                                                </a:schemeClr>
                                              </a:solidFill>
                                              <a:latin typeface="Cambria Math" panose="02040503050406030204" pitchFamily="18" charset="0"/>
                                            </a:rPr>
                                            <m:t>2</m:t>
                                          </m:r>
                                        </m:sup>
                                      </m:sSubSup>
                                    </m:e>
                                  </m:rad>
                                </m:den>
                              </m:f>
                              <m:func>
                                <m:funcPr>
                                  <m:ctrlPr>
                                    <a:rPr lang="en-US" sz="1400" i="1">
                                      <a:solidFill>
                                        <a:schemeClr val="accent5">
                                          <a:lumMod val="75000"/>
                                        </a:schemeClr>
                                      </a:solidFill>
                                      <a:latin typeface="Cambria Math" panose="02040503050406030204" pitchFamily="18" charset="0"/>
                                    </a:rPr>
                                  </m:ctrlPr>
                                </m:funcPr>
                                <m:fName>
                                  <m:r>
                                    <m:rPr>
                                      <m:sty m:val="p"/>
                                    </m:rPr>
                                    <a:rPr lang="en-US" sz="1400" i="1">
                                      <a:solidFill>
                                        <a:schemeClr val="accent5">
                                          <a:lumMod val="75000"/>
                                        </a:schemeClr>
                                      </a:solidFill>
                                      <a:latin typeface="Cambria Math" panose="02040503050406030204" pitchFamily="18" charset="0"/>
                                    </a:rPr>
                                    <m:t>exp</m:t>
                                  </m:r>
                                </m:fName>
                                <m:e>
                                  <m:d>
                                    <m:dPr>
                                      <m:ctrlPr>
                                        <a:rPr lang="en-US" sz="1400" i="1">
                                          <a:solidFill>
                                            <a:schemeClr val="accent5">
                                              <a:lumMod val="75000"/>
                                            </a:schemeClr>
                                          </a:solidFill>
                                          <a:latin typeface="Cambria Math" panose="02040503050406030204" pitchFamily="18" charset="0"/>
                                        </a:rPr>
                                      </m:ctrlPr>
                                    </m:dPr>
                                    <m:e>
                                      <m:r>
                                        <a:rPr lang="en-US" sz="1400" i="1">
                                          <a:solidFill>
                                            <a:schemeClr val="accent5">
                                              <a:lumMod val="75000"/>
                                            </a:schemeClr>
                                          </a:solidFill>
                                          <a:latin typeface="Cambria Math" panose="02040503050406030204" pitchFamily="18" charset="0"/>
                                        </a:rPr>
                                        <m:t>−</m:t>
                                      </m:r>
                                      <m:f>
                                        <m:fPr>
                                          <m:ctrlPr>
                                            <a:rPr lang="en-US" sz="1400" i="1">
                                              <a:solidFill>
                                                <a:schemeClr val="accent5">
                                                  <a:lumMod val="75000"/>
                                                </a:schemeClr>
                                              </a:solidFill>
                                              <a:latin typeface="Cambria Math" panose="02040503050406030204" pitchFamily="18" charset="0"/>
                                            </a:rPr>
                                          </m:ctrlPr>
                                        </m:fPr>
                                        <m:num>
                                          <m:sSup>
                                            <m:sSupPr>
                                              <m:ctrlPr>
                                                <a:rPr lang="en-US" sz="1400" i="1">
                                                  <a:solidFill>
                                                    <a:schemeClr val="accent5">
                                                      <a:lumMod val="75000"/>
                                                    </a:schemeClr>
                                                  </a:solidFill>
                                                  <a:latin typeface="Cambria Math" panose="02040503050406030204" pitchFamily="18" charset="0"/>
                                                </a:rPr>
                                              </m:ctrlPr>
                                            </m:sSupPr>
                                            <m:e>
                                              <m:d>
                                                <m:dPr>
                                                  <m:ctrlPr>
                                                    <a:rPr lang="en-US" sz="1400" i="1">
                                                      <a:solidFill>
                                                        <a:schemeClr val="accent5">
                                                          <a:lumMod val="75000"/>
                                                        </a:schemeClr>
                                                      </a:solidFill>
                                                      <a:latin typeface="Cambria Math" panose="02040503050406030204" pitchFamily="18" charset="0"/>
                                                    </a:rPr>
                                                  </m:ctrlPr>
                                                </m:dPr>
                                                <m:e>
                                                  <m:sSub>
                                                    <m:sSubPr>
                                                      <m:ctrlPr>
                                                        <a:rPr lang="en-US" sz="1400" i="1">
                                                          <a:solidFill>
                                                            <a:schemeClr val="accent5">
                                                              <a:lumMod val="75000"/>
                                                            </a:schemeClr>
                                                          </a:solidFill>
                                                          <a:latin typeface="Cambria Math" panose="02040503050406030204" pitchFamily="18" charset="0"/>
                                                        </a:rPr>
                                                      </m:ctrlPr>
                                                    </m:sSubPr>
                                                    <m:e>
                                                      <m:r>
                                                        <a:rPr lang="en-US" sz="1400" i="1">
                                                          <a:solidFill>
                                                            <a:schemeClr val="accent5">
                                                              <a:lumMod val="75000"/>
                                                            </a:schemeClr>
                                                          </a:solidFill>
                                                          <a:latin typeface="Cambria Math" panose="02040503050406030204" pitchFamily="18" charset="0"/>
                                                        </a:rPr>
                                                        <m:t>𝑥</m:t>
                                                      </m:r>
                                                    </m:e>
                                                    <m:sub>
                                                      <m:r>
                                                        <a:rPr lang="en-US" sz="1400" i="1">
                                                          <a:solidFill>
                                                            <a:schemeClr val="accent5">
                                                              <a:lumMod val="75000"/>
                                                            </a:schemeClr>
                                                          </a:solidFill>
                                                          <a:latin typeface="Cambria Math" panose="02040503050406030204" pitchFamily="18" charset="0"/>
                                                        </a:rPr>
                                                        <m:t>𝑛</m:t>
                                                      </m:r>
                                                    </m:sub>
                                                  </m:sSub>
                                                  <m:r>
                                                    <a:rPr lang="en-US" sz="1400" i="1">
                                                      <a:solidFill>
                                                        <a:schemeClr val="accent5">
                                                          <a:lumMod val="75000"/>
                                                        </a:schemeClr>
                                                      </a:solidFill>
                                                      <a:latin typeface="Cambria Math" panose="02040503050406030204" pitchFamily="18" charset="0"/>
                                                    </a:rPr>
                                                    <m:t>−</m:t>
                                                  </m:r>
                                                  <m:sSub>
                                                    <m:sSubPr>
                                                      <m:ctrlPr>
                                                        <a:rPr lang="en-US" sz="1400" i="1">
                                                          <a:solidFill>
                                                            <a:schemeClr val="accent5">
                                                              <a:lumMod val="75000"/>
                                                            </a:schemeClr>
                                                          </a:solidFill>
                                                          <a:latin typeface="Cambria Math" panose="02040503050406030204" pitchFamily="18" charset="0"/>
                                                        </a:rPr>
                                                      </m:ctrlPr>
                                                    </m:sSubPr>
                                                    <m:e>
                                                      <m:r>
                                                        <a:rPr lang="en-US" sz="1400" i="1">
                                                          <a:solidFill>
                                                            <a:schemeClr val="accent5">
                                                              <a:lumMod val="75000"/>
                                                            </a:schemeClr>
                                                          </a:solidFill>
                                                          <a:latin typeface="Cambria Math" panose="02040503050406030204" pitchFamily="18" charset="0"/>
                                                        </a:rPr>
                                                        <m:t>𝜇</m:t>
                                                      </m:r>
                                                    </m:e>
                                                    <m:sub>
                                                      <m:r>
                                                        <a:rPr lang="en-US" sz="1400" i="1">
                                                          <a:solidFill>
                                                            <a:schemeClr val="accent5">
                                                              <a:lumMod val="75000"/>
                                                            </a:schemeClr>
                                                          </a:solidFill>
                                                          <a:latin typeface="Cambria Math" panose="02040503050406030204" pitchFamily="18" charset="0"/>
                                                        </a:rPr>
                                                        <m:t>𝑗</m:t>
                                                      </m:r>
                                                    </m:sub>
                                                  </m:sSub>
                                                </m:e>
                                              </m:d>
                                            </m:e>
                                            <m:sup>
                                              <m:r>
                                                <a:rPr lang="en-US" sz="1400" i="1">
                                                  <a:solidFill>
                                                    <a:schemeClr val="accent5">
                                                      <a:lumMod val="75000"/>
                                                    </a:schemeClr>
                                                  </a:solidFill>
                                                  <a:latin typeface="Cambria Math" panose="02040503050406030204" pitchFamily="18" charset="0"/>
                                                </a:rPr>
                                                <m:t>2</m:t>
                                              </m:r>
                                            </m:sup>
                                          </m:sSup>
                                        </m:num>
                                        <m:den>
                                          <m:r>
                                            <a:rPr lang="en-US" sz="1400" i="1">
                                              <a:solidFill>
                                                <a:schemeClr val="accent5">
                                                  <a:lumMod val="75000"/>
                                                </a:schemeClr>
                                              </a:solidFill>
                                              <a:latin typeface="Cambria Math" panose="02040503050406030204" pitchFamily="18" charset="0"/>
                                            </a:rPr>
                                            <m:t>2</m:t>
                                          </m:r>
                                          <m:sSubSup>
                                            <m:sSubSupPr>
                                              <m:ctrlPr>
                                                <a:rPr lang="en-US" sz="1400" i="1">
                                                  <a:solidFill>
                                                    <a:schemeClr val="accent5">
                                                      <a:lumMod val="75000"/>
                                                    </a:schemeClr>
                                                  </a:solidFill>
                                                  <a:latin typeface="Cambria Math" panose="02040503050406030204" pitchFamily="18" charset="0"/>
                                                </a:rPr>
                                              </m:ctrlPr>
                                            </m:sSubSupPr>
                                            <m:e>
                                              <m:r>
                                                <a:rPr lang="en-US" sz="1400" i="1">
                                                  <a:solidFill>
                                                    <a:schemeClr val="accent5">
                                                      <a:lumMod val="75000"/>
                                                    </a:schemeClr>
                                                  </a:solidFill>
                                                  <a:latin typeface="Cambria Math" panose="02040503050406030204" pitchFamily="18" charset="0"/>
                                                </a:rPr>
                                                <m:t>𝜎</m:t>
                                              </m:r>
                                            </m:e>
                                            <m:sub>
                                              <m:r>
                                                <a:rPr lang="en-US" sz="1400" i="1">
                                                  <a:solidFill>
                                                    <a:schemeClr val="accent5">
                                                      <a:lumMod val="75000"/>
                                                    </a:schemeClr>
                                                  </a:solidFill>
                                                  <a:latin typeface="Cambria Math" panose="02040503050406030204" pitchFamily="18" charset="0"/>
                                                </a:rPr>
                                                <m:t>𝑗</m:t>
                                              </m:r>
                                            </m:sub>
                                            <m:sup>
                                              <m:r>
                                                <a:rPr lang="en-US" sz="1400" i="1">
                                                  <a:solidFill>
                                                    <a:schemeClr val="accent5">
                                                      <a:lumMod val="75000"/>
                                                    </a:schemeClr>
                                                  </a:solidFill>
                                                  <a:latin typeface="Cambria Math" panose="02040503050406030204" pitchFamily="18" charset="0"/>
                                                </a:rPr>
                                                <m:t>2</m:t>
                                              </m:r>
                                            </m:sup>
                                          </m:sSubSup>
                                        </m:den>
                                      </m:f>
                                    </m:e>
                                  </m:d>
                                </m:e>
                              </m:func>
                            </m:den>
                          </m:f>
                        </m:e>
                      </m:borderBox>
                    </m:oMath>
                  </m:oMathPara>
                </a14:m>
                <a:endParaRPr lang="en-VN" dirty="0"/>
              </a:p>
            </p:txBody>
          </p:sp>
        </mc:Choice>
        <mc:Fallback xmlns="">
          <p:sp>
            <p:nvSpPr>
              <p:cNvPr id="11" name="TextBox 10">
                <a:extLst>
                  <a:ext uri="{FF2B5EF4-FFF2-40B4-BE49-F238E27FC236}">
                    <a16:creationId xmlns:a16="http://schemas.microsoft.com/office/drawing/2014/main" id="{40E13CFF-9067-FE6C-EB4F-A3E87BAAA9F9}"/>
                  </a:ext>
                </a:extLst>
              </p:cNvPr>
              <p:cNvSpPr txBox="1">
                <a:spLocks noRot="1" noChangeAspect="1" noMove="1" noResize="1" noEditPoints="1" noAdjustHandles="1" noChangeArrowheads="1" noChangeShapeType="1" noTextEdit="1"/>
              </p:cNvSpPr>
              <p:nvPr/>
            </p:nvSpPr>
            <p:spPr>
              <a:xfrm>
                <a:off x="8503483" y="4568898"/>
                <a:ext cx="3282117" cy="1548950"/>
              </a:xfrm>
              <a:prstGeom prst="rect">
                <a:avLst/>
              </a:prstGeom>
              <a:blipFill>
                <a:blip r:embed="rId5"/>
                <a:stretch>
                  <a:fillRect b="-11382"/>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27AC036D-C8C2-8CDC-E846-3E466A045A5F}"/>
                  </a:ext>
                </a:extLst>
              </p:cNvPr>
              <p:cNvSpPr txBox="1"/>
              <p:nvPr/>
            </p:nvSpPr>
            <p:spPr>
              <a:xfrm>
                <a:off x="5774266" y="6257836"/>
                <a:ext cx="6417734" cy="600164"/>
              </a:xfrm>
              <a:prstGeom prst="rect">
                <a:avLst/>
              </a:prstGeom>
              <a:noFill/>
            </p:spPr>
            <p:txBody>
              <a:bodyPr wrap="square" rtlCol="0">
                <a:spAutoFit/>
              </a:bodyPr>
              <a:lstStyle/>
              <a:p>
                <a:pPr>
                  <a:spcAft>
                    <a:spcPts val="600"/>
                  </a:spcAft>
                </a:pPr>
                <a:r>
                  <a:rPr lang="vi-VN" sz="1400" dirty="0">
                    <a:solidFill>
                      <a:srgbClr val="444B52"/>
                    </a:solidFill>
                    <a:latin typeface="Arial"/>
                  </a:rPr>
                  <a:t>Xác suất hậu nghiệm </a:t>
                </a:r>
                <a14:m>
                  <m:oMath xmlns:m="http://schemas.openxmlformats.org/officeDocument/2006/math">
                    <m:sSub>
                      <m:sSubPr>
                        <m:ctrlPr>
                          <a:rPr lang="en-US" sz="1400" b="1" i="1">
                            <a:solidFill>
                              <a:srgbClr val="FF0000"/>
                            </a:solidFill>
                            <a:latin typeface="Cambria Math" panose="02040503050406030204" pitchFamily="18" charset="0"/>
                          </a:rPr>
                        </m:ctrlPr>
                      </m:sSubPr>
                      <m:e>
                        <m:r>
                          <a:rPr lang="en-US" sz="1400" b="1" i="1">
                            <a:solidFill>
                              <a:srgbClr val="FF0000"/>
                            </a:solidFill>
                            <a:latin typeface="Cambria Math" panose="02040503050406030204" pitchFamily="18" charset="0"/>
                          </a:rPr>
                          <m:t>𝜸</m:t>
                        </m:r>
                      </m:e>
                      <m:sub>
                        <m:r>
                          <a:rPr lang="en-US" sz="1400" b="1" i="1">
                            <a:solidFill>
                              <a:srgbClr val="FF0000"/>
                            </a:solidFill>
                            <a:latin typeface="Cambria Math" panose="02040503050406030204" pitchFamily="18" charset="0"/>
                          </a:rPr>
                          <m:t>𝒏𝒌</m:t>
                        </m:r>
                      </m:sub>
                    </m:sSub>
                  </m:oMath>
                </a14:m>
                <a:r>
                  <a:rPr lang="vi-VN" sz="1400" dirty="0">
                    <a:solidFill>
                      <a:srgbClr val="444B52"/>
                    </a:solidFill>
                    <a:latin typeface="Arial"/>
                  </a:rPr>
                  <a:t> còn được gọi là </a:t>
                </a:r>
                <a:r>
                  <a:rPr lang="vi-VN" sz="1400" b="1" dirty="0">
                    <a:solidFill>
                      <a:srgbClr val="444B52"/>
                    </a:solidFill>
                    <a:latin typeface="Arial"/>
                  </a:rPr>
                  <a:t>điểm trách nhiệm (Responsibility)</a:t>
                </a:r>
                <a:endParaRPr lang="vi-VN" sz="1400" dirty="0">
                  <a:solidFill>
                    <a:srgbClr val="444B52"/>
                  </a:solidFill>
                  <a:latin typeface="Arial"/>
                </a:endParaRPr>
              </a:p>
              <a:p>
                <a:pPr>
                  <a:spcAft>
                    <a:spcPts val="600"/>
                  </a:spcAft>
                </a:pPr>
                <a:r>
                  <a:rPr lang="vi-VN" sz="1400" dirty="0">
                    <a:solidFill>
                      <a:srgbClr val="444B52"/>
                    </a:solidFill>
                    <a:latin typeface="Arial"/>
                  </a:rPr>
                  <a:t>Nghĩa là Phân phối </a:t>
                </a:r>
                <a14:m>
                  <m:oMath xmlns:m="http://schemas.openxmlformats.org/officeDocument/2006/math">
                    <m:r>
                      <a:rPr lang="en-US" sz="1400" i="1">
                        <a:solidFill>
                          <a:schemeClr val="accent6">
                            <a:lumMod val="75000"/>
                          </a:schemeClr>
                        </a:solidFill>
                        <a:latin typeface="Cambria Math" panose="02040503050406030204" pitchFamily="18" charset="0"/>
                      </a:rPr>
                      <m:t>𝑘</m:t>
                    </m:r>
                  </m:oMath>
                </a14:m>
                <a:r>
                  <a:rPr lang="vi-VN" sz="1400" dirty="0">
                    <a:solidFill>
                      <a:srgbClr val="444B52"/>
                    </a:solidFill>
                    <a:latin typeface="Arial"/>
                  </a:rPr>
                  <a:t> chịu bao nhiêu </a:t>
                </a:r>
                <a:r>
                  <a:rPr lang="vi-VN" sz="1400" b="1" dirty="0">
                    <a:solidFill>
                      <a:srgbClr val="444B52"/>
                    </a:solidFill>
                    <a:latin typeface="Arial"/>
                  </a:rPr>
                  <a:t>trách nhiệm</a:t>
                </a:r>
                <a:r>
                  <a:rPr lang="vi-VN" sz="1400" dirty="0">
                    <a:solidFill>
                      <a:srgbClr val="444B52"/>
                    </a:solidFill>
                    <a:latin typeface="Arial"/>
                  </a:rPr>
                  <a:t> sinh ra điểm </a:t>
                </a:r>
                <a14:m>
                  <m:oMath xmlns:m="http://schemas.openxmlformats.org/officeDocument/2006/math">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𝑥</m:t>
                        </m:r>
                      </m:e>
                      <m:sub>
                        <m:r>
                          <a:rPr lang="en-US" sz="1400" i="1">
                            <a:solidFill>
                              <a:schemeClr val="accent6">
                                <a:lumMod val="75000"/>
                              </a:schemeClr>
                            </a:solidFill>
                            <a:latin typeface="Cambria Math" panose="02040503050406030204" pitchFamily="18" charset="0"/>
                          </a:rPr>
                          <m:t>𝑛</m:t>
                        </m:r>
                      </m:sub>
                    </m:sSub>
                  </m:oMath>
                </a14:m>
                <a:endParaRPr lang="vi-VN" sz="1400" b="1" dirty="0">
                  <a:solidFill>
                    <a:srgbClr val="444B52"/>
                  </a:solidFill>
                  <a:latin typeface="Arial"/>
                </a:endParaRPr>
              </a:p>
            </p:txBody>
          </p:sp>
        </mc:Choice>
        <mc:Fallback xmlns="">
          <p:sp>
            <p:nvSpPr>
              <p:cNvPr id="3" name="TextBox 2">
                <a:extLst>
                  <a:ext uri="{FF2B5EF4-FFF2-40B4-BE49-F238E27FC236}">
                    <a16:creationId xmlns:a16="http://schemas.microsoft.com/office/drawing/2014/main" id="{27AC036D-C8C2-8CDC-E846-3E466A045A5F}"/>
                  </a:ext>
                </a:extLst>
              </p:cNvPr>
              <p:cNvSpPr txBox="1">
                <a:spLocks noRot="1" noChangeAspect="1" noMove="1" noResize="1" noEditPoints="1" noAdjustHandles="1" noChangeArrowheads="1" noChangeShapeType="1" noTextEdit="1"/>
              </p:cNvSpPr>
              <p:nvPr/>
            </p:nvSpPr>
            <p:spPr>
              <a:xfrm>
                <a:off x="5774266" y="6257836"/>
                <a:ext cx="6417734" cy="600164"/>
              </a:xfrm>
              <a:prstGeom prst="rect">
                <a:avLst/>
              </a:prstGeom>
              <a:blipFill>
                <a:blip r:embed="rId6"/>
                <a:stretch>
                  <a:fillRect l="-197" b="-10417"/>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AB63CC9E-74B6-2591-98A0-B02EA9FF7EF1}"/>
                  </a:ext>
                </a:extLst>
              </p:cNvPr>
              <p:cNvSpPr txBox="1"/>
              <p:nvPr/>
            </p:nvSpPr>
            <p:spPr>
              <a:xfrm>
                <a:off x="8440626" y="2807423"/>
                <a:ext cx="3387308" cy="542841"/>
              </a:xfrm>
              <a:prstGeom prst="rect">
                <a:avLst/>
              </a:prstGeom>
              <a:noFill/>
            </p:spPr>
            <p:txBody>
              <a:bodyPr wrap="square">
                <a:spAutoFit/>
              </a:bodyPr>
              <a:lstStyle/>
              <a:p>
                <a:pPr/>
                <a14:m>
                  <m:oMathPara xmlns:m="http://schemas.openxmlformats.org/officeDocument/2006/math">
                    <m:oMath>
                      <m:sSub>
                        <m:sSubPr>
                          <m:ctrlPr>
                            <a:rPr lang="en-VN" sz="1400" b="1" i="1" smtClean="0">
                              <a:solidFill>
                                <a:srgbClr val="FF0000"/>
                              </a:solidFill>
                              <a:latin typeface="Cambria Math" panose="02040503050406030204" pitchFamily="18" charset="0"/>
                            </a:rPr>
                          </m:ctrlPr>
                        </m:sSubPr>
                        <m:e>
                          <m:r>
                            <a:rPr lang="en-VN" sz="1400" b="1" i="1" smtClean="0">
                              <a:solidFill>
                                <a:srgbClr val="FF0000"/>
                              </a:solidFill>
                              <a:latin typeface="Cambria Math" panose="02040503050406030204" pitchFamily="18" charset="0"/>
                            </a:rPr>
                            <m:t>𝜸</m:t>
                          </m:r>
                        </m:e>
                        <m:sub>
                          <m:r>
                            <a:rPr lang="en-VN" sz="1400" b="1" i="1" smtClean="0">
                              <a:solidFill>
                                <a:srgbClr val="FF0000"/>
                              </a:solidFill>
                              <a:latin typeface="Cambria Math" panose="02040503050406030204" pitchFamily="18" charset="0"/>
                            </a:rPr>
                            <m:t>𝒏𝒌</m:t>
                          </m:r>
                        </m:sub>
                      </m:sSub>
                      <m:r>
                        <a:rPr lang="en-VN" sz="1400" b="0" i="1" smtClean="0">
                          <a:latin typeface="Cambria Math" panose="02040503050406030204" pitchFamily="18" charset="0"/>
                        </a:rPr>
                        <m:t>=</m:t>
                      </m:r>
                      <m:f>
                        <m:fPr>
                          <m:ctrlPr>
                            <a:rPr lang="en-VN" sz="1400" b="0" i="0" smtClean="0">
                              <a:latin typeface="Cambria Math" panose="02040503050406030204" pitchFamily="18" charset="0"/>
                            </a:rPr>
                          </m:ctrlPr>
                        </m:fPr>
                        <m:num>
                          <m:r>
                            <m:rPr>
                              <m:nor/>
                            </m:rPr>
                            <a:rPr lang="en-VN" sz="1400" b="0" i="0" smtClean="0">
                              <a:latin typeface="Cambria Math" panose="02040503050406030204" pitchFamily="18" charset="0"/>
                            </a:rPr>
                            <m:t>khả</m:t>
                          </m:r>
                          <m:r>
                            <a:rPr lang="en-VN" sz="1400" b="0" i="1" smtClean="0">
                              <a:latin typeface="Cambria Math" panose="02040503050406030204" pitchFamily="18" charset="0"/>
                            </a:rPr>
                            <m:t> </m:t>
                          </m:r>
                          <m:r>
                            <m:rPr>
                              <m:nor/>
                            </m:rPr>
                            <a:rPr lang="en-VN" sz="1400" b="0" i="0" smtClean="0">
                              <a:latin typeface="Cambria Math" panose="02040503050406030204" pitchFamily="18" charset="0"/>
                            </a:rPr>
                            <m:t>năng</m:t>
                          </m:r>
                          <m:r>
                            <a:rPr lang="en-VN" sz="1400" b="0" i="1" smtClean="0">
                              <a:latin typeface="Cambria Math" panose="02040503050406030204" pitchFamily="18" charset="0"/>
                            </a:rPr>
                            <m:t> </m:t>
                          </m:r>
                          <m:r>
                            <m:rPr>
                              <m:nor/>
                            </m:rPr>
                            <a:rPr lang="en-VN" sz="1400" b="0" i="0" smtClean="0">
                              <a:latin typeface="Cambria Math" panose="02040503050406030204" pitchFamily="18" charset="0"/>
                            </a:rPr>
                            <m:t>Gaussian</m:t>
                          </m:r>
                          <m:r>
                            <a:rPr lang="en-VN" sz="1400" b="0" i="1" smtClean="0">
                              <a:latin typeface="Cambria Math" panose="02040503050406030204" pitchFamily="18" charset="0"/>
                            </a:rPr>
                            <m:t> </m:t>
                          </m:r>
                          <m:r>
                            <a:rPr lang="en-VN" sz="1400" b="0" i="1" smtClean="0">
                              <a:latin typeface="Cambria Math" panose="02040503050406030204" pitchFamily="18" charset="0"/>
                            </a:rPr>
                            <m:t>𝑘</m:t>
                          </m:r>
                          <m:r>
                            <a:rPr lang="en-VN" sz="1400" b="0" i="1" smtClean="0">
                              <a:latin typeface="Cambria Math" panose="02040503050406030204" pitchFamily="18" charset="0"/>
                            </a:rPr>
                            <m:t> </m:t>
                          </m:r>
                          <m:r>
                            <m:rPr>
                              <m:nor/>
                            </m:rPr>
                            <a:rPr lang="en-VN" sz="1400" b="0" i="0" smtClean="0">
                              <a:latin typeface="Cambria Math" panose="02040503050406030204" pitchFamily="18" charset="0"/>
                            </a:rPr>
                            <m:t>sinh</m:t>
                          </m:r>
                          <m:r>
                            <a:rPr lang="en-VN" sz="1400" b="0" i="1" smtClean="0">
                              <a:latin typeface="Cambria Math" panose="02040503050406030204" pitchFamily="18" charset="0"/>
                            </a:rPr>
                            <m:t> </m:t>
                          </m:r>
                          <m:r>
                            <m:rPr>
                              <m:nor/>
                            </m:rPr>
                            <a:rPr lang="en-VN" sz="1400" b="0" i="0" smtClean="0">
                              <a:latin typeface="Cambria Math" panose="02040503050406030204" pitchFamily="18" charset="0"/>
                            </a:rPr>
                            <m:t>ra</m:t>
                          </m:r>
                          <m:r>
                            <a:rPr lang="en-VN" sz="1400" b="0" i="1" smtClean="0">
                              <a:latin typeface="Cambria Math" panose="02040503050406030204" pitchFamily="18" charset="0"/>
                            </a:rPr>
                            <m:t> </m:t>
                          </m:r>
                          <m:sSub>
                            <m:sSubPr>
                              <m:ctrlPr>
                                <a:rPr lang="en-VN" sz="1400" b="0" i="1" smtClean="0">
                                  <a:solidFill>
                                    <a:schemeClr val="accent6">
                                      <a:lumMod val="75000"/>
                                    </a:schemeClr>
                                  </a:solidFill>
                                  <a:latin typeface="Cambria Math" panose="02040503050406030204" pitchFamily="18" charset="0"/>
                                </a:rPr>
                              </m:ctrlPr>
                            </m:sSubPr>
                            <m:e>
                              <m:r>
                                <a:rPr lang="en-VN" sz="1400" b="0" i="1" smtClean="0">
                                  <a:solidFill>
                                    <a:schemeClr val="accent6">
                                      <a:lumMod val="75000"/>
                                    </a:schemeClr>
                                  </a:solidFill>
                                  <a:latin typeface="Cambria Math" panose="02040503050406030204" pitchFamily="18" charset="0"/>
                                </a:rPr>
                                <m:t>𝑥</m:t>
                              </m:r>
                            </m:e>
                            <m:sub>
                              <m:r>
                                <a:rPr lang="en-VN" sz="1400" b="0" i="1" smtClean="0">
                                  <a:solidFill>
                                    <a:schemeClr val="accent6">
                                      <a:lumMod val="75000"/>
                                    </a:schemeClr>
                                  </a:solidFill>
                                  <a:latin typeface="Cambria Math" panose="02040503050406030204" pitchFamily="18" charset="0"/>
                                </a:rPr>
                                <m:t>𝑛</m:t>
                              </m:r>
                            </m:sub>
                          </m:sSub>
                        </m:num>
                        <m:den>
                          <m:r>
                            <m:rPr>
                              <m:nor/>
                            </m:rPr>
                            <a:rPr lang="en-VN" sz="1400" b="0" i="0" smtClean="0">
                              <a:latin typeface="Cambria Math" panose="02040503050406030204" pitchFamily="18" charset="0"/>
                            </a:rPr>
                            <m:t>khả</m:t>
                          </m:r>
                          <m:r>
                            <a:rPr lang="en-VN" sz="1400" b="0" i="1" smtClean="0">
                              <a:latin typeface="Cambria Math" panose="02040503050406030204" pitchFamily="18" charset="0"/>
                            </a:rPr>
                            <m:t> </m:t>
                          </m:r>
                          <m:r>
                            <m:rPr>
                              <m:nor/>
                            </m:rPr>
                            <a:rPr lang="en-VN" sz="1400" b="0" i="0" smtClean="0">
                              <a:latin typeface="Cambria Math" panose="02040503050406030204" pitchFamily="18" charset="0"/>
                            </a:rPr>
                            <m:t>năng</m:t>
                          </m:r>
                          <m:r>
                            <a:rPr lang="en-VN" sz="1400" b="0" i="1" smtClean="0">
                              <a:latin typeface="Cambria Math" panose="02040503050406030204" pitchFamily="18" charset="0"/>
                            </a:rPr>
                            <m:t> </m:t>
                          </m:r>
                          <m:r>
                            <m:rPr>
                              <m:nor/>
                            </m:rPr>
                            <a:rPr lang="en-VN" sz="1400" b="0" i="0" smtClean="0">
                              <a:latin typeface="Cambria Math" panose="02040503050406030204" pitchFamily="18" charset="0"/>
                            </a:rPr>
                            <m:t>tất</m:t>
                          </m:r>
                          <m:r>
                            <a:rPr lang="en-VN" sz="1400" b="0" i="1" smtClean="0">
                              <a:latin typeface="Cambria Math" panose="02040503050406030204" pitchFamily="18" charset="0"/>
                            </a:rPr>
                            <m:t> </m:t>
                          </m:r>
                          <m:r>
                            <m:rPr>
                              <m:nor/>
                            </m:rPr>
                            <a:rPr lang="en-VN" sz="1400" b="0" i="0" smtClean="0">
                              <a:latin typeface="Cambria Math" panose="02040503050406030204" pitchFamily="18" charset="0"/>
                            </a:rPr>
                            <m:t>cả</m:t>
                          </m:r>
                          <m:r>
                            <a:rPr lang="en-VN" sz="1400" b="0" i="1" smtClean="0">
                              <a:latin typeface="Cambria Math" panose="02040503050406030204" pitchFamily="18" charset="0"/>
                            </a:rPr>
                            <m:t> </m:t>
                          </m:r>
                          <m:r>
                            <m:rPr>
                              <m:nor/>
                            </m:rPr>
                            <a:rPr lang="en-VN" sz="1400" b="0" i="0" smtClean="0">
                              <a:latin typeface="Cambria Math" panose="02040503050406030204" pitchFamily="18" charset="0"/>
                            </a:rPr>
                            <m:t>Gaussian</m:t>
                          </m:r>
                          <m:r>
                            <a:rPr lang="en-VN" sz="1400" b="0" i="1" smtClean="0">
                              <a:latin typeface="Cambria Math" panose="02040503050406030204" pitchFamily="18" charset="0"/>
                            </a:rPr>
                            <m:t> </m:t>
                          </m:r>
                          <m:r>
                            <m:rPr>
                              <m:nor/>
                            </m:rPr>
                            <a:rPr lang="en-VN" sz="1400" b="0" i="0" smtClean="0">
                              <a:latin typeface="Cambria Math" panose="02040503050406030204" pitchFamily="18" charset="0"/>
                            </a:rPr>
                            <m:t>sinh</m:t>
                          </m:r>
                          <m:r>
                            <a:rPr lang="en-VN" sz="1400" b="0" i="1" smtClean="0">
                              <a:latin typeface="Cambria Math" panose="02040503050406030204" pitchFamily="18" charset="0"/>
                            </a:rPr>
                            <m:t> </m:t>
                          </m:r>
                          <m:r>
                            <m:rPr>
                              <m:nor/>
                            </m:rPr>
                            <a:rPr lang="en-VN" sz="1400" b="0" i="0" smtClean="0">
                              <a:latin typeface="Cambria Math" panose="02040503050406030204" pitchFamily="18" charset="0"/>
                            </a:rPr>
                            <m:t>ra</m:t>
                          </m:r>
                          <m:r>
                            <a:rPr lang="en-VN" sz="1400" b="0" i="1" smtClean="0">
                              <a:latin typeface="Cambria Math" panose="02040503050406030204" pitchFamily="18" charset="0"/>
                            </a:rPr>
                            <m:t> </m:t>
                          </m:r>
                          <m:sSub>
                            <m:sSubPr>
                              <m:ctrlPr>
                                <a:rPr lang="en-VN" sz="1400" b="0" i="1" smtClean="0">
                                  <a:solidFill>
                                    <a:schemeClr val="accent6">
                                      <a:lumMod val="75000"/>
                                    </a:schemeClr>
                                  </a:solidFill>
                                  <a:latin typeface="Cambria Math" panose="02040503050406030204" pitchFamily="18" charset="0"/>
                                </a:rPr>
                              </m:ctrlPr>
                            </m:sSubPr>
                            <m:e>
                              <m:r>
                                <a:rPr lang="en-VN" sz="1400" b="0" i="1" smtClean="0">
                                  <a:solidFill>
                                    <a:schemeClr val="accent6">
                                      <a:lumMod val="75000"/>
                                    </a:schemeClr>
                                  </a:solidFill>
                                  <a:latin typeface="Cambria Math" panose="02040503050406030204" pitchFamily="18" charset="0"/>
                                </a:rPr>
                                <m:t>𝑥</m:t>
                              </m:r>
                            </m:e>
                            <m:sub>
                              <m:r>
                                <a:rPr lang="en-VN" sz="1400" b="0" i="1" smtClean="0">
                                  <a:solidFill>
                                    <a:schemeClr val="accent6">
                                      <a:lumMod val="75000"/>
                                    </a:schemeClr>
                                  </a:solidFill>
                                  <a:latin typeface="Cambria Math" panose="02040503050406030204" pitchFamily="18" charset="0"/>
                                </a:rPr>
                                <m:t>𝑛</m:t>
                              </m:r>
                            </m:sub>
                          </m:sSub>
                        </m:den>
                      </m:f>
                    </m:oMath>
                  </m:oMathPara>
                </a14:m>
                <a:endParaRPr lang="en-VN" dirty="0"/>
              </a:p>
            </p:txBody>
          </p:sp>
        </mc:Choice>
        <mc:Fallback xmlns="">
          <p:sp>
            <p:nvSpPr>
              <p:cNvPr id="7" name="TextBox 6">
                <a:extLst>
                  <a:ext uri="{FF2B5EF4-FFF2-40B4-BE49-F238E27FC236}">
                    <a16:creationId xmlns:a16="http://schemas.microsoft.com/office/drawing/2014/main" id="{AB63CC9E-74B6-2591-98A0-B02EA9FF7EF1}"/>
                  </a:ext>
                </a:extLst>
              </p:cNvPr>
              <p:cNvSpPr txBox="1">
                <a:spLocks noRot="1" noChangeAspect="1" noMove="1" noResize="1" noEditPoints="1" noAdjustHandles="1" noChangeArrowheads="1" noChangeShapeType="1" noTextEdit="1"/>
              </p:cNvSpPr>
              <p:nvPr/>
            </p:nvSpPr>
            <p:spPr>
              <a:xfrm>
                <a:off x="8440626" y="2807423"/>
                <a:ext cx="3387308" cy="542841"/>
              </a:xfrm>
              <a:prstGeom prst="rect">
                <a:avLst/>
              </a:prstGeom>
              <a:blipFill>
                <a:blip r:embed="rId7"/>
                <a:stretch>
                  <a:fillRect b="-9302"/>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B6B1539-2E97-8C58-83D6-9B57EEF9AB82}"/>
                  </a:ext>
                </a:extLst>
              </p:cNvPr>
              <p:cNvSpPr txBox="1"/>
              <p:nvPr/>
            </p:nvSpPr>
            <p:spPr>
              <a:xfrm>
                <a:off x="7501866" y="2136728"/>
                <a:ext cx="3902735" cy="454483"/>
              </a:xfrm>
              <a:prstGeom prst="rect">
                <a:avLst/>
              </a:prstGeom>
              <a:noFill/>
            </p:spPr>
            <p:txBody>
              <a:bodyPr wrap="square" lIns="0" tIns="0" rIns="0" bIns="0" rtlCol="0">
                <a:spAutoFit/>
              </a:bodyPr>
              <a:lstStyle/>
              <a:p>
                <a:pPr/>
                <a14:m>
                  <m:oMathPara xmlns:m="http://schemas.openxmlformats.org/officeDocument/2006/math">
                    <m:oMath>
                      <m:r>
                        <a:rPr lang="en-US" sz="1400" b="1" i="1" smtClean="0">
                          <a:solidFill>
                            <a:srgbClr val="FF0000"/>
                          </a:solidFill>
                          <a:latin typeface="Cambria Math" panose="02040503050406030204" pitchFamily="18" charset="0"/>
                        </a:rPr>
                        <m:t>𝑷</m:t>
                      </m:r>
                      <m:d>
                        <m:dPr>
                          <m:ctrlPr>
                            <a:rPr lang="en-US" sz="1400" b="1" i="1">
                              <a:solidFill>
                                <a:srgbClr val="FF0000"/>
                              </a:solidFill>
                              <a:latin typeface="Cambria Math" panose="02040503050406030204" pitchFamily="18" charset="0"/>
                            </a:rPr>
                          </m:ctrlPr>
                        </m:dPr>
                        <m:e>
                          <m:sSub>
                            <m:sSubPr>
                              <m:ctrlPr>
                                <a:rPr lang="en-US" sz="1400" b="1" i="1">
                                  <a:solidFill>
                                    <a:srgbClr val="FF0000"/>
                                  </a:solidFill>
                                  <a:latin typeface="Cambria Math" panose="02040503050406030204" pitchFamily="18" charset="0"/>
                                </a:rPr>
                              </m:ctrlPr>
                            </m:sSubPr>
                            <m:e>
                              <m:r>
                                <a:rPr lang="en-US" sz="1400" b="1" i="1">
                                  <a:solidFill>
                                    <a:srgbClr val="FF0000"/>
                                  </a:solidFill>
                                  <a:latin typeface="Cambria Math" panose="02040503050406030204" pitchFamily="18" charset="0"/>
                                </a:rPr>
                                <m:t>𝒛</m:t>
                              </m:r>
                            </m:e>
                            <m:sub>
                              <m:r>
                                <a:rPr lang="en-US" sz="1400" b="1" i="1">
                                  <a:solidFill>
                                    <a:srgbClr val="FF0000"/>
                                  </a:solidFill>
                                  <a:latin typeface="Cambria Math" panose="02040503050406030204" pitchFamily="18" charset="0"/>
                                </a:rPr>
                                <m:t>𝒏</m:t>
                              </m:r>
                            </m:sub>
                          </m:sSub>
                          <m:r>
                            <a:rPr lang="en-US" sz="1400" b="1" i="1">
                              <a:solidFill>
                                <a:srgbClr val="FF0000"/>
                              </a:solidFill>
                              <a:latin typeface="Cambria Math" panose="02040503050406030204" pitchFamily="18" charset="0"/>
                            </a:rPr>
                            <m:t>=</m:t>
                          </m:r>
                          <m:r>
                            <a:rPr lang="en-US" sz="1400" b="1" i="1">
                              <a:solidFill>
                                <a:srgbClr val="FF0000"/>
                              </a:solidFill>
                              <a:latin typeface="Cambria Math" panose="02040503050406030204" pitchFamily="18" charset="0"/>
                            </a:rPr>
                            <m:t>𝒌</m:t>
                          </m:r>
                          <m:r>
                            <a:rPr lang="en-US" sz="1400" b="1" i="1">
                              <a:solidFill>
                                <a:srgbClr val="FF0000"/>
                              </a:solidFill>
                              <a:latin typeface="Cambria Math" panose="02040503050406030204" pitchFamily="18" charset="0"/>
                            </a:rPr>
                            <m:t>∣</m:t>
                          </m:r>
                          <m:sSub>
                            <m:sSubPr>
                              <m:ctrlPr>
                                <a:rPr lang="en-US" sz="1400" b="1" i="1">
                                  <a:solidFill>
                                    <a:srgbClr val="FF0000"/>
                                  </a:solidFill>
                                  <a:latin typeface="Cambria Math" panose="02040503050406030204" pitchFamily="18" charset="0"/>
                                </a:rPr>
                              </m:ctrlPr>
                            </m:sSubPr>
                            <m:e>
                              <m:r>
                                <a:rPr lang="en-US" sz="1400" b="1" i="1">
                                  <a:solidFill>
                                    <a:srgbClr val="FF0000"/>
                                  </a:solidFill>
                                  <a:latin typeface="Cambria Math" panose="02040503050406030204" pitchFamily="18" charset="0"/>
                                </a:rPr>
                                <m:t>𝒙</m:t>
                              </m:r>
                            </m:e>
                            <m:sub>
                              <m:r>
                                <a:rPr lang="en-US" sz="1400" b="1" i="1">
                                  <a:solidFill>
                                    <a:srgbClr val="FF0000"/>
                                  </a:solidFill>
                                  <a:latin typeface="Cambria Math" panose="02040503050406030204" pitchFamily="18" charset="0"/>
                                </a:rPr>
                                <m:t>𝒏</m:t>
                              </m:r>
                            </m:sub>
                          </m:sSub>
                          <m:r>
                            <a:rPr lang="en-US" sz="1400" b="1" i="1">
                              <a:solidFill>
                                <a:srgbClr val="FF0000"/>
                              </a:solidFill>
                              <a:latin typeface="Cambria Math" panose="02040503050406030204" pitchFamily="18" charset="0"/>
                            </a:rPr>
                            <m:t>,</m:t>
                          </m:r>
                          <m:r>
                            <a:rPr lang="en-US" sz="1400" b="1" i="1">
                              <a:solidFill>
                                <a:srgbClr val="FF0000"/>
                              </a:solidFill>
                              <a:latin typeface="Cambria Math" panose="02040503050406030204" pitchFamily="18" charset="0"/>
                            </a:rPr>
                            <m:t>𝜽</m:t>
                          </m:r>
                        </m:e>
                      </m:d>
                      <m:r>
                        <a:rPr lang="en-US" sz="1400" i="1">
                          <a:latin typeface="Cambria Math" panose="02040503050406030204" pitchFamily="18" charset="0"/>
                        </a:rPr>
                        <m:t>=</m:t>
                      </m:r>
                      <m:f>
                        <m:fPr>
                          <m:ctrlPr>
                            <a:rPr lang="en-US" sz="1400" i="1" smtClean="0">
                              <a:solidFill>
                                <a:srgbClr val="7030A0"/>
                              </a:solidFill>
                              <a:latin typeface="Cambria Math" panose="02040503050406030204" pitchFamily="18" charset="0"/>
                            </a:rPr>
                          </m:ctrlPr>
                        </m:fPr>
                        <m:num>
                          <m:r>
                            <a:rPr lang="en-US" sz="1400" i="1" smtClean="0">
                              <a:solidFill>
                                <a:srgbClr val="7030A0"/>
                              </a:solidFill>
                              <a:latin typeface="Cambria Math" panose="02040503050406030204" pitchFamily="18" charset="0"/>
                            </a:rPr>
                            <m:t>𝑃</m:t>
                          </m:r>
                          <m:d>
                            <m:dPr>
                              <m:ctrlPr>
                                <a:rPr lang="en-US" sz="1400" i="1">
                                  <a:solidFill>
                                    <a:srgbClr val="7030A0"/>
                                  </a:solidFill>
                                  <a:latin typeface="Cambria Math" panose="02040503050406030204" pitchFamily="18" charset="0"/>
                                </a:rPr>
                              </m:ctrlPr>
                            </m:dPr>
                            <m:e>
                              <m:sSub>
                                <m:sSubPr>
                                  <m:ctrlPr>
                                    <a:rPr lang="en-US" sz="1400" i="1">
                                      <a:solidFill>
                                        <a:srgbClr val="7030A0"/>
                                      </a:solidFill>
                                      <a:latin typeface="Cambria Math" panose="02040503050406030204" pitchFamily="18" charset="0"/>
                                    </a:rPr>
                                  </m:ctrlPr>
                                </m:sSubPr>
                                <m:e>
                                  <m:r>
                                    <a:rPr lang="en-US" sz="1400" i="1">
                                      <a:solidFill>
                                        <a:srgbClr val="7030A0"/>
                                      </a:solidFill>
                                      <a:latin typeface="Cambria Math" panose="02040503050406030204" pitchFamily="18" charset="0"/>
                                    </a:rPr>
                                    <m:t>𝑧</m:t>
                                  </m:r>
                                </m:e>
                                <m:sub>
                                  <m:r>
                                    <a:rPr lang="en-US" sz="1400" i="1">
                                      <a:solidFill>
                                        <a:srgbClr val="7030A0"/>
                                      </a:solidFill>
                                      <a:latin typeface="Cambria Math" panose="02040503050406030204" pitchFamily="18" charset="0"/>
                                    </a:rPr>
                                    <m:t>𝑛</m:t>
                                  </m:r>
                                </m:sub>
                              </m:sSub>
                              <m:r>
                                <a:rPr lang="en-US" sz="1400" i="1">
                                  <a:solidFill>
                                    <a:srgbClr val="7030A0"/>
                                  </a:solidFill>
                                  <a:latin typeface="Cambria Math" panose="02040503050406030204" pitchFamily="18" charset="0"/>
                                </a:rPr>
                                <m:t>=</m:t>
                              </m:r>
                              <m:r>
                                <a:rPr lang="en-US" sz="1400" i="1">
                                  <a:solidFill>
                                    <a:srgbClr val="7030A0"/>
                                  </a:solidFill>
                                  <a:latin typeface="Cambria Math" panose="02040503050406030204" pitchFamily="18" charset="0"/>
                                </a:rPr>
                                <m:t>𝑘</m:t>
                              </m:r>
                              <m:r>
                                <a:rPr lang="en-US" sz="1400" i="1">
                                  <a:solidFill>
                                    <a:srgbClr val="7030A0"/>
                                  </a:solidFill>
                                  <a:latin typeface="Cambria Math" panose="02040503050406030204" pitchFamily="18" charset="0"/>
                                </a:rPr>
                                <m:t>∣</m:t>
                              </m:r>
                              <m:r>
                                <a:rPr lang="en-US" sz="1400" i="1">
                                  <a:solidFill>
                                    <a:srgbClr val="7030A0"/>
                                  </a:solidFill>
                                  <a:latin typeface="Cambria Math" panose="02040503050406030204" pitchFamily="18" charset="0"/>
                                </a:rPr>
                                <m:t>𝜃</m:t>
                              </m:r>
                            </m:e>
                          </m:d>
                          <m:r>
                            <a:rPr lang="en-US" sz="1400" i="1" smtClean="0">
                              <a:solidFill>
                                <a:schemeClr val="accent6">
                                  <a:lumMod val="75000"/>
                                </a:schemeClr>
                              </a:solidFill>
                              <a:latin typeface="Cambria Math" panose="02040503050406030204" pitchFamily="18" charset="0"/>
                            </a:rPr>
                            <m:t>𝑃</m:t>
                          </m:r>
                          <m:d>
                            <m:dPr>
                              <m:ctrlPr>
                                <a:rPr lang="en-US" sz="1400" i="1">
                                  <a:solidFill>
                                    <a:schemeClr val="accent6">
                                      <a:lumMod val="75000"/>
                                    </a:schemeClr>
                                  </a:solidFill>
                                  <a:latin typeface="Cambria Math" panose="02040503050406030204" pitchFamily="18" charset="0"/>
                                </a:rPr>
                              </m:ctrlPr>
                            </m:dPr>
                            <m:e>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𝑥</m:t>
                                  </m:r>
                                </m:e>
                                <m:sub>
                                  <m:r>
                                    <a:rPr lang="en-US" sz="1400" i="1">
                                      <a:solidFill>
                                        <a:schemeClr val="accent6">
                                          <a:lumMod val="75000"/>
                                        </a:schemeClr>
                                      </a:solidFill>
                                      <a:latin typeface="Cambria Math" panose="02040503050406030204" pitchFamily="18" charset="0"/>
                                    </a:rPr>
                                    <m:t>𝑛</m:t>
                                  </m:r>
                                </m:sub>
                              </m:sSub>
                              <m:r>
                                <a:rPr lang="en-US" sz="1400" i="1">
                                  <a:solidFill>
                                    <a:schemeClr val="accent6">
                                      <a:lumMod val="75000"/>
                                    </a:schemeClr>
                                  </a:solidFill>
                                  <a:latin typeface="Cambria Math" panose="02040503050406030204" pitchFamily="18" charset="0"/>
                                </a:rPr>
                                <m:t>∣</m:t>
                              </m:r>
                              <m:sSub>
                                <m:sSubPr>
                                  <m:ctrlPr>
                                    <a:rPr lang="en-US" sz="1400" i="1">
                                      <a:solidFill>
                                        <a:schemeClr val="accent6">
                                          <a:lumMod val="75000"/>
                                        </a:schemeClr>
                                      </a:solidFill>
                                      <a:latin typeface="Cambria Math" panose="02040503050406030204" pitchFamily="18" charset="0"/>
                                    </a:rPr>
                                  </m:ctrlPr>
                                </m:sSubPr>
                                <m:e>
                                  <m:r>
                                    <a:rPr lang="en-US" sz="1400" i="1">
                                      <a:solidFill>
                                        <a:schemeClr val="accent6">
                                          <a:lumMod val="75000"/>
                                        </a:schemeClr>
                                      </a:solidFill>
                                      <a:latin typeface="Cambria Math" panose="02040503050406030204" pitchFamily="18" charset="0"/>
                                    </a:rPr>
                                    <m:t>𝑧</m:t>
                                  </m:r>
                                </m:e>
                                <m:sub>
                                  <m:r>
                                    <a:rPr lang="en-US" sz="1400" i="1">
                                      <a:solidFill>
                                        <a:schemeClr val="accent6">
                                          <a:lumMod val="75000"/>
                                        </a:schemeClr>
                                      </a:solidFill>
                                      <a:latin typeface="Cambria Math" panose="02040503050406030204" pitchFamily="18" charset="0"/>
                                    </a:rPr>
                                    <m:t>𝑛</m:t>
                                  </m:r>
                                </m:sub>
                              </m:sSub>
                              <m:r>
                                <a:rPr lang="en-US" sz="1400" i="1">
                                  <a:solidFill>
                                    <a:schemeClr val="accent6">
                                      <a:lumMod val="75000"/>
                                    </a:schemeClr>
                                  </a:solidFill>
                                  <a:latin typeface="Cambria Math" panose="02040503050406030204" pitchFamily="18" charset="0"/>
                                </a:rPr>
                                <m:t>=</m:t>
                              </m:r>
                              <m:r>
                                <a:rPr lang="en-US" sz="1400" i="1">
                                  <a:solidFill>
                                    <a:schemeClr val="accent6">
                                      <a:lumMod val="75000"/>
                                    </a:schemeClr>
                                  </a:solidFill>
                                  <a:latin typeface="Cambria Math" panose="02040503050406030204" pitchFamily="18" charset="0"/>
                                </a:rPr>
                                <m:t>𝑘</m:t>
                              </m:r>
                              <m:r>
                                <a:rPr lang="en-US" sz="1400" i="1">
                                  <a:solidFill>
                                    <a:schemeClr val="accent6">
                                      <a:lumMod val="75000"/>
                                    </a:schemeClr>
                                  </a:solidFill>
                                  <a:latin typeface="Cambria Math" panose="02040503050406030204" pitchFamily="18" charset="0"/>
                                </a:rPr>
                                <m:t>,</m:t>
                              </m:r>
                              <m:r>
                                <a:rPr lang="en-US" sz="1400" i="1">
                                  <a:solidFill>
                                    <a:schemeClr val="accent6">
                                      <a:lumMod val="75000"/>
                                    </a:schemeClr>
                                  </a:solidFill>
                                  <a:latin typeface="Cambria Math" panose="02040503050406030204" pitchFamily="18" charset="0"/>
                                </a:rPr>
                                <m:t>𝜃</m:t>
                              </m:r>
                            </m:e>
                          </m:d>
                        </m:num>
                        <m:den>
                          <m:r>
                            <a:rPr lang="en-US" sz="1400" i="1" smtClean="0">
                              <a:solidFill>
                                <a:schemeClr val="accent5">
                                  <a:lumMod val="75000"/>
                                </a:schemeClr>
                              </a:solidFill>
                              <a:latin typeface="Cambria Math" panose="02040503050406030204" pitchFamily="18" charset="0"/>
                            </a:rPr>
                            <m:t>𝑃</m:t>
                          </m:r>
                          <m:d>
                            <m:dPr>
                              <m:ctrlPr>
                                <a:rPr lang="en-US" sz="1400" i="1">
                                  <a:solidFill>
                                    <a:schemeClr val="accent5">
                                      <a:lumMod val="75000"/>
                                    </a:schemeClr>
                                  </a:solidFill>
                                  <a:latin typeface="Cambria Math" panose="02040503050406030204" pitchFamily="18" charset="0"/>
                                </a:rPr>
                              </m:ctrlPr>
                            </m:dPr>
                            <m:e>
                              <m:sSub>
                                <m:sSubPr>
                                  <m:ctrlPr>
                                    <a:rPr lang="en-US" sz="1400" i="1">
                                      <a:solidFill>
                                        <a:schemeClr val="accent5">
                                          <a:lumMod val="75000"/>
                                        </a:schemeClr>
                                      </a:solidFill>
                                      <a:latin typeface="Cambria Math" panose="02040503050406030204" pitchFamily="18" charset="0"/>
                                    </a:rPr>
                                  </m:ctrlPr>
                                </m:sSubPr>
                                <m:e>
                                  <m:r>
                                    <a:rPr lang="en-US" sz="1400" i="1">
                                      <a:solidFill>
                                        <a:schemeClr val="accent5">
                                          <a:lumMod val="75000"/>
                                        </a:schemeClr>
                                      </a:solidFill>
                                      <a:latin typeface="Cambria Math" panose="02040503050406030204" pitchFamily="18" charset="0"/>
                                    </a:rPr>
                                    <m:t>𝑥</m:t>
                                  </m:r>
                                </m:e>
                                <m:sub>
                                  <m:r>
                                    <a:rPr lang="en-US" sz="1400" i="1">
                                      <a:solidFill>
                                        <a:schemeClr val="accent5">
                                          <a:lumMod val="75000"/>
                                        </a:schemeClr>
                                      </a:solidFill>
                                      <a:latin typeface="Cambria Math" panose="02040503050406030204" pitchFamily="18" charset="0"/>
                                    </a:rPr>
                                    <m:t>𝑛</m:t>
                                  </m:r>
                                </m:sub>
                              </m:sSub>
                              <m:r>
                                <a:rPr lang="en-US" sz="1400" i="1">
                                  <a:solidFill>
                                    <a:schemeClr val="accent5">
                                      <a:lumMod val="75000"/>
                                    </a:schemeClr>
                                  </a:solidFill>
                                  <a:latin typeface="Cambria Math" panose="02040503050406030204" pitchFamily="18" charset="0"/>
                                </a:rPr>
                                <m:t>∣</m:t>
                              </m:r>
                              <m:r>
                                <a:rPr lang="en-US" sz="1400" i="1">
                                  <a:solidFill>
                                    <a:schemeClr val="accent5">
                                      <a:lumMod val="75000"/>
                                    </a:schemeClr>
                                  </a:solidFill>
                                  <a:latin typeface="Cambria Math" panose="02040503050406030204" pitchFamily="18" charset="0"/>
                                </a:rPr>
                                <m:t>𝜃</m:t>
                              </m:r>
                            </m:e>
                          </m:d>
                        </m:den>
                      </m:f>
                    </m:oMath>
                  </m:oMathPara>
                </a14:m>
                <a:endParaRPr lang="en-VN" sz="1400" dirty="0"/>
              </a:p>
            </p:txBody>
          </p:sp>
        </mc:Choice>
        <mc:Fallback xmlns="">
          <p:sp>
            <p:nvSpPr>
              <p:cNvPr id="8" name="TextBox 7">
                <a:extLst>
                  <a:ext uri="{FF2B5EF4-FFF2-40B4-BE49-F238E27FC236}">
                    <a16:creationId xmlns:a16="http://schemas.microsoft.com/office/drawing/2014/main" id="{9B6B1539-2E97-8C58-83D6-9B57EEF9AB82}"/>
                  </a:ext>
                </a:extLst>
              </p:cNvPr>
              <p:cNvSpPr txBox="1">
                <a:spLocks noRot="1" noChangeAspect="1" noMove="1" noResize="1" noEditPoints="1" noAdjustHandles="1" noChangeArrowheads="1" noChangeShapeType="1" noTextEdit="1"/>
              </p:cNvSpPr>
              <p:nvPr/>
            </p:nvSpPr>
            <p:spPr>
              <a:xfrm>
                <a:off x="7501866" y="2136728"/>
                <a:ext cx="3902735" cy="454483"/>
              </a:xfrm>
              <a:prstGeom prst="rect">
                <a:avLst/>
              </a:prstGeom>
              <a:blipFill>
                <a:blip r:embed="rId8"/>
                <a:stretch>
                  <a:fillRect l="-971" t="-2703" b="-8108"/>
                </a:stretch>
              </a:blipFill>
            </p:spPr>
            <p:txBody>
              <a:bodyPr/>
              <a:lstStyle/>
              <a:p>
                <a:r>
                  <a:rPr lang="en-VN">
                    <a:noFill/>
                  </a:rPr>
                  <a:t> </a:t>
                </a:r>
              </a:p>
            </p:txBody>
          </p:sp>
        </mc:Fallback>
      </mc:AlternateContent>
    </p:spTree>
    <p:extLst>
      <p:ext uri="{BB962C8B-B14F-4D97-AF65-F5344CB8AC3E}">
        <p14:creationId xmlns:p14="http://schemas.microsoft.com/office/powerpoint/2010/main" val="4669553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6B0D3-D1A7-B4F4-B62E-6FE519AFE2D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506714CC-77D1-195B-6B2B-1159AC3395D5}"/>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p:sp>
        <p:nvSpPr>
          <p:cNvPr id="4" name="TextBox 3">
            <a:extLst>
              <a:ext uri="{FF2B5EF4-FFF2-40B4-BE49-F238E27FC236}">
                <a16:creationId xmlns:a16="http://schemas.microsoft.com/office/drawing/2014/main" id="{E79CD9FB-E33F-BF28-12A5-35E58B536097}"/>
              </a:ext>
            </a:extLst>
          </p:cNvPr>
          <p:cNvSpPr txBox="1"/>
          <p:nvPr/>
        </p:nvSpPr>
        <p:spPr>
          <a:xfrm>
            <a:off x="364066" y="1267772"/>
            <a:ext cx="10961159" cy="600164"/>
          </a:xfrm>
          <a:prstGeom prst="rect">
            <a:avLst/>
          </a:prstGeom>
          <a:noFill/>
        </p:spPr>
        <p:txBody>
          <a:bodyPr wrap="square">
            <a:spAutoFit/>
          </a:bodyPr>
          <a:lstStyle/>
          <a:p>
            <a:pPr>
              <a:spcAft>
                <a:spcPts val="600"/>
              </a:spcAft>
            </a:pPr>
            <a:r>
              <a:rPr lang="vi-VN" sz="1400" b="1" dirty="0">
                <a:solidFill>
                  <a:srgbClr val="1B8A7A"/>
                </a:solidFill>
                <a:latin typeface="Arial"/>
              </a:rPr>
              <a:t>2.2. Expectation-Maximization (EM) - </a:t>
            </a:r>
            <a:r>
              <a:rPr lang="vi-VN" sz="1000" b="1" dirty="0">
                <a:solidFill>
                  <a:schemeClr val="accent5">
                    <a:lumMod val="60000"/>
                    <a:lumOff val="40000"/>
                  </a:schemeClr>
                </a:solidFill>
                <a:latin typeface="Arial"/>
              </a:rPr>
              <a:t>Phương pháp cực đại hoá kỳ vọng</a:t>
            </a:r>
          </a:p>
          <a:p>
            <a:pPr>
              <a:spcAft>
                <a:spcPts val="600"/>
              </a:spcAft>
            </a:pPr>
            <a:r>
              <a:rPr lang="vi-VN" sz="1400" dirty="0">
                <a:solidFill>
                  <a:srgbClr val="444B52"/>
                </a:solidFill>
                <a:latin typeface="Arial"/>
              </a:rPr>
              <a:t>Các bước của phương pháp </a:t>
            </a:r>
            <a:r>
              <a:rPr lang="vi-VN" sz="1400" b="1" dirty="0">
                <a:solidFill>
                  <a:srgbClr val="444B52"/>
                </a:solidFill>
                <a:latin typeface="Arial"/>
              </a:rPr>
              <a:t>Expectation-Maximization (EM)</a:t>
            </a:r>
            <a:r>
              <a:rPr lang="vi-VN" sz="1400" dirty="0">
                <a:solidFill>
                  <a:srgbClr val="444B52"/>
                </a:solidFill>
                <a:latin typeface="Arial"/>
              </a:rPr>
              <a:t>:</a:t>
            </a:r>
            <a:endParaRPr lang="vi-VN" sz="1400" b="1" dirty="0">
              <a:solidFill>
                <a:srgbClr val="444B52"/>
              </a:solidFill>
              <a:latin typeface="Aria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DA9B7C8-78B1-1622-508B-B40B3DB3063F}"/>
                  </a:ext>
                </a:extLst>
              </p:cNvPr>
              <p:cNvSpPr txBox="1"/>
              <p:nvPr/>
            </p:nvSpPr>
            <p:spPr>
              <a:xfrm>
                <a:off x="364065" y="2350561"/>
                <a:ext cx="6206067" cy="2939266"/>
              </a:xfrm>
              <a:prstGeom prst="rect">
                <a:avLst/>
              </a:prstGeom>
              <a:noFill/>
            </p:spPr>
            <p:txBody>
              <a:bodyPr wrap="square" rtlCol="0">
                <a:spAutoFit/>
              </a:bodyPr>
              <a:lstStyle/>
              <a:p>
                <a:pPr>
                  <a:spcAft>
                    <a:spcPts val="600"/>
                  </a:spcAft>
                </a:pPr>
                <a:r>
                  <a:rPr lang="vi-VN" sz="1400" dirty="0">
                    <a:solidFill>
                      <a:srgbClr val="444B52"/>
                    </a:solidFill>
                    <a:latin typeface="Arial"/>
                  </a:rPr>
                  <a:t>1. Khởi tạo </a:t>
                </a:r>
                <a14:m>
                  <m:oMath xmlns:m="http://schemas.openxmlformats.org/officeDocument/2006/math">
                    <m:sSub>
                      <m:sSubPr>
                        <m:ctrlPr>
                          <a:rPr lang="en-US" sz="1400" b="1" i="1">
                            <a:solidFill>
                              <a:schemeClr val="tx2">
                                <a:lumMod val="60000"/>
                                <a:lumOff val="40000"/>
                              </a:schemeClr>
                            </a:solidFill>
                            <a:latin typeface="Cambria Math" panose="02040503050406030204" pitchFamily="18" charset="0"/>
                          </a:rPr>
                        </m:ctrlPr>
                      </m:sSubPr>
                      <m:e>
                        <m:r>
                          <a:rPr lang="en-US" sz="1400" b="1" i="1">
                            <a:solidFill>
                              <a:schemeClr val="tx2">
                                <a:lumMod val="60000"/>
                                <a:lumOff val="40000"/>
                              </a:schemeClr>
                            </a:solidFill>
                            <a:latin typeface="Cambria Math" panose="02040503050406030204" pitchFamily="18" charset="0"/>
                          </a:rPr>
                          <m:t>𝝁</m:t>
                        </m:r>
                      </m:e>
                      <m:sub>
                        <m:r>
                          <a:rPr lang="en-US" sz="1400" b="1" i="1">
                            <a:solidFill>
                              <a:schemeClr val="tx2">
                                <a:lumMod val="60000"/>
                                <a:lumOff val="40000"/>
                              </a:schemeClr>
                            </a:solidFill>
                            <a:latin typeface="Cambria Math" panose="02040503050406030204" pitchFamily="18" charset="0"/>
                          </a:rPr>
                          <m:t>𝒌</m:t>
                        </m:r>
                      </m:sub>
                    </m:sSub>
                  </m:oMath>
                </a14:m>
                <a:r>
                  <a:rPr lang="vi-VN" sz="1400" dirty="0">
                    <a:latin typeface="Arial"/>
                  </a:rPr>
                  <a:t>, </a:t>
                </a:r>
                <a14:m>
                  <m:oMath xmlns:m="http://schemas.openxmlformats.org/officeDocument/2006/math">
                    <m:sSub>
                      <m:sSubPr>
                        <m:ctrlPr>
                          <a:rPr lang="en-US" sz="1400" b="1" i="1" dirty="0">
                            <a:solidFill>
                              <a:srgbClr val="00B050"/>
                            </a:solidFill>
                            <a:latin typeface="Cambria Math" panose="02040503050406030204" pitchFamily="18" charset="0"/>
                          </a:rPr>
                        </m:ctrlPr>
                      </m:sSubPr>
                      <m:e>
                        <m:r>
                          <a:rPr lang="en-US" sz="1400" b="1" i="1" dirty="0">
                            <a:solidFill>
                              <a:srgbClr val="00B050"/>
                            </a:solidFill>
                            <a:latin typeface="Cambria Math" panose="02040503050406030204" pitchFamily="18" charset="0"/>
                          </a:rPr>
                          <m:t>𝝈</m:t>
                        </m:r>
                      </m:e>
                      <m:sub>
                        <m:r>
                          <a:rPr lang="en-US" sz="1400" b="1" i="1">
                            <a:solidFill>
                              <a:srgbClr val="00B050"/>
                            </a:solidFill>
                            <a:latin typeface="Cambria Math" panose="02040503050406030204" pitchFamily="18" charset="0"/>
                          </a:rPr>
                          <m:t>𝒌</m:t>
                        </m:r>
                      </m:sub>
                    </m:sSub>
                  </m:oMath>
                </a14:m>
                <a:r>
                  <a:rPr lang="vi-VN" sz="1400" b="1" dirty="0">
                    <a:solidFill>
                      <a:schemeClr val="tx2">
                        <a:lumMod val="60000"/>
                        <a:lumOff val="40000"/>
                      </a:schemeClr>
                    </a:solidFill>
                    <a:latin typeface="Arial"/>
                  </a:rPr>
                  <a:t>, </a:t>
                </a:r>
                <a14:m>
                  <m:oMath xmlns:m="http://schemas.openxmlformats.org/officeDocument/2006/math">
                    <m:sSub>
                      <m:sSubPr>
                        <m:ctrlPr>
                          <a:rPr lang="en-US" sz="1400" b="1" i="1">
                            <a:solidFill>
                              <a:schemeClr val="accent6">
                                <a:lumMod val="75000"/>
                              </a:schemeClr>
                            </a:solidFill>
                            <a:latin typeface="Cambria Math" panose="02040503050406030204" pitchFamily="18" charset="0"/>
                          </a:rPr>
                        </m:ctrlPr>
                      </m:sSubPr>
                      <m:e>
                        <m:r>
                          <a:rPr lang="en-US" sz="1400" b="1" i="1">
                            <a:solidFill>
                              <a:schemeClr val="accent6">
                                <a:lumMod val="75000"/>
                              </a:schemeClr>
                            </a:solidFill>
                            <a:latin typeface="Cambria Math" panose="02040503050406030204" pitchFamily="18" charset="0"/>
                          </a:rPr>
                          <m:t>𝝅</m:t>
                        </m:r>
                      </m:e>
                      <m:sub>
                        <m:r>
                          <a:rPr lang="en-US" sz="1400" b="1" i="1">
                            <a:solidFill>
                              <a:schemeClr val="accent6">
                                <a:lumMod val="75000"/>
                              </a:schemeClr>
                            </a:solidFill>
                            <a:latin typeface="Cambria Math" panose="02040503050406030204" pitchFamily="18" charset="0"/>
                          </a:rPr>
                          <m:t>𝒌</m:t>
                        </m:r>
                      </m:sub>
                    </m:sSub>
                  </m:oMath>
                </a14:m>
                <a:endParaRPr lang="vi-VN" sz="1400" dirty="0">
                  <a:solidFill>
                    <a:srgbClr val="444B52"/>
                  </a:solidFill>
                  <a:latin typeface="Arial"/>
                </a:endParaRPr>
              </a:p>
              <a:p>
                <a:pPr>
                  <a:spcAft>
                    <a:spcPts val="600"/>
                  </a:spcAft>
                </a:pPr>
                <a:r>
                  <a:rPr lang="vi-VN" sz="1400" dirty="0">
                    <a:solidFill>
                      <a:srgbClr val="444B52"/>
                    </a:solidFill>
                    <a:latin typeface="Arial"/>
                  </a:rPr>
                  <a:t>2. Bước </a:t>
                </a:r>
                <a:r>
                  <a:rPr lang="vi-VN" sz="1400" b="1" dirty="0">
                    <a:solidFill>
                      <a:srgbClr val="444B52"/>
                    </a:solidFill>
                    <a:latin typeface="Arial"/>
                  </a:rPr>
                  <a:t>Expectation (E)</a:t>
                </a:r>
                <a:r>
                  <a:rPr lang="vi-VN" sz="1400" dirty="0">
                    <a:solidFill>
                      <a:srgbClr val="444B52"/>
                    </a:solidFill>
                    <a:latin typeface="Arial"/>
                  </a:rPr>
                  <a:t>: Dùng </a:t>
                </a:r>
                <a14:m>
                  <m:oMath xmlns:m="http://schemas.openxmlformats.org/officeDocument/2006/math">
                    <m:sSub>
                      <m:sSubPr>
                        <m:ctrlPr>
                          <a:rPr lang="en-US" sz="1400" b="1" i="1">
                            <a:solidFill>
                              <a:schemeClr val="tx2">
                                <a:lumMod val="60000"/>
                                <a:lumOff val="40000"/>
                              </a:schemeClr>
                            </a:solidFill>
                            <a:latin typeface="Cambria Math" panose="02040503050406030204" pitchFamily="18" charset="0"/>
                          </a:rPr>
                        </m:ctrlPr>
                      </m:sSubPr>
                      <m:e>
                        <m:r>
                          <a:rPr lang="en-US" sz="1400" b="1" i="1">
                            <a:solidFill>
                              <a:schemeClr val="tx2">
                                <a:lumMod val="60000"/>
                                <a:lumOff val="40000"/>
                              </a:schemeClr>
                            </a:solidFill>
                            <a:latin typeface="Cambria Math" panose="02040503050406030204" pitchFamily="18" charset="0"/>
                          </a:rPr>
                          <m:t>𝝁</m:t>
                        </m:r>
                      </m:e>
                      <m:sub>
                        <m:r>
                          <a:rPr lang="en-US" sz="1400" b="1" i="1">
                            <a:solidFill>
                              <a:schemeClr val="tx2">
                                <a:lumMod val="60000"/>
                                <a:lumOff val="40000"/>
                              </a:schemeClr>
                            </a:solidFill>
                            <a:latin typeface="Cambria Math" panose="02040503050406030204" pitchFamily="18" charset="0"/>
                          </a:rPr>
                          <m:t>𝒌</m:t>
                        </m:r>
                      </m:sub>
                    </m:sSub>
                  </m:oMath>
                </a14:m>
                <a:r>
                  <a:rPr lang="vi-VN" sz="1400" dirty="0">
                    <a:latin typeface="Arial"/>
                  </a:rPr>
                  <a:t>, </a:t>
                </a:r>
                <a14:m>
                  <m:oMath xmlns:m="http://schemas.openxmlformats.org/officeDocument/2006/math">
                    <m:sSub>
                      <m:sSubPr>
                        <m:ctrlPr>
                          <a:rPr lang="en-US" sz="1400" b="1" i="1" dirty="0">
                            <a:solidFill>
                              <a:srgbClr val="00B050"/>
                            </a:solidFill>
                            <a:latin typeface="Cambria Math" panose="02040503050406030204" pitchFamily="18" charset="0"/>
                          </a:rPr>
                        </m:ctrlPr>
                      </m:sSubPr>
                      <m:e>
                        <m:r>
                          <a:rPr lang="en-US" sz="1400" b="1" i="1" dirty="0">
                            <a:solidFill>
                              <a:srgbClr val="00B050"/>
                            </a:solidFill>
                            <a:latin typeface="Cambria Math" panose="02040503050406030204" pitchFamily="18" charset="0"/>
                          </a:rPr>
                          <m:t>𝝈</m:t>
                        </m:r>
                      </m:e>
                      <m:sub>
                        <m:r>
                          <a:rPr lang="en-US" sz="1400" b="1" i="1">
                            <a:solidFill>
                              <a:srgbClr val="00B050"/>
                            </a:solidFill>
                            <a:latin typeface="Cambria Math" panose="02040503050406030204" pitchFamily="18" charset="0"/>
                          </a:rPr>
                          <m:t>𝒌</m:t>
                        </m:r>
                      </m:sub>
                    </m:sSub>
                  </m:oMath>
                </a14:m>
                <a:r>
                  <a:rPr lang="vi-VN" sz="1400" b="1" dirty="0">
                    <a:solidFill>
                      <a:schemeClr val="tx2">
                        <a:lumMod val="60000"/>
                        <a:lumOff val="40000"/>
                      </a:schemeClr>
                    </a:solidFill>
                    <a:latin typeface="Arial"/>
                  </a:rPr>
                  <a:t>, </a:t>
                </a:r>
                <a14:m>
                  <m:oMath xmlns:m="http://schemas.openxmlformats.org/officeDocument/2006/math">
                    <m:sSub>
                      <m:sSubPr>
                        <m:ctrlPr>
                          <a:rPr lang="en-US" sz="1400" b="1" i="1">
                            <a:solidFill>
                              <a:schemeClr val="accent6">
                                <a:lumMod val="75000"/>
                              </a:schemeClr>
                            </a:solidFill>
                            <a:latin typeface="Cambria Math" panose="02040503050406030204" pitchFamily="18" charset="0"/>
                          </a:rPr>
                        </m:ctrlPr>
                      </m:sSubPr>
                      <m:e>
                        <m:r>
                          <a:rPr lang="en-US" sz="1400" b="1" i="1">
                            <a:solidFill>
                              <a:schemeClr val="accent6">
                                <a:lumMod val="75000"/>
                              </a:schemeClr>
                            </a:solidFill>
                            <a:latin typeface="Cambria Math" panose="02040503050406030204" pitchFamily="18" charset="0"/>
                          </a:rPr>
                          <m:t>𝝅</m:t>
                        </m:r>
                      </m:e>
                      <m:sub>
                        <m:r>
                          <a:rPr lang="en-US" sz="1400" b="1" i="1">
                            <a:solidFill>
                              <a:schemeClr val="accent6">
                                <a:lumMod val="75000"/>
                              </a:schemeClr>
                            </a:solidFill>
                            <a:latin typeface="Cambria Math" panose="02040503050406030204" pitchFamily="18" charset="0"/>
                          </a:rPr>
                          <m:t>𝒌</m:t>
                        </m:r>
                      </m:sub>
                    </m:sSub>
                  </m:oMath>
                </a14:m>
                <a:r>
                  <a:rPr lang="vi-VN" sz="1400" dirty="0">
                    <a:solidFill>
                      <a:srgbClr val="444B52"/>
                    </a:solidFill>
                    <a:latin typeface="Arial"/>
                  </a:rPr>
                  <a:t> để tính xác suất hậu nghiệm </a:t>
                </a:r>
                <a14:m>
                  <m:oMath xmlns:m="http://schemas.openxmlformats.org/officeDocument/2006/math">
                    <m:sSub>
                      <m:sSubPr>
                        <m:ctrlPr>
                          <a:rPr lang="en-US" sz="1400" b="1" i="1">
                            <a:solidFill>
                              <a:srgbClr val="FF0000"/>
                            </a:solidFill>
                            <a:latin typeface="Cambria Math" panose="02040503050406030204" pitchFamily="18" charset="0"/>
                          </a:rPr>
                        </m:ctrlPr>
                      </m:sSubPr>
                      <m:e>
                        <m:r>
                          <a:rPr lang="en-US" sz="1400" b="1" i="1">
                            <a:solidFill>
                              <a:srgbClr val="FF0000"/>
                            </a:solidFill>
                            <a:latin typeface="Cambria Math" panose="02040503050406030204" pitchFamily="18" charset="0"/>
                          </a:rPr>
                          <m:t>𝜸</m:t>
                        </m:r>
                      </m:e>
                      <m:sub>
                        <m:r>
                          <a:rPr lang="en-US" sz="1400" b="1" i="1">
                            <a:solidFill>
                              <a:srgbClr val="FF0000"/>
                            </a:solidFill>
                            <a:latin typeface="Cambria Math" panose="02040503050406030204" pitchFamily="18" charset="0"/>
                          </a:rPr>
                          <m:t>𝒏𝒌</m:t>
                        </m:r>
                      </m:sub>
                    </m:sSub>
                  </m:oMath>
                </a14:m>
                <a:endParaRPr lang="vi-VN" sz="1400" dirty="0">
                  <a:solidFill>
                    <a:srgbClr val="444B52"/>
                  </a:solidFill>
                  <a:latin typeface="Arial"/>
                </a:endParaRPr>
              </a:p>
              <a:p>
                <a:pPr>
                  <a:spcAft>
                    <a:spcPts val="600"/>
                  </a:spcAft>
                </a:pPr>
                <a:r>
                  <a:rPr lang="vi-VN" sz="1400" dirty="0">
                    <a:solidFill>
                      <a:srgbClr val="444B52"/>
                    </a:solidFill>
                    <a:latin typeface="Arial"/>
                  </a:rPr>
                  <a:t>3. Bước </a:t>
                </a:r>
                <a:r>
                  <a:rPr lang="vi-VN" sz="1400" b="1" dirty="0">
                    <a:solidFill>
                      <a:srgbClr val="444B52"/>
                    </a:solidFill>
                    <a:latin typeface="Arial"/>
                  </a:rPr>
                  <a:t>Maximization (M)</a:t>
                </a:r>
                <a:r>
                  <a:rPr lang="vi-VN" sz="1400" dirty="0">
                    <a:solidFill>
                      <a:srgbClr val="444B52"/>
                    </a:solidFill>
                    <a:latin typeface="Arial"/>
                  </a:rPr>
                  <a:t>: Dùng </a:t>
                </a:r>
                <a14:m>
                  <m:oMath xmlns:m="http://schemas.openxmlformats.org/officeDocument/2006/math">
                    <m:sSub>
                      <m:sSubPr>
                        <m:ctrlPr>
                          <a:rPr lang="en-US" sz="1400" b="1" i="1">
                            <a:solidFill>
                              <a:srgbClr val="FF0000"/>
                            </a:solidFill>
                            <a:latin typeface="Cambria Math" panose="02040503050406030204" pitchFamily="18" charset="0"/>
                          </a:rPr>
                        </m:ctrlPr>
                      </m:sSubPr>
                      <m:e>
                        <m:r>
                          <a:rPr lang="en-US" sz="1400" b="1" i="1">
                            <a:solidFill>
                              <a:srgbClr val="FF0000"/>
                            </a:solidFill>
                            <a:latin typeface="Cambria Math" panose="02040503050406030204" pitchFamily="18" charset="0"/>
                          </a:rPr>
                          <m:t>𝜸</m:t>
                        </m:r>
                      </m:e>
                      <m:sub>
                        <m:r>
                          <a:rPr lang="en-US" sz="1400" b="1" i="1">
                            <a:solidFill>
                              <a:srgbClr val="FF0000"/>
                            </a:solidFill>
                            <a:latin typeface="Cambria Math" panose="02040503050406030204" pitchFamily="18" charset="0"/>
                          </a:rPr>
                          <m:t>𝒏𝒌</m:t>
                        </m:r>
                      </m:sub>
                    </m:sSub>
                  </m:oMath>
                </a14:m>
                <a:r>
                  <a:rPr lang="vi-VN" sz="1400" dirty="0">
                    <a:solidFill>
                      <a:srgbClr val="444B52"/>
                    </a:solidFill>
                    <a:latin typeface="Arial"/>
                  </a:rPr>
                  <a:t> để cập nhật </a:t>
                </a:r>
                <a14:m>
                  <m:oMath xmlns:m="http://schemas.openxmlformats.org/officeDocument/2006/math">
                    <m:sSub>
                      <m:sSubPr>
                        <m:ctrlPr>
                          <a:rPr lang="en-US" sz="1400" b="1" i="1">
                            <a:solidFill>
                              <a:schemeClr val="tx2">
                                <a:lumMod val="60000"/>
                                <a:lumOff val="40000"/>
                              </a:schemeClr>
                            </a:solidFill>
                            <a:latin typeface="Cambria Math" panose="02040503050406030204" pitchFamily="18" charset="0"/>
                          </a:rPr>
                        </m:ctrlPr>
                      </m:sSubPr>
                      <m:e>
                        <m:r>
                          <a:rPr lang="en-US" sz="1400" b="1" i="1">
                            <a:solidFill>
                              <a:schemeClr val="tx2">
                                <a:lumMod val="60000"/>
                                <a:lumOff val="40000"/>
                              </a:schemeClr>
                            </a:solidFill>
                            <a:latin typeface="Cambria Math" panose="02040503050406030204" pitchFamily="18" charset="0"/>
                          </a:rPr>
                          <m:t>𝝁</m:t>
                        </m:r>
                      </m:e>
                      <m:sub>
                        <m:r>
                          <a:rPr lang="en-US" sz="1400" b="1" i="1">
                            <a:solidFill>
                              <a:schemeClr val="tx2">
                                <a:lumMod val="60000"/>
                                <a:lumOff val="40000"/>
                              </a:schemeClr>
                            </a:solidFill>
                            <a:latin typeface="Cambria Math" panose="02040503050406030204" pitchFamily="18" charset="0"/>
                          </a:rPr>
                          <m:t>𝒌</m:t>
                        </m:r>
                      </m:sub>
                    </m:sSub>
                  </m:oMath>
                </a14:m>
                <a:r>
                  <a:rPr lang="vi-VN" sz="1400" dirty="0">
                    <a:latin typeface="Arial"/>
                  </a:rPr>
                  <a:t>, </a:t>
                </a:r>
                <a14:m>
                  <m:oMath xmlns:m="http://schemas.openxmlformats.org/officeDocument/2006/math">
                    <m:sSub>
                      <m:sSubPr>
                        <m:ctrlPr>
                          <a:rPr lang="en-US" sz="1400" b="1" i="1" dirty="0">
                            <a:solidFill>
                              <a:srgbClr val="00B050"/>
                            </a:solidFill>
                            <a:latin typeface="Cambria Math" panose="02040503050406030204" pitchFamily="18" charset="0"/>
                          </a:rPr>
                        </m:ctrlPr>
                      </m:sSubPr>
                      <m:e>
                        <m:r>
                          <a:rPr lang="en-US" sz="1400" b="1" i="1" dirty="0">
                            <a:solidFill>
                              <a:srgbClr val="00B050"/>
                            </a:solidFill>
                            <a:latin typeface="Cambria Math" panose="02040503050406030204" pitchFamily="18" charset="0"/>
                          </a:rPr>
                          <m:t>𝝈</m:t>
                        </m:r>
                      </m:e>
                      <m:sub>
                        <m:r>
                          <a:rPr lang="en-US" sz="1400" b="1" i="1">
                            <a:solidFill>
                              <a:srgbClr val="00B050"/>
                            </a:solidFill>
                            <a:latin typeface="Cambria Math" panose="02040503050406030204" pitchFamily="18" charset="0"/>
                          </a:rPr>
                          <m:t>𝒌</m:t>
                        </m:r>
                      </m:sub>
                    </m:sSub>
                  </m:oMath>
                </a14:m>
                <a:r>
                  <a:rPr lang="vi-VN" sz="1400" b="1" dirty="0">
                    <a:solidFill>
                      <a:schemeClr val="tx2">
                        <a:lumMod val="60000"/>
                        <a:lumOff val="40000"/>
                      </a:schemeClr>
                    </a:solidFill>
                    <a:latin typeface="Arial"/>
                  </a:rPr>
                  <a:t>, </a:t>
                </a:r>
                <a14:m>
                  <m:oMath xmlns:m="http://schemas.openxmlformats.org/officeDocument/2006/math">
                    <m:sSub>
                      <m:sSubPr>
                        <m:ctrlPr>
                          <a:rPr lang="en-US" sz="1400" b="1" i="1">
                            <a:solidFill>
                              <a:schemeClr val="accent6">
                                <a:lumMod val="75000"/>
                              </a:schemeClr>
                            </a:solidFill>
                            <a:latin typeface="Cambria Math" panose="02040503050406030204" pitchFamily="18" charset="0"/>
                          </a:rPr>
                        </m:ctrlPr>
                      </m:sSubPr>
                      <m:e>
                        <m:r>
                          <a:rPr lang="en-US" sz="1400" b="1" i="1">
                            <a:solidFill>
                              <a:schemeClr val="accent6">
                                <a:lumMod val="75000"/>
                              </a:schemeClr>
                            </a:solidFill>
                            <a:latin typeface="Cambria Math" panose="02040503050406030204" pitchFamily="18" charset="0"/>
                          </a:rPr>
                          <m:t>𝝅</m:t>
                        </m:r>
                      </m:e>
                      <m:sub>
                        <m:r>
                          <a:rPr lang="en-US" sz="1400" b="1" i="1">
                            <a:solidFill>
                              <a:schemeClr val="accent6">
                                <a:lumMod val="75000"/>
                              </a:schemeClr>
                            </a:solidFill>
                            <a:latin typeface="Cambria Math" panose="02040503050406030204" pitchFamily="18" charset="0"/>
                          </a:rPr>
                          <m:t>𝒌</m:t>
                        </m:r>
                      </m:sub>
                    </m:sSub>
                  </m:oMath>
                </a14:m>
                <a:endParaRPr lang="vi-VN" sz="1400" b="1" dirty="0">
                  <a:solidFill>
                    <a:schemeClr val="accent6">
                      <a:lumMod val="75000"/>
                    </a:schemeClr>
                  </a:solidFill>
                  <a:latin typeface="Arial"/>
                </a:endParaRPr>
              </a:p>
              <a:p>
                <a:pPr>
                  <a:spcAft>
                    <a:spcPts val="600"/>
                  </a:spcAft>
                </a:pPr>
                <a:r>
                  <a:rPr lang="vi-VN" sz="1400" dirty="0">
                    <a:solidFill>
                      <a:srgbClr val="444B52"/>
                    </a:solidFill>
                    <a:latin typeface="Arial"/>
                  </a:rPr>
                  <a:t>4. Kiểm tra hội tụ:</a:t>
                </a:r>
              </a:p>
              <a:p>
                <a:pPr>
                  <a:spcAft>
                    <a:spcPts val="600"/>
                  </a:spcAft>
                </a:pPr>
                <a:r>
                  <a:rPr lang="vi-VN" sz="1400" dirty="0">
                    <a:solidFill>
                      <a:srgbClr val="444B52"/>
                    </a:solidFill>
                    <a:latin typeface="Arial"/>
                  </a:rPr>
                  <a:t>	Tính lại giá trị hàm mục tiêu Log-likelihood</a:t>
                </a:r>
              </a:p>
              <a:p>
                <a:pPr>
                  <a:spcAft>
                    <a:spcPts val="600"/>
                  </a:spcAft>
                </a:pPr>
                <a:r>
                  <a:rPr lang="vi-VN" sz="1400" dirty="0">
                    <a:solidFill>
                      <a:srgbClr val="444B52"/>
                    </a:solidFill>
                    <a:latin typeface="Arial"/>
                  </a:rPr>
                  <a:t>	So với giá trị hàm mục tiêu ở lần lặp trước đó</a:t>
                </a:r>
              </a:p>
              <a:p>
                <a:pPr>
                  <a:spcAft>
                    <a:spcPts val="600"/>
                  </a:spcAft>
                </a:pPr>
                <a:r>
                  <a:rPr lang="vi-VN" sz="1400" dirty="0">
                    <a:solidFill>
                      <a:srgbClr val="444B52"/>
                    </a:solidFill>
                    <a:latin typeface="Arial"/>
                  </a:rPr>
                  <a:t>		Nếu mức tăng nhỏ hơn ngưỡng cực nhỏ </a:t>
                </a:r>
                <a14:m>
                  <m:oMath xmlns:m="http://schemas.openxmlformats.org/officeDocument/2006/math">
                    <m:r>
                      <a:rPr lang="vi-VN" sz="1400" i="1" dirty="0">
                        <a:solidFill>
                          <a:srgbClr val="444B52"/>
                        </a:solidFill>
                        <a:latin typeface="Cambria Math" panose="02040503050406030204" pitchFamily="18" charset="0"/>
                      </a:rPr>
                      <m:t>𝜖</m:t>
                    </m:r>
                  </m:oMath>
                </a14:m>
                <a:endParaRPr lang="vi-VN" sz="1400" dirty="0">
                  <a:solidFill>
                    <a:srgbClr val="444B52"/>
                  </a:solidFill>
                  <a:latin typeface="Arial"/>
                </a:endParaRPr>
              </a:p>
              <a:p>
                <a:pPr>
                  <a:spcAft>
                    <a:spcPts val="600"/>
                  </a:spcAft>
                </a:pPr>
                <a:r>
                  <a:rPr lang="vi-VN" sz="1400" dirty="0">
                    <a:solidFill>
                      <a:srgbClr val="444B52"/>
                    </a:solidFill>
                    <a:latin typeface="Arial"/>
                  </a:rPr>
                  <a:t>			Thì dừng</a:t>
                </a:r>
              </a:p>
              <a:p>
                <a:pPr>
                  <a:spcAft>
                    <a:spcPts val="600"/>
                  </a:spcAft>
                </a:pPr>
                <a:r>
                  <a:rPr lang="vi-VN" sz="1400" dirty="0">
                    <a:solidFill>
                      <a:srgbClr val="444B52"/>
                    </a:solidFill>
                    <a:latin typeface="Arial"/>
                  </a:rPr>
                  <a:t>		Nếu không</a:t>
                </a:r>
              </a:p>
              <a:p>
                <a:pPr>
                  <a:spcAft>
                    <a:spcPts val="600"/>
                  </a:spcAft>
                </a:pPr>
                <a:r>
                  <a:rPr lang="vi-VN" sz="1400" dirty="0">
                    <a:solidFill>
                      <a:srgbClr val="444B52"/>
                    </a:solidFill>
                    <a:latin typeface="Arial"/>
                  </a:rPr>
                  <a:t>			Quay lại bước 2</a:t>
                </a:r>
              </a:p>
            </p:txBody>
          </p:sp>
        </mc:Choice>
        <mc:Fallback xmlns="">
          <p:sp>
            <p:nvSpPr>
              <p:cNvPr id="10" name="TextBox 9">
                <a:extLst>
                  <a:ext uri="{FF2B5EF4-FFF2-40B4-BE49-F238E27FC236}">
                    <a16:creationId xmlns:a16="http://schemas.microsoft.com/office/drawing/2014/main" id="{EDA9B7C8-78B1-1622-508B-B40B3DB3063F}"/>
                  </a:ext>
                </a:extLst>
              </p:cNvPr>
              <p:cNvSpPr txBox="1">
                <a:spLocks noRot="1" noChangeAspect="1" noMove="1" noResize="1" noEditPoints="1" noAdjustHandles="1" noChangeArrowheads="1" noChangeShapeType="1" noTextEdit="1"/>
              </p:cNvSpPr>
              <p:nvPr/>
            </p:nvSpPr>
            <p:spPr>
              <a:xfrm>
                <a:off x="364065" y="2350561"/>
                <a:ext cx="6206067" cy="2939266"/>
              </a:xfrm>
              <a:prstGeom prst="rect">
                <a:avLst/>
              </a:prstGeom>
              <a:blipFill>
                <a:blip r:embed="rId3"/>
                <a:stretch>
                  <a:fillRect l="-204" t="-431" b="-1293"/>
                </a:stretch>
              </a:blipFill>
            </p:spPr>
            <p:txBody>
              <a:bodyPr/>
              <a:lstStyle/>
              <a:p>
                <a:r>
                  <a:rPr lang="en-VN">
                    <a:noFill/>
                  </a:rPr>
                  <a:t> </a:t>
                </a:r>
              </a:p>
            </p:txBody>
          </p:sp>
        </mc:Fallback>
      </mc:AlternateContent>
      <p:pic>
        <p:nvPicPr>
          <p:cNvPr id="5" name="Picture 4">
            <a:extLst>
              <a:ext uri="{FF2B5EF4-FFF2-40B4-BE49-F238E27FC236}">
                <a16:creationId xmlns:a16="http://schemas.microsoft.com/office/drawing/2014/main" id="{38FEBEA9-FA0F-779E-054E-EB67FEF01BFC}"/>
              </a:ext>
            </a:extLst>
          </p:cNvPr>
          <p:cNvPicPr>
            <a:picLocks noChangeAspect="1"/>
          </p:cNvPicPr>
          <p:nvPr/>
        </p:nvPicPr>
        <p:blipFill>
          <a:blip r:embed="rId4"/>
          <a:stretch>
            <a:fillRect/>
          </a:stretch>
        </p:blipFill>
        <p:spPr>
          <a:xfrm>
            <a:off x="6900333" y="2084148"/>
            <a:ext cx="5003799" cy="3925604"/>
          </a:xfrm>
          <a:prstGeom prst="rect">
            <a:avLst/>
          </a:prstGeom>
        </p:spPr>
      </p:pic>
    </p:spTree>
    <p:extLst>
      <p:ext uri="{BB962C8B-B14F-4D97-AF65-F5344CB8AC3E}">
        <p14:creationId xmlns:p14="http://schemas.microsoft.com/office/powerpoint/2010/main" val="37197069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3A42B-F662-7BC4-FB6C-48415606117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386443B-EBB2-97EF-BB48-06D719E17D10}"/>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p:sp>
        <p:nvSpPr>
          <p:cNvPr id="4" name="TextBox 3">
            <a:extLst>
              <a:ext uri="{FF2B5EF4-FFF2-40B4-BE49-F238E27FC236}">
                <a16:creationId xmlns:a16="http://schemas.microsoft.com/office/drawing/2014/main" id="{4DCA1D1B-8675-75FF-BE9B-E121299408F8}"/>
              </a:ext>
            </a:extLst>
          </p:cNvPr>
          <p:cNvSpPr txBox="1"/>
          <p:nvPr/>
        </p:nvSpPr>
        <p:spPr>
          <a:xfrm>
            <a:off x="364066" y="1267772"/>
            <a:ext cx="10961159" cy="600164"/>
          </a:xfrm>
          <a:prstGeom prst="rect">
            <a:avLst/>
          </a:prstGeom>
          <a:noFill/>
        </p:spPr>
        <p:txBody>
          <a:bodyPr wrap="square">
            <a:spAutoFit/>
          </a:bodyPr>
          <a:lstStyle/>
          <a:p>
            <a:pPr>
              <a:spcAft>
                <a:spcPts val="600"/>
              </a:spcAft>
            </a:pPr>
            <a:r>
              <a:rPr lang="vi-VN" sz="1400" b="1" dirty="0">
                <a:solidFill>
                  <a:srgbClr val="1B8A7A"/>
                </a:solidFill>
                <a:latin typeface="Arial"/>
              </a:rPr>
              <a:t>2.2. Expectation-Maximization (EM) - </a:t>
            </a:r>
            <a:r>
              <a:rPr lang="vi-VN" sz="1000" b="1" dirty="0">
                <a:solidFill>
                  <a:schemeClr val="accent5">
                    <a:lumMod val="60000"/>
                    <a:lumOff val="40000"/>
                  </a:schemeClr>
                </a:solidFill>
                <a:latin typeface="Arial"/>
              </a:rPr>
              <a:t>Phương pháp cực đại hoá kỳ vọng</a:t>
            </a:r>
          </a:p>
          <a:p>
            <a:pPr>
              <a:spcAft>
                <a:spcPts val="600"/>
              </a:spcAft>
            </a:pPr>
            <a:r>
              <a:rPr lang="vi-VN" sz="1400" dirty="0">
                <a:solidFill>
                  <a:srgbClr val="444B52"/>
                </a:solidFill>
                <a:latin typeface="Arial"/>
              </a:rPr>
              <a:t>Các bước của phương pháp </a:t>
            </a:r>
            <a:r>
              <a:rPr lang="vi-VN" sz="1400" b="1" dirty="0">
                <a:solidFill>
                  <a:srgbClr val="444B52"/>
                </a:solidFill>
                <a:latin typeface="Arial"/>
              </a:rPr>
              <a:t>Expectation-Maximization (EM)</a:t>
            </a:r>
            <a:r>
              <a:rPr lang="vi-VN" sz="1400" dirty="0">
                <a:solidFill>
                  <a:srgbClr val="444B52"/>
                </a:solidFill>
                <a:latin typeface="Arial"/>
              </a:rPr>
              <a:t>:</a:t>
            </a:r>
            <a:endParaRPr lang="vi-VN" sz="1400" b="1" dirty="0">
              <a:solidFill>
                <a:srgbClr val="444B52"/>
              </a:solidFill>
              <a:latin typeface="Aria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BAE073C5-720D-EB12-73D7-B40BEDD08474}"/>
                  </a:ext>
                </a:extLst>
              </p:cNvPr>
              <p:cNvSpPr txBox="1"/>
              <p:nvPr/>
            </p:nvSpPr>
            <p:spPr>
              <a:xfrm>
                <a:off x="364065" y="2350561"/>
                <a:ext cx="6206067" cy="2939266"/>
              </a:xfrm>
              <a:prstGeom prst="rect">
                <a:avLst/>
              </a:prstGeom>
              <a:noFill/>
            </p:spPr>
            <p:txBody>
              <a:bodyPr wrap="square" rtlCol="0">
                <a:spAutoFit/>
              </a:bodyPr>
              <a:lstStyle/>
              <a:p>
                <a:pPr>
                  <a:spcAft>
                    <a:spcPts val="600"/>
                  </a:spcAft>
                </a:pPr>
                <a:r>
                  <a:rPr lang="vi-VN" sz="1400" dirty="0">
                    <a:solidFill>
                      <a:srgbClr val="444B52"/>
                    </a:solidFill>
                    <a:latin typeface="Arial"/>
                  </a:rPr>
                  <a:t>1. Khởi tạo </a:t>
                </a:r>
                <a14:m>
                  <m:oMath xmlns:m="http://schemas.openxmlformats.org/officeDocument/2006/math">
                    <m:sSub>
                      <m:sSubPr>
                        <m:ctrlPr>
                          <a:rPr lang="en-US" sz="1400" b="1" i="1">
                            <a:solidFill>
                              <a:schemeClr val="tx2">
                                <a:lumMod val="60000"/>
                                <a:lumOff val="40000"/>
                              </a:schemeClr>
                            </a:solidFill>
                            <a:latin typeface="Cambria Math" panose="02040503050406030204" pitchFamily="18" charset="0"/>
                          </a:rPr>
                        </m:ctrlPr>
                      </m:sSubPr>
                      <m:e>
                        <m:r>
                          <a:rPr lang="en-US" sz="1400" b="1" i="1">
                            <a:solidFill>
                              <a:schemeClr val="tx2">
                                <a:lumMod val="60000"/>
                                <a:lumOff val="40000"/>
                              </a:schemeClr>
                            </a:solidFill>
                            <a:latin typeface="Cambria Math" panose="02040503050406030204" pitchFamily="18" charset="0"/>
                          </a:rPr>
                          <m:t>𝝁</m:t>
                        </m:r>
                      </m:e>
                      <m:sub>
                        <m:r>
                          <a:rPr lang="en-US" sz="1400" b="1" i="1">
                            <a:solidFill>
                              <a:schemeClr val="tx2">
                                <a:lumMod val="60000"/>
                                <a:lumOff val="40000"/>
                              </a:schemeClr>
                            </a:solidFill>
                            <a:latin typeface="Cambria Math" panose="02040503050406030204" pitchFamily="18" charset="0"/>
                          </a:rPr>
                          <m:t>𝒌</m:t>
                        </m:r>
                      </m:sub>
                    </m:sSub>
                  </m:oMath>
                </a14:m>
                <a:r>
                  <a:rPr lang="vi-VN" sz="1400" dirty="0">
                    <a:latin typeface="Arial"/>
                  </a:rPr>
                  <a:t>, </a:t>
                </a:r>
                <a14:m>
                  <m:oMath xmlns:m="http://schemas.openxmlformats.org/officeDocument/2006/math">
                    <m:sSub>
                      <m:sSubPr>
                        <m:ctrlPr>
                          <a:rPr lang="en-US" sz="1400" b="1" i="1" dirty="0">
                            <a:solidFill>
                              <a:srgbClr val="00B050"/>
                            </a:solidFill>
                            <a:latin typeface="Cambria Math" panose="02040503050406030204" pitchFamily="18" charset="0"/>
                          </a:rPr>
                        </m:ctrlPr>
                      </m:sSubPr>
                      <m:e>
                        <m:r>
                          <a:rPr lang="en-US" sz="1400" b="1" i="1" dirty="0">
                            <a:solidFill>
                              <a:srgbClr val="00B050"/>
                            </a:solidFill>
                            <a:latin typeface="Cambria Math" panose="02040503050406030204" pitchFamily="18" charset="0"/>
                          </a:rPr>
                          <m:t>𝝈</m:t>
                        </m:r>
                      </m:e>
                      <m:sub>
                        <m:r>
                          <a:rPr lang="en-US" sz="1400" b="1" i="1">
                            <a:solidFill>
                              <a:srgbClr val="00B050"/>
                            </a:solidFill>
                            <a:latin typeface="Cambria Math" panose="02040503050406030204" pitchFamily="18" charset="0"/>
                          </a:rPr>
                          <m:t>𝒌</m:t>
                        </m:r>
                      </m:sub>
                    </m:sSub>
                  </m:oMath>
                </a14:m>
                <a:r>
                  <a:rPr lang="vi-VN" sz="1400" b="1" dirty="0">
                    <a:solidFill>
                      <a:schemeClr val="tx2">
                        <a:lumMod val="60000"/>
                        <a:lumOff val="40000"/>
                      </a:schemeClr>
                    </a:solidFill>
                    <a:latin typeface="Arial"/>
                  </a:rPr>
                  <a:t>, </a:t>
                </a:r>
                <a14:m>
                  <m:oMath xmlns:m="http://schemas.openxmlformats.org/officeDocument/2006/math">
                    <m:sSub>
                      <m:sSubPr>
                        <m:ctrlPr>
                          <a:rPr lang="en-US" sz="1400" b="1" i="1">
                            <a:solidFill>
                              <a:schemeClr val="accent6">
                                <a:lumMod val="75000"/>
                              </a:schemeClr>
                            </a:solidFill>
                            <a:latin typeface="Cambria Math" panose="02040503050406030204" pitchFamily="18" charset="0"/>
                          </a:rPr>
                        </m:ctrlPr>
                      </m:sSubPr>
                      <m:e>
                        <m:r>
                          <a:rPr lang="en-US" sz="1400" b="1" i="1">
                            <a:solidFill>
                              <a:schemeClr val="accent6">
                                <a:lumMod val="75000"/>
                              </a:schemeClr>
                            </a:solidFill>
                            <a:latin typeface="Cambria Math" panose="02040503050406030204" pitchFamily="18" charset="0"/>
                          </a:rPr>
                          <m:t>𝝅</m:t>
                        </m:r>
                      </m:e>
                      <m:sub>
                        <m:r>
                          <a:rPr lang="en-US" sz="1400" b="1" i="1">
                            <a:solidFill>
                              <a:schemeClr val="accent6">
                                <a:lumMod val="75000"/>
                              </a:schemeClr>
                            </a:solidFill>
                            <a:latin typeface="Cambria Math" panose="02040503050406030204" pitchFamily="18" charset="0"/>
                          </a:rPr>
                          <m:t>𝒌</m:t>
                        </m:r>
                      </m:sub>
                    </m:sSub>
                  </m:oMath>
                </a14:m>
                <a:endParaRPr lang="vi-VN" sz="1400" dirty="0">
                  <a:solidFill>
                    <a:srgbClr val="444B52"/>
                  </a:solidFill>
                  <a:latin typeface="Arial"/>
                </a:endParaRPr>
              </a:p>
              <a:p>
                <a:pPr>
                  <a:spcAft>
                    <a:spcPts val="600"/>
                  </a:spcAft>
                </a:pPr>
                <a:r>
                  <a:rPr lang="vi-VN" sz="1400" dirty="0">
                    <a:solidFill>
                      <a:srgbClr val="444B52"/>
                    </a:solidFill>
                    <a:latin typeface="Arial"/>
                  </a:rPr>
                  <a:t>2. Bước </a:t>
                </a:r>
                <a:r>
                  <a:rPr lang="vi-VN" sz="1400" b="1" dirty="0">
                    <a:solidFill>
                      <a:srgbClr val="444B52"/>
                    </a:solidFill>
                    <a:latin typeface="Arial"/>
                  </a:rPr>
                  <a:t>Expectation (E)</a:t>
                </a:r>
                <a:r>
                  <a:rPr lang="vi-VN" sz="1400" dirty="0">
                    <a:solidFill>
                      <a:srgbClr val="444B52"/>
                    </a:solidFill>
                    <a:latin typeface="Arial"/>
                  </a:rPr>
                  <a:t>: Dùng </a:t>
                </a:r>
                <a14:m>
                  <m:oMath xmlns:m="http://schemas.openxmlformats.org/officeDocument/2006/math">
                    <m:sSub>
                      <m:sSubPr>
                        <m:ctrlPr>
                          <a:rPr lang="en-US" sz="1400" b="1" i="1">
                            <a:solidFill>
                              <a:schemeClr val="tx2">
                                <a:lumMod val="60000"/>
                                <a:lumOff val="40000"/>
                              </a:schemeClr>
                            </a:solidFill>
                            <a:latin typeface="Cambria Math" panose="02040503050406030204" pitchFamily="18" charset="0"/>
                          </a:rPr>
                        </m:ctrlPr>
                      </m:sSubPr>
                      <m:e>
                        <m:r>
                          <a:rPr lang="en-US" sz="1400" b="1" i="1">
                            <a:solidFill>
                              <a:schemeClr val="tx2">
                                <a:lumMod val="60000"/>
                                <a:lumOff val="40000"/>
                              </a:schemeClr>
                            </a:solidFill>
                            <a:latin typeface="Cambria Math" panose="02040503050406030204" pitchFamily="18" charset="0"/>
                          </a:rPr>
                          <m:t>𝝁</m:t>
                        </m:r>
                      </m:e>
                      <m:sub>
                        <m:r>
                          <a:rPr lang="en-US" sz="1400" b="1" i="1">
                            <a:solidFill>
                              <a:schemeClr val="tx2">
                                <a:lumMod val="60000"/>
                                <a:lumOff val="40000"/>
                              </a:schemeClr>
                            </a:solidFill>
                            <a:latin typeface="Cambria Math" panose="02040503050406030204" pitchFamily="18" charset="0"/>
                          </a:rPr>
                          <m:t>𝒌</m:t>
                        </m:r>
                      </m:sub>
                    </m:sSub>
                  </m:oMath>
                </a14:m>
                <a:r>
                  <a:rPr lang="vi-VN" sz="1400" dirty="0">
                    <a:latin typeface="Arial"/>
                  </a:rPr>
                  <a:t>, </a:t>
                </a:r>
                <a14:m>
                  <m:oMath xmlns:m="http://schemas.openxmlformats.org/officeDocument/2006/math">
                    <m:sSub>
                      <m:sSubPr>
                        <m:ctrlPr>
                          <a:rPr lang="en-US" sz="1400" b="1" i="1" dirty="0">
                            <a:solidFill>
                              <a:srgbClr val="00B050"/>
                            </a:solidFill>
                            <a:latin typeface="Cambria Math" panose="02040503050406030204" pitchFamily="18" charset="0"/>
                          </a:rPr>
                        </m:ctrlPr>
                      </m:sSubPr>
                      <m:e>
                        <m:r>
                          <a:rPr lang="en-US" sz="1400" b="1" i="1" dirty="0">
                            <a:solidFill>
                              <a:srgbClr val="00B050"/>
                            </a:solidFill>
                            <a:latin typeface="Cambria Math" panose="02040503050406030204" pitchFamily="18" charset="0"/>
                          </a:rPr>
                          <m:t>𝝈</m:t>
                        </m:r>
                      </m:e>
                      <m:sub>
                        <m:r>
                          <a:rPr lang="en-US" sz="1400" b="1" i="1">
                            <a:solidFill>
                              <a:srgbClr val="00B050"/>
                            </a:solidFill>
                            <a:latin typeface="Cambria Math" panose="02040503050406030204" pitchFamily="18" charset="0"/>
                          </a:rPr>
                          <m:t>𝒌</m:t>
                        </m:r>
                      </m:sub>
                    </m:sSub>
                  </m:oMath>
                </a14:m>
                <a:r>
                  <a:rPr lang="vi-VN" sz="1400" b="1" dirty="0">
                    <a:solidFill>
                      <a:schemeClr val="tx2">
                        <a:lumMod val="60000"/>
                        <a:lumOff val="40000"/>
                      </a:schemeClr>
                    </a:solidFill>
                    <a:latin typeface="Arial"/>
                  </a:rPr>
                  <a:t>, </a:t>
                </a:r>
                <a14:m>
                  <m:oMath xmlns:m="http://schemas.openxmlformats.org/officeDocument/2006/math">
                    <m:sSub>
                      <m:sSubPr>
                        <m:ctrlPr>
                          <a:rPr lang="en-US" sz="1400" b="1" i="1">
                            <a:solidFill>
                              <a:schemeClr val="accent6">
                                <a:lumMod val="75000"/>
                              </a:schemeClr>
                            </a:solidFill>
                            <a:latin typeface="Cambria Math" panose="02040503050406030204" pitchFamily="18" charset="0"/>
                          </a:rPr>
                        </m:ctrlPr>
                      </m:sSubPr>
                      <m:e>
                        <m:r>
                          <a:rPr lang="en-US" sz="1400" b="1" i="1">
                            <a:solidFill>
                              <a:schemeClr val="accent6">
                                <a:lumMod val="75000"/>
                              </a:schemeClr>
                            </a:solidFill>
                            <a:latin typeface="Cambria Math" panose="02040503050406030204" pitchFamily="18" charset="0"/>
                          </a:rPr>
                          <m:t>𝝅</m:t>
                        </m:r>
                      </m:e>
                      <m:sub>
                        <m:r>
                          <a:rPr lang="en-US" sz="1400" b="1" i="1">
                            <a:solidFill>
                              <a:schemeClr val="accent6">
                                <a:lumMod val="75000"/>
                              </a:schemeClr>
                            </a:solidFill>
                            <a:latin typeface="Cambria Math" panose="02040503050406030204" pitchFamily="18" charset="0"/>
                          </a:rPr>
                          <m:t>𝒌</m:t>
                        </m:r>
                      </m:sub>
                    </m:sSub>
                  </m:oMath>
                </a14:m>
                <a:r>
                  <a:rPr lang="vi-VN" sz="1400" dirty="0">
                    <a:solidFill>
                      <a:srgbClr val="444B52"/>
                    </a:solidFill>
                    <a:latin typeface="Arial"/>
                  </a:rPr>
                  <a:t> để tính xác suất hậu nghiệm </a:t>
                </a:r>
                <a14:m>
                  <m:oMath xmlns:m="http://schemas.openxmlformats.org/officeDocument/2006/math">
                    <m:sSub>
                      <m:sSubPr>
                        <m:ctrlPr>
                          <a:rPr lang="en-US" sz="1400" b="1" i="1">
                            <a:solidFill>
                              <a:srgbClr val="FF0000"/>
                            </a:solidFill>
                            <a:latin typeface="Cambria Math" panose="02040503050406030204" pitchFamily="18" charset="0"/>
                          </a:rPr>
                        </m:ctrlPr>
                      </m:sSubPr>
                      <m:e>
                        <m:r>
                          <a:rPr lang="en-US" sz="1400" b="1" i="1">
                            <a:solidFill>
                              <a:srgbClr val="FF0000"/>
                            </a:solidFill>
                            <a:latin typeface="Cambria Math" panose="02040503050406030204" pitchFamily="18" charset="0"/>
                          </a:rPr>
                          <m:t>𝜸</m:t>
                        </m:r>
                      </m:e>
                      <m:sub>
                        <m:r>
                          <a:rPr lang="en-US" sz="1400" b="1" i="1">
                            <a:solidFill>
                              <a:srgbClr val="FF0000"/>
                            </a:solidFill>
                            <a:latin typeface="Cambria Math" panose="02040503050406030204" pitchFamily="18" charset="0"/>
                          </a:rPr>
                          <m:t>𝒏𝒌</m:t>
                        </m:r>
                      </m:sub>
                    </m:sSub>
                  </m:oMath>
                </a14:m>
                <a:endParaRPr lang="vi-VN" sz="1400" dirty="0">
                  <a:solidFill>
                    <a:srgbClr val="444B52"/>
                  </a:solidFill>
                  <a:latin typeface="Arial"/>
                </a:endParaRPr>
              </a:p>
              <a:p>
                <a:pPr>
                  <a:spcAft>
                    <a:spcPts val="600"/>
                  </a:spcAft>
                </a:pPr>
                <a:r>
                  <a:rPr lang="vi-VN" sz="1400" dirty="0">
                    <a:solidFill>
                      <a:srgbClr val="444B52"/>
                    </a:solidFill>
                    <a:latin typeface="Arial"/>
                  </a:rPr>
                  <a:t>3. Bước </a:t>
                </a:r>
                <a:r>
                  <a:rPr lang="vi-VN" sz="1400" b="1" dirty="0">
                    <a:solidFill>
                      <a:srgbClr val="444B52"/>
                    </a:solidFill>
                    <a:latin typeface="Arial"/>
                  </a:rPr>
                  <a:t>Maximization (M)</a:t>
                </a:r>
                <a:r>
                  <a:rPr lang="vi-VN" sz="1400" dirty="0">
                    <a:solidFill>
                      <a:srgbClr val="444B52"/>
                    </a:solidFill>
                    <a:latin typeface="Arial"/>
                  </a:rPr>
                  <a:t>: Dùng </a:t>
                </a:r>
                <a14:m>
                  <m:oMath xmlns:m="http://schemas.openxmlformats.org/officeDocument/2006/math">
                    <m:sSub>
                      <m:sSubPr>
                        <m:ctrlPr>
                          <a:rPr lang="en-US" sz="1400" b="1" i="1">
                            <a:solidFill>
                              <a:srgbClr val="FF0000"/>
                            </a:solidFill>
                            <a:latin typeface="Cambria Math" panose="02040503050406030204" pitchFamily="18" charset="0"/>
                          </a:rPr>
                        </m:ctrlPr>
                      </m:sSubPr>
                      <m:e>
                        <m:r>
                          <a:rPr lang="en-US" sz="1400" b="1" i="1">
                            <a:solidFill>
                              <a:srgbClr val="FF0000"/>
                            </a:solidFill>
                            <a:latin typeface="Cambria Math" panose="02040503050406030204" pitchFamily="18" charset="0"/>
                          </a:rPr>
                          <m:t>𝜸</m:t>
                        </m:r>
                      </m:e>
                      <m:sub>
                        <m:r>
                          <a:rPr lang="en-US" sz="1400" b="1" i="1">
                            <a:solidFill>
                              <a:srgbClr val="FF0000"/>
                            </a:solidFill>
                            <a:latin typeface="Cambria Math" panose="02040503050406030204" pitchFamily="18" charset="0"/>
                          </a:rPr>
                          <m:t>𝒏𝒌</m:t>
                        </m:r>
                      </m:sub>
                    </m:sSub>
                  </m:oMath>
                </a14:m>
                <a:r>
                  <a:rPr lang="vi-VN" sz="1400" dirty="0">
                    <a:solidFill>
                      <a:srgbClr val="444B52"/>
                    </a:solidFill>
                    <a:latin typeface="Arial"/>
                  </a:rPr>
                  <a:t> để cập nhật </a:t>
                </a:r>
                <a14:m>
                  <m:oMath xmlns:m="http://schemas.openxmlformats.org/officeDocument/2006/math">
                    <m:sSub>
                      <m:sSubPr>
                        <m:ctrlPr>
                          <a:rPr lang="en-US" sz="1400" b="1" i="1">
                            <a:solidFill>
                              <a:schemeClr val="tx2">
                                <a:lumMod val="60000"/>
                                <a:lumOff val="40000"/>
                              </a:schemeClr>
                            </a:solidFill>
                            <a:latin typeface="Cambria Math" panose="02040503050406030204" pitchFamily="18" charset="0"/>
                          </a:rPr>
                        </m:ctrlPr>
                      </m:sSubPr>
                      <m:e>
                        <m:r>
                          <a:rPr lang="en-US" sz="1400" b="1" i="1">
                            <a:solidFill>
                              <a:schemeClr val="tx2">
                                <a:lumMod val="60000"/>
                                <a:lumOff val="40000"/>
                              </a:schemeClr>
                            </a:solidFill>
                            <a:latin typeface="Cambria Math" panose="02040503050406030204" pitchFamily="18" charset="0"/>
                          </a:rPr>
                          <m:t>𝝁</m:t>
                        </m:r>
                      </m:e>
                      <m:sub>
                        <m:r>
                          <a:rPr lang="en-US" sz="1400" b="1" i="1">
                            <a:solidFill>
                              <a:schemeClr val="tx2">
                                <a:lumMod val="60000"/>
                                <a:lumOff val="40000"/>
                              </a:schemeClr>
                            </a:solidFill>
                            <a:latin typeface="Cambria Math" panose="02040503050406030204" pitchFamily="18" charset="0"/>
                          </a:rPr>
                          <m:t>𝒌</m:t>
                        </m:r>
                      </m:sub>
                    </m:sSub>
                  </m:oMath>
                </a14:m>
                <a:r>
                  <a:rPr lang="vi-VN" sz="1400" dirty="0">
                    <a:latin typeface="Arial"/>
                  </a:rPr>
                  <a:t>, </a:t>
                </a:r>
                <a14:m>
                  <m:oMath xmlns:m="http://schemas.openxmlformats.org/officeDocument/2006/math">
                    <m:sSub>
                      <m:sSubPr>
                        <m:ctrlPr>
                          <a:rPr lang="en-US" sz="1400" b="1" i="1" dirty="0">
                            <a:solidFill>
                              <a:srgbClr val="00B050"/>
                            </a:solidFill>
                            <a:latin typeface="Cambria Math" panose="02040503050406030204" pitchFamily="18" charset="0"/>
                          </a:rPr>
                        </m:ctrlPr>
                      </m:sSubPr>
                      <m:e>
                        <m:r>
                          <a:rPr lang="en-US" sz="1400" b="1" i="1" dirty="0">
                            <a:solidFill>
                              <a:srgbClr val="00B050"/>
                            </a:solidFill>
                            <a:latin typeface="Cambria Math" panose="02040503050406030204" pitchFamily="18" charset="0"/>
                          </a:rPr>
                          <m:t>𝝈</m:t>
                        </m:r>
                      </m:e>
                      <m:sub>
                        <m:r>
                          <a:rPr lang="en-US" sz="1400" b="1" i="1">
                            <a:solidFill>
                              <a:srgbClr val="00B050"/>
                            </a:solidFill>
                            <a:latin typeface="Cambria Math" panose="02040503050406030204" pitchFamily="18" charset="0"/>
                          </a:rPr>
                          <m:t>𝒌</m:t>
                        </m:r>
                      </m:sub>
                    </m:sSub>
                  </m:oMath>
                </a14:m>
                <a:r>
                  <a:rPr lang="vi-VN" sz="1400" b="1" dirty="0">
                    <a:solidFill>
                      <a:schemeClr val="tx2">
                        <a:lumMod val="60000"/>
                        <a:lumOff val="40000"/>
                      </a:schemeClr>
                    </a:solidFill>
                    <a:latin typeface="Arial"/>
                  </a:rPr>
                  <a:t>, </a:t>
                </a:r>
                <a14:m>
                  <m:oMath xmlns:m="http://schemas.openxmlformats.org/officeDocument/2006/math">
                    <m:sSub>
                      <m:sSubPr>
                        <m:ctrlPr>
                          <a:rPr lang="en-US" sz="1400" b="1" i="1">
                            <a:solidFill>
                              <a:schemeClr val="accent6">
                                <a:lumMod val="75000"/>
                              </a:schemeClr>
                            </a:solidFill>
                            <a:latin typeface="Cambria Math" panose="02040503050406030204" pitchFamily="18" charset="0"/>
                          </a:rPr>
                        </m:ctrlPr>
                      </m:sSubPr>
                      <m:e>
                        <m:r>
                          <a:rPr lang="en-US" sz="1400" b="1" i="1">
                            <a:solidFill>
                              <a:schemeClr val="accent6">
                                <a:lumMod val="75000"/>
                              </a:schemeClr>
                            </a:solidFill>
                            <a:latin typeface="Cambria Math" panose="02040503050406030204" pitchFamily="18" charset="0"/>
                          </a:rPr>
                          <m:t>𝝅</m:t>
                        </m:r>
                      </m:e>
                      <m:sub>
                        <m:r>
                          <a:rPr lang="en-US" sz="1400" b="1" i="1">
                            <a:solidFill>
                              <a:schemeClr val="accent6">
                                <a:lumMod val="75000"/>
                              </a:schemeClr>
                            </a:solidFill>
                            <a:latin typeface="Cambria Math" panose="02040503050406030204" pitchFamily="18" charset="0"/>
                          </a:rPr>
                          <m:t>𝒌</m:t>
                        </m:r>
                      </m:sub>
                    </m:sSub>
                  </m:oMath>
                </a14:m>
                <a:endParaRPr lang="vi-VN" sz="1400" b="1" dirty="0">
                  <a:solidFill>
                    <a:schemeClr val="accent6">
                      <a:lumMod val="75000"/>
                    </a:schemeClr>
                  </a:solidFill>
                  <a:latin typeface="Arial"/>
                </a:endParaRPr>
              </a:p>
              <a:p>
                <a:pPr>
                  <a:spcAft>
                    <a:spcPts val="600"/>
                  </a:spcAft>
                </a:pPr>
                <a:r>
                  <a:rPr lang="vi-VN" sz="1400" dirty="0">
                    <a:solidFill>
                      <a:srgbClr val="444B52"/>
                    </a:solidFill>
                    <a:latin typeface="Arial"/>
                  </a:rPr>
                  <a:t>4. Kiểm tra hội tụ:</a:t>
                </a:r>
              </a:p>
              <a:p>
                <a:pPr>
                  <a:spcAft>
                    <a:spcPts val="600"/>
                  </a:spcAft>
                </a:pPr>
                <a:r>
                  <a:rPr lang="vi-VN" sz="1400" dirty="0">
                    <a:solidFill>
                      <a:srgbClr val="444B52"/>
                    </a:solidFill>
                    <a:latin typeface="Arial"/>
                  </a:rPr>
                  <a:t>	Tính lại giá trị hàm mục tiêu Log-likelihood</a:t>
                </a:r>
              </a:p>
              <a:p>
                <a:pPr>
                  <a:spcAft>
                    <a:spcPts val="600"/>
                  </a:spcAft>
                </a:pPr>
                <a:r>
                  <a:rPr lang="vi-VN" sz="1400" dirty="0">
                    <a:solidFill>
                      <a:srgbClr val="444B52"/>
                    </a:solidFill>
                    <a:latin typeface="Arial"/>
                  </a:rPr>
                  <a:t>	So với giá trị hàm mục tiêu ở lần lặp trước đó</a:t>
                </a:r>
              </a:p>
              <a:p>
                <a:pPr>
                  <a:spcAft>
                    <a:spcPts val="600"/>
                  </a:spcAft>
                </a:pPr>
                <a:r>
                  <a:rPr lang="vi-VN" sz="1400" dirty="0">
                    <a:solidFill>
                      <a:srgbClr val="444B52"/>
                    </a:solidFill>
                    <a:latin typeface="Arial"/>
                  </a:rPr>
                  <a:t>		Nếu mức tăng nhỏ hơn ngưỡng cực nhỏ </a:t>
                </a:r>
                <a14:m>
                  <m:oMath xmlns:m="http://schemas.openxmlformats.org/officeDocument/2006/math">
                    <m:r>
                      <a:rPr lang="vi-VN" sz="1400" i="1" dirty="0">
                        <a:solidFill>
                          <a:srgbClr val="444B52"/>
                        </a:solidFill>
                        <a:latin typeface="Cambria Math" panose="02040503050406030204" pitchFamily="18" charset="0"/>
                      </a:rPr>
                      <m:t>𝜖</m:t>
                    </m:r>
                  </m:oMath>
                </a14:m>
                <a:endParaRPr lang="vi-VN" sz="1400" dirty="0">
                  <a:solidFill>
                    <a:srgbClr val="444B52"/>
                  </a:solidFill>
                  <a:latin typeface="Arial"/>
                </a:endParaRPr>
              </a:p>
              <a:p>
                <a:pPr>
                  <a:spcAft>
                    <a:spcPts val="600"/>
                  </a:spcAft>
                </a:pPr>
                <a:r>
                  <a:rPr lang="vi-VN" sz="1400" dirty="0">
                    <a:solidFill>
                      <a:srgbClr val="444B52"/>
                    </a:solidFill>
                    <a:latin typeface="Arial"/>
                  </a:rPr>
                  <a:t>			Thì dừng</a:t>
                </a:r>
              </a:p>
              <a:p>
                <a:pPr>
                  <a:spcAft>
                    <a:spcPts val="600"/>
                  </a:spcAft>
                </a:pPr>
                <a:r>
                  <a:rPr lang="vi-VN" sz="1400" dirty="0">
                    <a:solidFill>
                      <a:srgbClr val="444B52"/>
                    </a:solidFill>
                    <a:latin typeface="Arial"/>
                  </a:rPr>
                  <a:t>		Nếu không</a:t>
                </a:r>
              </a:p>
              <a:p>
                <a:pPr>
                  <a:spcAft>
                    <a:spcPts val="600"/>
                  </a:spcAft>
                </a:pPr>
                <a:r>
                  <a:rPr lang="vi-VN" sz="1400" dirty="0">
                    <a:solidFill>
                      <a:srgbClr val="444B52"/>
                    </a:solidFill>
                    <a:latin typeface="Arial"/>
                  </a:rPr>
                  <a:t>			Quay lại bước 2</a:t>
                </a:r>
              </a:p>
            </p:txBody>
          </p:sp>
        </mc:Choice>
        <mc:Fallback xmlns="">
          <p:sp>
            <p:nvSpPr>
              <p:cNvPr id="10" name="TextBox 9">
                <a:extLst>
                  <a:ext uri="{FF2B5EF4-FFF2-40B4-BE49-F238E27FC236}">
                    <a16:creationId xmlns:a16="http://schemas.microsoft.com/office/drawing/2014/main" id="{BAE073C5-720D-EB12-73D7-B40BEDD08474}"/>
                  </a:ext>
                </a:extLst>
              </p:cNvPr>
              <p:cNvSpPr txBox="1">
                <a:spLocks noRot="1" noChangeAspect="1" noMove="1" noResize="1" noEditPoints="1" noAdjustHandles="1" noChangeArrowheads="1" noChangeShapeType="1" noTextEdit="1"/>
              </p:cNvSpPr>
              <p:nvPr/>
            </p:nvSpPr>
            <p:spPr>
              <a:xfrm>
                <a:off x="364065" y="2350561"/>
                <a:ext cx="6206067" cy="2939266"/>
              </a:xfrm>
              <a:prstGeom prst="rect">
                <a:avLst/>
              </a:prstGeom>
              <a:blipFill>
                <a:blip r:embed="rId3"/>
                <a:stretch>
                  <a:fillRect l="-204" t="-431" b="-1293"/>
                </a:stretch>
              </a:blipFill>
            </p:spPr>
            <p:txBody>
              <a:bodyPr/>
              <a:lstStyle/>
              <a:p>
                <a:r>
                  <a:rPr lang="en-VN">
                    <a:noFill/>
                  </a:rPr>
                  <a:t> </a:t>
                </a:r>
              </a:p>
            </p:txBody>
          </p:sp>
        </mc:Fallback>
      </mc:AlternateContent>
      <p:pic>
        <p:nvPicPr>
          <p:cNvPr id="3" name="Picture 2">
            <a:extLst>
              <a:ext uri="{FF2B5EF4-FFF2-40B4-BE49-F238E27FC236}">
                <a16:creationId xmlns:a16="http://schemas.microsoft.com/office/drawing/2014/main" id="{86AD05DF-1A74-8343-8DEF-C72A9C188267}"/>
              </a:ext>
            </a:extLst>
          </p:cNvPr>
          <p:cNvPicPr>
            <a:picLocks noChangeAspect="1"/>
          </p:cNvPicPr>
          <p:nvPr/>
        </p:nvPicPr>
        <p:blipFill>
          <a:blip r:embed="rId4"/>
          <a:stretch>
            <a:fillRect/>
          </a:stretch>
        </p:blipFill>
        <p:spPr>
          <a:xfrm>
            <a:off x="4846103" y="4284133"/>
            <a:ext cx="7345897" cy="2573867"/>
          </a:xfrm>
          <a:prstGeom prst="rect">
            <a:avLst/>
          </a:prstGeom>
        </p:spPr>
      </p:pic>
    </p:spTree>
    <p:extLst>
      <p:ext uri="{BB962C8B-B14F-4D97-AF65-F5344CB8AC3E}">
        <p14:creationId xmlns:p14="http://schemas.microsoft.com/office/powerpoint/2010/main" val="17918958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8ECB5-4183-3038-4ED8-E394CA00334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46D4291-10BC-35B3-BEF6-B757D33D0A8C}"/>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p:sp>
        <p:nvSpPr>
          <p:cNvPr id="4" name="TextBox 3">
            <a:extLst>
              <a:ext uri="{FF2B5EF4-FFF2-40B4-BE49-F238E27FC236}">
                <a16:creationId xmlns:a16="http://schemas.microsoft.com/office/drawing/2014/main" id="{A33602D4-0165-002A-4699-137E22F611F9}"/>
              </a:ext>
            </a:extLst>
          </p:cNvPr>
          <p:cNvSpPr txBox="1"/>
          <p:nvPr/>
        </p:nvSpPr>
        <p:spPr>
          <a:xfrm>
            <a:off x="364066" y="1267772"/>
            <a:ext cx="10961159" cy="600164"/>
          </a:xfrm>
          <a:prstGeom prst="rect">
            <a:avLst/>
          </a:prstGeom>
          <a:noFill/>
        </p:spPr>
        <p:txBody>
          <a:bodyPr wrap="square">
            <a:spAutoFit/>
          </a:bodyPr>
          <a:lstStyle/>
          <a:p>
            <a:pPr>
              <a:spcAft>
                <a:spcPts val="600"/>
              </a:spcAft>
            </a:pPr>
            <a:r>
              <a:rPr lang="vi-VN" sz="1400" b="1" dirty="0">
                <a:solidFill>
                  <a:srgbClr val="1B8A7A"/>
                </a:solidFill>
                <a:latin typeface="Arial"/>
              </a:rPr>
              <a:t>2.2. Expectation-Maximization (EM) - </a:t>
            </a:r>
            <a:r>
              <a:rPr lang="vi-VN" sz="1000" b="1" dirty="0">
                <a:solidFill>
                  <a:schemeClr val="accent5">
                    <a:lumMod val="60000"/>
                    <a:lumOff val="40000"/>
                  </a:schemeClr>
                </a:solidFill>
                <a:latin typeface="Arial"/>
              </a:rPr>
              <a:t>Phương pháp cực đại hoá kỳ vọng</a:t>
            </a:r>
          </a:p>
          <a:p>
            <a:pPr>
              <a:spcAft>
                <a:spcPts val="600"/>
              </a:spcAft>
            </a:pPr>
            <a:r>
              <a:rPr lang="vi-VN" sz="1400" dirty="0">
                <a:solidFill>
                  <a:srgbClr val="444B52"/>
                </a:solidFill>
                <a:latin typeface="Arial"/>
              </a:rPr>
              <a:t>Các bước của phương pháp </a:t>
            </a:r>
            <a:r>
              <a:rPr lang="vi-VN" sz="1400" b="1" dirty="0">
                <a:solidFill>
                  <a:srgbClr val="444B52"/>
                </a:solidFill>
                <a:latin typeface="Arial"/>
              </a:rPr>
              <a:t>Expectation-Maximization (EM)</a:t>
            </a:r>
            <a:r>
              <a:rPr lang="vi-VN" sz="1400" dirty="0">
                <a:solidFill>
                  <a:srgbClr val="444B52"/>
                </a:solidFill>
                <a:latin typeface="Arial"/>
              </a:rPr>
              <a:t>:</a:t>
            </a:r>
            <a:endParaRPr lang="vi-VN" sz="1400" b="1" dirty="0">
              <a:solidFill>
                <a:srgbClr val="444B52"/>
              </a:solidFill>
              <a:latin typeface="Aria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B4022E9-B8B0-F78D-F6F9-901B7580CCBA}"/>
                  </a:ext>
                </a:extLst>
              </p:cNvPr>
              <p:cNvSpPr txBox="1"/>
              <p:nvPr/>
            </p:nvSpPr>
            <p:spPr>
              <a:xfrm>
                <a:off x="364065" y="2350561"/>
                <a:ext cx="6237817" cy="2939266"/>
              </a:xfrm>
              <a:prstGeom prst="rect">
                <a:avLst/>
              </a:prstGeom>
              <a:noFill/>
            </p:spPr>
            <p:txBody>
              <a:bodyPr wrap="square" rtlCol="0">
                <a:spAutoFit/>
              </a:bodyPr>
              <a:lstStyle/>
              <a:p>
                <a:pPr>
                  <a:spcAft>
                    <a:spcPts val="600"/>
                  </a:spcAft>
                </a:pPr>
                <a:r>
                  <a:rPr lang="vi-VN" sz="1400" dirty="0">
                    <a:solidFill>
                      <a:srgbClr val="444B52"/>
                    </a:solidFill>
                    <a:latin typeface="Arial"/>
                  </a:rPr>
                  <a:t>1. Khởi tạo </a:t>
                </a:r>
                <a14:m>
                  <m:oMath xmlns:m="http://schemas.openxmlformats.org/officeDocument/2006/math">
                    <m:sSub>
                      <m:sSubPr>
                        <m:ctrlPr>
                          <a:rPr lang="en-US" sz="1400" b="1" i="1">
                            <a:solidFill>
                              <a:schemeClr val="tx2">
                                <a:lumMod val="60000"/>
                                <a:lumOff val="40000"/>
                              </a:schemeClr>
                            </a:solidFill>
                            <a:latin typeface="Cambria Math" panose="02040503050406030204" pitchFamily="18" charset="0"/>
                          </a:rPr>
                        </m:ctrlPr>
                      </m:sSubPr>
                      <m:e>
                        <m:r>
                          <a:rPr lang="en-US" sz="1400" b="1" i="1">
                            <a:solidFill>
                              <a:schemeClr val="tx2">
                                <a:lumMod val="60000"/>
                                <a:lumOff val="40000"/>
                              </a:schemeClr>
                            </a:solidFill>
                            <a:latin typeface="Cambria Math" panose="02040503050406030204" pitchFamily="18" charset="0"/>
                          </a:rPr>
                          <m:t>𝝁</m:t>
                        </m:r>
                      </m:e>
                      <m:sub>
                        <m:r>
                          <a:rPr lang="en-US" sz="1400" b="1" i="1">
                            <a:solidFill>
                              <a:schemeClr val="tx2">
                                <a:lumMod val="60000"/>
                                <a:lumOff val="40000"/>
                              </a:schemeClr>
                            </a:solidFill>
                            <a:latin typeface="Cambria Math" panose="02040503050406030204" pitchFamily="18" charset="0"/>
                          </a:rPr>
                          <m:t>𝒌</m:t>
                        </m:r>
                      </m:sub>
                    </m:sSub>
                  </m:oMath>
                </a14:m>
                <a:r>
                  <a:rPr lang="vi-VN" sz="1400" dirty="0">
                    <a:latin typeface="Arial"/>
                  </a:rPr>
                  <a:t>, </a:t>
                </a:r>
                <a14:m>
                  <m:oMath xmlns:m="http://schemas.openxmlformats.org/officeDocument/2006/math">
                    <m:sSub>
                      <m:sSubPr>
                        <m:ctrlPr>
                          <a:rPr lang="en-US" sz="1400" b="1" i="1" dirty="0">
                            <a:solidFill>
                              <a:srgbClr val="00B050"/>
                            </a:solidFill>
                            <a:latin typeface="Cambria Math" panose="02040503050406030204" pitchFamily="18" charset="0"/>
                          </a:rPr>
                        </m:ctrlPr>
                      </m:sSubPr>
                      <m:e>
                        <m:r>
                          <a:rPr lang="en-US" sz="1400" b="1" i="1" dirty="0">
                            <a:solidFill>
                              <a:srgbClr val="00B050"/>
                            </a:solidFill>
                            <a:latin typeface="Cambria Math" panose="02040503050406030204" pitchFamily="18" charset="0"/>
                          </a:rPr>
                          <m:t>𝝈</m:t>
                        </m:r>
                      </m:e>
                      <m:sub>
                        <m:r>
                          <a:rPr lang="en-US" sz="1400" b="1" i="1">
                            <a:solidFill>
                              <a:srgbClr val="00B050"/>
                            </a:solidFill>
                            <a:latin typeface="Cambria Math" panose="02040503050406030204" pitchFamily="18" charset="0"/>
                          </a:rPr>
                          <m:t>𝒌</m:t>
                        </m:r>
                      </m:sub>
                    </m:sSub>
                  </m:oMath>
                </a14:m>
                <a:r>
                  <a:rPr lang="vi-VN" sz="1400" b="1" dirty="0">
                    <a:solidFill>
                      <a:schemeClr val="tx2">
                        <a:lumMod val="60000"/>
                        <a:lumOff val="40000"/>
                      </a:schemeClr>
                    </a:solidFill>
                    <a:latin typeface="Arial"/>
                  </a:rPr>
                  <a:t>, </a:t>
                </a:r>
                <a14:m>
                  <m:oMath xmlns:m="http://schemas.openxmlformats.org/officeDocument/2006/math">
                    <m:sSub>
                      <m:sSubPr>
                        <m:ctrlPr>
                          <a:rPr lang="en-US" sz="1400" b="1" i="1">
                            <a:solidFill>
                              <a:schemeClr val="accent6">
                                <a:lumMod val="75000"/>
                              </a:schemeClr>
                            </a:solidFill>
                            <a:latin typeface="Cambria Math" panose="02040503050406030204" pitchFamily="18" charset="0"/>
                          </a:rPr>
                        </m:ctrlPr>
                      </m:sSubPr>
                      <m:e>
                        <m:r>
                          <a:rPr lang="en-US" sz="1400" b="1" i="1">
                            <a:solidFill>
                              <a:schemeClr val="accent6">
                                <a:lumMod val="75000"/>
                              </a:schemeClr>
                            </a:solidFill>
                            <a:latin typeface="Cambria Math" panose="02040503050406030204" pitchFamily="18" charset="0"/>
                          </a:rPr>
                          <m:t>𝝅</m:t>
                        </m:r>
                      </m:e>
                      <m:sub>
                        <m:r>
                          <a:rPr lang="en-US" sz="1400" b="1" i="1">
                            <a:solidFill>
                              <a:schemeClr val="accent6">
                                <a:lumMod val="75000"/>
                              </a:schemeClr>
                            </a:solidFill>
                            <a:latin typeface="Cambria Math" panose="02040503050406030204" pitchFamily="18" charset="0"/>
                          </a:rPr>
                          <m:t>𝒌</m:t>
                        </m:r>
                      </m:sub>
                    </m:sSub>
                  </m:oMath>
                </a14:m>
                <a:endParaRPr lang="vi-VN" sz="1400" dirty="0">
                  <a:solidFill>
                    <a:srgbClr val="444B52"/>
                  </a:solidFill>
                  <a:latin typeface="Arial"/>
                </a:endParaRPr>
              </a:p>
              <a:p>
                <a:pPr>
                  <a:spcAft>
                    <a:spcPts val="600"/>
                  </a:spcAft>
                </a:pPr>
                <a:r>
                  <a:rPr lang="vi-VN" sz="1400" dirty="0">
                    <a:solidFill>
                      <a:schemeClr val="bg1">
                        <a:lumMod val="75000"/>
                      </a:schemeClr>
                    </a:solidFill>
                    <a:latin typeface="Arial"/>
                  </a:rPr>
                  <a:t>2. Bước </a:t>
                </a:r>
                <a:r>
                  <a:rPr lang="vi-VN" sz="1400" b="1" dirty="0">
                    <a:solidFill>
                      <a:schemeClr val="bg1">
                        <a:lumMod val="75000"/>
                      </a:schemeClr>
                    </a:solidFill>
                    <a:latin typeface="Arial"/>
                  </a:rPr>
                  <a:t>Expectation (E)</a:t>
                </a:r>
                <a:r>
                  <a:rPr lang="vi-VN" sz="1400" dirty="0">
                    <a:solidFill>
                      <a:schemeClr val="bg1">
                        <a:lumMod val="75000"/>
                      </a:schemeClr>
                    </a:solidFill>
                    <a:latin typeface="Arial"/>
                  </a:rPr>
                  <a:t>: Dùng </a:t>
                </a:r>
                <a14:m>
                  <m:oMath xmlns:m="http://schemas.openxmlformats.org/officeDocument/2006/math">
                    <m:sSub>
                      <m:sSubPr>
                        <m:ctrlPr>
                          <a:rPr lang="en-US" sz="1400" b="1" i="1">
                            <a:solidFill>
                              <a:schemeClr val="bg1">
                                <a:lumMod val="75000"/>
                              </a:schemeClr>
                            </a:solidFill>
                            <a:latin typeface="Cambria Math" panose="02040503050406030204" pitchFamily="18" charset="0"/>
                          </a:rPr>
                        </m:ctrlPr>
                      </m:sSubPr>
                      <m:e>
                        <m:r>
                          <a:rPr lang="en-US" sz="1400" b="1" i="1">
                            <a:solidFill>
                              <a:schemeClr val="bg1">
                                <a:lumMod val="75000"/>
                              </a:schemeClr>
                            </a:solidFill>
                            <a:latin typeface="Cambria Math" panose="02040503050406030204" pitchFamily="18" charset="0"/>
                          </a:rPr>
                          <m:t>𝝁</m:t>
                        </m:r>
                      </m:e>
                      <m:sub>
                        <m:r>
                          <a:rPr lang="en-US" sz="1400" b="1" i="1">
                            <a:solidFill>
                              <a:schemeClr val="bg1">
                                <a:lumMod val="75000"/>
                              </a:schemeClr>
                            </a:solidFill>
                            <a:latin typeface="Cambria Math" panose="02040503050406030204" pitchFamily="18" charset="0"/>
                          </a:rPr>
                          <m:t>𝒌</m:t>
                        </m:r>
                      </m:sub>
                    </m:sSub>
                  </m:oMath>
                </a14:m>
                <a:r>
                  <a:rPr lang="vi-VN" sz="1400" dirty="0">
                    <a:solidFill>
                      <a:schemeClr val="bg1">
                        <a:lumMod val="75000"/>
                      </a:schemeClr>
                    </a:solidFill>
                    <a:latin typeface="Arial"/>
                  </a:rPr>
                  <a:t>, </a:t>
                </a:r>
                <a14:m>
                  <m:oMath xmlns:m="http://schemas.openxmlformats.org/officeDocument/2006/math">
                    <m:sSub>
                      <m:sSubPr>
                        <m:ctrlPr>
                          <a:rPr lang="en-US" sz="1400" b="1" i="1" dirty="0">
                            <a:solidFill>
                              <a:schemeClr val="bg1">
                                <a:lumMod val="75000"/>
                              </a:schemeClr>
                            </a:solidFill>
                            <a:latin typeface="Cambria Math" panose="02040503050406030204" pitchFamily="18" charset="0"/>
                          </a:rPr>
                        </m:ctrlPr>
                      </m:sSubPr>
                      <m:e>
                        <m:r>
                          <a:rPr lang="en-US" sz="1400" b="1" i="1" dirty="0">
                            <a:solidFill>
                              <a:schemeClr val="bg1">
                                <a:lumMod val="75000"/>
                              </a:schemeClr>
                            </a:solidFill>
                            <a:latin typeface="Cambria Math" panose="02040503050406030204" pitchFamily="18" charset="0"/>
                          </a:rPr>
                          <m:t>𝝈</m:t>
                        </m:r>
                      </m:e>
                      <m:sub>
                        <m:r>
                          <a:rPr lang="en-US" sz="1400" b="1" i="1">
                            <a:solidFill>
                              <a:schemeClr val="bg1">
                                <a:lumMod val="75000"/>
                              </a:schemeClr>
                            </a:solidFill>
                            <a:latin typeface="Cambria Math" panose="02040503050406030204" pitchFamily="18" charset="0"/>
                          </a:rPr>
                          <m:t>𝒌</m:t>
                        </m:r>
                      </m:sub>
                    </m:sSub>
                  </m:oMath>
                </a14:m>
                <a:r>
                  <a:rPr lang="vi-VN" sz="1400" b="1" dirty="0">
                    <a:solidFill>
                      <a:schemeClr val="bg1">
                        <a:lumMod val="75000"/>
                      </a:schemeClr>
                    </a:solidFill>
                    <a:latin typeface="Arial"/>
                  </a:rPr>
                  <a:t>, </a:t>
                </a:r>
                <a14:m>
                  <m:oMath xmlns:m="http://schemas.openxmlformats.org/officeDocument/2006/math">
                    <m:sSub>
                      <m:sSubPr>
                        <m:ctrlPr>
                          <a:rPr lang="en-US" sz="1400" b="1" i="1">
                            <a:solidFill>
                              <a:schemeClr val="bg1">
                                <a:lumMod val="75000"/>
                              </a:schemeClr>
                            </a:solidFill>
                            <a:latin typeface="Cambria Math" panose="02040503050406030204" pitchFamily="18" charset="0"/>
                          </a:rPr>
                        </m:ctrlPr>
                      </m:sSubPr>
                      <m:e>
                        <m:r>
                          <a:rPr lang="en-US" sz="1400" b="1" i="1">
                            <a:solidFill>
                              <a:schemeClr val="bg1">
                                <a:lumMod val="75000"/>
                              </a:schemeClr>
                            </a:solidFill>
                            <a:latin typeface="Cambria Math" panose="02040503050406030204" pitchFamily="18" charset="0"/>
                          </a:rPr>
                          <m:t>𝝅</m:t>
                        </m:r>
                      </m:e>
                      <m:sub>
                        <m:r>
                          <a:rPr lang="en-US" sz="1400" b="1" i="1">
                            <a:solidFill>
                              <a:schemeClr val="bg1">
                                <a:lumMod val="75000"/>
                              </a:schemeClr>
                            </a:solidFill>
                            <a:latin typeface="Cambria Math" panose="02040503050406030204" pitchFamily="18" charset="0"/>
                          </a:rPr>
                          <m:t>𝒌</m:t>
                        </m:r>
                      </m:sub>
                    </m:sSub>
                  </m:oMath>
                </a14:m>
                <a:r>
                  <a:rPr lang="vi-VN" sz="1400" dirty="0">
                    <a:solidFill>
                      <a:schemeClr val="bg1">
                        <a:lumMod val="75000"/>
                      </a:schemeClr>
                    </a:solidFill>
                    <a:latin typeface="Arial"/>
                  </a:rPr>
                  <a:t> để tính xác suất hậu nghiệm </a:t>
                </a:r>
                <a14:m>
                  <m:oMath xmlns:m="http://schemas.openxmlformats.org/officeDocument/2006/math">
                    <m:sSub>
                      <m:sSubPr>
                        <m:ctrlPr>
                          <a:rPr lang="en-US" sz="1400" b="1" i="1">
                            <a:solidFill>
                              <a:schemeClr val="bg1">
                                <a:lumMod val="75000"/>
                              </a:schemeClr>
                            </a:solidFill>
                            <a:latin typeface="Cambria Math" panose="02040503050406030204" pitchFamily="18" charset="0"/>
                          </a:rPr>
                        </m:ctrlPr>
                      </m:sSubPr>
                      <m:e>
                        <m:r>
                          <a:rPr lang="en-US" sz="1400" b="1" i="1">
                            <a:solidFill>
                              <a:schemeClr val="bg1">
                                <a:lumMod val="75000"/>
                              </a:schemeClr>
                            </a:solidFill>
                            <a:latin typeface="Cambria Math" panose="02040503050406030204" pitchFamily="18" charset="0"/>
                          </a:rPr>
                          <m:t>𝜸</m:t>
                        </m:r>
                      </m:e>
                      <m:sub>
                        <m:r>
                          <a:rPr lang="en-US" sz="1400" b="1" i="1">
                            <a:solidFill>
                              <a:schemeClr val="bg1">
                                <a:lumMod val="75000"/>
                              </a:schemeClr>
                            </a:solidFill>
                            <a:latin typeface="Cambria Math" panose="02040503050406030204" pitchFamily="18" charset="0"/>
                          </a:rPr>
                          <m:t>𝒏𝒌</m:t>
                        </m:r>
                      </m:sub>
                    </m:sSub>
                  </m:oMath>
                </a14:m>
                <a:endParaRPr lang="vi-VN" sz="1400" dirty="0">
                  <a:solidFill>
                    <a:schemeClr val="bg1">
                      <a:lumMod val="75000"/>
                    </a:schemeClr>
                  </a:solidFill>
                  <a:latin typeface="Arial"/>
                </a:endParaRPr>
              </a:p>
              <a:p>
                <a:pPr>
                  <a:spcAft>
                    <a:spcPts val="600"/>
                  </a:spcAft>
                </a:pPr>
                <a:r>
                  <a:rPr lang="vi-VN" sz="1400" dirty="0">
                    <a:solidFill>
                      <a:schemeClr val="bg1">
                        <a:lumMod val="75000"/>
                      </a:schemeClr>
                    </a:solidFill>
                    <a:latin typeface="Arial"/>
                  </a:rPr>
                  <a:t>3. Bước </a:t>
                </a:r>
                <a:r>
                  <a:rPr lang="vi-VN" sz="1400" b="1" dirty="0">
                    <a:solidFill>
                      <a:schemeClr val="bg1">
                        <a:lumMod val="75000"/>
                      </a:schemeClr>
                    </a:solidFill>
                    <a:latin typeface="Arial"/>
                  </a:rPr>
                  <a:t>Maximization (M)</a:t>
                </a:r>
                <a:r>
                  <a:rPr lang="vi-VN" sz="1400" dirty="0">
                    <a:solidFill>
                      <a:schemeClr val="bg1">
                        <a:lumMod val="75000"/>
                      </a:schemeClr>
                    </a:solidFill>
                    <a:latin typeface="Arial"/>
                  </a:rPr>
                  <a:t>: Dùng </a:t>
                </a:r>
                <a14:m>
                  <m:oMath xmlns:m="http://schemas.openxmlformats.org/officeDocument/2006/math">
                    <m:sSub>
                      <m:sSubPr>
                        <m:ctrlPr>
                          <a:rPr lang="en-US" sz="1400" b="1" i="1">
                            <a:solidFill>
                              <a:schemeClr val="bg1">
                                <a:lumMod val="75000"/>
                              </a:schemeClr>
                            </a:solidFill>
                            <a:latin typeface="Cambria Math" panose="02040503050406030204" pitchFamily="18" charset="0"/>
                          </a:rPr>
                        </m:ctrlPr>
                      </m:sSubPr>
                      <m:e>
                        <m:r>
                          <a:rPr lang="en-US" sz="1400" b="1" i="1">
                            <a:solidFill>
                              <a:schemeClr val="bg1">
                                <a:lumMod val="75000"/>
                              </a:schemeClr>
                            </a:solidFill>
                            <a:latin typeface="Cambria Math" panose="02040503050406030204" pitchFamily="18" charset="0"/>
                          </a:rPr>
                          <m:t>𝜸</m:t>
                        </m:r>
                      </m:e>
                      <m:sub>
                        <m:r>
                          <a:rPr lang="en-US" sz="1400" b="1" i="1">
                            <a:solidFill>
                              <a:schemeClr val="bg1">
                                <a:lumMod val="75000"/>
                              </a:schemeClr>
                            </a:solidFill>
                            <a:latin typeface="Cambria Math" panose="02040503050406030204" pitchFamily="18" charset="0"/>
                          </a:rPr>
                          <m:t>𝒏𝒌</m:t>
                        </m:r>
                      </m:sub>
                    </m:sSub>
                  </m:oMath>
                </a14:m>
                <a:r>
                  <a:rPr lang="vi-VN" sz="1400" dirty="0">
                    <a:solidFill>
                      <a:schemeClr val="bg1">
                        <a:lumMod val="75000"/>
                      </a:schemeClr>
                    </a:solidFill>
                    <a:latin typeface="Arial"/>
                  </a:rPr>
                  <a:t> để cập nhật </a:t>
                </a:r>
                <a14:m>
                  <m:oMath xmlns:m="http://schemas.openxmlformats.org/officeDocument/2006/math">
                    <m:sSub>
                      <m:sSubPr>
                        <m:ctrlPr>
                          <a:rPr lang="en-US" sz="1400" b="1" i="1">
                            <a:solidFill>
                              <a:schemeClr val="bg1">
                                <a:lumMod val="75000"/>
                              </a:schemeClr>
                            </a:solidFill>
                            <a:latin typeface="Cambria Math" panose="02040503050406030204" pitchFamily="18" charset="0"/>
                          </a:rPr>
                        </m:ctrlPr>
                      </m:sSubPr>
                      <m:e>
                        <m:r>
                          <a:rPr lang="en-US" sz="1400" b="1" i="1">
                            <a:solidFill>
                              <a:schemeClr val="bg1">
                                <a:lumMod val="75000"/>
                              </a:schemeClr>
                            </a:solidFill>
                            <a:latin typeface="Cambria Math" panose="02040503050406030204" pitchFamily="18" charset="0"/>
                          </a:rPr>
                          <m:t>𝝁</m:t>
                        </m:r>
                      </m:e>
                      <m:sub>
                        <m:r>
                          <a:rPr lang="en-US" sz="1400" b="1" i="1">
                            <a:solidFill>
                              <a:schemeClr val="bg1">
                                <a:lumMod val="75000"/>
                              </a:schemeClr>
                            </a:solidFill>
                            <a:latin typeface="Cambria Math" panose="02040503050406030204" pitchFamily="18" charset="0"/>
                          </a:rPr>
                          <m:t>𝒌</m:t>
                        </m:r>
                      </m:sub>
                    </m:sSub>
                  </m:oMath>
                </a14:m>
                <a:r>
                  <a:rPr lang="vi-VN" sz="1400" dirty="0">
                    <a:solidFill>
                      <a:schemeClr val="bg1">
                        <a:lumMod val="75000"/>
                      </a:schemeClr>
                    </a:solidFill>
                    <a:latin typeface="Arial"/>
                  </a:rPr>
                  <a:t>, </a:t>
                </a:r>
                <a14:m>
                  <m:oMath xmlns:m="http://schemas.openxmlformats.org/officeDocument/2006/math">
                    <m:sSub>
                      <m:sSubPr>
                        <m:ctrlPr>
                          <a:rPr lang="en-US" sz="1400" b="1" i="1" dirty="0">
                            <a:solidFill>
                              <a:schemeClr val="bg1">
                                <a:lumMod val="75000"/>
                              </a:schemeClr>
                            </a:solidFill>
                            <a:latin typeface="Cambria Math" panose="02040503050406030204" pitchFamily="18" charset="0"/>
                          </a:rPr>
                        </m:ctrlPr>
                      </m:sSubPr>
                      <m:e>
                        <m:r>
                          <a:rPr lang="en-US" sz="1400" b="1" i="1" dirty="0">
                            <a:solidFill>
                              <a:schemeClr val="bg1">
                                <a:lumMod val="75000"/>
                              </a:schemeClr>
                            </a:solidFill>
                            <a:latin typeface="Cambria Math" panose="02040503050406030204" pitchFamily="18" charset="0"/>
                          </a:rPr>
                          <m:t>𝝈</m:t>
                        </m:r>
                      </m:e>
                      <m:sub>
                        <m:r>
                          <a:rPr lang="en-US" sz="1400" b="1" i="1">
                            <a:solidFill>
                              <a:schemeClr val="bg1">
                                <a:lumMod val="75000"/>
                              </a:schemeClr>
                            </a:solidFill>
                            <a:latin typeface="Cambria Math" panose="02040503050406030204" pitchFamily="18" charset="0"/>
                          </a:rPr>
                          <m:t>𝒌</m:t>
                        </m:r>
                      </m:sub>
                    </m:sSub>
                  </m:oMath>
                </a14:m>
                <a:r>
                  <a:rPr lang="vi-VN" sz="1400" b="1" dirty="0">
                    <a:solidFill>
                      <a:schemeClr val="bg1">
                        <a:lumMod val="75000"/>
                      </a:schemeClr>
                    </a:solidFill>
                    <a:latin typeface="Arial"/>
                  </a:rPr>
                  <a:t>, </a:t>
                </a:r>
                <a14:m>
                  <m:oMath xmlns:m="http://schemas.openxmlformats.org/officeDocument/2006/math">
                    <m:sSub>
                      <m:sSubPr>
                        <m:ctrlPr>
                          <a:rPr lang="en-US" sz="1400" b="1" i="1">
                            <a:solidFill>
                              <a:schemeClr val="bg1">
                                <a:lumMod val="75000"/>
                              </a:schemeClr>
                            </a:solidFill>
                            <a:latin typeface="Cambria Math" panose="02040503050406030204" pitchFamily="18" charset="0"/>
                          </a:rPr>
                        </m:ctrlPr>
                      </m:sSubPr>
                      <m:e>
                        <m:r>
                          <a:rPr lang="en-US" sz="1400" b="1" i="1">
                            <a:solidFill>
                              <a:schemeClr val="bg1">
                                <a:lumMod val="75000"/>
                              </a:schemeClr>
                            </a:solidFill>
                            <a:latin typeface="Cambria Math" panose="02040503050406030204" pitchFamily="18" charset="0"/>
                          </a:rPr>
                          <m:t>𝝅</m:t>
                        </m:r>
                      </m:e>
                      <m:sub>
                        <m:r>
                          <a:rPr lang="en-US" sz="1400" b="1" i="1">
                            <a:solidFill>
                              <a:schemeClr val="bg1">
                                <a:lumMod val="75000"/>
                              </a:schemeClr>
                            </a:solidFill>
                            <a:latin typeface="Cambria Math" panose="02040503050406030204" pitchFamily="18" charset="0"/>
                          </a:rPr>
                          <m:t>𝒌</m:t>
                        </m:r>
                      </m:sub>
                    </m:sSub>
                  </m:oMath>
                </a14:m>
                <a:endParaRPr lang="vi-VN" sz="1400" b="1" dirty="0">
                  <a:solidFill>
                    <a:schemeClr val="bg1">
                      <a:lumMod val="75000"/>
                    </a:schemeClr>
                  </a:solidFill>
                  <a:latin typeface="Arial"/>
                </a:endParaRPr>
              </a:p>
              <a:p>
                <a:pPr>
                  <a:spcAft>
                    <a:spcPts val="600"/>
                  </a:spcAft>
                </a:pPr>
                <a:r>
                  <a:rPr lang="vi-VN" sz="1400" dirty="0">
                    <a:solidFill>
                      <a:schemeClr val="bg1">
                        <a:lumMod val="75000"/>
                      </a:schemeClr>
                    </a:solidFill>
                    <a:latin typeface="Arial"/>
                  </a:rPr>
                  <a:t>4. Kiểm tra hội tụ:</a:t>
                </a:r>
              </a:p>
              <a:p>
                <a:pPr>
                  <a:spcAft>
                    <a:spcPts val="600"/>
                  </a:spcAft>
                </a:pPr>
                <a:r>
                  <a:rPr lang="vi-VN" sz="1400" dirty="0">
                    <a:solidFill>
                      <a:schemeClr val="bg1">
                        <a:lumMod val="75000"/>
                      </a:schemeClr>
                    </a:solidFill>
                    <a:latin typeface="Arial"/>
                  </a:rPr>
                  <a:t>	Tính lại giá trị hàm mục tiêu Log-likelihood</a:t>
                </a:r>
              </a:p>
              <a:p>
                <a:pPr>
                  <a:spcAft>
                    <a:spcPts val="600"/>
                  </a:spcAft>
                </a:pPr>
                <a:r>
                  <a:rPr lang="vi-VN" sz="1400" dirty="0">
                    <a:solidFill>
                      <a:schemeClr val="bg1">
                        <a:lumMod val="75000"/>
                      </a:schemeClr>
                    </a:solidFill>
                    <a:latin typeface="Arial"/>
                  </a:rPr>
                  <a:t>	So với giá trị hàm mục tiêu ở lần lặp trước đó</a:t>
                </a:r>
              </a:p>
              <a:p>
                <a:pPr>
                  <a:spcAft>
                    <a:spcPts val="600"/>
                  </a:spcAft>
                </a:pPr>
                <a:r>
                  <a:rPr lang="vi-VN" sz="1400" dirty="0">
                    <a:solidFill>
                      <a:schemeClr val="bg1">
                        <a:lumMod val="75000"/>
                      </a:schemeClr>
                    </a:solidFill>
                    <a:latin typeface="Arial"/>
                  </a:rPr>
                  <a:t>		Nếu mức tăng nhỏ hơn ngưỡng cực nhỏ </a:t>
                </a:r>
                <a14:m>
                  <m:oMath xmlns:m="http://schemas.openxmlformats.org/officeDocument/2006/math">
                    <m:r>
                      <a:rPr lang="vi-VN" sz="1400" i="1" dirty="0">
                        <a:solidFill>
                          <a:schemeClr val="bg1">
                            <a:lumMod val="75000"/>
                          </a:schemeClr>
                        </a:solidFill>
                        <a:latin typeface="Cambria Math" panose="02040503050406030204" pitchFamily="18" charset="0"/>
                      </a:rPr>
                      <m:t>𝜖</m:t>
                    </m:r>
                  </m:oMath>
                </a14:m>
                <a:endParaRPr lang="vi-VN" sz="1400" dirty="0">
                  <a:solidFill>
                    <a:schemeClr val="bg1">
                      <a:lumMod val="75000"/>
                    </a:schemeClr>
                  </a:solidFill>
                  <a:latin typeface="Arial"/>
                </a:endParaRPr>
              </a:p>
              <a:p>
                <a:pPr>
                  <a:spcAft>
                    <a:spcPts val="600"/>
                  </a:spcAft>
                </a:pPr>
                <a:r>
                  <a:rPr lang="vi-VN" sz="1400" dirty="0">
                    <a:solidFill>
                      <a:schemeClr val="bg1">
                        <a:lumMod val="75000"/>
                      </a:schemeClr>
                    </a:solidFill>
                    <a:latin typeface="Arial"/>
                  </a:rPr>
                  <a:t>			Thì dừng</a:t>
                </a:r>
              </a:p>
              <a:p>
                <a:pPr>
                  <a:spcAft>
                    <a:spcPts val="600"/>
                  </a:spcAft>
                </a:pPr>
                <a:r>
                  <a:rPr lang="vi-VN" sz="1400" dirty="0">
                    <a:solidFill>
                      <a:schemeClr val="bg1">
                        <a:lumMod val="75000"/>
                      </a:schemeClr>
                    </a:solidFill>
                    <a:latin typeface="Arial"/>
                  </a:rPr>
                  <a:t>		Nếu không</a:t>
                </a:r>
              </a:p>
              <a:p>
                <a:pPr>
                  <a:spcAft>
                    <a:spcPts val="600"/>
                  </a:spcAft>
                </a:pPr>
                <a:r>
                  <a:rPr lang="vi-VN" sz="1400" dirty="0">
                    <a:solidFill>
                      <a:schemeClr val="bg1">
                        <a:lumMod val="75000"/>
                      </a:schemeClr>
                    </a:solidFill>
                    <a:latin typeface="Arial"/>
                  </a:rPr>
                  <a:t>			Quay lại bước 2</a:t>
                </a:r>
                <a:endParaRPr lang="vi-VN" sz="1400" dirty="0">
                  <a:solidFill>
                    <a:srgbClr val="444B52"/>
                  </a:solidFill>
                  <a:latin typeface="Arial"/>
                </a:endParaRPr>
              </a:p>
            </p:txBody>
          </p:sp>
        </mc:Choice>
        <mc:Fallback xmlns="">
          <p:sp>
            <p:nvSpPr>
              <p:cNvPr id="10" name="TextBox 9">
                <a:extLst>
                  <a:ext uri="{FF2B5EF4-FFF2-40B4-BE49-F238E27FC236}">
                    <a16:creationId xmlns:a16="http://schemas.microsoft.com/office/drawing/2014/main" id="{0B4022E9-B8B0-F78D-F6F9-901B7580CCBA}"/>
                  </a:ext>
                </a:extLst>
              </p:cNvPr>
              <p:cNvSpPr txBox="1">
                <a:spLocks noRot="1" noChangeAspect="1" noMove="1" noResize="1" noEditPoints="1" noAdjustHandles="1" noChangeArrowheads="1" noChangeShapeType="1" noTextEdit="1"/>
              </p:cNvSpPr>
              <p:nvPr/>
            </p:nvSpPr>
            <p:spPr>
              <a:xfrm>
                <a:off x="364065" y="2350561"/>
                <a:ext cx="6237817" cy="2939266"/>
              </a:xfrm>
              <a:prstGeom prst="rect">
                <a:avLst/>
              </a:prstGeom>
              <a:blipFill>
                <a:blip r:embed="rId3"/>
                <a:stretch>
                  <a:fillRect l="-203" t="-431" b="-1293"/>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BC41893F-1237-57E5-008C-FF2912939CCA}"/>
                  </a:ext>
                </a:extLst>
              </p:cNvPr>
              <p:cNvSpPr txBox="1"/>
              <p:nvPr/>
            </p:nvSpPr>
            <p:spPr>
              <a:xfrm>
                <a:off x="6601883" y="2212062"/>
                <a:ext cx="4591050" cy="954107"/>
              </a:xfrm>
              <a:prstGeom prst="rect">
                <a:avLst/>
              </a:prstGeom>
              <a:noFill/>
            </p:spPr>
            <p:txBody>
              <a:bodyPr wrap="square">
                <a:spAutoFit/>
              </a:bodyPr>
              <a:lstStyle/>
              <a:p>
                <a:r>
                  <a:rPr lang="vi-VN" sz="1400" dirty="0">
                    <a:solidFill>
                      <a:srgbClr val="444B52"/>
                    </a:solidFill>
                    <a:latin typeface="Arial"/>
                  </a:rPr>
                  <a:t>Dùng K-means (hoặc K-means++)</a:t>
                </a:r>
              </a:p>
              <a:p>
                <a:r>
                  <a:rPr lang="vi-VN" sz="1400" dirty="0">
                    <a:solidFill>
                      <a:srgbClr val="444B52"/>
                    </a:solidFill>
                    <a:latin typeface="Arial"/>
                  </a:rPr>
                  <a:t>ra được các cụm </a:t>
                </a:r>
                <a14:m>
                  <m:oMath xmlns:m="http://schemas.openxmlformats.org/officeDocument/2006/math">
                    <m:sSub>
                      <m:sSubPr>
                        <m:ctrlPr>
                          <a:rPr lang="en-VN" sz="1400" i="1">
                            <a:latin typeface="Cambria Math" panose="02040503050406030204" pitchFamily="18" charset="0"/>
                          </a:rPr>
                        </m:ctrlPr>
                      </m:sSubPr>
                      <m:e>
                        <m:r>
                          <a:rPr lang="en-VN" sz="1400" i="1">
                            <a:latin typeface="Cambria Math" panose="02040503050406030204" pitchFamily="18" charset="0"/>
                          </a:rPr>
                          <m:t>𝐶</m:t>
                        </m:r>
                      </m:e>
                      <m:sub>
                        <m:r>
                          <a:rPr lang="en-VN" sz="1400" i="1">
                            <a:latin typeface="Cambria Math" panose="02040503050406030204" pitchFamily="18" charset="0"/>
                          </a:rPr>
                          <m:t>𝑘</m:t>
                        </m:r>
                      </m:sub>
                    </m:sSub>
                  </m:oMath>
                </a14:m>
                <a:r>
                  <a:rPr lang="en-VN" sz="1400" dirty="0"/>
                  <a:t> và </a:t>
                </a:r>
                <a14:m>
                  <m:oMath xmlns:m="http://schemas.openxmlformats.org/officeDocument/2006/math">
                    <m:d>
                      <m:dPr>
                        <m:begChr m:val="|"/>
                        <m:endChr m:val="|"/>
                        <m:ctrlPr>
                          <a:rPr lang="en-VN" sz="1400" i="1">
                            <a:latin typeface="Cambria Math" panose="02040503050406030204" pitchFamily="18" charset="0"/>
                          </a:rPr>
                        </m:ctrlPr>
                      </m:dPr>
                      <m:e>
                        <m:sSub>
                          <m:sSubPr>
                            <m:ctrlPr>
                              <a:rPr lang="en-VN" sz="1400" i="1">
                                <a:latin typeface="Cambria Math" panose="02040503050406030204" pitchFamily="18" charset="0"/>
                              </a:rPr>
                            </m:ctrlPr>
                          </m:sSubPr>
                          <m:e>
                            <m:r>
                              <a:rPr lang="en-VN" sz="1400" i="1">
                                <a:latin typeface="Cambria Math" panose="02040503050406030204" pitchFamily="18" charset="0"/>
                              </a:rPr>
                              <m:t>𝐶</m:t>
                            </m:r>
                          </m:e>
                          <m:sub>
                            <m:r>
                              <a:rPr lang="en-VN" sz="1400" i="1">
                                <a:latin typeface="Cambria Math" panose="02040503050406030204" pitchFamily="18" charset="0"/>
                              </a:rPr>
                              <m:t>𝑘</m:t>
                            </m:r>
                          </m:sub>
                        </m:sSub>
                      </m:e>
                    </m:d>
                  </m:oMath>
                </a14:m>
                <a:r>
                  <a:rPr lang="en-VN" sz="1400" dirty="0"/>
                  <a:t> số lượng phần tử của cụm</a:t>
                </a:r>
                <a:br>
                  <a:rPr lang="en-VN" sz="1400" dirty="0"/>
                </a:br>
                <a:br>
                  <a:rPr lang="en-VN" sz="1400" dirty="0"/>
                </a:br>
                <a:r>
                  <a:rPr lang="en-VN" sz="1400" dirty="0"/>
                  <a:t>Ta khởi tạo:</a:t>
                </a:r>
              </a:p>
            </p:txBody>
          </p:sp>
        </mc:Choice>
        <mc:Fallback xmlns="">
          <p:sp>
            <p:nvSpPr>
              <p:cNvPr id="6" name="TextBox 5">
                <a:extLst>
                  <a:ext uri="{FF2B5EF4-FFF2-40B4-BE49-F238E27FC236}">
                    <a16:creationId xmlns:a16="http://schemas.microsoft.com/office/drawing/2014/main" id="{BC41893F-1237-57E5-008C-FF2912939CCA}"/>
                  </a:ext>
                </a:extLst>
              </p:cNvPr>
              <p:cNvSpPr txBox="1">
                <a:spLocks noRot="1" noChangeAspect="1" noMove="1" noResize="1" noEditPoints="1" noAdjustHandles="1" noChangeArrowheads="1" noChangeShapeType="1" noTextEdit="1"/>
              </p:cNvSpPr>
              <p:nvPr/>
            </p:nvSpPr>
            <p:spPr>
              <a:xfrm>
                <a:off x="6601883" y="2212062"/>
                <a:ext cx="4591050" cy="954107"/>
              </a:xfrm>
              <a:prstGeom prst="rect">
                <a:avLst/>
              </a:prstGeom>
              <a:blipFill>
                <a:blip r:embed="rId4"/>
                <a:stretch>
                  <a:fillRect l="-275" t="-1316" b="-6579"/>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9AD659CD-661F-3F05-F00C-293A9268673B}"/>
                  </a:ext>
                </a:extLst>
              </p:cNvPr>
              <p:cNvSpPr txBox="1"/>
              <p:nvPr/>
            </p:nvSpPr>
            <p:spPr>
              <a:xfrm>
                <a:off x="6716025" y="5423454"/>
                <a:ext cx="1322734" cy="626005"/>
              </a:xfrm>
              <a:prstGeom prst="rect">
                <a:avLst/>
              </a:prstGeom>
              <a:noFill/>
            </p:spPr>
            <p:txBody>
              <a:bodyPr wrap="none" rtlCol="0">
                <a:spAutoFit/>
              </a:bodyPr>
              <a:lstStyle/>
              <a:p>
                <a:pPr/>
                <a14:m>
                  <m:oMathPara xmlns:m="http://schemas.openxmlformats.org/officeDocument/2006/math">
                    <m:oMath>
                      <m:sSubSup>
                        <m:sSubSupPr>
                          <m:ctrlPr>
                            <a:rPr lang="en-VN" i="1">
                              <a:solidFill>
                                <a:schemeClr val="accent6">
                                  <a:lumMod val="75000"/>
                                </a:schemeClr>
                              </a:solidFill>
                              <a:latin typeface="Cambria Math" panose="02040503050406030204" pitchFamily="18" charset="0"/>
                            </a:rPr>
                          </m:ctrlPr>
                        </m:sSubSupPr>
                        <m:e>
                          <m:r>
                            <a:rPr lang="en-VN" i="1">
                              <a:solidFill>
                                <a:schemeClr val="accent6">
                                  <a:lumMod val="75000"/>
                                </a:schemeClr>
                              </a:solidFill>
                              <a:latin typeface="Cambria Math" panose="02040503050406030204" pitchFamily="18" charset="0"/>
                            </a:rPr>
                            <m:t>𝜋</m:t>
                          </m:r>
                        </m:e>
                        <m:sub>
                          <m:r>
                            <a:rPr lang="en-VN" i="1">
                              <a:solidFill>
                                <a:schemeClr val="accent6">
                                  <a:lumMod val="75000"/>
                                </a:schemeClr>
                              </a:solidFill>
                              <a:latin typeface="Cambria Math" panose="02040503050406030204" pitchFamily="18" charset="0"/>
                            </a:rPr>
                            <m:t>𝑘</m:t>
                          </m:r>
                        </m:sub>
                        <m:sup>
                          <m:d>
                            <m:dPr>
                              <m:ctrlPr>
                                <a:rPr lang="en-VN">
                                  <a:solidFill>
                                    <a:schemeClr val="accent6">
                                      <a:lumMod val="75000"/>
                                    </a:schemeClr>
                                  </a:solidFill>
                                  <a:latin typeface="Cambria Math" panose="02040503050406030204" pitchFamily="18" charset="0"/>
                                </a:rPr>
                              </m:ctrlPr>
                            </m:dPr>
                            <m:e>
                              <m:r>
                                <a:rPr lang="en-VN">
                                  <a:solidFill>
                                    <a:schemeClr val="accent6">
                                      <a:lumMod val="75000"/>
                                    </a:schemeClr>
                                  </a:solidFill>
                                  <a:latin typeface="Cambria Math" panose="02040503050406030204" pitchFamily="18" charset="0"/>
                                </a:rPr>
                                <m:t>0</m:t>
                              </m:r>
                            </m:e>
                          </m:d>
                        </m:sup>
                      </m:sSubSup>
                      <m:r>
                        <a:rPr lang="en-VN">
                          <a:latin typeface="Cambria Math" panose="02040503050406030204" pitchFamily="18" charset="0"/>
                        </a:rPr>
                        <m:t>=</m:t>
                      </m:r>
                      <m:f>
                        <m:fPr>
                          <m:ctrlPr>
                            <a:rPr lang="en-VN" i="1">
                              <a:latin typeface="Cambria Math" panose="02040503050406030204" pitchFamily="18" charset="0"/>
                            </a:rPr>
                          </m:ctrlPr>
                        </m:fPr>
                        <m:num>
                          <m:d>
                            <m:dPr>
                              <m:begChr m:val="|"/>
                              <m:endChr m:val="|"/>
                              <m:ctrlPr>
                                <a:rPr lang="en-VN" i="1">
                                  <a:latin typeface="Cambria Math" panose="02040503050406030204" pitchFamily="18" charset="0"/>
                                </a:rPr>
                              </m:ctrlPr>
                            </m:dPr>
                            <m:e>
                              <m:sSub>
                                <m:sSubPr>
                                  <m:ctrlPr>
                                    <a:rPr lang="en-VN" i="1">
                                      <a:latin typeface="Cambria Math" panose="02040503050406030204" pitchFamily="18" charset="0"/>
                                    </a:rPr>
                                  </m:ctrlPr>
                                </m:sSubPr>
                                <m:e>
                                  <m:r>
                                    <a:rPr lang="en-VN" i="1">
                                      <a:latin typeface="Cambria Math" panose="02040503050406030204" pitchFamily="18" charset="0"/>
                                    </a:rPr>
                                    <m:t>𝐶</m:t>
                                  </m:r>
                                </m:e>
                                <m:sub>
                                  <m:r>
                                    <a:rPr lang="en-VN" i="1">
                                      <a:latin typeface="Cambria Math" panose="02040503050406030204" pitchFamily="18" charset="0"/>
                                    </a:rPr>
                                    <m:t>𝑘</m:t>
                                  </m:r>
                                </m:sub>
                              </m:sSub>
                            </m:e>
                          </m:d>
                        </m:num>
                        <m:den>
                          <m:r>
                            <a:rPr lang="en-VN" i="1">
                              <a:latin typeface="Cambria Math" panose="02040503050406030204" pitchFamily="18" charset="0"/>
                            </a:rPr>
                            <m:t>𝑁</m:t>
                          </m:r>
                        </m:den>
                      </m:f>
                    </m:oMath>
                  </m:oMathPara>
                </a14:m>
                <a:endParaRPr lang="en-VN" dirty="0"/>
              </a:p>
            </p:txBody>
          </p:sp>
        </mc:Choice>
        <mc:Fallback xmlns="">
          <p:sp>
            <p:nvSpPr>
              <p:cNvPr id="14" name="TextBox 13">
                <a:extLst>
                  <a:ext uri="{FF2B5EF4-FFF2-40B4-BE49-F238E27FC236}">
                    <a16:creationId xmlns:a16="http://schemas.microsoft.com/office/drawing/2014/main" id="{9AD659CD-661F-3F05-F00C-293A9268673B}"/>
                  </a:ext>
                </a:extLst>
              </p:cNvPr>
              <p:cNvSpPr txBox="1">
                <a:spLocks noRot="1" noChangeAspect="1" noMove="1" noResize="1" noEditPoints="1" noAdjustHandles="1" noChangeArrowheads="1" noChangeShapeType="1" noTextEdit="1"/>
              </p:cNvSpPr>
              <p:nvPr/>
            </p:nvSpPr>
            <p:spPr>
              <a:xfrm>
                <a:off x="6716025" y="5423454"/>
                <a:ext cx="1322734" cy="626005"/>
              </a:xfrm>
              <a:prstGeom prst="rect">
                <a:avLst/>
              </a:prstGeom>
              <a:blipFill>
                <a:blip r:embed="rId5"/>
                <a:stretch>
                  <a:fillRect b="-6000"/>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E94BC6F-F46D-E6B8-3C28-A6AE0E2D3F34}"/>
                  </a:ext>
                </a:extLst>
              </p:cNvPr>
              <p:cNvSpPr txBox="1"/>
              <p:nvPr/>
            </p:nvSpPr>
            <p:spPr>
              <a:xfrm>
                <a:off x="6538225" y="4252157"/>
                <a:ext cx="3587908" cy="910699"/>
              </a:xfrm>
              <a:prstGeom prst="rect">
                <a:avLst/>
              </a:prstGeom>
              <a:noFill/>
            </p:spPr>
            <p:txBody>
              <a:bodyPr wrap="square">
                <a:spAutoFit/>
              </a:bodyPr>
              <a:lstStyle/>
              <a:p>
                <a:pPr/>
                <a14:m>
                  <m:oMathPara xmlns:m="http://schemas.openxmlformats.org/officeDocument/2006/math">
                    <m:oMath>
                      <m:sSubSup>
                        <m:sSubSupPr>
                          <m:ctrlPr>
                            <a:rPr lang="en-VN" i="1">
                              <a:solidFill>
                                <a:srgbClr val="00B050"/>
                              </a:solidFill>
                              <a:latin typeface="Cambria Math" panose="02040503050406030204" pitchFamily="18" charset="0"/>
                            </a:rPr>
                          </m:ctrlPr>
                        </m:sSubSupPr>
                        <m:e>
                          <m:r>
                            <a:rPr lang="en-VN" i="1">
                              <a:solidFill>
                                <a:srgbClr val="00B050"/>
                              </a:solidFill>
                              <a:latin typeface="Cambria Math" panose="02040503050406030204" pitchFamily="18" charset="0"/>
                            </a:rPr>
                            <m:t>𝜎</m:t>
                          </m:r>
                        </m:e>
                        <m:sub>
                          <m:r>
                            <a:rPr lang="en-VN" i="1">
                              <a:solidFill>
                                <a:srgbClr val="00B050"/>
                              </a:solidFill>
                              <a:latin typeface="Cambria Math" panose="02040503050406030204" pitchFamily="18" charset="0"/>
                            </a:rPr>
                            <m:t>𝑘</m:t>
                          </m:r>
                        </m:sub>
                        <m:sup>
                          <m:d>
                            <m:dPr>
                              <m:ctrlPr>
                                <a:rPr lang="en-VN" i="0">
                                  <a:solidFill>
                                    <a:srgbClr val="00B050"/>
                                  </a:solidFill>
                                  <a:latin typeface="Cambria Math" panose="02040503050406030204" pitchFamily="18" charset="0"/>
                                </a:rPr>
                              </m:ctrlPr>
                            </m:dPr>
                            <m:e>
                              <m:r>
                                <a:rPr lang="en-VN" i="0">
                                  <a:solidFill>
                                    <a:srgbClr val="00B050"/>
                                  </a:solidFill>
                                  <a:latin typeface="Cambria Math" panose="02040503050406030204" pitchFamily="18" charset="0"/>
                                </a:rPr>
                                <m:t>0</m:t>
                              </m:r>
                            </m:e>
                          </m:d>
                        </m:sup>
                      </m:sSubSup>
                      <m:r>
                        <a:rPr lang="en-VN" i="0">
                          <a:latin typeface="Cambria Math" panose="02040503050406030204" pitchFamily="18" charset="0"/>
                        </a:rPr>
                        <m:t>=</m:t>
                      </m:r>
                      <m:rad>
                        <m:radPr>
                          <m:degHide m:val="on"/>
                          <m:ctrlPr>
                            <a:rPr lang="en-VN" i="1">
                              <a:latin typeface="Cambria Math" panose="02040503050406030204" pitchFamily="18" charset="0"/>
                            </a:rPr>
                          </m:ctrlPr>
                        </m:radPr>
                        <m:deg/>
                        <m:e>
                          <m:f>
                            <m:fPr>
                              <m:ctrlPr>
                                <a:rPr lang="en-VN" i="0">
                                  <a:latin typeface="Cambria Math" panose="02040503050406030204" pitchFamily="18" charset="0"/>
                                </a:rPr>
                              </m:ctrlPr>
                            </m:fPr>
                            <m:num>
                              <m:r>
                                <a:rPr lang="en-VN" i="0">
                                  <a:latin typeface="Cambria Math" panose="02040503050406030204" pitchFamily="18" charset="0"/>
                                </a:rPr>
                                <m:t>1</m:t>
                              </m:r>
                            </m:num>
                            <m:den>
                              <m:d>
                                <m:dPr>
                                  <m:begChr m:val="|"/>
                                  <m:endChr m:val="|"/>
                                  <m:ctrlPr>
                                    <a:rPr lang="en-VN" i="1">
                                      <a:latin typeface="Cambria Math" panose="02040503050406030204" pitchFamily="18" charset="0"/>
                                    </a:rPr>
                                  </m:ctrlPr>
                                </m:dPr>
                                <m:e>
                                  <m:sSub>
                                    <m:sSubPr>
                                      <m:ctrlPr>
                                        <a:rPr lang="en-VN" i="1">
                                          <a:latin typeface="Cambria Math" panose="02040503050406030204" pitchFamily="18" charset="0"/>
                                        </a:rPr>
                                      </m:ctrlPr>
                                    </m:sSubPr>
                                    <m:e>
                                      <m:r>
                                        <a:rPr lang="en-VN" i="1">
                                          <a:latin typeface="Cambria Math" panose="02040503050406030204" pitchFamily="18" charset="0"/>
                                        </a:rPr>
                                        <m:t>𝐶</m:t>
                                      </m:r>
                                    </m:e>
                                    <m:sub>
                                      <m:r>
                                        <a:rPr lang="en-VN" i="1">
                                          <a:latin typeface="Cambria Math" panose="02040503050406030204" pitchFamily="18" charset="0"/>
                                        </a:rPr>
                                        <m:t>𝑘</m:t>
                                      </m:r>
                                    </m:sub>
                                  </m:sSub>
                                </m:e>
                              </m:d>
                            </m:den>
                          </m:f>
                          <m:nary>
                            <m:naryPr>
                              <m:chr m:val="∑"/>
                              <m:limLoc m:val="undOvr"/>
                              <m:supHide m:val="on"/>
                              <m:ctrlPr>
                                <a:rPr lang="en-VN" i="1">
                                  <a:latin typeface="Cambria Math" panose="02040503050406030204" pitchFamily="18" charset="0"/>
                                </a:rPr>
                              </m:ctrlPr>
                            </m:naryPr>
                            <m:sub>
                              <m:sSub>
                                <m:sSubPr>
                                  <m:ctrlPr>
                                    <a:rPr lang="en-VN" i="1">
                                      <a:latin typeface="Cambria Math" panose="02040503050406030204" pitchFamily="18" charset="0"/>
                                    </a:rPr>
                                  </m:ctrlPr>
                                </m:sSubPr>
                                <m:e>
                                  <m:r>
                                    <a:rPr lang="en-VN" i="1">
                                      <a:latin typeface="Cambria Math" panose="02040503050406030204" pitchFamily="18" charset="0"/>
                                    </a:rPr>
                                    <m:t>𝑥</m:t>
                                  </m:r>
                                </m:e>
                                <m:sub>
                                  <m:r>
                                    <a:rPr lang="en-VN" i="1">
                                      <a:latin typeface="Cambria Math" panose="02040503050406030204" pitchFamily="18" charset="0"/>
                                    </a:rPr>
                                    <m:t>𝑛</m:t>
                                  </m:r>
                                </m:sub>
                              </m:sSub>
                              <m:r>
                                <a:rPr lang="en-VN" i="0">
                                  <a:latin typeface="Cambria Math" panose="02040503050406030204" pitchFamily="18" charset="0"/>
                                </a:rPr>
                                <m:t>∈</m:t>
                              </m:r>
                              <m:sSub>
                                <m:sSubPr>
                                  <m:ctrlPr>
                                    <a:rPr lang="en-VN" i="1">
                                      <a:latin typeface="Cambria Math" panose="02040503050406030204" pitchFamily="18" charset="0"/>
                                    </a:rPr>
                                  </m:ctrlPr>
                                </m:sSubPr>
                                <m:e>
                                  <m:r>
                                    <a:rPr lang="en-VN" i="1">
                                      <a:latin typeface="Cambria Math" panose="02040503050406030204" pitchFamily="18" charset="0"/>
                                    </a:rPr>
                                    <m:t>𝐶</m:t>
                                  </m:r>
                                </m:e>
                                <m:sub>
                                  <m:r>
                                    <a:rPr lang="en-VN" i="1">
                                      <a:latin typeface="Cambria Math" panose="02040503050406030204" pitchFamily="18" charset="0"/>
                                    </a:rPr>
                                    <m:t>𝑘</m:t>
                                  </m:r>
                                </m:sub>
                              </m:sSub>
                            </m:sub>
                            <m:sup/>
                            <m:e>
                              <m:sSup>
                                <m:sSupPr>
                                  <m:ctrlPr>
                                    <a:rPr lang="en-VN" i="1">
                                      <a:latin typeface="Cambria Math" panose="02040503050406030204" pitchFamily="18" charset="0"/>
                                    </a:rPr>
                                  </m:ctrlPr>
                                </m:sSupPr>
                                <m:e>
                                  <m:d>
                                    <m:dPr>
                                      <m:ctrlPr>
                                        <a:rPr lang="en-VN" i="1">
                                          <a:latin typeface="Cambria Math" panose="02040503050406030204" pitchFamily="18" charset="0"/>
                                        </a:rPr>
                                      </m:ctrlPr>
                                    </m:dPr>
                                    <m:e>
                                      <m:sSub>
                                        <m:sSubPr>
                                          <m:ctrlPr>
                                            <a:rPr lang="en-VN" i="1">
                                              <a:latin typeface="Cambria Math" panose="02040503050406030204" pitchFamily="18" charset="0"/>
                                            </a:rPr>
                                          </m:ctrlPr>
                                        </m:sSubPr>
                                        <m:e>
                                          <m:r>
                                            <a:rPr lang="en-VN" i="1">
                                              <a:latin typeface="Cambria Math" panose="02040503050406030204" pitchFamily="18" charset="0"/>
                                            </a:rPr>
                                            <m:t>𝑥</m:t>
                                          </m:r>
                                        </m:e>
                                        <m:sub>
                                          <m:r>
                                            <a:rPr lang="en-VN" i="1">
                                              <a:latin typeface="Cambria Math" panose="02040503050406030204" pitchFamily="18" charset="0"/>
                                            </a:rPr>
                                            <m:t>𝑛</m:t>
                                          </m:r>
                                        </m:sub>
                                      </m:sSub>
                                      <m:r>
                                        <a:rPr lang="en-VN" i="0">
                                          <a:latin typeface="Cambria Math" panose="02040503050406030204" pitchFamily="18" charset="0"/>
                                        </a:rPr>
                                        <m:t>−</m:t>
                                      </m:r>
                                      <m:sSubSup>
                                        <m:sSubSupPr>
                                          <m:ctrlPr>
                                            <a:rPr lang="en-VN" i="1">
                                              <a:solidFill>
                                                <a:schemeClr val="tx2">
                                                  <a:lumMod val="60000"/>
                                                  <a:lumOff val="40000"/>
                                                </a:schemeClr>
                                              </a:solidFill>
                                              <a:latin typeface="Cambria Math" panose="02040503050406030204" pitchFamily="18" charset="0"/>
                                            </a:rPr>
                                          </m:ctrlPr>
                                        </m:sSubSupPr>
                                        <m:e>
                                          <m:r>
                                            <a:rPr lang="en-VN" i="1">
                                              <a:solidFill>
                                                <a:schemeClr val="tx2">
                                                  <a:lumMod val="60000"/>
                                                  <a:lumOff val="40000"/>
                                                </a:schemeClr>
                                              </a:solidFill>
                                              <a:latin typeface="Cambria Math" panose="02040503050406030204" pitchFamily="18" charset="0"/>
                                            </a:rPr>
                                            <m:t>𝜇</m:t>
                                          </m:r>
                                        </m:e>
                                        <m:sub>
                                          <m:r>
                                            <a:rPr lang="en-VN" i="1">
                                              <a:solidFill>
                                                <a:schemeClr val="tx2">
                                                  <a:lumMod val="60000"/>
                                                  <a:lumOff val="40000"/>
                                                </a:schemeClr>
                                              </a:solidFill>
                                              <a:latin typeface="Cambria Math" panose="02040503050406030204" pitchFamily="18" charset="0"/>
                                            </a:rPr>
                                            <m:t>𝑘</m:t>
                                          </m:r>
                                        </m:sub>
                                        <m:sup>
                                          <m:d>
                                            <m:dPr>
                                              <m:ctrlPr>
                                                <a:rPr lang="en-VN" i="0">
                                                  <a:solidFill>
                                                    <a:schemeClr val="tx2">
                                                      <a:lumMod val="60000"/>
                                                      <a:lumOff val="40000"/>
                                                    </a:schemeClr>
                                                  </a:solidFill>
                                                  <a:latin typeface="Cambria Math" panose="02040503050406030204" pitchFamily="18" charset="0"/>
                                                </a:rPr>
                                              </m:ctrlPr>
                                            </m:dPr>
                                            <m:e>
                                              <m:r>
                                                <a:rPr lang="en-VN" i="0">
                                                  <a:solidFill>
                                                    <a:schemeClr val="tx2">
                                                      <a:lumMod val="60000"/>
                                                      <a:lumOff val="40000"/>
                                                    </a:schemeClr>
                                                  </a:solidFill>
                                                  <a:latin typeface="Cambria Math" panose="02040503050406030204" pitchFamily="18" charset="0"/>
                                                </a:rPr>
                                                <m:t>0</m:t>
                                              </m:r>
                                            </m:e>
                                          </m:d>
                                        </m:sup>
                                      </m:sSubSup>
                                    </m:e>
                                  </m:d>
                                </m:e>
                                <m:sup>
                                  <m:r>
                                    <a:rPr lang="en-VN" i="0">
                                      <a:latin typeface="Cambria Math" panose="02040503050406030204" pitchFamily="18" charset="0"/>
                                    </a:rPr>
                                    <m:t>2</m:t>
                                  </m:r>
                                </m:sup>
                              </m:sSup>
                            </m:e>
                          </m:nary>
                        </m:e>
                      </m:rad>
                    </m:oMath>
                  </m:oMathPara>
                </a14:m>
                <a:endParaRPr lang="en-VN" sz="2400" dirty="0"/>
              </a:p>
            </p:txBody>
          </p:sp>
        </mc:Choice>
        <mc:Fallback xmlns="">
          <p:sp>
            <p:nvSpPr>
              <p:cNvPr id="16" name="TextBox 15">
                <a:extLst>
                  <a:ext uri="{FF2B5EF4-FFF2-40B4-BE49-F238E27FC236}">
                    <a16:creationId xmlns:a16="http://schemas.microsoft.com/office/drawing/2014/main" id="{EE94BC6F-F46D-E6B8-3C28-A6AE0E2D3F34}"/>
                  </a:ext>
                </a:extLst>
              </p:cNvPr>
              <p:cNvSpPr txBox="1">
                <a:spLocks noRot="1" noChangeAspect="1" noMove="1" noResize="1" noEditPoints="1" noAdjustHandles="1" noChangeArrowheads="1" noChangeShapeType="1" noTextEdit="1"/>
              </p:cNvSpPr>
              <p:nvPr/>
            </p:nvSpPr>
            <p:spPr>
              <a:xfrm>
                <a:off x="6538225" y="4252157"/>
                <a:ext cx="3587908" cy="910699"/>
              </a:xfrm>
              <a:prstGeom prst="rect">
                <a:avLst/>
              </a:prstGeom>
              <a:blipFill>
                <a:blip r:embed="rId6"/>
                <a:stretch>
                  <a:fillRect t="-95833" b="-13611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6E83C190-3A29-47A6-3F21-C977D855C166}"/>
                  </a:ext>
                </a:extLst>
              </p:cNvPr>
              <p:cNvSpPr txBox="1"/>
              <p:nvPr/>
            </p:nvSpPr>
            <p:spPr>
              <a:xfrm>
                <a:off x="6305550" y="3292011"/>
                <a:ext cx="2897717" cy="799642"/>
              </a:xfrm>
              <a:prstGeom prst="rect">
                <a:avLst/>
              </a:prstGeom>
              <a:noFill/>
            </p:spPr>
            <p:txBody>
              <a:bodyPr wrap="square">
                <a:spAutoFit/>
              </a:bodyPr>
              <a:lstStyle/>
              <a:p>
                <a:pPr/>
                <a14:m>
                  <m:oMathPara xmlns:m="http://schemas.openxmlformats.org/officeDocument/2006/math">
                    <m:oMath>
                      <m:sSubSup>
                        <m:sSubSupPr>
                          <m:ctrlPr>
                            <a:rPr lang="en-VN" b="1" i="1">
                              <a:solidFill>
                                <a:schemeClr val="tx2">
                                  <a:lumMod val="60000"/>
                                  <a:lumOff val="40000"/>
                                </a:schemeClr>
                              </a:solidFill>
                              <a:latin typeface="Cambria Math" panose="02040503050406030204" pitchFamily="18" charset="0"/>
                            </a:rPr>
                          </m:ctrlPr>
                        </m:sSubSupPr>
                        <m:e>
                          <m:r>
                            <a:rPr lang="en-VN" b="1" i="1">
                              <a:solidFill>
                                <a:schemeClr val="tx2">
                                  <a:lumMod val="60000"/>
                                  <a:lumOff val="40000"/>
                                </a:schemeClr>
                              </a:solidFill>
                              <a:latin typeface="Cambria Math" panose="02040503050406030204" pitchFamily="18" charset="0"/>
                            </a:rPr>
                            <m:t>𝝁</m:t>
                          </m:r>
                        </m:e>
                        <m:sub>
                          <m:r>
                            <a:rPr lang="en-VN" b="1" i="1">
                              <a:solidFill>
                                <a:schemeClr val="tx2">
                                  <a:lumMod val="60000"/>
                                  <a:lumOff val="40000"/>
                                </a:schemeClr>
                              </a:solidFill>
                              <a:latin typeface="Cambria Math" panose="02040503050406030204" pitchFamily="18" charset="0"/>
                            </a:rPr>
                            <m:t>𝒌</m:t>
                          </m:r>
                        </m:sub>
                        <m:sup>
                          <m:d>
                            <m:dPr>
                              <m:ctrlPr>
                                <a:rPr lang="en-VN" b="1" i="0">
                                  <a:solidFill>
                                    <a:schemeClr val="tx2">
                                      <a:lumMod val="60000"/>
                                      <a:lumOff val="40000"/>
                                    </a:schemeClr>
                                  </a:solidFill>
                                  <a:latin typeface="Cambria Math" panose="02040503050406030204" pitchFamily="18" charset="0"/>
                                </a:rPr>
                              </m:ctrlPr>
                            </m:dPr>
                            <m:e>
                              <m:r>
                                <a:rPr lang="en-VN" b="1" i="0">
                                  <a:solidFill>
                                    <a:schemeClr val="tx2">
                                      <a:lumMod val="60000"/>
                                      <a:lumOff val="40000"/>
                                    </a:schemeClr>
                                  </a:solidFill>
                                  <a:latin typeface="Cambria Math" panose="02040503050406030204" pitchFamily="18" charset="0"/>
                                </a:rPr>
                                <m:t>𝟎</m:t>
                              </m:r>
                            </m:e>
                          </m:d>
                        </m:sup>
                      </m:sSubSup>
                      <m:r>
                        <a:rPr lang="en-VN" i="0">
                          <a:latin typeface="Cambria Math" panose="02040503050406030204" pitchFamily="18" charset="0"/>
                        </a:rPr>
                        <m:t>=</m:t>
                      </m:r>
                      <m:f>
                        <m:fPr>
                          <m:ctrlPr>
                            <a:rPr lang="en-VN" i="0">
                              <a:latin typeface="Cambria Math" panose="02040503050406030204" pitchFamily="18" charset="0"/>
                            </a:rPr>
                          </m:ctrlPr>
                        </m:fPr>
                        <m:num>
                          <m:r>
                            <a:rPr lang="en-VN" i="0">
                              <a:latin typeface="Cambria Math" panose="02040503050406030204" pitchFamily="18" charset="0"/>
                            </a:rPr>
                            <m:t>1</m:t>
                          </m:r>
                        </m:num>
                        <m:den>
                          <m:d>
                            <m:dPr>
                              <m:begChr m:val="|"/>
                              <m:endChr m:val="|"/>
                              <m:ctrlPr>
                                <a:rPr lang="en-VN" i="1">
                                  <a:latin typeface="Cambria Math" panose="02040503050406030204" pitchFamily="18" charset="0"/>
                                </a:rPr>
                              </m:ctrlPr>
                            </m:dPr>
                            <m:e>
                              <m:sSub>
                                <m:sSubPr>
                                  <m:ctrlPr>
                                    <a:rPr lang="en-VN" i="1">
                                      <a:latin typeface="Cambria Math" panose="02040503050406030204" pitchFamily="18" charset="0"/>
                                    </a:rPr>
                                  </m:ctrlPr>
                                </m:sSubPr>
                                <m:e>
                                  <m:r>
                                    <a:rPr lang="en-VN" i="1">
                                      <a:latin typeface="Cambria Math" panose="02040503050406030204" pitchFamily="18" charset="0"/>
                                    </a:rPr>
                                    <m:t>𝐶</m:t>
                                  </m:r>
                                </m:e>
                                <m:sub>
                                  <m:r>
                                    <a:rPr lang="en-VN" i="1">
                                      <a:latin typeface="Cambria Math" panose="02040503050406030204" pitchFamily="18" charset="0"/>
                                    </a:rPr>
                                    <m:t>𝑘</m:t>
                                  </m:r>
                                </m:sub>
                              </m:sSub>
                            </m:e>
                          </m:d>
                        </m:den>
                      </m:f>
                      <m:nary>
                        <m:naryPr>
                          <m:chr m:val="∑"/>
                          <m:limLoc m:val="undOvr"/>
                          <m:supHide m:val="on"/>
                          <m:ctrlPr>
                            <a:rPr lang="en-VN" i="1">
                              <a:latin typeface="Cambria Math" panose="02040503050406030204" pitchFamily="18" charset="0"/>
                            </a:rPr>
                          </m:ctrlPr>
                        </m:naryPr>
                        <m:sub>
                          <m:sSub>
                            <m:sSubPr>
                              <m:ctrlPr>
                                <a:rPr lang="en-VN" i="1">
                                  <a:latin typeface="Cambria Math" panose="02040503050406030204" pitchFamily="18" charset="0"/>
                                </a:rPr>
                              </m:ctrlPr>
                            </m:sSubPr>
                            <m:e>
                              <m:r>
                                <a:rPr lang="en-VN" i="1">
                                  <a:latin typeface="Cambria Math" panose="02040503050406030204" pitchFamily="18" charset="0"/>
                                </a:rPr>
                                <m:t>𝑥</m:t>
                              </m:r>
                            </m:e>
                            <m:sub>
                              <m:r>
                                <a:rPr lang="en-VN" i="1">
                                  <a:latin typeface="Cambria Math" panose="02040503050406030204" pitchFamily="18" charset="0"/>
                                </a:rPr>
                                <m:t>𝑛</m:t>
                              </m:r>
                            </m:sub>
                          </m:sSub>
                          <m:r>
                            <a:rPr lang="en-VN" i="0">
                              <a:latin typeface="Cambria Math" panose="02040503050406030204" pitchFamily="18" charset="0"/>
                            </a:rPr>
                            <m:t>∈</m:t>
                          </m:r>
                          <m:sSub>
                            <m:sSubPr>
                              <m:ctrlPr>
                                <a:rPr lang="en-VN" i="1">
                                  <a:latin typeface="Cambria Math" panose="02040503050406030204" pitchFamily="18" charset="0"/>
                                </a:rPr>
                              </m:ctrlPr>
                            </m:sSubPr>
                            <m:e>
                              <m:r>
                                <a:rPr lang="en-VN" i="1">
                                  <a:latin typeface="Cambria Math" panose="02040503050406030204" pitchFamily="18" charset="0"/>
                                </a:rPr>
                                <m:t>𝐶</m:t>
                              </m:r>
                            </m:e>
                            <m:sub>
                              <m:r>
                                <a:rPr lang="en-VN" i="1">
                                  <a:latin typeface="Cambria Math" panose="02040503050406030204" pitchFamily="18" charset="0"/>
                                </a:rPr>
                                <m:t>𝑘</m:t>
                              </m:r>
                            </m:sub>
                          </m:sSub>
                        </m:sub>
                        <m:sup/>
                        <m:e>
                          <m:sSub>
                            <m:sSubPr>
                              <m:ctrlPr>
                                <a:rPr lang="en-VN" i="1">
                                  <a:latin typeface="Cambria Math" panose="02040503050406030204" pitchFamily="18" charset="0"/>
                                </a:rPr>
                              </m:ctrlPr>
                            </m:sSubPr>
                            <m:e>
                              <m:r>
                                <a:rPr lang="en-VN" i="1">
                                  <a:latin typeface="Cambria Math" panose="02040503050406030204" pitchFamily="18" charset="0"/>
                                </a:rPr>
                                <m:t>𝑥</m:t>
                              </m:r>
                            </m:e>
                            <m:sub>
                              <m:r>
                                <a:rPr lang="en-VN" i="1">
                                  <a:latin typeface="Cambria Math" panose="02040503050406030204" pitchFamily="18" charset="0"/>
                                </a:rPr>
                                <m:t>𝑛</m:t>
                              </m:r>
                            </m:sub>
                          </m:sSub>
                        </m:e>
                      </m:nary>
                    </m:oMath>
                  </m:oMathPara>
                </a14:m>
                <a:endParaRPr lang="en-VN" dirty="0"/>
              </a:p>
            </p:txBody>
          </p:sp>
        </mc:Choice>
        <mc:Fallback xmlns="">
          <p:sp>
            <p:nvSpPr>
              <p:cNvPr id="18" name="TextBox 17">
                <a:extLst>
                  <a:ext uri="{FF2B5EF4-FFF2-40B4-BE49-F238E27FC236}">
                    <a16:creationId xmlns:a16="http://schemas.microsoft.com/office/drawing/2014/main" id="{6E83C190-3A29-47A6-3F21-C977D855C166}"/>
                  </a:ext>
                </a:extLst>
              </p:cNvPr>
              <p:cNvSpPr txBox="1">
                <a:spLocks noRot="1" noChangeAspect="1" noMove="1" noResize="1" noEditPoints="1" noAdjustHandles="1" noChangeArrowheads="1" noChangeShapeType="1" noTextEdit="1"/>
              </p:cNvSpPr>
              <p:nvPr/>
            </p:nvSpPr>
            <p:spPr>
              <a:xfrm>
                <a:off x="6305550" y="3292011"/>
                <a:ext cx="2897717" cy="799642"/>
              </a:xfrm>
              <a:prstGeom prst="rect">
                <a:avLst/>
              </a:prstGeom>
              <a:blipFill>
                <a:blip r:embed="rId7"/>
                <a:stretch>
                  <a:fillRect t="-117188" b="-156250"/>
                </a:stretch>
              </a:blipFill>
            </p:spPr>
            <p:txBody>
              <a:bodyPr/>
              <a:lstStyle/>
              <a:p>
                <a:r>
                  <a:rPr lang="en-VN">
                    <a:noFill/>
                  </a:rPr>
                  <a:t> </a:t>
                </a:r>
              </a:p>
            </p:txBody>
          </p:sp>
        </mc:Fallback>
      </mc:AlternateContent>
    </p:spTree>
    <p:extLst>
      <p:ext uri="{BB962C8B-B14F-4D97-AF65-F5344CB8AC3E}">
        <p14:creationId xmlns:p14="http://schemas.microsoft.com/office/powerpoint/2010/main" val="25792865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AA7CC-19D8-0362-753F-14E362253952}"/>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39337FD-F39A-7AA9-BBFD-43637E61DF5C}"/>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p:sp>
        <p:nvSpPr>
          <p:cNvPr id="4" name="TextBox 3">
            <a:extLst>
              <a:ext uri="{FF2B5EF4-FFF2-40B4-BE49-F238E27FC236}">
                <a16:creationId xmlns:a16="http://schemas.microsoft.com/office/drawing/2014/main" id="{446AA284-DE32-5A19-349C-F9B7CB0A819B}"/>
              </a:ext>
            </a:extLst>
          </p:cNvPr>
          <p:cNvSpPr txBox="1"/>
          <p:nvPr/>
        </p:nvSpPr>
        <p:spPr>
          <a:xfrm>
            <a:off x="364066" y="1267772"/>
            <a:ext cx="10961159" cy="600164"/>
          </a:xfrm>
          <a:prstGeom prst="rect">
            <a:avLst/>
          </a:prstGeom>
          <a:noFill/>
        </p:spPr>
        <p:txBody>
          <a:bodyPr wrap="square">
            <a:spAutoFit/>
          </a:bodyPr>
          <a:lstStyle/>
          <a:p>
            <a:pPr>
              <a:spcAft>
                <a:spcPts val="600"/>
              </a:spcAft>
            </a:pPr>
            <a:r>
              <a:rPr lang="vi-VN" sz="1400" b="1" dirty="0">
                <a:solidFill>
                  <a:srgbClr val="1B8A7A"/>
                </a:solidFill>
                <a:latin typeface="Arial"/>
              </a:rPr>
              <a:t>2.2. Expectation-Maximization (EM) - </a:t>
            </a:r>
            <a:r>
              <a:rPr lang="vi-VN" sz="1000" b="1" dirty="0">
                <a:solidFill>
                  <a:schemeClr val="accent5">
                    <a:lumMod val="60000"/>
                    <a:lumOff val="40000"/>
                  </a:schemeClr>
                </a:solidFill>
                <a:latin typeface="Arial"/>
              </a:rPr>
              <a:t>Phương pháp cực đại hoá kỳ vọng</a:t>
            </a:r>
          </a:p>
          <a:p>
            <a:pPr>
              <a:spcAft>
                <a:spcPts val="600"/>
              </a:spcAft>
            </a:pPr>
            <a:r>
              <a:rPr lang="vi-VN" sz="1400" dirty="0">
                <a:solidFill>
                  <a:srgbClr val="444B52"/>
                </a:solidFill>
                <a:latin typeface="Arial"/>
              </a:rPr>
              <a:t>Các bước của phương pháp </a:t>
            </a:r>
            <a:r>
              <a:rPr lang="vi-VN" sz="1400" b="1" dirty="0">
                <a:solidFill>
                  <a:srgbClr val="444B52"/>
                </a:solidFill>
                <a:latin typeface="Arial"/>
              </a:rPr>
              <a:t>Expectation-Maximization (EM)</a:t>
            </a:r>
            <a:r>
              <a:rPr lang="vi-VN" sz="1400" dirty="0">
                <a:solidFill>
                  <a:srgbClr val="444B52"/>
                </a:solidFill>
                <a:latin typeface="Arial"/>
              </a:rPr>
              <a:t>:</a:t>
            </a:r>
            <a:endParaRPr lang="vi-VN" sz="1400" b="1" dirty="0">
              <a:solidFill>
                <a:srgbClr val="444B52"/>
              </a:solidFill>
              <a:latin typeface="Aria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277F0C3-6EDD-3493-5041-E72E18264CC7}"/>
                  </a:ext>
                </a:extLst>
              </p:cNvPr>
              <p:cNvSpPr txBox="1"/>
              <p:nvPr/>
            </p:nvSpPr>
            <p:spPr>
              <a:xfrm>
                <a:off x="364066" y="2350561"/>
                <a:ext cx="6172201" cy="2939266"/>
              </a:xfrm>
              <a:prstGeom prst="rect">
                <a:avLst/>
              </a:prstGeom>
              <a:noFill/>
            </p:spPr>
            <p:txBody>
              <a:bodyPr wrap="square" rtlCol="0">
                <a:spAutoFit/>
              </a:bodyPr>
              <a:lstStyle/>
              <a:p>
                <a:pPr>
                  <a:spcAft>
                    <a:spcPts val="600"/>
                  </a:spcAft>
                </a:pPr>
                <a:r>
                  <a:rPr lang="vi-VN" sz="1400" dirty="0">
                    <a:solidFill>
                      <a:schemeClr val="bg1">
                        <a:lumMod val="75000"/>
                      </a:schemeClr>
                    </a:solidFill>
                    <a:latin typeface="Arial"/>
                  </a:rPr>
                  <a:t>1. Khởi tạo </a:t>
                </a:r>
                <a14:m>
                  <m:oMath xmlns:m="http://schemas.openxmlformats.org/officeDocument/2006/math">
                    <m:sSub>
                      <m:sSubPr>
                        <m:ctrlPr>
                          <a:rPr lang="en-US" sz="1400" b="1" i="1">
                            <a:solidFill>
                              <a:schemeClr val="bg1">
                                <a:lumMod val="75000"/>
                              </a:schemeClr>
                            </a:solidFill>
                            <a:latin typeface="Cambria Math" panose="02040503050406030204" pitchFamily="18" charset="0"/>
                          </a:rPr>
                        </m:ctrlPr>
                      </m:sSubPr>
                      <m:e>
                        <m:r>
                          <a:rPr lang="en-US" sz="1400" b="1" i="1">
                            <a:solidFill>
                              <a:schemeClr val="bg1">
                                <a:lumMod val="75000"/>
                              </a:schemeClr>
                            </a:solidFill>
                            <a:latin typeface="Cambria Math" panose="02040503050406030204" pitchFamily="18" charset="0"/>
                          </a:rPr>
                          <m:t>𝝁</m:t>
                        </m:r>
                      </m:e>
                      <m:sub>
                        <m:r>
                          <a:rPr lang="en-US" sz="1400" b="1" i="1">
                            <a:solidFill>
                              <a:schemeClr val="bg1">
                                <a:lumMod val="75000"/>
                              </a:schemeClr>
                            </a:solidFill>
                            <a:latin typeface="Cambria Math" panose="02040503050406030204" pitchFamily="18" charset="0"/>
                          </a:rPr>
                          <m:t>𝒌</m:t>
                        </m:r>
                      </m:sub>
                    </m:sSub>
                  </m:oMath>
                </a14:m>
                <a:r>
                  <a:rPr lang="vi-VN" sz="1400" dirty="0">
                    <a:solidFill>
                      <a:schemeClr val="bg1">
                        <a:lumMod val="75000"/>
                      </a:schemeClr>
                    </a:solidFill>
                    <a:latin typeface="Arial"/>
                  </a:rPr>
                  <a:t>, </a:t>
                </a:r>
                <a14:m>
                  <m:oMath xmlns:m="http://schemas.openxmlformats.org/officeDocument/2006/math">
                    <m:sSub>
                      <m:sSubPr>
                        <m:ctrlPr>
                          <a:rPr lang="en-US" sz="1400" b="1" i="1" dirty="0">
                            <a:solidFill>
                              <a:schemeClr val="bg1">
                                <a:lumMod val="75000"/>
                              </a:schemeClr>
                            </a:solidFill>
                            <a:latin typeface="Cambria Math" panose="02040503050406030204" pitchFamily="18" charset="0"/>
                          </a:rPr>
                        </m:ctrlPr>
                      </m:sSubPr>
                      <m:e>
                        <m:r>
                          <a:rPr lang="en-US" sz="1400" b="1" i="1" dirty="0">
                            <a:solidFill>
                              <a:schemeClr val="bg1">
                                <a:lumMod val="75000"/>
                              </a:schemeClr>
                            </a:solidFill>
                            <a:latin typeface="Cambria Math" panose="02040503050406030204" pitchFamily="18" charset="0"/>
                          </a:rPr>
                          <m:t>𝝈</m:t>
                        </m:r>
                      </m:e>
                      <m:sub>
                        <m:r>
                          <a:rPr lang="en-US" sz="1400" b="1" i="1">
                            <a:solidFill>
                              <a:schemeClr val="bg1">
                                <a:lumMod val="75000"/>
                              </a:schemeClr>
                            </a:solidFill>
                            <a:latin typeface="Cambria Math" panose="02040503050406030204" pitchFamily="18" charset="0"/>
                          </a:rPr>
                          <m:t>𝒌</m:t>
                        </m:r>
                      </m:sub>
                    </m:sSub>
                  </m:oMath>
                </a14:m>
                <a:r>
                  <a:rPr lang="vi-VN" sz="1400" b="1" dirty="0">
                    <a:solidFill>
                      <a:schemeClr val="bg1">
                        <a:lumMod val="75000"/>
                      </a:schemeClr>
                    </a:solidFill>
                    <a:latin typeface="Arial"/>
                  </a:rPr>
                  <a:t>, </a:t>
                </a:r>
                <a14:m>
                  <m:oMath xmlns:m="http://schemas.openxmlformats.org/officeDocument/2006/math">
                    <m:sSub>
                      <m:sSubPr>
                        <m:ctrlPr>
                          <a:rPr lang="en-US" sz="1400" b="1" i="1">
                            <a:solidFill>
                              <a:schemeClr val="bg1">
                                <a:lumMod val="75000"/>
                              </a:schemeClr>
                            </a:solidFill>
                            <a:latin typeface="Cambria Math" panose="02040503050406030204" pitchFamily="18" charset="0"/>
                          </a:rPr>
                        </m:ctrlPr>
                      </m:sSubPr>
                      <m:e>
                        <m:r>
                          <a:rPr lang="en-US" sz="1400" b="1" i="1">
                            <a:solidFill>
                              <a:schemeClr val="bg1">
                                <a:lumMod val="75000"/>
                              </a:schemeClr>
                            </a:solidFill>
                            <a:latin typeface="Cambria Math" panose="02040503050406030204" pitchFamily="18" charset="0"/>
                          </a:rPr>
                          <m:t>𝝅</m:t>
                        </m:r>
                      </m:e>
                      <m:sub>
                        <m:r>
                          <a:rPr lang="en-US" sz="1400" b="1" i="1">
                            <a:solidFill>
                              <a:schemeClr val="bg1">
                                <a:lumMod val="75000"/>
                              </a:schemeClr>
                            </a:solidFill>
                            <a:latin typeface="Cambria Math" panose="02040503050406030204" pitchFamily="18" charset="0"/>
                          </a:rPr>
                          <m:t>𝒌</m:t>
                        </m:r>
                      </m:sub>
                    </m:sSub>
                  </m:oMath>
                </a14:m>
                <a:endParaRPr lang="vi-VN" sz="1400" dirty="0">
                  <a:solidFill>
                    <a:schemeClr val="bg1">
                      <a:lumMod val="75000"/>
                    </a:schemeClr>
                  </a:solidFill>
                  <a:latin typeface="Arial"/>
                </a:endParaRPr>
              </a:p>
              <a:p>
                <a:pPr>
                  <a:spcAft>
                    <a:spcPts val="600"/>
                  </a:spcAft>
                </a:pPr>
                <a:r>
                  <a:rPr lang="vi-VN" sz="1400" dirty="0">
                    <a:solidFill>
                      <a:srgbClr val="444B52"/>
                    </a:solidFill>
                    <a:latin typeface="Arial"/>
                  </a:rPr>
                  <a:t>2. Bước </a:t>
                </a:r>
                <a:r>
                  <a:rPr lang="vi-VN" sz="1400" b="1" dirty="0">
                    <a:solidFill>
                      <a:srgbClr val="444B52"/>
                    </a:solidFill>
                    <a:latin typeface="Arial"/>
                  </a:rPr>
                  <a:t>Expectation (E)</a:t>
                </a:r>
                <a:r>
                  <a:rPr lang="vi-VN" sz="1400" dirty="0">
                    <a:solidFill>
                      <a:srgbClr val="444B52"/>
                    </a:solidFill>
                    <a:latin typeface="Arial"/>
                  </a:rPr>
                  <a:t>: Dùng </a:t>
                </a:r>
                <a14:m>
                  <m:oMath xmlns:m="http://schemas.openxmlformats.org/officeDocument/2006/math">
                    <m:sSub>
                      <m:sSubPr>
                        <m:ctrlPr>
                          <a:rPr lang="en-US" sz="1400" b="1" i="1">
                            <a:solidFill>
                              <a:schemeClr val="tx2">
                                <a:lumMod val="60000"/>
                                <a:lumOff val="40000"/>
                              </a:schemeClr>
                            </a:solidFill>
                            <a:latin typeface="Cambria Math" panose="02040503050406030204" pitchFamily="18" charset="0"/>
                          </a:rPr>
                        </m:ctrlPr>
                      </m:sSubPr>
                      <m:e>
                        <m:r>
                          <a:rPr lang="en-US" sz="1400" b="1" i="1">
                            <a:solidFill>
                              <a:schemeClr val="tx2">
                                <a:lumMod val="60000"/>
                                <a:lumOff val="40000"/>
                              </a:schemeClr>
                            </a:solidFill>
                            <a:latin typeface="Cambria Math" panose="02040503050406030204" pitchFamily="18" charset="0"/>
                          </a:rPr>
                          <m:t>𝝁</m:t>
                        </m:r>
                      </m:e>
                      <m:sub>
                        <m:r>
                          <a:rPr lang="en-US" sz="1400" b="1" i="1">
                            <a:solidFill>
                              <a:schemeClr val="tx2">
                                <a:lumMod val="60000"/>
                                <a:lumOff val="40000"/>
                              </a:schemeClr>
                            </a:solidFill>
                            <a:latin typeface="Cambria Math" panose="02040503050406030204" pitchFamily="18" charset="0"/>
                          </a:rPr>
                          <m:t>𝒌</m:t>
                        </m:r>
                      </m:sub>
                    </m:sSub>
                  </m:oMath>
                </a14:m>
                <a:r>
                  <a:rPr lang="vi-VN" sz="1400" dirty="0">
                    <a:latin typeface="Arial"/>
                  </a:rPr>
                  <a:t>, </a:t>
                </a:r>
                <a14:m>
                  <m:oMath xmlns:m="http://schemas.openxmlformats.org/officeDocument/2006/math">
                    <m:sSub>
                      <m:sSubPr>
                        <m:ctrlPr>
                          <a:rPr lang="en-US" sz="1400" b="1" i="1" dirty="0">
                            <a:solidFill>
                              <a:srgbClr val="00B050"/>
                            </a:solidFill>
                            <a:latin typeface="Cambria Math" panose="02040503050406030204" pitchFamily="18" charset="0"/>
                          </a:rPr>
                        </m:ctrlPr>
                      </m:sSubPr>
                      <m:e>
                        <m:r>
                          <a:rPr lang="en-US" sz="1400" b="1" i="1" dirty="0">
                            <a:solidFill>
                              <a:srgbClr val="00B050"/>
                            </a:solidFill>
                            <a:latin typeface="Cambria Math" panose="02040503050406030204" pitchFamily="18" charset="0"/>
                          </a:rPr>
                          <m:t>𝝈</m:t>
                        </m:r>
                      </m:e>
                      <m:sub>
                        <m:r>
                          <a:rPr lang="en-US" sz="1400" b="1" i="1">
                            <a:solidFill>
                              <a:srgbClr val="00B050"/>
                            </a:solidFill>
                            <a:latin typeface="Cambria Math" panose="02040503050406030204" pitchFamily="18" charset="0"/>
                          </a:rPr>
                          <m:t>𝒌</m:t>
                        </m:r>
                      </m:sub>
                    </m:sSub>
                  </m:oMath>
                </a14:m>
                <a:r>
                  <a:rPr lang="vi-VN" sz="1400" b="1" dirty="0">
                    <a:solidFill>
                      <a:schemeClr val="tx2">
                        <a:lumMod val="60000"/>
                        <a:lumOff val="40000"/>
                      </a:schemeClr>
                    </a:solidFill>
                    <a:latin typeface="Arial"/>
                  </a:rPr>
                  <a:t>, </a:t>
                </a:r>
                <a14:m>
                  <m:oMath xmlns:m="http://schemas.openxmlformats.org/officeDocument/2006/math">
                    <m:sSub>
                      <m:sSubPr>
                        <m:ctrlPr>
                          <a:rPr lang="en-US" sz="1400" b="1" i="1">
                            <a:solidFill>
                              <a:schemeClr val="accent6">
                                <a:lumMod val="75000"/>
                              </a:schemeClr>
                            </a:solidFill>
                            <a:latin typeface="Cambria Math" panose="02040503050406030204" pitchFamily="18" charset="0"/>
                          </a:rPr>
                        </m:ctrlPr>
                      </m:sSubPr>
                      <m:e>
                        <m:r>
                          <a:rPr lang="en-US" sz="1400" b="1" i="1">
                            <a:solidFill>
                              <a:schemeClr val="accent6">
                                <a:lumMod val="75000"/>
                              </a:schemeClr>
                            </a:solidFill>
                            <a:latin typeface="Cambria Math" panose="02040503050406030204" pitchFamily="18" charset="0"/>
                          </a:rPr>
                          <m:t>𝝅</m:t>
                        </m:r>
                      </m:e>
                      <m:sub>
                        <m:r>
                          <a:rPr lang="en-US" sz="1400" b="1" i="1">
                            <a:solidFill>
                              <a:schemeClr val="accent6">
                                <a:lumMod val="75000"/>
                              </a:schemeClr>
                            </a:solidFill>
                            <a:latin typeface="Cambria Math" panose="02040503050406030204" pitchFamily="18" charset="0"/>
                          </a:rPr>
                          <m:t>𝒌</m:t>
                        </m:r>
                      </m:sub>
                    </m:sSub>
                  </m:oMath>
                </a14:m>
                <a:r>
                  <a:rPr lang="vi-VN" sz="1400" dirty="0">
                    <a:solidFill>
                      <a:srgbClr val="444B52"/>
                    </a:solidFill>
                    <a:latin typeface="Arial"/>
                  </a:rPr>
                  <a:t> để tính xác suất hậu nghiệm </a:t>
                </a:r>
                <a14:m>
                  <m:oMath xmlns:m="http://schemas.openxmlformats.org/officeDocument/2006/math">
                    <m:sSub>
                      <m:sSubPr>
                        <m:ctrlPr>
                          <a:rPr lang="en-US" sz="1400" b="1" i="1">
                            <a:solidFill>
                              <a:srgbClr val="FF0000"/>
                            </a:solidFill>
                            <a:latin typeface="Cambria Math" panose="02040503050406030204" pitchFamily="18" charset="0"/>
                          </a:rPr>
                        </m:ctrlPr>
                      </m:sSubPr>
                      <m:e>
                        <m:r>
                          <a:rPr lang="en-US" sz="1400" b="1" i="1">
                            <a:solidFill>
                              <a:srgbClr val="FF0000"/>
                            </a:solidFill>
                            <a:latin typeface="Cambria Math" panose="02040503050406030204" pitchFamily="18" charset="0"/>
                          </a:rPr>
                          <m:t>𝜸</m:t>
                        </m:r>
                      </m:e>
                      <m:sub>
                        <m:r>
                          <a:rPr lang="en-US" sz="1400" b="1" i="1">
                            <a:solidFill>
                              <a:srgbClr val="FF0000"/>
                            </a:solidFill>
                            <a:latin typeface="Cambria Math" panose="02040503050406030204" pitchFamily="18" charset="0"/>
                          </a:rPr>
                          <m:t>𝒏𝒌</m:t>
                        </m:r>
                      </m:sub>
                    </m:sSub>
                  </m:oMath>
                </a14:m>
                <a:endParaRPr lang="vi-VN" sz="1400" dirty="0">
                  <a:solidFill>
                    <a:srgbClr val="444B52"/>
                  </a:solidFill>
                  <a:latin typeface="Arial"/>
                </a:endParaRPr>
              </a:p>
              <a:p>
                <a:pPr>
                  <a:spcAft>
                    <a:spcPts val="600"/>
                  </a:spcAft>
                </a:pPr>
                <a:r>
                  <a:rPr lang="vi-VN" sz="1400" dirty="0">
                    <a:solidFill>
                      <a:schemeClr val="bg1">
                        <a:lumMod val="75000"/>
                      </a:schemeClr>
                    </a:solidFill>
                    <a:latin typeface="Arial"/>
                  </a:rPr>
                  <a:t>3. Bước </a:t>
                </a:r>
                <a:r>
                  <a:rPr lang="vi-VN" sz="1400" b="1" dirty="0">
                    <a:solidFill>
                      <a:schemeClr val="bg1">
                        <a:lumMod val="75000"/>
                      </a:schemeClr>
                    </a:solidFill>
                    <a:latin typeface="Arial"/>
                  </a:rPr>
                  <a:t>Maximization (M)</a:t>
                </a:r>
                <a:r>
                  <a:rPr lang="vi-VN" sz="1400" dirty="0">
                    <a:solidFill>
                      <a:schemeClr val="bg1">
                        <a:lumMod val="75000"/>
                      </a:schemeClr>
                    </a:solidFill>
                    <a:latin typeface="Arial"/>
                  </a:rPr>
                  <a:t>: Dùng </a:t>
                </a:r>
                <a14:m>
                  <m:oMath xmlns:m="http://schemas.openxmlformats.org/officeDocument/2006/math">
                    <m:sSub>
                      <m:sSubPr>
                        <m:ctrlPr>
                          <a:rPr lang="en-US" sz="1400" b="1" i="1">
                            <a:solidFill>
                              <a:schemeClr val="bg1">
                                <a:lumMod val="75000"/>
                              </a:schemeClr>
                            </a:solidFill>
                            <a:latin typeface="Cambria Math" panose="02040503050406030204" pitchFamily="18" charset="0"/>
                          </a:rPr>
                        </m:ctrlPr>
                      </m:sSubPr>
                      <m:e>
                        <m:r>
                          <a:rPr lang="en-US" sz="1400" b="1" i="1">
                            <a:solidFill>
                              <a:schemeClr val="bg1">
                                <a:lumMod val="75000"/>
                              </a:schemeClr>
                            </a:solidFill>
                            <a:latin typeface="Cambria Math" panose="02040503050406030204" pitchFamily="18" charset="0"/>
                          </a:rPr>
                          <m:t>𝜸</m:t>
                        </m:r>
                      </m:e>
                      <m:sub>
                        <m:r>
                          <a:rPr lang="en-US" sz="1400" b="1" i="1">
                            <a:solidFill>
                              <a:schemeClr val="bg1">
                                <a:lumMod val="75000"/>
                              </a:schemeClr>
                            </a:solidFill>
                            <a:latin typeface="Cambria Math" panose="02040503050406030204" pitchFamily="18" charset="0"/>
                          </a:rPr>
                          <m:t>𝒏𝒌</m:t>
                        </m:r>
                      </m:sub>
                    </m:sSub>
                  </m:oMath>
                </a14:m>
                <a:r>
                  <a:rPr lang="vi-VN" sz="1400" dirty="0">
                    <a:solidFill>
                      <a:schemeClr val="bg1">
                        <a:lumMod val="75000"/>
                      </a:schemeClr>
                    </a:solidFill>
                    <a:latin typeface="Arial"/>
                  </a:rPr>
                  <a:t> để cập nhật </a:t>
                </a:r>
                <a14:m>
                  <m:oMath xmlns:m="http://schemas.openxmlformats.org/officeDocument/2006/math">
                    <m:sSub>
                      <m:sSubPr>
                        <m:ctrlPr>
                          <a:rPr lang="en-US" sz="1400" b="1" i="1">
                            <a:solidFill>
                              <a:schemeClr val="bg1">
                                <a:lumMod val="75000"/>
                              </a:schemeClr>
                            </a:solidFill>
                            <a:latin typeface="Cambria Math" panose="02040503050406030204" pitchFamily="18" charset="0"/>
                          </a:rPr>
                        </m:ctrlPr>
                      </m:sSubPr>
                      <m:e>
                        <m:r>
                          <a:rPr lang="en-US" sz="1400" b="1" i="1">
                            <a:solidFill>
                              <a:schemeClr val="bg1">
                                <a:lumMod val="75000"/>
                              </a:schemeClr>
                            </a:solidFill>
                            <a:latin typeface="Cambria Math" panose="02040503050406030204" pitchFamily="18" charset="0"/>
                          </a:rPr>
                          <m:t>𝝁</m:t>
                        </m:r>
                      </m:e>
                      <m:sub>
                        <m:r>
                          <a:rPr lang="en-US" sz="1400" b="1" i="1">
                            <a:solidFill>
                              <a:schemeClr val="bg1">
                                <a:lumMod val="75000"/>
                              </a:schemeClr>
                            </a:solidFill>
                            <a:latin typeface="Cambria Math" panose="02040503050406030204" pitchFamily="18" charset="0"/>
                          </a:rPr>
                          <m:t>𝒌</m:t>
                        </m:r>
                      </m:sub>
                    </m:sSub>
                  </m:oMath>
                </a14:m>
                <a:r>
                  <a:rPr lang="vi-VN" sz="1400" dirty="0">
                    <a:solidFill>
                      <a:schemeClr val="bg1">
                        <a:lumMod val="75000"/>
                      </a:schemeClr>
                    </a:solidFill>
                    <a:latin typeface="Arial"/>
                  </a:rPr>
                  <a:t>, </a:t>
                </a:r>
                <a14:m>
                  <m:oMath xmlns:m="http://schemas.openxmlformats.org/officeDocument/2006/math">
                    <m:sSub>
                      <m:sSubPr>
                        <m:ctrlPr>
                          <a:rPr lang="en-US" sz="1400" b="1" i="1" dirty="0">
                            <a:solidFill>
                              <a:schemeClr val="bg1">
                                <a:lumMod val="75000"/>
                              </a:schemeClr>
                            </a:solidFill>
                            <a:latin typeface="Cambria Math" panose="02040503050406030204" pitchFamily="18" charset="0"/>
                          </a:rPr>
                        </m:ctrlPr>
                      </m:sSubPr>
                      <m:e>
                        <m:r>
                          <a:rPr lang="en-US" sz="1400" b="1" i="1" dirty="0">
                            <a:solidFill>
                              <a:schemeClr val="bg1">
                                <a:lumMod val="75000"/>
                              </a:schemeClr>
                            </a:solidFill>
                            <a:latin typeface="Cambria Math" panose="02040503050406030204" pitchFamily="18" charset="0"/>
                          </a:rPr>
                          <m:t>𝝈</m:t>
                        </m:r>
                      </m:e>
                      <m:sub>
                        <m:r>
                          <a:rPr lang="en-US" sz="1400" b="1" i="1">
                            <a:solidFill>
                              <a:schemeClr val="bg1">
                                <a:lumMod val="75000"/>
                              </a:schemeClr>
                            </a:solidFill>
                            <a:latin typeface="Cambria Math" panose="02040503050406030204" pitchFamily="18" charset="0"/>
                          </a:rPr>
                          <m:t>𝒌</m:t>
                        </m:r>
                      </m:sub>
                    </m:sSub>
                  </m:oMath>
                </a14:m>
                <a:r>
                  <a:rPr lang="vi-VN" sz="1400" b="1" dirty="0">
                    <a:solidFill>
                      <a:schemeClr val="bg1">
                        <a:lumMod val="75000"/>
                      </a:schemeClr>
                    </a:solidFill>
                    <a:latin typeface="Arial"/>
                  </a:rPr>
                  <a:t>, </a:t>
                </a:r>
                <a14:m>
                  <m:oMath xmlns:m="http://schemas.openxmlformats.org/officeDocument/2006/math">
                    <m:sSub>
                      <m:sSubPr>
                        <m:ctrlPr>
                          <a:rPr lang="en-US" sz="1400" b="1" i="1">
                            <a:solidFill>
                              <a:schemeClr val="bg1">
                                <a:lumMod val="75000"/>
                              </a:schemeClr>
                            </a:solidFill>
                            <a:latin typeface="Cambria Math" panose="02040503050406030204" pitchFamily="18" charset="0"/>
                          </a:rPr>
                        </m:ctrlPr>
                      </m:sSubPr>
                      <m:e>
                        <m:r>
                          <a:rPr lang="en-US" sz="1400" b="1" i="1">
                            <a:solidFill>
                              <a:schemeClr val="bg1">
                                <a:lumMod val="75000"/>
                              </a:schemeClr>
                            </a:solidFill>
                            <a:latin typeface="Cambria Math" panose="02040503050406030204" pitchFamily="18" charset="0"/>
                          </a:rPr>
                          <m:t>𝝅</m:t>
                        </m:r>
                      </m:e>
                      <m:sub>
                        <m:r>
                          <a:rPr lang="en-US" sz="1400" b="1" i="1">
                            <a:solidFill>
                              <a:schemeClr val="bg1">
                                <a:lumMod val="75000"/>
                              </a:schemeClr>
                            </a:solidFill>
                            <a:latin typeface="Cambria Math" panose="02040503050406030204" pitchFamily="18" charset="0"/>
                          </a:rPr>
                          <m:t>𝒌</m:t>
                        </m:r>
                      </m:sub>
                    </m:sSub>
                  </m:oMath>
                </a14:m>
                <a:endParaRPr lang="vi-VN" sz="1400" b="1" dirty="0">
                  <a:solidFill>
                    <a:schemeClr val="bg1">
                      <a:lumMod val="75000"/>
                    </a:schemeClr>
                  </a:solidFill>
                  <a:latin typeface="Arial"/>
                </a:endParaRPr>
              </a:p>
              <a:p>
                <a:pPr>
                  <a:spcAft>
                    <a:spcPts val="600"/>
                  </a:spcAft>
                </a:pPr>
                <a:r>
                  <a:rPr lang="vi-VN" sz="1400" dirty="0">
                    <a:solidFill>
                      <a:schemeClr val="bg1">
                        <a:lumMod val="75000"/>
                      </a:schemeClr>
                    </a:solidFill>
                    <a:latin typeface="Arial"/>
                  </a:rPr>
                  <a:t>4. Kiểm tra hội tụ:</a:t>
                </a:r>
              </a:p>
              <a:p>
                <a:pPr>
                  <a:spcAft>
                    <a:spcPts val="600"/>
                  </a:spcAft>
                </a:pPr>
                <a:r>
                  <a:rPr lang="vi-VN" sz="1400" dirty="0">
                    <a:solidFill>
                      <a:schemeClr val="bg1">
                        <a:lumMod val="75000"/>
                      </a:schemeClr>
                    </a:solidFill>
                    <a:latin typeface="Arial"/>
                  </a:rPr>
                  <a:t>	Tính lại giá trị hàm mục tiêu Log-likelihood</a:t>
                </a:r>
              </a:p>
              <a:p>
                <a:pPr>
                  <a:spcAft>
                    <a:spcPts val="600"/>
                  </a:spcAft>
                </a:pPr>
                <a:r>
                  <a:rPr lang="vi-VN" sz="1400" dirty="0">
                    <a:solidFill>
                      <a:schemeClr val="bg1">
                        <a:lumMod val="75000"/>
                      </a:schemeClr>
                    </a:solidFill>
                    <a:latin typeface="Arial"/>
                  </a:rPr>
                  <a:t>	So với giá trị hàm mục tiêu ở lần lặp trước đó</a:t>
                </a:r>
              </a:p>
              <a:p>
                <a:pPr>
                  <a:spcAft>
                    <a:spcPts val="600"/>
                  </a:spcAft>
                </a:pPr>
                <a:r>
                  <a:rPr lang="vi-VN" sz="1400" dirty="0">
                    <a:solidFill>
                      <a:schemeClr val="bg1">
                        <a:lumMod val="75000"/>
                      </a:schemeClr>
                    </a:solidFill>
                    <a:latin typeface="Arial"/>
                  </a:rPr>
                  <a:t>		Nếu mức tăng nhỏ hơn ngưỡng cực nhỏ </a:t>
                </a:r>
                <a14:m>
                  <m:oMath xmlns:m="http://schemas.openxmlformats.org/officeDocument/2006/math">
                    <m:r>
                      <a:rPr lang="vi-VN" sz="1400" i="1" dirty="0">
                        <a:solidFill>
                          <a:schemeClr val="bg1">
                            <a:lumMod val="75000"/>
                          </a:schemeClr>
                        </a:solidFill>
                        <a:latin typeface="Cambria Math" panose="02040503050406030204" pitchFamily="18" charset="0"/>
                      </a:rPr>
                      <m:t>𝜖</m:t>
                    </m:r>
                  </m:oMath>
                </a14:m>
                <a:endParaRPr lang="vi-VN" sz="1400" dirty="0">
                  <a:solidFill>
                    <a:schemeClr val="bg1">
                      <a:lumMod val="75000"/>
                    </a:schemeClr>
                  </a:solidFill>
                  <a:latin typeface="Arial"/>
                </a:endParaRPr>
              </a:p>
              <a:p>
                <a:pPr>
                  <a:spcAft>
                    <a:spcPts val="600"/>
                  </a:spcAft>
                </a:pPr>
                <a:r>
                  <a:rPr lang="vi-VN" sz="1400" dirty="0">
                    <a:solidFill>
                      <a:schemeClr val="bg1">
                        <a:lumMod val="75000"/>
                      </a:schemeClr>
                    </a:solidFill>
                    <a:latin typeface="Arial"/>
                  </a:rPr>
                  <a:t>			Thì dừng</a:t>
                </a:r>
              </a:p>
              <a:p>
                <a:pPr>
                  <a:spcAft>
                    <a:spcPts val="600"/>
                  </a:spcAft>
                </a:pPr>
                <a:r>
                  <a:rPr lang="vi-VN" sz="1400" dirty="0">
                    <a:solidFill>
                      <a:schemeClr val="bg1">
                        <a:lumMod val="75000"/>
                      </a:schemeClr>
                    </a:solidFill>
                    <a:latin typeface="Arial"/>
                  </a:rPr>
                  <a:t>		Nếu không</a:t>
                </a:r>
              </a:p>
              <a:p>
                <a:pPr>
                  <a:spcAft>
                    <a:spcPts val="600"/>
                  </a:spcAft>
                </a:pPr>
                <a:r>
                  <a:rPr lang="vi-VN" sz="1400" dirty="0">
                    <a:solidFill>
                      <a:schemeClr val="bg1">
                        <a:lumMod val="75000"/>
                      </a:schemeClr>
                    </a:solidFill>
                    <a:latin typeface="Arial"/>
                  </a:rPr>
                  <a:t>			Quay lại bước 2</a:t>
                </a:r>
                <a:endParaRPr lang="vi-VN" sz="1400" dirty="0">
                  <a:solidFill>
                    <a:srgbClr val="444B52"/>
                  </a:solidFill>
                  <a:latin typeface="Arial"/>
                </a:endParaRPr>
              </a:p>
            </p:txBody>
          </p:sp>
        </mc:Choice>
        <mc:Fallback xmlns="">
          <p:sp>
            <p:nvSpPr>
              <p:cNvPr id="10" name="TextBox 9">
                <a:extLst>
                  <a:ext uri="{FF2B5EF4-FFF2-40B4-BE49-F238E27FC236}">
                    <a16:creationId xmlns:a16="http://schemas.microsoft.com/office/drawing/2014/main" id="{E277F0C3-6EDD-3493-5041-E72E18264CC7}"/>
                  </a:ext>
                </a:extLst>
              </p:cNvPr>
              <p:cNvSpPr txBox="1">
                <a:spLocks noRot="1" noChangeAspect="1" noMove="1" noResize="1" noEditPoints="1" noAdjustHandles="1" noChangeArrowheads="1" noChangeShapeType="1" noTextEdit="1"/>
              </p:cNvSpPr>
              <p:nvPr/>
            </p:nvSpPr>
            <p:spPr>
              <a:xfrm>
                <a:off x="364066" y="2350561"/>
                <a:ext cx="6172201" cy="2939266"/>
              </a:xfrm>
              <a:prstGeom prst="rect">
                <a:avLst/>
              </a:prstGeom>
              <a:blipFill>
                <a:blip r:embed="rId3"/>
                <a:stretch>
                  <a:fillRect l="-205" t="-431" b="-1293"/>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6C329E7F-918D-DE02-CE4C-5E682A991AEF}"/>
                  </a:ext>
                </a:extLst>
              </p:cNvPr>
              <p:cNvSpPr txBox="1"/>
              <p:nvPr/>
            </p:nvSpPr>
            <p:spPr>
              <a:xfrm>
                <a:off x="6536267" y="2284152"/>
                <a:ext cx="3568699" cy="961225"/>
              </a:xfrm>
              <a:prstGeom prst="rect">
                <a:avLst/>
              </a:prstGeom>
              <a:noFill/>
            </p:spPr>
            <p:txBody>
              <a:bodyPr wrap="square">
                <a:spAutoFit/>
              </a:bodyPr>
              <a:lstStyle/>
              <a:p>
                <a:pPr/>
                <a14:m>
                  <m:oMathPara xmlns:m="http://schemas.openxmlformats.org/officeDocument/2006/math">
                    <m:oMath>
                      <m:sSubSup>
                        <m:sSubSupPr>
                          <m:ctrlPr>
                            <a:rPr lang="en-VN" b="1" i="1" smtClean="0">
                              <a:solidFill>
                                <a:srgbClr val="FF0000"/>
                              </a:solidFill>
                              <a:latin typeface="Cambria Math" panose="02040503050406030204" pitchFamily="18" charset="0"/>
                            </a:rPr>
                          </m:ctrlPr>
                        </m:sSubSupPr>
                        <m:e>
                          <m:r>
                            <a:rPr lang="en-VN" b="1" i="1" smtClean="0">
                              <a:solidFill>
                                <a:srgbClr val="FF0000"/>
                              </a:solidFill>
                              <a:latin typeface="Cambria Math" panose="02040503050406030204" pitchFamily="18" charset="0"/>
                            </a:rPr>
                            <m:t>𝜸</m:t>
                          </m:r>
                        </m:e>
                        <m:sub>
                          <m:r>
                            <a:rPr lang="en-VN" b="1" i="1" smtClean="0">
                              <a:solidFill>
                                <a:srgbClr val="FF0000"/>
                              </a:solidFill>
                              <a:latin typeface="Cambria Math" panose="02040503050406030204" pitchFamily="18" charset="0"/>
                            </a:rPr>
                            <m:t>𝒏𝒌</m:t>
                          </m:r>
                        </m:sub>
                        <m:sup>
                          <m:d>
                            <m:dPr>
                              <m:ctrlPr>
                                <a:rPr lang="en-VN" b="1" i="1" smtClean="0">
                                  <a:solidFill>
                                    <a:srgbClr val="FF0000"/>
                                  </a:solidFill>
                                  <a:latin typeface="Cambria Math" panose="02040503050406030204" pitchFamily="18" charset="0"/>
                                </a:rPr>
                              </m:ctrlPr>
                            </m:dPr>
                            <m:e>
                              <m:r>
                                <a:rPr lang="en-VN" b="1" i="1" smtClean="0">
                                  <a:solidFill>
                                    <a:srgbClr val="FF0000"/>
                                  </a:solidFill>
                                  <a:latin typeface="Cambria Math" panose="02040503050406030204" pitchFamily="18" charset="0"/>
                                </a:rPr>
                                <m:t>𝒕</m:t>
                              </m:r>
                            </m:e>
                          </m:d>
                        </m:sup>
                      </m:sSubSup>
                      <m:r>
                        <a:rPr lang="en-VN" i="1" smtClean="0">
                          <a:latin typeface="Cambria Math" panose="02040503050406030204" pitchFamily="18" charset="0"/>
                        </a:rPr>
                        <m:t>=</m:t>
                      </m:r>
                      <m:f>
                        <m:fPr>
                          <m:ctrlPr>
                            <a:rPr lang="en-VN" i="1" smtClean="0">
                              <a:latin typeface="Cambria Math" panose="02040503050406030204" pitchFamily="18" charset="0"/>
                            </a:rPr>
                          </m:ctrlPr>
                        </m:fPr>
                        <m:num>
                          <m:sSubSup>
                            <m:sSubSupPr>
                              <m:ctrlPr>
                                <a:rPr lang="en-VN" i="1" smtClean="0">
                                  <a:latin typeface="Cambria Math" panose="02040503050406030204" pitchFamily="18" charset="0"/>
                                </a:rPr>
                              </m:ctrlPr>
                            </m:sSubSupPr>
                            <m:e>
                              <m:r>
                                <a:rPr lang="en-VN" i="1" smtClean="0">
                                  <a:latin typeface="Cambria Math" panose="02040503050406030204" pitchFamily="18" charset="0"/>
                                </a:rPr>
                                <m:t>𝜋</m:t>
                              </m:r>
                            </m:e>
                            <m:sub>
                              <m:r>
                                <a:rPr lang="en-VN" i="1" smtClean="0">
                                  <a:latin typeface="Cambria Math" panose="02040503050406030204" pitchFamily="18" charset="0"/>
                                </a:rPr>
                                <m:t>𝑘</m:t>
                              </m:r>
                            </m:sub>
                            <m:sup>
                              <m:d>
                                <m:dPr>
                                  <m:ctrlPr>
                                    <a:rPr lang="en-VN" i="1" smtClean="0">
                                      <a:latin typeface="Cambria Math" panose="02040503050406030204" pitchFamily="18" charset="0"/>
                                    </a:rPr>
                                  </m:ctrlPr>
                                </m:dPr>
                                <m:e>
                                  <m:r>
                                    <a:rPr lang="en-VN" i="1" smtClean="0">
                                      <a:latin typeface="Cambria Math" panose="02040503050406030204" pitchFamily="18" charset="0"/>
                                    </a:rPr>
                                    <m:t>𝑡</m:t>
                                  </m:r>
                                </m:e>
                              </m:d>
                            </m:sup>
                          </m:sSubSup>
                          <m:r>
                            <a:rPr lang="en-VN" i="1" smtClean="0">
                              <a:solidFill>
                                <a:schemeClr val="accent6">
                                  <a:lumMod val="75000"/>
                                </a:schemeClr>
                              </a:solidFill>
                              <a:latin typeface="Cambria Math" panose="02040503050406030204" pitchFamily="18" charset="0"/>
                            </a:rPr>
                            <m:t>𝒩</m:t>
                          </m:r>
                          <m:d>
                            <m:dPr>
                              <m:ctrlPr>
                                <a:rPr lang="en-VN" i="1" smtClean="0">
                                  <a:solidFill>
                                    <a:schemeClr val="accent6">
                                      <a:lumMod val="75000"/>
                                    </a:schemeClr>
                                  </a:solidFill>
                                  <a:latin typeface="Cambria Math" panose="02040503050406030204" pitchFamily="18" charset="0"/>
                                </a:rPr>
                              </m:ctrlPr>
                            </m:dPr>
                            <m:e>
                              <m:sSub>
                                <m:sSubPr>
                                  <m:ctrlPr>
                                    <a:rPr lang="en-VN" i="1" smtClean="0">
                                      <a:solidFill>
                                        <a:schemeClr val="accent6">
                                          <a:lumMod val="75000"/>
                                        </a:schemeClr>
                                      </a:solidFill>
                                      <a:latin typeface="Cambria Math" panose="02040503050406030204" pitchFamily="18" charset="0"/>
                                    </a:rPr>
                                  </m:ctrlPr>
                                </m:sSubPr>
                                <m:e>
                                  <m:r>
                                    <a:rPr lang="en-VN" i="1" smtClean="0">
                                      <a:solidFill>
                                        <a:schemeClr val="accent6">
                                          <a:lumMod val="75000"/>
                                        </a:schemeClr>
                                      </a:solidFill>
                                      <a:latin typeface="Cambria Math" panose="02040503050406030204" pitchFamily="18" charset="0"/>
                                    </a:rPr>
                                    <m:t>𝑥</m:t>
                                  </m:r>
                                </m:e>
                                <m:sub>
                                  <m:r>
                                    <a:rPr lang="en-VN" i="1" smtClean="0">
                                      <a:solidFill>
                                        <a:schemeClr val="accent6">
                                          <a:lumMod val="75000"/>
                                        </a:schemeClr>
                                      </a:solidFill>
                                      <a:latin typeface="Cambria Math" panose="02040503050406030204" pitchFamily="18" charset="0"/>
                                    </a:rPr>
                                    <m:t>𝑛</m:t>
                                  </m:r>
                                </m:sub>
                              </m:sSub>
                              <m:r>
                                <a:rPr lang="en-VN" i="1" smtClean="0">
                                  <a:solidFill>
                                    <a:schemeClr val="accent6">
                                      <a:lumMod val="75000"/>
                                    </a:schemeClr>
                                  </a:solidFill>
                                  <a:latin typeface="Cambria Math" panose="02040503050406030204" pitchFamily="18" charset="0"/>
                                </a:rPr>
                                <m:t>∣</m:t>
                              </m:r>
                              <m:sSubSup>
                                <m:sSubSupPr>
                                  <m:ctrlPr>
                                    <a:rPr lang="en-VN" i="1" smtClean="0">
                                      <a:solidFill>
                                        <a:schemeClr val="accent6">
                                          <a:lumMod val="75000"/>
                                        </a:schemeClr>
                                      </a:solidFill>
                                      <a:latin typeface="Cambria Math" panose="02040503050406030204" pitchFamily="18" charset="0"/>
                                    </a:rPr>
                                  </m:ctrlPr>
                                </m:sSubSupPr>
                                <m:e>
                                  <m:r>
                                    <a:rPr lang="en-VN" i="1" smtClean="0">
                                      <a:solidFill>
                                        <a:schemeClr val="accent6">
                                          <a:lumMod val="75000"/>
                                        </a:schemeClr>
                                      </a:solidFill>
                                      <a:latin typeface="Cambria Math" panose="02040503050406030204" pitchFamily="18" charset="0"/>
                                    </a:rPr>
                                    <m:t>𝜇</m:t>
                                  </m:r>
                                </m:e>
                                <m:sub>
                                  <m:r>
                                    <a:rPr lang="en-VN" i="1" smtClean="0">
                                      <a:solidFill>
                                        <a:schemeClr val="accent6">
                                          <a:lumMod val="75000"/>
                                        </a:schemeClr>
                                      </a:solidFill>
                                      <a:latin typeface="Cambria Math" panose="02040503050406030204" pitchFamily="18" charset="0"/>
                                    </a:rPr>
                                    <m:t>𝑘</m:t>
                                  </m:r>
                                </m:sub>
                                <m:sup>
                                  <m:d>
                                    <m:dPr>
                                      <m:ctrlPr>
                                        <a:rPr lang="en-VN" i="1" smtClean="0">
                                          <a:solidFill>
                                            <a:schemeClr val="accent6">
                                              <a:lumMod val="75000"/>
                                            </a:schemeClr>
                                          </a:solidFill>
                                          <a:latin typeface="Cambria Math" panose="02040503050406030204" pitchFamily="18" charset="0"/>
                                        </a:rPr>
                                      </m:ctrlPr>
                                    </m:dPr>
                                    <m:e>
                                      <m:r>
                                        <a:rPr lang="en-VN" i="1" smtClean="0">
                                          <a:solidFill>
                                            <a:schemeClr val="accent6">
                                              <a:lumMod val="75000"/>
                                            </a:schemeClr>
                                          </a:solidFill>
                                          <a:latin typeface="Cambria Math" panose="02040503050406030204" pitchFamily="18" charset="0"/>
                                        </a:rPr>
                                        <m:t>𝑡</m:t>
                                      </m:r>
                                    </m:e>
                                  </m:d>
                                </m:sup>
                              </m:sSubSup>
                              <m:r>
                                <a:rPr lang="en-VN" i="1" smtClean="0">
                                  <a:solidFill>
                                    <a:schemeClr val="accent6">
                                      <a:lumMod val="75000"/>
                                    </a:schemeClr>
                                  </a:solidFill>
                                  <a:latin typeface="Cambria Math" panose="02040503050406030204" pitchFamily="18" charset="0"/>
                                </a:rPr>
                                <m:t>,</m:t>
                              </m:r>
                              <m:sSubSup>
                                <m:sSubSupPr>
                                  <m:ctrlPr>
                                    <a:rPr lang="en-VN" i="1" smtClean="0">
                                      <a:solidFill>
                                        <a:schemeClr val="accent6">
                                          <a:lumMod val="75000"/>
                                        </a:schemeClr>
                                      </a:solidFill>
                                      <a:latin typeface="Cambria Math" panose="02040503050406030204" pitchFamily="18" charset="0"/>
                                    </a:rPr>
                                  </m:ctrlPr>
                                </m:sSubSupPr>
                                <m:e>
                                  <m:r>
                                    <a:rPr lang="en-VN" i="1" smtClean="0">
                                      <a:solidFill>
                                        <a:schemeClr val="accent6">
                                          <a:lumMod val="75000"/>
                                        </a:schemeClr>
                                      </a:solidFill>
                                      <a:latin typeface="Cambria Math" panose="02040503050406030204" pitchFamily="18" charset="0"/>
                                    </a:rPr>
                                    <m:t>𝜎</m:t>
                                  </m:r>
                                </m:e>
                                <m:sub>
                                  <m:r>
                                    <a:rPr lang="en-VN" i="1" smtClean="0">
                                      <a:solidFill>
                                        <a:schemeClr val="accent6">
                                          <a:lumMod val="75000"/>
                                        </a:schemeClr>
                                      </a:solidFill>
                                      <a:latin typeface="Cambria Math" panose="02040503050406030204" pitchFamily="18" charset="0"/>
                                    </a:rPr>
                                    <m:t>𝑘</m:t>
                                  </m:r>
                                </m:sub>
                                <m:sup>
                                  <m:d>
                                    <m:dPr>
                                      <m:ctrlPr>
                                        <a:rPr lang="en-VN" i="1" smtClean="0">
                                          <a:solidFill>
                                            <a:schemeClr val="accent6">
                                              <a:lumMod val="75000"/>
                                            </a:schemeClr>
                                          </a:solidFill>
                                          <a:latin typeface="Cambria Math" panose="02040503050406030204" pitchFamily="18" charset="0"/>
                                        </a:rPr>
                                      </m:ctrlPr>
                                    </m:dPr>
                                    <m:e>
                                      <m:r>
                                        <a:rPr lang="en-VN" i="1" smtClean="0">
                                          <a:solidFill>
                                            <a:schemeClr val="accent6">
                                              <a:lumMod val="75000"/>
                                            </a:schemeClr>
                                          </a:solidFill>
                                          <a:latin typeface="Cambria Math" panose="02040503050406030204" pitchFamily="18" charset="0"/>
                                        </a:rPr>
                                        <m:t>𝑡</m:t>
                                      </m:r>
                                    </m:e>
                                  </m:d>
                                </m:sup>
                              </m:sSubSup>
                            </m:e>
                          </m:d>
                        </m:num>
                        <m:den>
                          <m:nary>
                            <m:naryPr>
                              <m:chr m:val="∑"/>
                              <m:limLoc m:val="undOvr"/>
                              <m:ctrlPr>
                                <a:rPr lang="en-VN" i="1" smtClean="0">
                                  <a:latin typeface="Cambria Math" panose="02040503050406030204" pitchFamily="18" charset="0"/>
                                </a:rPr>
                              </m:ctrlPr>
                            </m:naryPr>
                            <m:sub>
                              <m:r>
                                <a:rPr lang="en-VN" i="1" smtClean="0">
                                  <a:latin typeface="Cambria Math" panose="02040503050406030204" pitchFamily="18" charset="0"/>
                                </a:rPr>
                                <m:t>𝑗</m:t>
                              </m:r>
                              <m:r>
                                <a:rPr lang="en-VN" i="1" smtClean="0">
                                  <a:latin typeface="Cambria Math" panose="02040503050406030204" pitchFamily="18" charset="0"/>
                                </a:rPr>
                                <m:t>=1</m:t>
                              </m:r>
                            </m:sub>
                            <m:sup>
                              <m:r>
                                <a:rPr lang="en-VN" i="1" smtClean="0">
                                  <a:latin typeface="Cambria Math" panose="02040503050406030204" pitchFamily="18" charset="0"/>
                                </a:rPr>
                                <m:t>𝐾</m:t>
                              </m:r>
                            </m:sup>
                            <m:e>
                              <m:sSubSup>
                                <m:sSubSupPr>
                                  <m:ctrlPr>
                                    <a:rPr lang="en-VN" i="1" smtClean="0">
                                      <a:latin typeface="Cambria Math" panose="02040503050406030204" pitchFamily="18" charset="0"/>
                                    </a:rPr>
                                  </m:ctrlPr>
                                </m:sSubSupPr>
                                <m:e>
                                  <m:r>
                                    <a:rPr lang="en-VN" i="1" smtClean="0">
                                      <a:latin typeface="Cambria Math" panose="02040503050406030204" pitchFamily="18" charset="0"/>
                                    </a:rPr>
                                    <m:t>𝜋</m:t>
                                  </m:r>
                                </m:e>
                                <m:sub>
                                  <m:r>
                                    <a:rPr lang="en-VN" i="1" smtClean="0">
                                      <a:latin typeface="Cambria Math" panose="02040503050406030204" pitchFamily="18" charset="0"/>
                                    </a:rPr>
                                    <m:t>𝑗</m:t>
                                  </m:r>
                                </m:sub>
                                <m:sup>
                                  <m:d>
                                    <m:dPr>
                                      <m:ctrlPr>
                                        <a:rPr lang="en-VN" i="1" smtClean="0">
                                          <a:latin typeface="Cambria Math" panose="02040503050406030204" pitchFamily="18" charset="0"/>
                                        </a:rPr>
                                      </m:ctrlPr>
                                    </m:dPr>
                                    <m:e>
                                      <m:r>
                                        <a:rPr lang="en-VN" i="1" smtClean="0">
                                          <a:latin typeface="Cambria Math" panose="02040503050406030204" pitchFamily="18" charset="0"/>
                                        </a:rPr>
                                        <m:t>𝑡</m:t>
                                      </m:r>
                                    </m:e>
                                  </m:d>
                                </m:sup>
                              </m:sSubSup>
                            </m:e>
                          </m:nary>
                          <m:r>
                            <a:rPr lang="en-VN" i="1" smtClean="0">
                              <a:solidFill>
                                <a:schemeClr val="accent6">
                                  <a:lumMod val="75000"/>
                                </a:schemeClr>
                              </a:solidFill>
                              <a:latin typeface="Cambria Math" panose="02040503050406030204" pitchFamily="18" charset="0"/>
                            </a:rPr>
                            <m:t>𝒩</m:t>
                          </m:r>
                          <m:d>
                            <m:dPr>
                              <m:ctrlPr>
                                <a:rPr lang="en-VN" i="1" smtClean="0">
                                  <a:solidFill>
                                    <a:schemeClr val="accent6">
                                      <a:lumMod val="75000"/>
                                    </a:schemeClr>
                                  </a:solidFill>
                                  <a:latin typeface="Cambria Math" panose="02040503050406030204" pitchFamily="18" charset="0"/>
                                </a:rPr>
                              </m:ctrlPr>
                            </m:dPr>
                            <m:e>
                              <m:sSub>
                                <m:sSubPr>
                                  <m:ctrlPr>
                                    <a:rPr lang="en-VN" i="1" smtClean="0">
                                      <a:solidFill>
                                        <a:schemeClr val="accent6">
                                          <a:lumMod val="75000"/>
                                        </a:schemeClr>
                                      </a:solidFill>
                                      <a:latin typeface="Cambria Math" panose="02040503050406030204" pitchFamily="18" charset="0"/>
                                    </a:rPr>
                                  </m:ctrlPr>
                                </m:sSubPr>
                                <m:e>
                                  <m:r>
                                    <a:rPr lang="en-VN" i="1" smtClean="0">
                                      <a:solidFill>
                                        <a:schemeClr val="accent6">
                                          <a:lumMod val="75000"/>
                                        </a:schemeClr>
                                      </a:solidFill>
                                      <a:latin typeface="Cambria Math" panose="02040503050406030204" pitchFamily="18" charset="0"/>
                                    </a:rPr>
                                    <m:t>𝑥</m:t>
                                  </m:r>
                                </m:e>
                                <m:sub>
                                  <m:r>
                                    <a:rPr lang="en-VN" i="1" smtClean="0">
                                      <a:solidFill>
                                        <a:schemeClr val="accent6">
                                          <a:lumMod val="75000"/>
                                        </a:schemeClr>
                                      </a:solidFill>
                                      <a:latin typeface="Cambria Math" panose="02040503050406030204" pitchFamily="18" charset="0"/>
                                    </a:rPr>
                                    <m:t>𝑛</m:t>
                                  </m:r>
                                </m:sub>
                              </m:sSub>
                              <m:r>
                                <a:rPr lang="en-VN" i="1" smtClean="0">
                                  <a:solidFill>
                                    <a:schemeClr val="accent6">
                                      <a:lumMod val="75000"/>
                                    </a:schemeClr>
                                  </a:solidFill>
                                  <a:latin typeface="Cambria Math" panose="02040503050406030204" pitchFamily="18" charset="0"/>
                                </a:rPr>
                                <m:t>∣</m:t>
                              </m:r>
                              <m:sSubSup>
                                <m:sSubSupPr>
                                  <m:ctrlPr>
                                    <a:rPr lang="en-VN" i="1" smtClean="0">
                                      <a:solidFill>
                                        <a:schemeClr val="accent6">
                                          <a:lumMod val="75000"/>
                                        </a:schemeClr>
                                      </a:solidFill>
                                      <a:latin typeface="Cambria Math" panose="02040503050406030204" pitchFamily="18" charset="0"/>
                                    </a:rPr>
                                  </m:ctrlPr>
                                </m:sSubSupPr>
                                <m:e>
                                  <m:r>
                                    <a:rPr lang="en-VN" i="1" smtClean="0">
                                      <a:solidFill>
                                        <a:schemeClr val="accent6">
                                          <a:lumMod val="75000"/>
                                        </a:schemeClr>
                                      </a:solidFill>
                                      <a:latin typeface="Cambria Math" panose="02040503050406030204" pitchFamily="18" charset="0"/>
                                    </a:rPr>
                                    <m:t>𝜇</m:t>
                                  </m:r>
                                </m:e>
                                <m:sub>
                                  <m:r>
                                    <a:rPr lang="en-VN" i="1" smtClean="0">
                                      <a:solidFill>
                                        <a:schemeClr val="accent6">
                                          <a:lumMod val="75000"/>
                                        </a:schemeClr>
                                      </a:solidFill>
                                      <a:latin typeface="Cambria Math" panose="02040503050406030204" pitchFamily="18" charset="0"/>
                                    </a:rPr>
                                    <m:t>𝑗</m:t>
                                  </m:r>
                                </m:sub>
                                <m:sup>
                                  <m:d>
                                    <m:dPr>
                                      <m:ctrlPr>
                                        <a:rPr lang="en-VN" i="1" smtClean="0">
                                          <a:solidFill>
                                            <a:schemeClr val="accent6">
                                              <a:lumMod val="75000"/>
                                            </a:schemeClr>
                                          </a:solidFill>
                                          <a:latin typeface="Cambria Math" panose="02040503050406030204" pitchFamily="18" charset="0"/>
                                        </a:rPr>
                                      </m:ctrlPr>
                                    </m:dPr>
                                    <m:e>
                                      <m:r>
                                        <a:rPr lang="en-VN" i="1" smtClean="0">
                                          <a:solidFill>
                                            <a:schemeClr val="accent6">
                                              <a:lumMod val="75000"/>
                                            </a:schemeClr>
                                          </a:solidFill>
                                          <a:latin typeface="Cambria Math" panose="02040503050406030204" pitchFamily="18" charset="0"/>
                                        </a:rPr>
                                        <m:t>𝑡</m:t>
                                      </m:r>
                                    </m:e>
                                  </m:d>
                                </m:sup>
                              </m:sSubSup>
                              <m:r>
                                <a:rPr lang="en-VN" i="1" smtClean="0">
                                  <a:solidFill>
                                    <a:schemeClr val="accent6">
                                      <a:lumMod val="75000"/>
                                    </a:schemeClr>
                                  </a:solidFill>
                                  <a:latin typeface="Cambria Math" panose="02040503050406030204" pitchFamily="18" charset="0"/>
                                </a:rPr>
                                <m:t>,</m:t>
                              </m:r>
                              <m:sSubSup>
                                <m:sSubSupPr>
                                  <m:ctrlPr>
                                    <a:rPr lang="en-VN" i="1" smtClean="0">
                                      <a:solidFill>
                                        <a:schemeClr val="accent6">
                                          <a:lumMod val="75000"/>
                                        </a:schemeClr>
                                      </a:solidFill>
                                      <a:latin typeface="Cambria Math" panose="02040503050406030204" pitchFamily="18" charset="0"/>
                                    </a:rPr>
                                  </m:ctrlPr>
                                </m:sSubSupPr>
                                <m:e>
                                  <m:r>
                                    <a:rPr lang="en-VN" i="1" smtClean="0">
                                      <a:solidFill>
                                        <a:schemeClr val="accent6">
                                          <a:lumMod val="75000"/>
                                        </a:schemeClr>
                                      </a:solidFill>
                                      <a:latin typeface="Cambria Math" panose="02040503050406030204" pitchFamily="18" charset="0"/>
                                    </a:rPr>
                                    <m:t>𝜎</m:t>
                                  </m:r>
                                </m:e>
                                <m:sub>
                                  <m:r>
                                    <a:rPr lang="en-VN" i="1" smtClean="0">
                                      <a:solidFill>
                                        <a:schemeClr val="accent6">
                                          <a:lumMod val="75000"/>
                                        </a:schemeClr>
                                      </a:solidFill>
                                      <a:latin typeface="Cambria Math" panose="02040503050406030204" pitchFamily="18" charset="0"/>
                                    </a:rPr>
                                    <m:t>𝑗</m:t>
                                  </m:r>
                                </m:sub>
                                <m:sup>
                                  <m:d>
                                    <m:dPr>
                                      <m:ctrlPr>
                                        <a:rPr lang="en-VN" i="1" smtClean="0">
                                          <a:solidFill>
                                            <a:schemeClr val="accent6">
                                              <a:lumMod val="75000"/>
                                            </a:schemeClr>
                                          </a:solidFill>
                                          <a:latin typeface="Cambria Math" panose="02040503050406030204" pitchFamily="18" charset="0"/>
                                        </a:rPr>
                                      </m:ctrlPr>
                                    </m:dPr>
                                    <m:e>
                                      <m:r>
                                        <a:rPr lang="en-VN" i="1" smtClean="0">
                                          <a:solidFill>
                                            <a:schemeClr val="accent6">
                                              <a:lumMod val="75000"/>
                                            </a:schemeClr>
                                          </a:solidFill>
                                          <a:latin typeface="Cambria Math" panose="02040503050406030204" pitchFamily="18" charset="0"/>
                                        </a:rPr>
                                        <m:t>𝑡</m:t>
                                      </m:r>
                                    </m:e>
                                  </m:d>
                                </m:sup>
                              </m:sSubSup>
                            </m:e>
                          </m:d>
                        </m:den>
                      </m:f>
                    </m:oMath>
                  </m:oMathPara>
                </a14:m>
                <a:endParaRPr lang="en-VN" dirty="0"/>
              </a:p>
            </p:txBody>
          </p:sp>
        </mc:Choice>
        <mc:Fallback xmlns="">
          <p:sp>
            <p:nvSpPr>
              <p:cNvPr id="7" name="TextBox 6">
                <a:extLst>
                  <a:ext uri="{FF2B5EF4-FFF2-40B4-BE49-F238E27FC236}">
                    <a16:creationId xmlns:a16="http://schemas.microsoft.com/office/drawing/2014/main" id="{6C329E7F-918D-DE02-CE4C-5E682A991AEF}"/>
                  </a:ext>
                </a:extLst>
              </p:cNvPr>
              <p:cNvSpPr txBox="1">
                <a:spLocks noRot="1" noChangeAspect="1" noMove="1" noResize="1" noEditPoints="1" noAdjustHandles="1" noChangeArrowheads="1" noChangeShapeType="1" noTextEdit="1"/>
              </p:cNvSpPr>
              <p:nvPr/>
            </p:nvSpPr>
            <p:spPr>
              <a:xfrm>
                <a:off x="6536267" y="2284152"/>
                <a:ext cx="3568699" cy="961225"/>
              </a:xfrm>
              <a:prstGeom prst="rect">
                <a:avLst/>
              </a:prstGeom>
              <a:blipFill>
                <a:blip r:embed="rId4"/>
                <a:stretch>
                  <a:fillRect b="-57895"/>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16918B3-2029-AA79-8F67-7F57342D4EE0}"/>
                  </a:ext>
                </a:extLst>
              </p:cNvPr>
              <p:cNvSpPr txBox="1"/>
              <p:nvPr/>
            </p:nvSpPr>
            <p:spPr>
              <a:xfrm>
                <a:off x="6773334" y="4043372"/>
                <a:ext cx="4635499" cy="2308517"/>
              </a:xfrm>
              <a:prstGeom prst="rect">
                <a:avLst/>
              </a:prstGeom>
              <a:noFill/>
            </p:spPr>
            <p:txBody>
              <a:bodyPr wrap="square">
                <a:spAutoFit/>
              </a:bodyPr>
              <a:lstStyle/>
              <a:p>
                <a:pPr/>
                <a14:m>
                  <m:oMathPara xmlns:m="http://schemas.openxmlformats.org/officeDocument/2006/math">
                    <m:oMath>
                      <m:r>
                        <a:rPr lang="en-VN" i="1" smtClean="0">
                          <a:latin typeface="Cambria Math" panose="02040503050406030204" pitchFamily="18" charset="0"/>
                        </a:rPr>
                        <m:t>=</m:t>
                      </m:r>
                      <m:f>
                        <m:fPr>
                          <m:ctrlPr>
                            <a:rPr lang="en-VN" i="1" smtClean="0">
                              <a:latin typeface="Cambria Math" panose="02040503050406030204" pitchFamily="18" charset="0"/>
                            </a:rPr>
                          </m:ctrlPr>
                        </m:fPr>
                        <m:num>
                          <m:sSubSup>
                            <m:sSubSupPr>
                              <m:ctrlPr>
                                <a:rPr lang="en-VN" i="1" smtClean="0">
                                  <a:latin typeface="Cambria Math" panose="02040503050406030204" pitchFamily="18" charset="0"/>
                                </a:rPr>
                              </m:ctrlPr>
                            </m:sSubSupPr>
                            <m:e>
                              <m:r>
                                <a:rPr lang="en-VN" i="1" smtClean="0">
                                  <a:latin typeface="Cambria Math" panose="02040503050406030204" pitchFamily="18" charset="0"/>
                                </a:rPr>
                                <m:t>𝜋</m:t>
                              </m:r>
                            </m:e>
                            <m:sub>
                              <m:r>
                                <a:rPr lang="en-VN" i="1" smtClean="0">
                                  <a:latin typeface="Cambria Math" panose="02040503050406030204" pitchFamily="18" charset="0"/>
                                </a:rPr>
                                <m:t>𝑘</m:t>
                              </m:r>
                            </m:sub>
                            <m:sup>
                              <m:d>
                                <m:dPr>
                                  <m:ctrlPr>
                                    <a:rPr lang="en-VN" i="1" smtClean="0">
                                      <a:latin typeface="Cambria Math" panose="02040503050406030204" pitchFamily="18" charset="0"/>
                                    </a:rPr>
                                  </m:ctrlPr>
                                </m:dPr>
                                <m:e>
                                  <m:r>
                                    <a:rPr lang="en-VN" i="1" smtClean="0">
                                      <a:latin typeface="Cambria Math" panose="02040503050406030204" pitchFamily="18" charset="0"/>
                                    </a:rPr>
                                    <m:t>𝑡</m:t>
                                  </m:r>
                                </m:e>
                              </m:d>
                            </m:sup>
                          </m:sSubSup>
                          <m:f>
                            <m:fPr>
                              <m:ctrlPr>
                                <a:rPr lang="en-VN" i="1" smtClean="0">
                                  <a:solidFill>
                                    <a:schemeClr val="accent6">
                                      <a:lumMod val="75000"/>
                                    </a:schemeClr>
                                  </a:solidFill>
                                  <a:latin typeface="Cambria Math" panose="02040503050406030204" pitchFamily="18" charset="0"/>
                                </a:rPr>
                              </m:ctrlPr>
                            </m:fPr>
                            <m:num>
                              <m:r>
                                <a:rPr lang="en-VN" i="1" smtClean="0">
                                  <a:solidFill>
                                    <a:schemeClr val="accent6">
                                      <a:lumMod val="75000"/>
                                    </a:schemeClr>
                                  </a:solidFill>
                                  <a:latin typeface="Cambria Math" panose="02040503050406030204" pitchFamily="18" charset="0"/>
                                </a:rPr>
                                <m:t>1</m:t>
                              </m:r>
                            </m:num>
                            <m:den>
                              <m:rad>
                                <m:radPr>
                                  <m:degHide m:val="on"/>
                                  <m:ctrlPr>
                                    <a:rPr lang="en-VN" i="1" smtClean="0">
                                      <a:solidFill>
                                        <a:schemeClr val="accent6">
                                          <a:lumMod val="75000"/>
                                        </a:schemeClr>
                                      </a:solidFill>
                                      <a:latin typeface="Cambria Math" panose="02040503050406030204" pitchFamily="18" charset="0"/>
                                    </a:rPr>
                                  </m:ctrlPr>
                                </m:radPr>
                                <m:deg/>
                                <m:e>
                                  <m:r>
                                    <a:rPr lang="en-VN" i="1" smtClean="0">
                                      <a:solidFill>
                                        <a:schemeClr val="accent6">
                                          <a:lumMod val="75000"/>
                                        </a:schemeClr>
                                      </a:solidFill>
                                      <a:latin typeface="Cambria Math" panose="02040503050406030204" pitchFamily="18" charset="0"/>
                                    </a:rPr>
                                    <m:t>2</m:t>
                                  </m:r>
                                  <m:r>
                                    <a:rPr lang="en-VN" i="1" smtClean="0">
                                      <a:solidFill>
                                        <a:schemeClr val="accent6">
                                          <a:lumMod val="75000"/>
                                        </a:schemeClr>
                                      </a:solidFill>
                                      <a:latin typeface="Cambria Math" panose="02040503050406030204" pitchFamily="18" charset="0"/>
                                    </a:rPr>
                                    <m:t>𝜋</m:t>
                                  </m:r>
                                </m:e>
                              </m:rad>
                              <m:sSubSup>
                                <m:sSubSupPr>
                                  <m:ctrlPr>
                                    <a:rPr lang="en-VN" i="1" smtClean="0">
                                      <a:solidFill>
                                        <a:schemeClr val="accent6">
                                          <a:lumMod val="75000"/>
                                        </a:schemeClr>
                                      </a:solidFill>
                                      <a:latin typeface="Cambria Math" panose="02040503050406030204" pitchFamily="18" charset="0"/>
                                    </a:rPr>
                                  </m:ctrlPr>
                                </m:sSubSupPr>
                                <m:e>
                                  <m:r>
                                    <a:rPr lang="en-VN" i="1" smtClean="0">
                                      <a:solidFill>
                                        <a:schemeClr val="accent6">
                                          <a:lumMod val="75000"/>
                                        </a:schemeClr>
                                      </a:solidFill>
                                      <a:latin typeface="Cambria Math" panose="02040503050406030204" pitchFamily="18" charset="0"/>
                                    </a:rPr>
                                    <m:t>𝜎</m:t>
                                  </m:r>
                                </m:e>
                                <m:sub>
                                  <m:r>
                                    <a:rPr lang="en-VN" i="1" smtClean="0">
                                      <a:solidFill>
                                        <a:schemeClr val="accent6">
                                          <a:lumMod val="75000"/>
                                        </a:schemeClr>
                                      </a:solidFill>
                                      <a:latin typeface="Cambria Math" panose="02040503050406030204" pitchFamily="18" charset="0"/>
                                    </a:rPr>
                                    <m:t>𝑘</m:t>
                                  </m:r>
                                </m:sub>
                                <m:sup>
                                  <m:d>
                                    <m:dPr>
                                      <m:ctrlPr>
                                        <a:rPr lang="en-VN" i="1" smtClean="0">
                                          <a:solidFill>
                                            <a:schemeClr val="accent6">
                                              <a:lumMod val="75000"/>
                                            </a:schemeClr>
                                          </a:solidFill>
                                          <a:latin typeface="Cambria Math" panose="02040503050406030204" pitchFamily="18" charset="0"/>
                                        </a:rPr>
                                      </m:ctrlPr>
                                    </m:dPr>
                                    <m:e>
                                      <m:r>
                                        <a:rPr lang="en-VN" i="1" smtClean="0">
                                          <a:solidFill>
                                            <a:schemeClr val="accent6">
                                              <a:lumMod val="75000"/>
                                            </a:schemeClr>
                                          </a:solidFill>
                                          <a:latin typeface="Cambria Math" panose="02040503050406030204" pitchFamily="18" charset="0"/>
                                        </a:rPr>
                                        <m:t>𝑡</m:t>
                                      </m:r>
                                    </m:e>
                                  </m:d>
                                </m:sup>
                              </m:sSubSup>
                            </m:den>
                          </m:f>
                          <m:func>
                            <m:funcPr>
                              <m:ctrlPr>
                                <a:rPr lang="en-VN" i="1" smtClean="0">
                                  <a:solidFill>
                                    <a:schemeClr val="accent6">
                                      <a:lumMod val="75000"/>
                                    </a:schemeClr>
                                  </a:solidFill>
                                  <a:latin typeface="Cambria Math" panose="02040503050406030204" pitchFamily="18" charset="0"/>
                                </a:rPr>
                              </m:ctrlPr>
                            </m:funcPr>
                            <m:fName>
                              <m:r>
                                <m:rPr>
                                  <m:sty m:val="p"/>
                                </m:rPr>
                                <a:rPr lang="en-VN" i="1" smtClean="0">
                                  <a:solidFill>
                                    <a:schemeClr val="accent6">
                                      <a:lumMod val="75000"/>
                                    </a:schemeClr>
                                  </a:solidFill>
                                  <a:latin typeface="Cambria Math" panose="02040503050406030204" pitchFamily="18" charset="0"/>
                                </a:rPr>
                                <m:t>exp</m:t>
                              </m:r>
                            </m:fName>
                            <m:e>
                              <m:d>
                                <m:dPr>
                                  <m:begChr m:val="["/>
                                  <m:endChr m:val="]"/>
                                  <m:ctrlPr>
                                    <a:rPr lang="en-VN" i="1" smtClean="0">
                                      <a:solidFill>
                                        <a:schemeClr val="accent6">
                                          <a:lumMod val="75000"/>
                                        </a:schemeClr>
                                      </a:solidFill>
                                      <a:latin typeface="Cambria Math" panose="02040503050406030204" pitchFamily="18" charset="0"/>
                                    </a:rPr>
                                  </m:ctrlPr>
                                </m:dPr>
                                <m:e>
                                  <m:r>
                                    <a:rPr lang="en-VN" i="1" smtClean="0">
                                      <a:solidFill>
                                        <a:schemeClr val="accent6">
                                          <a:lumMod val="75000"/>
                                        </a:schemeClr>
                                      </a:solidFill>
                                      <a:latin typeface="Cambria Math" panose="02040503050406030204" pitchFamily="18" charset="0"/>
                                    </a:rPr>
                                    <m:t>−</m:t>
                                  </m:r>
                                  <m:f>
                                    <m:fPr>
                                      <m:ctrlPr>
                                        <a:rPr lang="en-VN" i="1" smtClean="0">
                                          <a:solidFill>
                                            <a:schemeClr val="accent6">
                                              <a:lumMod val="75000"/>
                                            </a:schemeClr>
                                          </a:solidFill>
                                          <a:latin typeface="Cambria Math" panose="02040503050406030204" pitchFamily="18" charset="0"/>
                                        </a:rPr>
                                      </m:ctrlPr>
                                    </m:fPr>
                                    <m:num>
                                      <m:sSup>
                                        <m:sSupPr>
                                          <m:ctrlPr>
                                            <a:rPr lang="en-VN" i="1" smtClean="0">
                                              <a:solidFill>
                                                <a:schemeClr val="accent6">
                                                  <a:lumMod val="75000"/>
                                                </a:schemeClr>
                                              </a:solidFill>
                                              <a:latin typeface="Cambria Math" panose="02040503050406030204" pitchFamily="18" charset="0"/>
                                            </a:rPr>
                                          </m:ctrlPr>
                                        </m:sSupPr>
                                        <m:e>
                                          <m:d>
                                            <m:dPr>
                                              <m:ctrlPr>
                                                <a:rPr lang="en-VN" i="1" smtClean="0">
                                                  <a:solidFill>
                                                    <a:schemeClr val="accent6">
                                                      <a:lumMod val="75000"/>
                                                    </a:schemeClr>
                                                  </a:solidFill>
                                                  <a:latin typeface="Cambria Math" panose="02040503050406030204" pitchFamily="18" charset="0"/>
                                                </a:rPr>
                                              </m:ctrlPr>
                                            </m:dPr>
                                            <m:e>
                                              <m:sSub>
                                                <m:sSubPr>
                                                  <m:ctrlPr>
                                                    <a:rPr lang="en-VN" i="1" smtClean="0">
                                                      <a:solidFill>
                                                        <a:schemeClr val="accent6">
                                                          <a:lumMod val="75000"/>
                                                        </a:schemeClr>
                                                      </a:solidFill>
                                                      <a:latin typeface="Cambria Math" panose="02040503050406030204" pitchFamily="18" charset="0"/>
                                                    </a:rPr>
                                                  </m:ctrlPr>
                                                </m:sSubPr>
                                                <m:e>
                                                  <m:r>
                                                    <a:rPr lang="en-VN" i="1" smtClean="0">
                                                      <a:solidFill>
                                                        <a:schemeClr val="accent6">
                                                          <a:lumMod val="75000"/>
                                                        </a:schemeClr>
                                                      </a:solidFill>
                                                      <a:latin typeface="Cambria Math" panose="02040503050406030204" pitchFamily="18" charset="0"/>
                                                    </a:rPr>
                                                    <m:t>𝑥</m:t>
                                                  </m:r>
                                                </m:e>
                                                <m:sub>
                                                  <m:r>
                                                    <a:rPr lang="en-VN" i="1" smtClean="0">
                                                      <a:solidFill>
                                                        <a:schemeClr val="accent6">
                                                          <a:lumMod val="75000"/>
                                                        </a:schemeClr>
                                                      </a:solidFill>
                                                      <a:latin typeface="Cambria Math" panose="02040503050406030204" pitchFamily="18" charset="0"/>
                                                    </a:rPr>
                                                    <m:t>𝑛</m:t>
                                                  </m:r>
                                                </m:sub>
                                              </m:sSub>
                                              <m:r>
                                                <a:rPr lang="en-VN" i="1" smtClean="0">
                                                  <a:solidFill>
                                                    <a:schemeClr val="accent6">
                                                      <a:lumMod val="75000"/>
                                                    </a:schemeClr>
                                                  </a:solidFill>
                                                  <a:latin typeface="Cambria Math" panose="02040503050406030204" pitchFamily="18" charset="0"/>
                                                </a:rPr>
                                                <m:t>−</m:t>
                                              </m:r>
                                              <m:sSubSup>
                                                <m:sSubSupPr>
                                                  <m:ctrlPr>
                                                    <a:rPr lang="en-VN" i="1" smtClean="0">
                                                      <a:solidFill>
                                                        <a:schemeClr val="accent6">
                                                          <a:lumMod val="75000"/>
                                                        </a:schemeClr>
                                                      </a:solidFill>
                                                      <a:latin typeface="Cambria Math" panose="02040503050406030204" pitchFamily="18" charset="0"/>
                                                    </a:rPr>
                                                  </m:ctrlPr>
                                                </m:sSubSupPr>
                                                <m:e>
                                                  <m:r>
                                                    <a:rPr lang="en-VN" i="1" smtClean="0">
                                                      <a:solidFill>
                                                        <a:schemeClr val="accent6">
                                                          <a:lumMod val="75000"/>
                                                        </a:schemeClr>
                                                      </a:solidFill>
                                                      <a:latin typeface="Cambria Math" panose="02040503050406030204" pitchFamily="18" charset="0"/>
                                                    </a:rPr>
                                                    <m:t>𝜇</m:t>
                                                  </m:r>
                                                </m:e>
                                                <m:sub>
                                                  <m:r>
                                                    <a:rPr lang="en-VN" i="1" smtClean="0">
                                                      <a:solidFill>
                                                        <a:schemeClr val="accent6">
                                                          <a:lumMod val="75000"/>
                                                        </a:schemeClr>
                                                      </a:solidFill>
                                                      <a:latin typeface="Cambria Math" panose="02040503050406030204" pitchFamily="18" charset="0"/>
                                                    </a:rPr>
                                                    <m:t>𝑘</m:t>
                                                  </m:r>
                                                </m:sub>
                                                <m:sup>
                                                  <m:d>
                                                    <m:dPr>
                                                      <m:ctrlPr>
                                                        <a:rPr lang="en-VN" i="1" smtClean="0">
                                                          <a:solidFill>
                                                            <a:schemeClr val="accent6">
                                                              <a:lumMod val="75000"/>
                                                            </a:schemeClr>
                                                          </a:solidFill>
                                                          <a:latin typeface="Cambria Math" panose="02040503050406030204" pitchFamily="18" charset="0"/>
                                                        </a:rPr>
                                                      </m:ctrlPr>
                                                    </m:dPr>
                                                    <m:e>
                                                      <m:r>
                                                        <a:rPr lang="en-VN" i="1" smtClean="0">
                                                          <a:solidFill>
                                                            <a:schemeClr val="accent6">
                                                              <a:lumMod val="75000"/>
                                                            </a:schemeClr>
                                                          </a:solidFill>
                                                          <a:latin typeface="Cambria Math" panose="02040503050406030204" pitchFamily="18" charset="0"/>
                                                        </a:rPr>
                                                        <m:t>𝑡</m:t>
                                                      </m:r>
                                                    </m:e>
                                                  </m:d>
                                                </m:sup>
                                              </m:sSubSup>
                                            </m:e>
                                          </m:d>
                                        </m:e>
                                        <m:sup>
                                          <m:r>
                                            <a:rPr lang="en-VN" i="1" smtClean="0">
                                              <a:solidFill>
                                                <a:schemeClr val="accent6">
                                                  <a:lumMod val="75000"/>
                                                </a:schemeClr>
                                              </a:solidFill>
                                              <a:latin typeface="Cambria Math" panose="02040503050406030204" pitchFamily="18" charset="0"/>
                                            </a:rPr>
                                            <m:t>2</m:t>
                                          </m:r>
                                        </m:sup>
                                      </m:sSup>
                                    </m:num>
                                    <m:den>
                                      <m:r>
                                        <a:rPr lang="en-VN" i="1" smtClean="0">
                                          <a:solidFill>
                                            <a:schemeClr val="accent6">
                                              <a:lumMod val="75000"/>
                                            </a:schemeClr>
                                          </a:solidFill>
                                          <a:latin typeface="Cambria Math" panose="02040503050406030204" pitchFamily="18" charset="0"/>
                                        </a:rPr>
                                        <m:t>2</m:t>
                                      </m:r>
                                      <m:sSup>
                                        <m:sSupPr>
                                          <m:ctrlPr>
                                            <a:rPr lang="en-VN" i="1" smtClean="0">
                                              <a:solidFill>
                                                <a:schemeClr val="accent6">
                                                  <a:lumMod val="75000"/>
                                                </a:schemeClr>
                                              </a:solidFill>
                                              <a:latin typeface="Cambria Math" panose="02040503050406030204" pitchFamily="18" charset="0"/>
                                            </a:rPr>
                                          </m:ctrlPr>
                                        </m:sSupPr>
                                        <m:e>
                                          <m:d>
                                            <m:dPr>
                                              <m:ctrlPr>
                                                <a:rPr lang="en-VN" i="1" smtClean="0">
                                                  <a:solidFill>
                                                    <a:schemeClr val="accent6">
                                                      <a:lumMod val="75000"/>
                                                    </a:schemeClr>
                                                  </a:solidFill>
                                                  <a:latin typeface="Cambria Math" panose="02040503050406030204" pitchFamily="18" charset="0"/>
                                                </a:rPr>
                                              </m:ctrlPr>
                                            </m:dPr>
                                            <m:e>
                                              <m:sSubSup>
                                                <m:sSubSupPr>
                                                  <m:ctrlPr>
                                                    <a:rPr lang="en-VN" i="1" smtClean="0">
                                                      <a:solidFill>
                                                        <a:schemeClr val="accent6">
                                                          <a:lumMod val="75000"/>
                                                        </a:schemeClr>
                                                      </a:solidFill>
                                                      <a:latin typeface="Cambria Math" panose="02040503050406030204" pitchFamily="18" charset="0"/>
                                                    </a:rPr>
                                                  </m:ctrlPr>
                                                </m:sSubSupPr>
                                                <m:e>
                                                  <m:r>
                                                    <a:rPr lang="en-VN" i="1" smtClean="0">
                                                      <a:solidFill>
                                                        <a:schemeClr val="accent6">
                                                          <a:lumMod val="75000"/>
                                                        </a:schemeClr>
                                                      </a:solidFill>
                                                      <a:latin typeface="Cambria Math" panose="02040503050406030204" pitchFamily="18" charset="0"/>
                                                    </a:rPr>
                                                    <m:t>𝜎</m:t>
                                                  </m:r>
                                                </m:e>
                                                <m:sub>
                                                  <m:r>
                                                    <a:rPr lang="en-VN" i="1" smtClean="0">
                                                      <a:solidFill>
                                                        <a:schemeClr val="accent6">
                                                          <a:lumMod val="75000"/>
                                                        </a:schemeClr>
                                                      </a:solidFill>
                                                      <a:latin typeface="Cambria Math" panose="02040503050406030204" pitchFamily="18" charset="0"/>
                                                    </a:rPr>
                                                    <m:t>𝑘</m:t>
                                                  </m:r>
                                                </m:sub>
                                                <m:sup>
                                                  <m:d>
                                                    <m:dPr>
                                                      <m:ctrlPr>
                                                        <a:rPr lang="en-VN" i="1" smtClean="0">
                                                          <a:solidFill>
                                                            <a:schemeClr val="accent6">
                                                              <a:lumMod val="75000"/>
                                                            </a:schemeClr>
                                                          </a:solidFill>
                                                          <a:latin typeface="Cambria Math" panose="02040503050406030204" pitchFamily="18" charset="0"/>
                                                        </a:rPr>
                                                      </m:ctrlPr>
                                                    </m:dPr>
                                                    <m:e>
                                                      <m:r>
                                                        <a:rPr lang="en-VN" i="1" smtClean="0">
                                                          <a:solidFill>
                                                            <a:schemeClr val="accent6">
                                                              <a:lumMod val="75000"/>
                                                            </a:schemeClr>
                                                          </a:solidFill>
                                                          <a:latin typeface="Cambria Math" panose="02040503050406030204" pitchFamily="18" charset="0"/>
                                                        </a:rPr>
                                                        <m:t>𝑡</m:t>
                                                      </m:r>
                                                    </m:e>
                                                  </m:d>
                                                </m:sup>
                                              </m:sSubSup>
                                            </m:e>
                                          </m:d>
                                        </m:e>
                                        <m:sup>
                                          <m:r>
                                            <a:rPr lang="en-VN" i="1" smtClean="0">
                                              <a:solidFill>
                                                <a:schemeClr val="accent6">
                                                  <a:lumMod val="75000"/>
                                                </a:schemeClr>
                                              </a:solidFill>
                                              <a:latin typeface="Cambria Math" panose="02040503050406030204" pitchFamily="18" charset="0"/>
                                            </a:rPr>
                                            <m:t>2</m:t>
                                          </m:r>
                                        </m:sup>
                                      </m:sSup>
                                    </m:den>
                                  </m:f>
                                </m:e>
                              </m:d>
                            </m:e>
                          </m:func>
                        </m:num>
                        <m:den>
                          <m:nary>
                            <m:naryPr>
                              <m:chr m:val="∑"/>
                              <m:limLoc m:val="undOvr"/>
                              <m:ctrlPr>
                                <a:rPr lang="en-VN" i="1" smtClean="0">
                                  <a:latin typeface="Cambria Math" panose="02040503050406030204" pitchFamily="18" charset="0"/>
                                </a:rPr>
                              </m:ctrlPr>
                            </m:naryPr>
                            <m:sub>
                              <m:r>
                                <a:rPr lang="en-VN" i="1" smtClean="0">
                                  <a:latin typeface="Cambria Math" panose="02040503050406030204" pitchFamily="18" charset="0"/>
                                </a:rPr>
                                <m:t>𝑗</m:t>
                              </m:r>
                              <m:r>
                                <a:rPr lang="en-VN" i="1" smtClean="0">
                                  <a:latin typeface="Cambria Math" panose="02040503050406030204" pitchFamily="18" charset="0"/>
                                </a:rPr>
                                <m:t>=1</m:t>
                              </m:r>
                            </m:sub>
                            <m:sup>
                              <m:r>
                                <a:rPr lang="en-VN" i="1" smtClean="0">
                                  <a:latin typeface="Cambria Math" panose="02040503050406030204" pitchFamily="18" charset="0"/>
                                </a:rPr>
                                <m:t>𝐾</m:t>
                              </m:r>
                            </m:sup>
                            <m:e>
                              <m:sSubSup>
                                <m:sSubSupPr>
                                  <m:ctrlPr>
                                    <a:rPr lang="en-VN" i="1" smtClean="0">
                                      <a:latin typeface="Cambria Math" panose="02040503050406030204" pitchFamily="18" charset="0"/>
                                    </a:rPr>
                                  </m:ctrlPr>
                                </m:sSubSupPr>
                                <m:e>
                                  <m:r>
                                    <a:rPr lang="en-VN" i="1" smtClean="0">
                                      <a:latin typeface="Cambria Math" panose="02040503050406030204" pitchFamily="18" charset="0"/>
                                    </a:rPr>
                                    <m:t>𝜋</m:t>
                                  </m:r>
                                </m:e>
                                <m:sub>
                                  <m:r>
                                    <a:rPr lang="en-VN" i="1" smtClean="0">
                                      <a:latin typeface="Cambria Math" panose="02040503050406030204" pitchFamily="18" charset="0"/>
                                    </a:rPr>
                                    <m:t>𝑗</m:t>
                                  </m:r>
                                </m:sub>
                                <m:sup>
                                  <m:d>
                                    <m:dPr>
                                      <m:ctrlPr>
                                        <a:rPr lang="en-VN" i="1" smtClean="0">
                                          <a:latin typeface="Cambria Math" panose="02040503050406030204" pitchFamily="18" charset="0"/>
                                        </a:rPr>
                                      </m:ctrlPr>
                                    </m:dPr>
                                    <m:e>
                                      <m:r>
                                        <a:rPr lang="en-VN" i="1" smtClean="0">
                                          <a:latin typeface="Cambria Math" panose="02040503050406030204" pitchFamily="18" charset="0"/>
                                        </a:rPr>
                                        <m:t>𝑡</m:t>
                                      </m:r>
                                    </m:e>
                                  </m:d>
                                </m:sup>
                              </m:sSubSup>
                            </m:e>
                          </m:nary>
                          <m:f>
                            <m:fPr>
                              <m:ctrlPr>
                                <a:rPr lang="en-VN" i="1" smtClean="0">
                                  <a:solidFill>
                                    <a:schemeClr val="accent6">
                                      <a:lumMod val="75000"/>
                                    </a:schemeClr>
                                  </a:solidFill>
                                  <a:latin typeface="Cambria Math" panose="02040503050406030204" pitchFamily="18" charset="0"/>
                                </a:rPr>
                              </m:ctrlPr>
                            </m:fPr>
                            <m:num>
                              <m:r>
                                <a:rPr lang="en-VN" i="1" smtClean="0">
                                  <a:solidFill>
                                    <a:schemeClr val="accent6">
                                      <a:lumMod val="75000"/>
                                    </a:schemeClr>
                                  </a:solidFill>
                                  <a:latin typeface="Cambria Math" panose="02040503050406030204" pitchFamily="18" charset="0"/>
                                </a:rPr>
                                <m:t>1</m:t>
                              </m:r>
                            </m:num>
                            <m:den>
                              <m:rad>
                                <m:radPr>
                                  <m:degHide m:val="on"/>
                                  <m:ctrlPr>
                                    <a:rPr lang="en-VN" i="1" smtClean="0">
                                      <a:solidFill>
                                        <a:schemeClr val="accent6">
                                          <a:lumMod val="75000"/>
                                        </a:schemeClr>
                                      </a:solidFill>
                                      <a:latin typeface="Cambria Math" panose="02040503050406030204" pitchFamily="18" charset="0"/>
                                    </a:rPr>
                                  </m:ctrlPr>
                                </m:radPr>
                                <m:deg/>
                                <m:e>
                                  <m:r>
                                    <a:rPr lang="en-VN" i="1" smtClean="0">
                                      <a:solidFill>
                                        <a:schemeClr val="accent6">
                                          <a:lumMod val="75000"/>
                                        </a:schemeClr>
                                      </a:solidFill>
                                      <a:latin typeface="Cambria Math" panose="02040503050406030204" pitchFamily="18" charset="0"/>
                                    </a:rPr>
                                    <m:t>2</m:t>
                                  </m:r>
                                  <m:r>
                                    <a:rPr lang="en-VN" i="1" smtClean="0">
                                      <a:solidFill>
                                        <a:schemeClr val="accent6">
                                          <a:lumMod val="75000"/>
                                        </a:schemeClr>
                                      </a:solidFill>
                                      <a:latin typeface="Cambria Math" panose="02040503050406030204" pitchFamily="18" charset="0"/>
                                    </a:rPr>
                                    <m:t>𝜋</m:t>
                                  </m:r>
                                </m:e>
                              </m:rad>
                              <m:sSubSup>
                                <m:sSubSupPr>
                                  <m:ctrlPr>
                                    <a:rPr lang="en-VN" i="1" smtClean="0">
                                      <a:solidFill>
                                        <a:schemeClr val="accent6">
                                          <a:lumMod val="75000"/>
                                        </a:schemeClr>
                                      </a:solidFill>
                                      <a:latin typeface="Cambria Math" panose="02040503050406030204" pitchFamily="18" charset="0"/>
                                    </a:rPr>
                                  </m:ctrlPr>
                                </m:sSubSupPr>
                                <m:e>
                                  <m:r>
                                    <a:rPr lang="en-VN" i="1" smtClean="0">
                                      <a:solidFill>
                                        <a:schemeClr val="accent6">
                                          <a:lumMod val="75000"/>
                                        </a:schemeClr>
                                      </a:solidFill>
                                      <a:latin typeface="Cambria Math" panose="02040503050406030204" pitchFamily="18" charset="0"/>
                                    </a:rPr>
                                    <m:t>𝜎</m:t>
                                  </m:r>
                                </m:e>
                                <m:sub>
                                  <m:r>
                                    <a:rPr lang="en-VN" i="1" smtClean="0">
                                      <a:solidFill>
                                        <a:schemeClr val="accent6">
                                          <a:lumMod val="75000"/>
                                        </a:schemeClr>
                                      </a:solidFill>
                                      <a:latin typeface="Cambria Math" panose="02040503050406030204" pitchFamily="18" charset="0"/>
                                    </a:rPr>
                                    <m:t>𝑗</m:t>
                                  </m:r>
                                </m:sub>
                                <m:sup>
                                  <m:d>
                                    <m:dPr>
                                      <m:ctrlPr>
                                        <a:rPr lang="en-VN" i="1" smtClean="0">
                                          <a:solidFill>
                                            <a:schemeClr val="accent6">
                                              <a:lumMod val="75000"/>
                                            </a:schemeClr>
                                          </a:solidFill>
                                          <a:latin typeface="Cambria Math" panose="02040503050406030204" pitchFamily="18" charset="0"/>
                                        </a:rPr>
                                      </m:ctrlPr>
                                    </m:dPr>
                                    <m:e>
                                      <m:r>
                                        <a:rPr lang="en-VN" i="1" smtClean="0">
                                          <a:solidFill>
                                            <a:schemeClr val="accent6">
                                              <a:lumMod val="75000"/>
                                            </a:schemeClr>
                                          </a:solidFill>
                                          <a:latin typeface="Cambria Math" panose="02040503050406030204" pitchFamily="18" charset="0"/>
                                        </a:rPr>
                                        <m:t>𝑡</m:t>
                                      </m:r>
                                    </m:e>
                                  </m:d>
                                </m:sup>
                              </m:sSubSup>
                            </m:den>
                          </m:f>
                          <m:func>
                            <m:funcPr>
                              <m:ctrlPr>
                                <a:rPr lang="en-VN" i="1" smtClean="0">
                                  <a:solidFill>
                                    <a:schemeClr val="accent6">
                                      <a:lumMod val="75000"/>
                                    </a:schemeClr>
                                  </a:solidFill>
                                  <a:latin typeface="Cambria Math" panose="02040503050406030204" pitchFamily="18" charset="0"/>
                                </a:rPr>
                              </m:ctrlPr>
                            </m:funcPr>
                            <m:fName>
                              <m:r>
                                <m:rPr>
                                  <m:sty m:val="p"/>
                                </m:rPr>
                                <a:rPr lang="en-VN" i="1" smtClean="0">
                                  <a:solidFill>
                                    <a:schemeClr val="accent6">
                                      <a:lumMod val="75000"/>
                                    </a:schemeClr>
                                  </a:solidFill>
                                  <a:latin typeface="Cambria Math" panose="02040503050406030204" pitchFamily="18" charset="0"/>
                                </a:rPr>
                                <m:t>exp</m:t>
                              </m:r>
                            </m:fName>
                            <m:e>
                              <m:d>
                                <m:dPr>
                                  <m:begChr m:val="["/>
                                  <m:endChr m:val="]"/>
                                  <m:ctrlPr>
                                    <a:rPr lang="en-VN" i="1" smtClean="0">
                                      <a:solidFill>
                                        <a:schemeClr val="accent6">
                                          <a:lumMod val="75000"/>
                                        </a:schemeClr>
                                      </a:solidFill>
                                      <a:latin typeface="Cambria Math" panose="02040503050406030204" pitchFamily="18" charset="0"/>
                                    </a:rPr>
                                  </m:ctrlPr>
                                </m:dPr>
                                <m:e>
                                  <m:r>
                                    <a:rPr lang="en-VN" i="1" smtClean="0">
                                      <a:solidFill>
                                        <a:schemeClr val="accent6">
                                          <a:lumMod val="75000"/>
                                        </a:schemeClr>
                                      </a:solidFill>
                                      <a:latin typeface="Cambria Math" panose="02040503050406030204" pitchFamily="18" charset="0"/>
                                    </a:rPr>
                                    <m:t>−</m:t>
                                  </m:r>
                                  <m:f>
                                    <m:fPr>
                                      <m:ctrlPr>
                                        <a:rPr lang="en-VN" i="1" smtClean="0">
                                          <a:solidFill>
                                            <a:schemeClr val="accent6">
                                              <a:lumMod val="75000"/>
                                            </a:schemeClr>
                                          </a:solidFill>
                                          <a:latin typeface="Cambria Math" panose="02040503050406030204" pitchFamily="18" charset="0"/>
                                        </a:rPr>
                                      </m:ctrlPr>
                                    </m:fPr>
                                    <m:num>
                                      <m:sSup>
                                        <m:sSupPr>
                                          <m:ctrlPr>
                                            <a:rPr lang="en-VN" i="1" smtClean="0">
                                              <a:solidFill>
                                                <a:schemeClr val="accent6">
                                                  <a:lumMod val="75000"/>
                                                </a:schemeClr>
                                              </a:solidFill>
                                              <a:latin typeface="Cambria Math" panose="02040503050406030204" pitchFamily="18" charset="0"/>
                                            </a:rPr>
                                          </m:ctrlPr>
                                        </m:sSupPr>
                                        <m:e>
                                          <m:d>
                                            <m:dPr>
                                              <m:ctrlPr>
                                                <a:rPr lang="en-VN" i="1" smtClean="0">
                                                  <a:solidFill>
                                                    <a:schemeClr val="accent6">
                                                      <a:lumMod val="75000"/>
                                                    </a:schemeClr>
                                                  </a:solidFill>
                                                  <a:latin typeface="Cambria Math" panose="02040503050406030204" pitchFamily="18" charset="0"/>
                                                </a:rPr>
                                              </m:ctrlPr>
                                            </m:dPr>
                                            <m:e>
                                              <m:sSub>
                                                <m:sSubPr>
                                                  <m:ctrlPr>
                                                    <a:rPr lang="en-VN" i="1" smtClean="0">
                                                      <a:solidFill>
                                                        <a:schemeClr val="accent6">
                                                          <a:lumMod val="75000"/>
                                                        </a:schemeClr>
                                                      </a:solidFill>
                                                      <a:latin typeface="Cambria Math" panose="02040503050406030204" pitchFamily="18" charset="0"/>
                                                    </a:rPr>
                                                  </m:ctrlPr>
                                                </m:sSubPr>
                                                <m:e>
                                                  <m:r>
                                                    <a:rPr lang="en-VN" i="1" smtClean="0">
                                                      <a:solidFill>
                                                        <a:schemeClr val="accent6">
                                                          <a:lumMod val="75000"/>
                                                        </a:schemeClr>
                                                      </a:solidFill>
                                                      <a:latin typeface="Cambria Math" panose="02040503050406030204" pitchFamily="18" charset="0"/>
                                                    </a:rPr>
                                                    <m:t>𝑥</m:t>
                                                  </m:r>
                                                </m:e>
                                                <m:sub>
                                                  <m:r>
                                                    <a:rPr lang="en-VN" i="1" smtClean="0">
                                                      <a:solidFill>
                                                        <a:schemeClr val="accent6">
                                                          <a:lumMod val="75000"/>
                                                        </a:schemeClr>
                                                      </a:solidFill>
                                                      <a:latin typeface="Cambria Math" panose="02040503050406030204" pitchFamily="18" charset="0"/>
                                                    </a:rPr>
                                                    <m:t>𝑛</m:t>
                                                  </m:r>
                                                </m:sub>
                                              </m:sSub>
                                              <m:r>
                                                <a:rPr lang="en-VN" i="1" smtClean="0">
                                                  <a:solidFill>
                                                    <a:schemeClr val="accent6">
                                                      <a:lumMod val="75000"/>
                                                    </a:schemeClr>
                                                  </a:solidFill>
                                                  <a:latin typeface="Cambria Math" panose="02040503050406030204" pitchFamily="18" charset="0"/>
                                                </a:rPr>
                                                <m:t>−</m:t>
                                              </m:r>
                                              <m:sSubSup>
                                                <m:sSubSupPr>
                                                  <m:ctrlPr>
                                                    <a:rPr lang="en-VN" i="1" smtClean="0">
                                                      <a:solidFill>
                                                        <a:schemeClr val="accent6">
                                                          <a:lumMod val="75000"/>
                                                        </a:schemeClr>
                                                      </a:solidFill>
                                                      <a:latin typeface="Cambria Math" panose="02040503050406030204" pitchFamily="18" charset="0"/>
                                                    </a:rPr>
                                                  </m:ctrlPr>
                                                </m:sSubSupPr>
                                                <m:e>
                                                  <m:r>
                                                    <a:rPr lang="en-VN" i="1" smtClean="0">
                                                      <a:solidFill>
                                                        <a:schemeClr val="accent6">
                                                          <a:lumMod val="75000"/>
                                                        </a:schemeClr>
                                                      </a:solidFill>
                                                      <a:latin typeface="Cambria Math" panose="02040503050406030204" pitchFamily="18" charset="0"/>
                                                    </a:rPr>
                                                    <m:t>𝜇</m:t>
                                                  </m:r>
                                                </m:e>
                                                <m:sub>
                                                  <m:r>
                                                    <a:rPr lang="en-VN" i="1" smtClean="0">
                                                      <a:solidFill>
                                                        <a:schemeClr val="accent6">
                                                          <a:lumMod val="75000"/>
                                                        </a:schemeClr>
                                                      </a:solidFill>
                                                      <a:latin typeface="Cambria Math" panose="02040503050406030204" pitchFamily="18" charset="0"/>
                                                    </a:rPr>
                                                    <m:t>𝑗</m:t>
                                                  </m:r>
                                                </m:sub>
                                                <m:sup>
                                                  <m:d>
                                                    <m:dPr>
                                                      <m:ctrlPr>
                                                        <a:rPr lang="en-VN" i="1" smtClean="0">
                                                          <a:solidFill>
                                                            <a:schemeClr val="accent6">
                                                              <a:lumMod val="75000"/>
                                                            </a:schemeClr>
                                                          </a:solidFill>
                                                          <a:latin typeface="Cambria Math" panose="02040503050406030204" pitchFamily="18" charset="0"/>
                                                        </a:rPr>
                                                      </m:ctrlPr>
                                                    </m:dPr>
                                                    <m:e>
                                                      <m:r>
                                                        <a:rPr lang="en-VN" i="1" smtClean="0">
                                                          <a:solidFill>
                                                            <a:schemeClr val="accent6">
                                                              <a:lumMod val="75000"/>
                                                            </a:schemeClr>
                                                          </a:solidFill>
                                                          <a:latin typeface="Cambria Math" panose="02040503050406030204" pitchFamily="18" charset="0"/>
                                                        </a:rPr>
                                                        <m:t>𝑡</m:t>
                                                      </m:r>
                                                    </m:e>
                                                  </m:d>
                                                </m:sup>
                                              </m:sSubSup>
                                            </m:e>
                                          </m:d>
                                        </m:e>
                                        <m:sup>
                                          <m:r>
                                            <a:rPr lang="en-VN" i="1" smtClean="0">
                                              <a:solidFill>
                                                <a:schemeClr val="accent6">
                                                  <a:lumMod val="75000"/>
                                                </a:schemeClr>
                                              </a:solidFill>
                                              <a:latin typeface="Cambria Math" panose="02040503050406030204" pitchFamily="18" charset="0"/>
                                            </a:rPr>
                                            <m:t>2</m:t>
                                          </m:r>
                                        </m:sup>
                                      </m:sSup>
                                    </m:num>
                                    <m:den>
                                      <m:r>
                                        <a:rPr lang="en-VN" i="1" smtClean="0">
                                          <a:solidFill>
                                            <a:schemeClr val="accent6">
                                              <a:lumMod val="75000"/>
                                            </a:schemeClr>
                                          </a:solidFill>
                                          <a:latin typeface="Cambria Math" panose="02040503050406030204" pitchFamily="18" charset="0"/>
                                        </a:rPr>
                                        <m:t>2</m:t>
                                      </m:r>
                                      <m:sSup>
                                        <m:sSupPr>
                                          <m:ctrlPr>
                                            <a:rPr lang="en-VN" i="1" smtClean="0">
                                              <a:solidFill>
                                                <a:schemeClr val="accent6">
                                                  <a:lumMod val="75000"/>
                                                </a:schemeClr>
                                              </a:solidFill>
                                              <a:latin typeface="Cambria Math" panose="02040503050406030204" pitchFamily="18" charset="0"/>
                                            </a:rPr>
                                          </m:ctrlPr>
                                        </m:sSupPr>
                                        <m:e>
                                          <m:d>
                                            <m:dPr>
                                              <m:ctrlPr>
                                                <a:rPr lang="en-VN" i="1" smtClean="0">
                                                  <a:solidFill>
                                                    <a:schemeClr val="accent6">
                                                      <a:lumMod val="75000"/>
                                                    </a:schemeClr>
                                                  </a:solidFill>
                                                  <a:latin typeface="Cambria Math" panose="02040503050406030204" pitchFamily="18" charset="0"/>
                                                </a:rPr>
                                              </m:ctrlPr>
                                            </m:dPr>
                                            <m:e>
                                              <m:sSubSup>
                                                <m:sSubSupPr>
                                                  <m:ctrlPr>
                                                    <a:rPr lang="en-VN" i="1" smtClean="0">
                                                      <a:solidFill>
                                                        <a:schemeClr val="accent6">
                                                          <a:lumMod val="75000"/>
                                                        </a:schemeClr>
                                                      </a:solidFill>
                                                      <a:latin typeface="Cambria Math" panose="02040503050406030204" pitchFamily="18" charset="0"/>
                                                    </a:rPr>
                                                  </m:ctrlPr>
                                                </m:sSubSupPr>
                                                <m:e>
                                                  <m:r>
                                                    <a:rPr lang="en-VN" i="1" smtClean="0">
                                                      <a:solidFill>
                                                        <a:schemeClr val="accent6">
                                                          <a:lumMod val="75000"/>
                                                        </a:schemeClr>
                                                      </a:solidFill>
                                                      <a:latin typeface="Cambria Math" panose="02040503050406030204" pitchFamily="18" charset="0"/>
                                                    </a:rPr>
                                                    <m:t>𝜎</m:t>
                                                  </m:r>
                                                </m:e>
                                                <m:sub>
                                                  <m:r>
                                                    <a:rPr lang="en-VN" i="1" smtClean="0">
                                                      <a:solidFill>
                                                        <a:schemeClr val="accent6">
                                                          <a:lumMod val="75000"/>
                                                        </a:schemeClr>
                                                      </a:solidFill>
                                                      <a:latin typeface="Cambria Math" panose="02040503050406030204" pitchFamily="18" charset="0"/>
                                                    </a:rPr>
                                                    <m:t>𝑗</m:t>
                                                  </m:r>
                                                </m:sub>
                                                <m:sup>
                                                  <m:d>
                                                    <m:dPr>
                                                      <m:ctrlPr>
                                                        <a:rPr lang="en-VN" i="1" smtClean="0">
                                                          <a:solidFill>
                                                            <a:schemeClr val="accent6">
                                                              <a:lumMod val="75000"/>
                                                            </a:schemeClr>
                                                          </a:solidFill>
                                                          <a:latin typeface="Cambria Math" panose="02040503050406030204" pitchFamily="18" charset="0"/>
                                                        </a:rPr>
                                                      </m:ctrlPr>
                                                    </m:dPr>
                                                    <m:e>
                                                      <m:r>
                                                        <a:rPr lang="en-VN" i="1" smtClean="0">
                                                          <a:solidFill>
                                                            <a:schemeClr val="accent6">
                                                              <a:lumMod val="75000"/>
                                                            </a:schemeClr>
                                                          </a:solidFill>
                                                          <a:latin typeface="Cambria Math" panose="02040503050406030204" pitchFamily="18" charset="0"/>
                                                        </a:rPr>
                                                        <m:t>𝑡</m:t>
                                                      </m:r>
                                                    </m:e>
                                                  </m:d>
                                                </m:sup>
                                              </m:sSubSup>
                                            </m:e>
                                          </m:d>
                                        </m:e>
                                        <m:sup>
                                          <m:r>
                                            <a:rPr lang="en-VN" i="1" smtClean="0">
                                              <a:solidFill>
                                                <a:schemeClr val="accent6">
                                                  <a:lumMod val="75000"/>
                                                </a:schemeClr>
                                              </a:solidFill>
                                              <a:latin typeface="Cambria Math" panose="02040503050406030204" pitchFamily="18" charset="0"/>
                                            </a:rPr>
                                            <m:t>2</m:t>
                                          </m:r>
                                        </m:sup>
                                      </m:sSup>
                                    </m:den>
                                  </m:f>
                                </m:e>
                              </m:d>
                            </m:e>
                          </m:func>
                        </m:den>
                      </m:f>
                    </m:oMath>
                  </m:oMathPara>
                </a14:m>
                <a:endParaRPr lang="vi-VN" dirty="0"/>
              </a:p>
              <a:p>
                <a:endParaRPr lang="en-VN" dirty="0"/>
              </a:p>
            </p:txBody>
          </p:sp>
        </mc:Choice>
        <mc:Fallback xmlns="">
          <p:sp>
            <p:nvSpPr>
              <p:cNvPr id="15" name="TextBox 14">
                <a:extLst>
                  <a:ext uri="{FF2B5EF4-FFF2-40B4-BE49-F238E27FC236}">
                    <a16:creationId xmlns:a16="http://schemas.microsoft.com/office/drawing/2014/main" id="{116918B3-2029-AA79-8F67-7F57342D4EE0}"/>
                  </a:ext>
                </a:extLst>
              </p:cNvPr>
              <p:cNvSpPr txBox="1">
                <a:spLocks noRot="1" noChangeAspect="1" noMove="1" noResize="1" noEditPoints="1" noAdjustHandles="1" noChangeArrowheads="1" noChangeShapeType="1" noTextEdit="1"/>
              </p:cNvSpPr>
              <p:nvPr/>
            </p:nvSpPr>
            <p:spPr>
              <a:xfrm>
                <a:off x="6773334" y="4043372"/>
                <a:ext cx="4635499" cy="2308517"/>
              </a:xfrm>
              <a:prstGeom prst="rect">
                <a:avLst/>
              </a:prstGeom>
              <a:blipFill>
                <a:blip r:embed="rId5"/>
                <a:stretch>
                  <a:fillRect b="-546"/>
                </a:stretch>
              </a:blipFill>
            </p:spPr>
            <p:txBody>
              <a:bodyPr/>
              <a:lstStyle/>
              <a:p>
                <a:r>
                  <a:rPr lang="en-VN">
                    <a:noFill/>
                  </a:rPr>
                  <a:t> </a:t>
                </a:r>
              </a:p>
            </p:txBody>
          </p:sp>
        </mc:Fallback>
      </mc:AlternateContent>
      <p:sp>
        <p:nvSpPr>
          <p:cNvPr id="17" name="Down Arrow 16">
            <a:extLst>
              <a:ext uri="{FF2B5EF4-FFF2-40B4-BE49-F238E27FC236}">
                <a16:creationId xmlns:a16="http://schemas.microsoft.com/office/drawing/2014/main" id="{35F20114-18AC-853D-4C4E-3F21F362F08D}"/>
              </a:ext>
            </a:extLst>
          </p:cNvPr>
          <p:cNvSpPr/>
          <p:nvPr/>
        </p:nvSpPr>
        <p:spPr>
          <a:xfrm>
            <a:off x="7823199" y="3556000"/>
            <a:ext cx="313266" cy="487372"/>
          </a:xfrm>
          <a:prstGeom prst="downArrow">
            <a:avLst/>
          </a:prstGeom>
          <a:solidFill>
            <a:schemeClr val="accent6">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VN"/>
          </a:p>
        </p:txBody>
      </p:sp>
    </p:spTree>
    <p:extLst>
      <p:ext uri="{BB962C8B-B14F-4D97-AF65-F5344CB8AC3E}">
        <p14:creationId xmlns:p14="http://schemas.microsoft.com/office/powerpoint/2010/main" val="35895505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429A6C-61CC-D6A1-956A-A6FDAEFAA87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7F38A29-AA1E-32BD-3461-D5B819558100}"/>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p:sp>
        <p:nvSpPr>
          <p:cNvPr id="4" name="TextBox 3">
            <a:extLst>
              <a:ext uri="{FF2B5EF4-FFF2-40B4-BE49-F238E27FC236}">
                <a16:creationId xmlns:a16="http://schemas.microsoft.com/office/drawing/2014/main" id="{EA758FFD-2F4E-C0FC-05DF-58B15838652E}"/>
              </a:ext>
            </a:extLst>
          </p:cNvPr>
          <p:cNvSpPr txBox="1"/>
          <p:nvPr/>
        </p:nvSpPr>
        <p:spPr>
          <a:xfrm>
            <a:off x="364066" y="1267772"/>
            <a:ext cx="10961159" cy="600164"/>
          </a:xfrm>
          <a:prstGeom prst="rect">
            <a:avLst/>
          </a:prstGeom>
          <a:noFill/>
        </p:spPr>
        <p:txBody>
          <a:bodyPr wrap="square">
            <a:spAutoFit/>
          </a:bodyPr>
          <a:lstStyle/>
          <a:p>
            <a:pPr>
              <a:spcAft>
                <a:spcPts val="600"/>
              </a:spcAft>
            </a:pPr>
            <a:r>
              <a:rPr lang="vi-VN" sz="1400" b="1" dirty="0">
                <a:solidFill>
                  <a:srgbClr val="1B8A7A"/>
                </a:solidFill>
                <a:latin typeface="Arial"/>
              </a:rPr>
              <a:t>2.2. Expectation-Maximization (EM) - </a:t>
            </a:r>
            <a:r>
              <a:rPr lang="vi-VN" sz="1000" b="1" dirty="0">
                <a:solidFill>
                  <a:schemeClr val="accent5">
                    <a:lumMod val="60000"/>
                    <a:lumOff val="40000"/>
                  </a:schemeClr>
                </a:solidFill>
                <a:latin typeface="Arial"/>
              </a:rPr>
              <a:t>Phương pháp cực đại hoá kỳ vọng</a:t>
            </a:r>
          </a:p>
          <a:p>
            <a:pPr>
              <a:spcAft>
                <a:spcPts val="600"/>
              </a:spcAft>
            </a:pPr>
            <a:r>
              <a:rPr lang="vi-VN" sz="1400" dirty="0">
                <a:solidFill>
                  <a:srgbClr val="444B52"/>
                </a:solidFill>
                <a:latin typeface="Arial"/>
              </a:rPr>
              <a:t>Các bước của phương pháp </a:t>
            </a:r>
            <a:r>
              <a:rPr lang="vi-VN" sz="1400" b="1" dirty="0">
                <a:solidFill>
                  <a:srgbClr val="444B52"/>
                </a:solidFill>
                <a:latin typeface="Arial"/>
              </a:rPr>
              <a:t>Expectation-Maximization (EM)</a:t>
            </a:r>
            <a:r>
              <a:rPr lang="vi-VN" sz="1400" dirty="0">
                <a:solidFill>
                  <a:srgbClr val="444B52"/>
                </a:solidFill>
                <a:latin typeface="Arial"/>
              </a:rPr>
              <a:t>:</a:t>
            </a:r>
            <a:endParaRPr lang="vi-VN" sz="1400" b="1" dirty="0">
              <a:solidFill>
                <a:srgbClr val="444B52"/>
              </a:solidFill>
              <a:latin typeface="Aria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E2C9DF5-C500-BC22-91CC-914F9DAF0F3F}"/>
                  </a:ext>
                </a:extLst>
              </p:cNvPr>
              <p:cNvSpPr txBox="1"/>
              <p:nvPr/>
            </p:nvSpPr>
            <p:spPr>
              <a:xfrm>
                <a:off x="364066" y="2350561"/>
                <a:ext cx="6214534" cy="2939266"/>
              </a:xfrm>
              <a:prstGeom prst="rect">
                <a:avLst/>
              </a:prstGeom>
              <a:noFill/>
            </p:spPr>
            <p:txBody>
              <a:bodyPr wrap="square" rtlCol="0">
                <a:spAutoFit/>
              </a:bodyPr>
              <a:lstStyle/>
              <a:p>
                <a:pPr>
                  <a:spcAft>
                    <a:spcPts val="600"/>
                  </a:spcAft>
                </a:pPr>
                <a:r>
                  <a:rPr lang="vi-VN" sz="1400" dirty="0">
                    <a:solidFill>
                      <a:schemeClr val="bg1">
                        <a:lumMod val="75000"/>
                      </a:schemeClr>
                    </a:solidFill>
                    <a:latin typeface="Arial"/>
                  </a:rPr>
                  <a:t>1. Khởi tạo </a:t>
                </a:r>
                <a14:m>
                  <m:oMath xmlns:m="http://schemas.openxmlformats.org/officeDocument/2006/math">
                    <m:sSub>
                      <m:sSubPr>
                        <m:ctrlPr>
                          <a:rPr lang="en-US" sz="1400" b="1" i="1">
                            <a:solidFill>
                              <a:schemeClr val="bg1">
                                <a:lumMod val="75000"/>
                              </a:schemeClr>
                            </a:solidFill>
                            <a:latin typeface="Cambria Math" panose="02040503050406030204" pitchFamily="18" charset="0"/>
                          </a:rPr>
                        </m:ctrlPr>
                      </m:sSubPr>
                      <m:e>
                        <m:r>
                          <a:rPr lang="en-US" sz="1400" b="1" i="1">
                            <a:solidFill>
                              <a:schemeClr val="bg1">
                                <a:lumMod val="75000"/>
                              </a:schemeClr>
                            </a:solidFill>
                            <a:latin typeface="Cambria Math" panose="02040503050406030204" pitchFamily="18" charset="0"/>
                          </a:rPr>
                          <m:t>𝝁</m:t>
                        </m:r>
                      </m:e>
                      <m:sub>
                        <m:r>
                          <a:rPr lang="en-US" sz="1400" b="1" i="1">
                            <a:solidFill>
                              <a:schemeClr val="bg1">
                                <a:lumMod val="75000"/>
                              </a:schemeClr>
                            </a:solidFill>
                            <a:latin typeface="Cambria Math" panose="02040503050406030204" pitchFamily="18" charset="0"/>
                          </a:rPr>
                          <m:t>𝒌</m:t>
                        </m:r>
                      </m:sub>
                    </m:sSub>
                  </m:oMath>
                </a14:m>
                <a:r>
                  <a:rPr lang="vi-VN" sz="1400" dirty="0">
                    <a:solidFill>
                      <a:schemeClr val="bg1">
                        <a:lumMod val="75000"/>
                      </a:schemeClr>
                    </a:solidFill>
                    <a:latin typeface="Arial"/>
                  </a:rPr>
                  <a:t>, </a:t>
                </a:r>
                <a14:m>
                  <m:oMath xmlns:m="http://schemas.openxmlformats.org/officeDocument/2006/math">
                    <m:sSub>
                      <m:sSubPr>
                        <m:ctrlPr>
                          <a:rPr lang="en-US" sz="1400" b="1" i="1" dirty="0">
                            <a:solidFill>
                              <a:schemeClr val="bg1">
                                <a:lumMod val="75000"/>
                              </a:schemeClr>
                            </a:solidFill>
                            <a:latin typeface="Cambria Math" panose="02040503050406030204" pitchFamily="18" charset="0"/>
                          </a:rPr>
                        </m:ctrlPr>
                      </m:sSubPr>
                      <m:e>
                        <m:r>
                          <a:rPr lang="en-US" sz="1400" b="1" i="1" dirty="0">
                            <a:solidFill>
                              <a:schemeClr val="bg1">
                                <a:lumMod val="75000"/>
                              </a:schemeClr>
                            </a:solidFill>
                            <a:latin typeface="Cambria Math" panose="02040503050406030204" pitchFamily="18" charset="0"/>
                          </a:rPr>
                          <m:t>𝝈</m:t>
                        </m:r>
                      </m:e>
                      <m:sub>
                        <m:r>
                          <a:rPr lang="en-US" sz="1400" b="1" i="1">
                            <a:solidFill>
                              <a:schemeClr val="bg1">
                                <a:lumMod val="75000"/>
                              </a:schemeClr>
                            </a:solidFill>
                            <a:latin typeface="Cambria Math" panose="02040503050406030204" pitchFamily="18" charset="0"/>
                          </a:rPr>
                          <m:t>𝒌</m:t>
                        </m:r>
                      </m:sub>
                    </m:sSub>
                  </m:oMath>
                </a14:m>
                <a:r>
                  <a:rPr lang="vi-VN" sz="1400" b="1" dirty="0">
                    <a:solidFill>
                      <a:schemeClr val="bg1">
                        <a:lumMod val="75000"/>
                      </a:schemeClr>
                    </a:solidFill>
                    <a:latin typeface="Arial"/>
                  </a:rPr>
                  <a:t>, </a:t>
                </a:r>
                <a14:m>
                  <m:oMath xmlns:m="http://schemas.openxmlformats.org/officeDocument/2006/math">
                    <m:sSub>
                      <m:sSubPr>
                        <m:ctrlPr>
                          <a:rPr lang="en-US" sz="1400" b="1" i="1">
                            <a:solidFill>
                              <a:schemeClr val="bg1">
                                <a:lumMod val="75000"/>
                              </a:schemeClr>
                            </a:solidFill>
                            <a:latin typeface="Cambria Math" panose="02040503050406030204" pitchFamily="18" charset="0"/>
                          </a:rPr>
                        </m:ctrlPr>
                      </m:sSubPr>
                      <m:e>
                        <m:r>
                          <a:rPr lang="en-US" sz="1400" b="1" i="1">
                            <a:solidFill>
                              <a:schemeClr val="bg1">
                                <a:lumMod val="75000"/>
                              </a:schemeClr>
                            </a:solidFill>
                            <a:latin typeface="Cambria Math" panose="02040503050406030204" pitchFamily="18" charset="0"/>
                          </a:rPr>
                          <m:t>𝝅</m:t>
                        </m:r>
                      </m:e>
                      <m:sub>
                        <m:r>
                          <a:rPr lang="en-US" sz="1400" b="1" i="1">
                            <a:solidFill>
                              <a:schemeClr val="bg1">
                                <a:lumMod val="75000"/>
                              </a:schemeClr>
                            </a:solidFill>
                            <a:latin typeface="Cambria Math" panose="02040503050406030204" pitchFamily="18" charset="0"/>
                          </a:rPr>
                          <m:t>𝒌</m:t>
                        </m:r>
                      </m:sub>
                    </m:sSub>
                  </m:oMath>
                </a14:m>
                <a:endParaRPr lang="vi-VN" sz="1400" dirty="0">
                  <a:solidFill>
                    <a:schemeClr val="bg1">
                      <a:lumMod val="75000"/>
                    </a:schemeClr>
                  </a:solidFill>
                  <a:latin typeface="Arial"/>
                </a:endParaRPr>
              </a:p>
              <a:p>
                <a:pPr>
                  <a:spcAft>
                    <a:spcPts val="600"/>
                  </a:spcAft>
                </a:pPr>
                <a:r>
                  <a:rPr lang="vi-VN" sz="1400" dirty="0">
                    <a:solidFill>
                      <a:schemeClr val="bg1">
                        <a:lumMod val="75000"/>
                      </a:schemeClr>
                    </a:solidFill>
                    <a:latin typeface="Arial"/>
                  </a:rPr>
                  <a:t>2. Bước </a:t>
                </a:r>
                <a:r>
                  <a:rPr lang="vi-VN" sz="1400" b="1" dirty="0">
                    <a:solidFill>
                      <a:schemeClr val="bg1">
                        <a:lumMod val="75000"/>
                      </a:schemeClr>
                    </a:solidFill>
                    <a:latin typeface="Arial"/>
                  </a:rPr>
                  <a:t>Expectation (E)</a:t>
                </a:r>
                <a:r>
                  <a:rPr lang="vi-VN" sz="1400" dirty="0">
                    <a:solidFill>
                      <a:schemeClr val="bg1">
                        <a:lumMod val="75000"/>
                      </a:schemeClr>
                    </a:solidFill>
                    <a:latin typeface="Arial"/>
                  </a:rPr>
                  <a:t>: Dùng </a:t>
                </a:r>
                <a14:m>
                  <m:oMath xmlns:m="http://schemas.openxmlformats.org/officeDocument/2006/math">
                    <m:sSub>
                      <m:sSubPr>
                        <m:ctrlPr>
                          <a:rPr lang="en-US" sz="1400" b="1" i="1">
                            <a:solidFill>
                              <a:schemeClr val="bg1">
                                <a:lumMod val="75000"/>
                              </a:schemeClr>
                            </a:solidFill>
                            <a:latin typeface="Cambria Math" panose="02040503050406030204" pitchFamily="18" charset="0"/>
                          </a:rPr>
                        </m:ctrlPr>
                      </m:sSubPr>
                      <m:e>
                        <m:r>
                          <a:rPr lang="en-US" sz="1400" b="1" i="1">
                            <a:solidFill>
                              <a:schemeClr val="bg1">
                                <a:lumMod val="75000"/>
                              </a:schemeClr>
                            </a:solidFill>
                            <a:latin typeface="Cambria Math" panose="02040503050406030204" pitchFamily="18" charset="0"/>
                          </a:rPr>
                          <m:t>𝝁</m:t>
                        </m:r>
                      </m:e>
                      <m:sub>
                        <m:r>
                          <a:rPr lang="en-US" sz="1400" b="1" i="1">
                            <a:solidFill>
                              <a:schemeClr val="bg1">
                                <a:lumMod val="75000"/>
                              </a:schemeClr>
                            </a:solidFill>
                            <a:latin typeface="Cambria Math" panose="02040503050406030204" pitchFamily="18" charset="0"/>
                          </a:rPr>
                          <m:t>𝒌</m:t>
                        </m:r>
                      </m:sub>
                    </m:sSub>
                  </m:oMath>
                </a14:m>
                <a:r>
                  <a:rPr lang="vi-VN" sz="1400" dirty="0">
                    <a:solidFill>
                      <a:schemeClr val="bg1">
                        <a:lumMod val="75000"/>
                      </a:schemeClr>
                    </a:solidFill>
                    <a:latin typeface="Arial"/>
                  </a:rPr>
                  <a:t>, </a:t>
                </a:r>
                <a14:m>
                  <m:oMath xmlns:m="http://schemas.openxmlformats.org/officeDocument/2006/math">
                    <m:sSub>
                      <m:sSubPr>
                        <m:ctrlPr>
                          <a:rPr lang="en-US" sz="1400" b="1" i="1" dirty="0">
                            <a:solidFill>
                              <a:schemeClr val="bg1">
                                <a:lumMod val="75000"/>
                              </a:schemeClr>
                            </a:solidFill>
                            <a:latin typeface="Cambria Math" panose="02040503050406030204" pitchFamily="18" charset="0"/>
                          </a:rPr>
                        </m:ctrlPr>
                      </m:sSubPr>
                      <m:e>
                        <m:r>
                          <a:rPr lang="en-US" sz="1400" b="1" i="1" dirty="0">
                            <a:solidFill>
                              <a:schemeClr val="bg1">
                                <a:lumMod val="75000"/>
                              </a:schemeClr>
                            </a:solidFill>
                            <a:latin typeface="Cambria Math" panose="02040503050406030204" pitchFamily="18" charset="0"/>
                          </a:rPr>
                          <m:t>𝝈</m:t>
                        </m:r>
                      </m:e>
                      <m:sub>
                        <m:r>
                          <a:rPr lang="en-US" sz="1400" b="1" i="1">
                            <a:solidFill>
                              <a:schemeClr val="bg1">
                                <a:lumMod val="75000"/>
                              </a:schemeClr>
                            </a:solidFill>
                            <a:latin typeface="Cambria Math" panose="02040503050406030204" pitchFamily="18" charset="0"/>
                          </a:rPr>
                          <m:t>𝒌</m:t>
                        </m:r>
                      </m:sub>
                    </m:sSub>
                  </m:oMath>
                </a14:m>
                <a:r>
                  <a:rPr lang="vi-VN" sz="1400" b="1" dirty="0">
                    <a:solidFill>
                      <a:schemeClr val="bg1">
                        <a:lumMod val="75000"/>
                      </a:schemeClr>
                    </a:solidFill>
                    <a:latin typeface="Arial"/>
                  </a:rPr>
                  <a:t>, </a:t>
                </a:r>
                <a14:m>
                  <m:oMath xmlns:m="http://schemas.openxmlformats.org/officeDocument/2006/math">
                    <m:sSub>
                      <m:sSubPr>
                        <m:ctrlPr>
                          <a:rPr lang="en-US" sz="1400" b="1" i="1">
                            <a:solidFill>
                              <a:schemeClr val="bg1">
                                <a:lumMod val="75000"/>
                              </a:schemeClr>
                            </a:solidFill>
                            <a:latin typeface="Cambria Math" panose="02040503050406030204" pitchFamily="18" charset="0"/>
                          </a:rPr>
                        </m:ctrlPr>
                      </m:sSubPr>
                      <m:e>
                        <m:r>
                          <a:rPr lang="en-US" sz="1400" b="1" i="1">
                            <a:solidFill>
                              <a:schemeClr val="bg1">
                                <a:lumMod val="75000"/>
                              </a:schemeClr>
                            </a:solidFill>
                            <a:latin typeface="Cambria Math" panose="02040503050406030204" pitchFamily="18" charset="0"/>
                          </a:rPr>
                          <m:t>𝝅</m:t>
                        </m:r>
                      </m:e>
                      <m:sub>
                        <m:r>
                          <a:rPr lang="en-US" sz="1400" b="1" i="1">
                            <a:solidFill>
                              <a:schemeClr val="bg1">
                                <a:lumMod val="75000"/>
                              </a:schemeClr>
                            </a:solidFill>
                            <a:latin typeface="Cambria Math" panose="02040503050406030204" pitchFamily="18" charset="0"/>
                          </a:rPr>
                          <m:t>𝒌</m:t>
                        </m:r>
                      </m:sub>
                    </m:sSub>
                  </m:oMath>
                </a14:m>
                <a:r>
                  <a:rPr lang="vi-VN" sz="1400" dirty="0">
                    <a:solidFill>
                      <a:schemeClr val="bg1">
                        <a:lumMod val="75000"/>
                      </a:schemeClr>
                    </a:solidFill>
                    <a:latin typeface="Arial"/>
                  </a:rPr>
                  <a:t> để tính xác suất hậu nghiệm </a:t>
                </a:r>
                <a14:m>
                  <m:oMath xmlns:m="http://schemas.openxmlformats.org/officeDocument/2006/math">
                    <m:sSub>
                      <m:sSubPr>
                        <m:ctrlPr>
                          <a:rPr lang="en-US" sz="1400" b="1" i="1">
                            <a:solidFill>
                              <a:schemeClr val="bg1">
                                <a:lumMod val="75000"/>
                              </a:schemeClr>
                            </a:solidFill>
                            <a:latin typeface="Cambria Math" panose="02040503050406030204" pitchFamily="18" charset="0"/>
                          </a:rPr>
                        </m:ctrlPr>
                      </m:sSubPr>
                      <m:e>
                        <m:r>
                          <a:rPr lang="en-US" sz="1400" b="1" i="1">
                            <a:solidFill>
                              <a:schemeClr val="bg1">
                                <a:lumMod val="75000"/>
                              </a:schemeClr>
                            </a:solidFill>
                            <a:latin typeface="Cambria Math" panose="02040503050406030204" pitchFamily="18" charset="0"/>
                          </a:rPr>
                          <m:t>𝜸</m:t>
                        </m:r>
                      </m:e>
                      <m:sub>
                        <m:r>
                          <a:rPr lang="en-US" sz="1400" b="1" i="1">
                            <a:solidFill>
                              <a:schemeClr val="bg1">
                                <a:lumMod val="75000"/>
                              </a:schemeClr>
                            </a:solidFill>
                            <a:latin typeface="Cambria Math" panose="02040503050406030204" pitchFamily="18" charset="0"/>
                          </a:rPr>
                          <m:t>𝒏𝒌</m:t>
                        </m:r>
                      </m:sub>
                    </m:sSub>
                  </m:oMath>
                </a14:m>
                <a:endParaRPr lang="vi-VN" sz="1400" dirty="0">
                  <a:solidFill>
                    <a:schemeClr val="bg1">
                      <a:lumMod val="75000"/>
                    </a:schemeClr>
                  </a:solidFill>
                  <a:latin typeface="Arial"/>
                </a:endParaRPr>
              </a:p>
              <a:p>
                <a:pPr>
                  <a:spcAft>
                    <a:spcPts val="600"/>
                  </a:spcAft>
                </a:pPr>
                <a:r>
                  <a:rPr lang="vi-VN" sz="1400" dirty="0">
                    <a:solidFill>
                      <a:srgbClr val="444B52"/>
                    </a:solidFill>
                    <a:latin typeface="Arial"/>
                  </a:rPr>
                  <a:t>3. Bước </a:t>
                </a:r>
                <a:r>
                  <a:rPr lang="vi-VN" sz="1400" b="1" dirty="0">
                    <a:solidFill>
                      <a:srgbClr val="444B52"/>
                    </a:solidFill>
                    <a:latin typeface="Arial"/>
                  </a:rPr>
                  <a:t>Maximization (M)</a:t>
                </a:r>
                <a:r>
                  <a:rPr lang="vi-VN" sz="1400" dirty="0">
                    <a:solidFill>
                      <a:srgbClr val="444B52"/>
                    </a:solidFill>
                    <a:latin typeface="Arial"/>
                  </a:rPr>
                  <a:t>: Dùng </a:t>
                </a:r>
                <a14:m>
                  <m:oMath xmlns:m="http://schemas.openxmlformats.org/officeDocument/2006/math">
                    <m:sSub>
                      <m:sSubPr>
                        <m:ctrlPr>
                          <a:rPr lang="en-US" sz="1400" b="1" i="1">
                            <a:solidFill>
                              <a:srgbClr val="FF0000"/>
                            </a:solidFill>
                            <a:latin typeface="Cambria Math" panose="02040503050406030204" pitchFamily="18" charset="0"/>
                          </a:rPr>
                        </m:ctrlPr>
                      </m:sSubPr>
                      <m:e>
                        <m:r>
                          <a:rPr lang="en-US" sz="1400" b="1" i="1">
                            <a:solidFill>
                              <a:srgbClr val="FF0000"/>
                            </a:solidFill>
                            <a:latin typeface="Cambria Math" panose="02040503050406030204" pitchFamily="18" charset="0"/>
                          </a:rPr>
                          <m:t>𝜸</m:t>
                        </m:r>
                      </m:e>
                      <m:sub>
                        <m:r>
                          <a:rPr lang="en-US" sz="1400" b="1" i="1">
                            <a:solidFill>
                              <a:srgbClr val="FF0000"/>
                            </a:solidFill>
                            <a:latin typeface="Cambria Math" panose="02040503050406030204" pitchFamily="18" charset="0"/>
                          </a:rPr>
                          <m:t>𝒏𝒌</m:t>
                        </m:r>
                      </m:sub>
                    </m:sSub>
                  </m:oMath>
                </a14:m>
                <a:r>
                  <a:rPr lang="vi-VN" sz="1400" dirty="0">
                    <a:solidFill>
                      <a:srgbClr val="444B52"/>
                    </a:solidFill>
                    <a:latin typeface="Arial"/>
                  </a:rPr>
                  <a:t> để cập nhật </a:t>
                </a:r>
                <a14:m>
                  <m:oMath xmlns:m="http://schemas.openxmlformats.org/officeDocument/2006/math">
                    <m:sSub>
                      <m:sSubPr>
                        <m:ctrlPr>
                          <a:rPr lang="en-US" sz="1400" b="1" i="1">
                            <a:solidFill>
                              <a:schemeClr val="tx2">
                                <a:lumMod val="60000"/>
                                <a:lumOff val="40000"/>
                              </a:schemeClr>
                            </a:solidFill>
                            <a:latin typeface="Cambria Math" panose="02040503050406030204" pitchFamily="18" charset="0"/>
                          </a:rPr>
                        </m:ctrlPr>
                      </m:sSubPr>
                      <m:e>
                        <m:r>
                          <a:rPr lang="en-US" sz="1400" b="1" i="1">
                            <a:solidFill>
                              <a:schemeClr val="tx2">
                                <a:lumMod val="60000"/>
                                <a:lumOff val="40000"/>
                              </a:schemeClr>
                            </a:solidFill>
                            <a:latin typeface="Cambria Math" panose="02040503050406030204" pitchFamily="18" charset="0"/>
                          </a:rPr>
                          <m:t>𝝁</m:t>
                        </m:r>
                      </m:e>
                      <m:sub>
                        <m:r>
                          <a:rPr lang="en-US" sz="1400" b="1" i="1">
                            <a:solidFill>
                              <a:schemeClr val="tx2">
                                <a:lumMod val="60000"/>
                                <a:lumOff val="40000"/>
                              </a:schemeClr>
                            </a:solidFill>
                            <a:latin typeface="Cambria Math" panose="02040503050406030204" pitchFamily="18" charset="0"/>
                          </a:rPr>
                          <m:t>𝒌</m:t>
                        </m:r>
                      </m:sub>
                    </m:sSub>
                  </m:oMath>
                </a14:m>
                <a:r>
                  <a:rPr lang="vi-VN" sz="1400" dirty="0">
                    <a:latin typeface="Arial"/>
                  </a:rPr>
                  <a:t>, </a:t>
                </a:r>
                <a14:m>
                  <m:oMath xmlns:m="http://schemas.openxmlformats.org/officeDocument/2006/math">
                    <m:sSub>
                      <m:sSubPr>
                        <m:ctrlPr>
                          <a:rPr lang="en-US" sz="1400" b="1" i="1" dirty="0">
                            <a:solidFill>
                              <a:srgbClr val="00B050"/>
                            </a:solidFill>
                            <a:latin typeface="Cambria Math" panose="02040503050406030204" pitchFamily="18" charset="0"/>
                          </a:rPr>
                        </m:ctrlPr>
                      </m:sSubPr>
                      <m:e>
                        <m:r>
                          <a:rPr lang="en-US" sz="1400" b="1" i="1" dirty="0">
                            <a:solidFill>
                              <a:srgbClr val="00B050"/>
                            </a:solidFill>
                            <a:latin typeface="Cambria Math" panose="02040503050406030204" pitchFamily="18" charset="0"/>
                          </a:rPr>
                          <m:t>𝝈</m:t>
                        </m:r>
                      </m:e>
                      <m:sub>
                        <m:r>
                          <a:rPr lang="en-US" sz="1400" b="1" i="1">
                            <a:solidFill>
                              <a:srgbClr val="00B050"/>
                            </a:solidFill>
                            <a:latin typeface="Cambria Math" panose="02040503050406030204" pitchFamily="18" charset="0"/>
                          </a:rPr>
                          <m:t>𝒌</m:t>
                        </m:r>
                      </m:sub>
                    </m:sSub>
                  </m:oMath>
                </a14:m>
                <a:r>
                  <a:rPr lang="vi-VN" sz="1400" b="1" dirty="0">
                    <a:solidFill>
                      <a:schemeClr val="tx2">
                        <a:lumMod val="60000"/>
                        <a:lumOff val="40000"/>
                      </a:schemeClr>
                    </a:solidFill>
                    <a:latin typeface="Arial"/>
                  </a:rPr>
                  <a:t>, </a:t>
                </a:r>
                <a14:m>
                  <m:oMath xmlns:m="http://schemas.openxmlformats.org/officeDocument/2006/math">
                    <m:sSub>
                      <m:sSubPr>
                        <m:ctrlPr>
                          <a:rPr lang="en-US" sz="1400" b="1" i="1">
                            <a:solidFill>
                              <a:schemeClr val="accent6">
                                <a:lumMod val="75000"/>
                              </a:schemeClr>
                            </a:solidFill>
                            <a:latin typeface="Cambria Math" panose="02040503050406030204" pitchFamily="18" charset="0"/>
                          </a:rPr>
                        </m:ctrlPr>
                      </m:sSubPr>
                      <m:e>
                        <m:r>
                          <a:rPr lang="en-US" sz="1400" b="1" i="1">
                            <a:solidFill>
                              <a:schemeClr val="accent6">
                                <a:lumMod val="75000"/>
                              </a:schemeClr>
                            </a:solidFill>
                            <a:latin typeface="Cambria Math" panose="02040503050406030204" pitchFamily="18" charset="0"/>
                          </a:rPr>
                          <m:t>𝝅</m:t>
                        </m:r>
                      </m:e>
                      <m:sub>
                        <m:r>
                          <a:rPr lang="en-US" sz="1400" b="1" i="1">
                            <a:solidFill>
                              <a:schemeClr val="accent6">
                                <a:lumMod val="75000"/>
                              </a:schemeClr>
                            </a:solidFill>
                            <a:latin typeface="Cambria Math" panose="02040503050406030204" pitchFamily="18" charset="0"/>
                          </a:rPr>
                          <m:t>𝒌</m:t>
                        </m:r>
                      </m:sub>
                    </m:sSub>
                  </m:oMath>
                </a14:m>
                <a:endParaRPr lang="vi-VN" sz="1400" b="1" dirty="0">
                  <a:solidFill>
                    <a:schemeClr val="accent6">
                      <a:lumMod val="75000"/>
                    </a:schemeClr>
                  </a:solidFill>
                  <a:latin typeface="Arial"/>
                </a:endParaRPr>
              </a:p>
              <a:p>
                <a:pPr>
                  <a:spcAft>
                    <a:spcPts val="600"/>
                  </a:spcAft>
                </a:pPr>
                <a:r>
                  <a:rPr lang="vi-VN" sz="1400" dirty="0">
                    <a:solidFill>
                      <a:schemeClr val="bg1">
                        <a:lumMod val="75000"/>
                      </a:schemeClr>
                    </a:solidFill>
                    <a:latin typeface="Arial"/>
                  </a:rPr>
                  <a:t>4. Kiểm tra hội tụ:</a:t>
                </a:r>
              </a:p>
              <a:p>
                <a:pPr>
                  <a:spcAft>
                    <a:spcPts val="600"/>
                  </a:spcAft>
                </a:pPr>
                <a:r>
                  <a:rPr lang="vi-VN" sz="1400" dirty="0">
                    <a:solidFill>
                      <a:schemeClr val="bg1">
                        <a:lumMod val="75000"/>
                      </a:schemeClr>
                    </a:solidFill>
                    <a:latin typeface="Arial"/>
                  </a:rPr>
                  <a:t>	Tính lại giá trị hàm mục tiêu Log-likelihood</a:t>
                </a:r>
              </a:p>
              <a:p>
                <a:pPr>
                  <a:spcAft>
                    <a:spcPts val="600"/>
                  </a:spcAft>
                </a:pPr>
                <a:r>
                  <a:rPr lang="vi-VN" sz="1400" dirty="0">
                    <a:solidFill>
                      <a:schemeClr val="bg1">
                        <a:lumMod val="75000"/>
                      </a:schemeClr>
                    </a:solidFill>
                    <a:latin typeface="Arial"/>
                  </a:rPr>
                  <a:t>	So với giá trị hàm mục tiêu ở lần lặp trước đó</a:t>
                </a:r>
              </a:p>
              <a:p>
                <a:pPr>
                  <a:spcAft>
                    <a:spcPts val="600"/>
                  </a:spcAft>
                </a:pPr>
                <a:r>
                  <a:rPr lang="vi-VN" sz="1400" dirty="0">
                    <a:solidFill>
                      <a:schemeClr val="bg1">
                        <a:lumMod val="75000"/>
                      </a:schemeClr>
                    </a:solidFill>
                    <a:latin typeface="Arial"/>
                  </a:rPr>
                  <a:t>		Nếu mức tăng nhỏ hơn ngưỡng cực nhỏ </a:t>
                </a:r>
                <a14:m>
                  <m:oMath xmlns:m="http://schemas.openxmlformats.org/officeDocument/2006/math">
                    <m:r>
                      <a:rPr lang="vi-VN" sz="1400" i="1" dirty="0">
                        <a:solidFill>
                          <a:schemeClr val="bg1">
                            <a:lumMod val="75000"/>
                          </a:schemeClr>
                        </a:solidFill>
                        <a:latin typeface="Cambria Math" panose="02040503050406030204" pitchFamily="18" charset="0"/>
                      </a:rPr>
                      <m:t>𝜖</m:t>
                    </m:r>
                  </m:oMath>
                </a14:m>
                <a:endParaRPr lang="vi-VN" sz="1400" dirty="0">
                  <a:solidFill>
                    <a:schemeClr val="bg1">
                      <a:lumMod val="75000"/>
                    </a:schemeClr>
                  </a:solidFill>
                  <a:latin typeface="Arial"/>
                </a:endParaRPr>
              </a:p>
              <a:p>
                <a:pPr>
                  <a:spcAft>
                    <a:spcPts val="600"/>
                  </a:spcAft>
                </a:pPr>
                <a:r>
                  <a:rPr lang="vi-VN" sz="1400" dirty="0">
                    <a:solidFill>
                      <a:schemeClr val="bg1">
                        <a:lumMod val="75000"/>
                      </a:schemeClr>
                    </a:solidFill>
                    <a:latin typeface="Arial"/>
                  </a:rPr>
                  <a:t>			Thì dừng</a:t>
                </a:r>
              </a:p>
              <a:p>
                <a:pPr>
                  <a:spcAft>
                    <a:spcPts val="600"/>
                  </a:spcAft>
                </a:pPr>
                <a:r>
                  <a:rPr lang="vi-VN" sz="1400" dirty="0">
                    <a:solidFill>
                      <a:schemeClr val="bg1">
                        <a:lumMod val="75000"/>
                      </a:schemeClr>
                    </a:solidFill>
                    <a:latin typeface="Arial"/>
                  </a:rPr>
                  <a:t>		Nếu không</a:t>
                </a:r>
              </a:p>
              <a:p>
                <a:pPr>
                  <a:spcAft>
                    <a:spcPts val="600"/>
                  </a:spcAft>
                </a:pPr>
                <a:r>
                  <a:rPr lang="vi-VN" sz="1400" dirty="0">
                    <a:solidFill>
                      <a:schemeClr val="bg1">
                        <a:lumMod val="75000"/>
                      </a:schemeClr>
                    </a:solidFill>
                    <a:latin typeface="Arial"/>
                  </a:rPr>
                  <a:t>			Quay lại bước 2</a:t>
                </a:r>
                <a:endParaRPr lang="vi-VN" sz="1400" dirty="0">
                  <a:solidFill>
                    <a:srgbClr val="444B52"/>
                  </a:solidFill>
                  <a:latin typeface="Arial"/>
                </a:endParaRPr>
              </a:p>
            </p:txBody>
          </p:sp>
        </mc:Choice>
        <mc:Fallback xmlns="">
          <p:sp>
            <p:nvSpPr>
              <p:cNvPr id="10" name="TextBox 9">
                <a:extLst>
                  <a:ext uri="{FF2B5EF4-FFF2-40B4-BE49-F238E27FC236}">
                    <a16:creationId xmlns:a16="http://schemas.microsoft.com/office/drawing/2014/main" id="{6E2C9DF5-C500-BC22-91CC-914F9DAF0F3F}"/>
                  </a:ext>
                </a:extLst>
              </p:cNvPr>
              <p:cNvSpPr txBox="1">
                <a:spLocks noRot="1" noChangeAspect="1" noMove="1" noResize="1" noEditPoints="1" noAdjustHandles="1" noChangeArrowheads="1" noChangeShapeType="1" noTextEdit="1"/>
              </p:cNvSpPr>
              <p:nvPr/>
            </p:nvSpPr>
            <p:spPr>
              <a:xfrm>
                <a:off x="364066" y="2350561"/>
                <a:ext cx="6214534" cy="2939266"/>
              </a:xfrm>
              <a:prstGeom prst="rect">
                <a:avLst/>
              </a:prstGeom>
              <a:blipFill>
                <a:blip r:embed="rId3"/>
                <a:stretch>
                  <a:fillRect l="-204" t="-431" b="-1293"/>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088AF870-C4E1-1077-8476-1E2196A2AD8E}"/>
                  </a:ext>
                </a:extLst>
              </p:cNvPr>
              <p:cNvSpPr txBox="1"/>
              <p:nvPr/>
            </p:nvSpPr>
            <p:spPr>
              <a:xfrm>
                <a:off x="6824134" y="2696215"/>
                <a:ext cx="2230811" cy="961545"/>
              </a:xfrm>
              <a:prstGeom prst="rect">
                <a:avLst/>
              </a:prstGeom>
              <a:noFill/>
            </p:spPr>
            <p:txBody>
              <a:bodyPr wrap="square">
                <a:spAutoFit/>
              </a:bodyPr>
              <a:lstStyle/>
              <a:p>
                <a:pPr/>
                <a14:m>
                  <m:oMathPara xmlns:m="http://schemas.openxmlformats.org/officeDocument/2006/math">
                    <m:oMath>
                      <m:borderBox>
                        <m:borderBoxPr>
                          <m:ctrlPr>
                            <a:rPr lang="en-VN" b="1" i="1">
                              <a:solidFill>
                                <a:schemeClr val="tx2">
                                  <a:lumMod val="60000"/>
                                  <a:lumOff val="40000"/>
                                </a:schemeClr>
                              </a:solidFill>
                              <a:latin typeface="Cambria Math" panose="02040503050406030204" pitchFamily="18" charset="0"/>
                            </a:rPr>
                          </m:ctrlPr>
                        </m:borderBoxPr>
                        <m:e>
                          <m:sSubSup>
                            <m:sSubSupPr>
                              <m:ctrlPr>
                                <a:rPr lang="en-VN" b="1" i="1">
                                  <a:solidFill>
                                    <a:schemeClr val="tx2">
                                      <a:lumMod val="60000"/>
                                      <a:lumOff val="40000"/>
                                    </a:schemeClr>
                                  </a:solidFill>
                                  <a:latin typeface="Cambria Math" panose="02040503050406030204" pitchFamily="18" charset="0"/>
                                </a:rPr>
                              </m:ctrlPr>
                            </m:sSubSupPr>
                            <m:e>
                              <m:r>
                                <a:rPr lang="en-VN" b="1" i="1">
                                  <a:solidFill>
                                    <a:schemeClr val="tx2">
                                      <a:lumMod val="60000"/>
                                      <a:lumOff val="40000"/>
                                    </a:schemeClr>
                                  </a:solidFill>
                                  <a:latin typeface="Cambria Math" panose="02040503050406030204" pitchFamily="18" charset="0"/>
                                </a:rPr>
                                <m:t>𝝁</m:t>
                              </m:r>
                            </m:e>
                            <m:sub>
                              <m:r>
                                <a:rPr lang="en-VN" b="1" i="1">
                                  <a:solidFill>
                                    <a:schemeClr val="tx2">
                                      <a:lumMod val="60000"/>
                                      <a:lumOff val="40000"/>
                                    </a:schemeClr>
                                  </a:solidFill>
                                  <a:latin typeface="Cambria Math" panose="02040503050406030204" pitchFamily="18" charset="0"/>
                                </a:rPr>
                                <m:t>𝒌</m:t>
                              </m:r>
                            </m:sub>
                            <m:sup>
                              <m:d>
                                <m:dPr>
                                  <m:ctrlPr>
                                    <a:rPr lang="en-VN" b="1" i="1">
                                      <a:solidFill>
                                        <a:schemeClr val="tx2">
                                          <a:lumMod val="60000"/>
                                          <a:lumOff val="40000"/>
                                        </a:schemeClr>
                                      </a:solidFill>
                                      <a:latin typeface="Cambria Math" panose="02040503050406030204" pitchFamily="18" charset="0"/>
                                    </a:rPr>
                                  </m:ctrlPr>
                                </m:dPr>
                                <m:e>
                                  <m:r>
                                    <a:rPr lang="en-VN" b="1" i="1">
                                      <a:solidFill>
                                        <a:schemeClr val="tx2">
                                          <a:lumMod val="60000"/>
                                          <a:lumOff val="40000"/>
                                        </a:schemeClr>
                                      </a:solidFill>
                                      <a:latin typeface="Cambria Math" panose="02040503050406030204" pitchFamily="18" charset="0"/>
                                    </a:rPr>
                                    <m:t>𝒕</m:t>
                                  </m:r>
                                  <m:r>
                                    <a:rPr lang="en-VN" b="1" i="0">
                                      <a:solidFill>
                                        <a:schemeClr val="tx2">
                                          <a:lumMod val="60000"/>
                                          <a:lumOff val="40000"/>
                                        </a:schemeClr>
                                      </a:solidFill>
                                      <a:latin typeface="Cambria Math" panose="02040503050406030204" pitchFamily="18" charset="0"/>
                                    </a:rPr>
                                    <m:t>+</m:t>
                                  </m:r>
                                  <m:r>
                                    <a:rPr lang="en-VN" b="1" i="0">
                                      <a:solidFill>
                                        <a:schemeClr val="tx2">
                                          <a:lumMod val="60000"/>
                                          <a:lumOff val="40000"/>
                                        </a:schemeClr>
                                      </a:solidFill>
                                      <a:latin typeface="Cambria Math" panose="02040503050406030204" pitchFamily="18" charset="0"/>
                                    </a:rPr>
                                    <m:t>𝟏</m:t>
                                  </m:r>
                                </m:e>
                              </m:d>
                            </m:sup>
                          </m:sSubSup>
                          <m:r>
                            <a:rPr lang="en-VN" i="0">
                              <a:latin typeface="Cambria Math" panose="02040503050406030204" pitchFamily="18" charset="0"/>
                            </a:rPr>
                            <m:t>=</m:t>
                          </m:r>
                          <m:f>
                            <m:fPr>
                              <m:ctrlPr>
                                <a:rPr lang="en-VN" i="1">
                                  <a:latin typeface="Cambria Math" panose="02040503050406030204" pitchFamily="18" charset="0"/>
                                </a:rPr>
                              </m:ctrlPr>
                            </m:fPr>
                            <m:num>
                              <m:nary>
                                <m:naryPr>
                                  <m:chr m:val="∑"/>
                                  <m:limLoc m:val="undOvr"/>
                                  <m:ctrlPr>
                                    <a:rPr lang="en-VN" i="1">
                                      <a:latin typeface="Cambria Math" panose="02040503050406030204" pitchFamily="18" charset="0"/>
                                    </a:rPr>
                                  </m:ctrlPr>
                                </m:naryPr>
                                <m:sub>
                                  <m:r>
                                    <a:rPr lang="en-VN" i="1">
                                      <a:latin typeface="Cambria Math" panose="02040503050406030204" pitchFamily="18" charset="0"/>
                                    </a:rPr>
                                    <m:t>𝑛</m:t>
                                  </m:r>
                                  <m:r>
                                    <a:rPr lang="en-VN" i="0">
                                      <a:latin typeface="Cambria Math" panose="02040503050406030204" pitchFamily="18" charset="0"/>
                                    </a:rPr>
                                    <m:t>=1</m:t>
                                  </m:r>
                                </m:sub>
                                <m:sup>
                                  <m:r>
                                    <a:rPr lang="en-VN" i="1">
                                      <a:latin typeface="Cambria Math" panose="02040503050406030204" pitchFamily="18" charset="0"/>
                                    </a:rPr>
                                    <m:t>𝑁</m:t>
                                  </m:r>
                                </m:sup>
                                <m:e>
                                  <m:sSubSup>
                                    <m:sSubSupPr>
                                      <m:ctrlPr>
                                        <a:rPr lang="en-VN" i="1">
                                          <a:solidFill>
                                            <a:srgbClr val="FF0000"/>
                                          </a:solidFill>
                                          <a:latin typeface="Cambria Math" panose="02040503050406030204" pitchFamily="18" charset="0"/>
                                        </a:rPr>
                                      </m:ctrlPr>
                                    </m:sSubSupPr>
                                    <m:e>
                                      <m:r>
                                        <a:rPr lang="en-VN" i="1">
                                          <a:solidFill>
                                            <a:srgbClr val="FF0000"/>
                                          </a:solidFill>
                                          <a:latin typeface="Cambria Math" panose="02040503050406030204" pitchFamily="18" charset="0"/>
                                        </a:rPr>
                                        <m:t>𝛾</m:t>
                                      </m:r>
                                    </m:e>
                                    <m:sub>
                                      <m:r>
                                        <a:rPr lang="en-VN" i="1">
                                          <a:solidFill>
                                            <a:srgbClr val="FF0000"/>
                                          </a:solidFill>
                                          <a:latin typeface="Cambria Math" panose="02040503050406030204" pitchFamily="18" charset="0"/>
                                        </a:rPr>
                                        <m:t>𝑛𝑘</m:t>
                                      </m:r>
                                    </m:sub>
                                    <m:sup>
                                      <m:d>
                                        <m:dPr>
                                          <m:ctrlPr>
                                            <a:rPr lang="en-VN" i="1">
                                              <a:solidFill>
                                                <a:srgbClr val="FF0000"/>
                                              </a:solidFill>
                                              <a:latin typeface="Cambria Math" panose="02040503050406030204" pitchFamily="18" charset="0"/>
                                            </a:rPr>
                                          </m:ctrlPr>
                                        </m:dPr>
                                        <m:e>
                                          <m:r>
                                            <a:rPr lang="en-VN" i="1">
                                              <a:solidFill>
                                                <a:srgbClr val="FF0000"/>
                                              </a:solidFill>
                                              <a:latin typeface="Cambria Math" panose="02040503050406030204" pitchFamily="18" charset="0"/>
                                            </a:rPr>
                                            <m:t>𝑡</m:t>
                                          </m:r>
                                        </m:e>
                                      </m:d>
                                    </m:sup>
                                  </m:sSubSup>
                                </m:e>
                              </m:nary>
                              <m:sSub>
                                <m:sSubPr>
                                  <m:ctrlPr>
                                    <a:rPr lang="en-VN" i="1">
                                      <a:latin typeface="Cambria Math" panose="02040503050406030204" pitchFamily="18" charset="0"/>
                                    </a:rPr>
                                  </m:ctrlPr>
                                </m:sSubPr>
                                <m:e>
                                  <m:r>
                                    <a:rPr lang="en-VN" i="1">
                                      <a:latin typeface="Cambria Math" panose="02040503050406030204" pitchFamily="18" charset="0"/>
                                    </a:rPr>
                                    <m:t>𝑥</m:t>
                                  </m:r>
                                </m:e>
                                <m:sub>
                                  <m:r>
                                    <a:rPr lang="en-VN" i="1">
                                      <a:latin typeface="Cambria Math" panose="02040503050406030204" pitchFamily="18" charset="0"/>
                                    </a:rPr>
                                    <m:t>𝑛</m:t>
                                  </m:r>
                                </m:sub>
                              </m:sSub>
                            </m:num>
                            <m:den>
                              <m:nary>
                                <m:naryPr>
                                  <m:chr m:val="∑"/>
                                  <m:limLoc m:val="undOvr"/>
                                  <m:ctrlPr>
                                    <a:rPr lang="en-VN" i="1">
                                      <a:latin typeface="Cambria Math" panose="02040503050406030204" pitchFamily="18" charset="0"/>
                                    </a:rPr>
                                  </m:ctrlPr>
                                </m:naryPr>
                                <m:sub>
                                  <m:r>
                                    <a:rPr lang="en-VN" i="1">
                                      <a:latin typeface="Cambria Math" panose="02040503050406030204" pitchFamily="18" charset="0"/>
                                    </a:rPr>
                                    <m:t>𝑛</m:t>
                                  </m:r>
                                  <m:r>
                                    <a:rPr lang="en-VN" i="0">
                                      <a:latin typeface="Cambria Math" panose="02040503050406030204" pitchFamily="18" charset="0"/>
                                    </a:rPr>
                                    <m:t>=1</m:t>
                                  </m:r>
                                </m:sub>
                                <m:sup>
                                  <m:r>
                                    <a:rPr lang="en-VN" i="1">
                                      <a:latin typeface="Cambria Math" panose="02040503050406030204" pitchFamily="18" charset="0"/>
                                    </a:rPr>
                                    <m:t>𝑁</m:t>
                                  </m:r>
                                </m:sup>
                                <m:e>
                                  <m:sSubSup>
                                    <m:sSubSupPr>
                                      <m:ctrlPr>
                                        <a:rPr lang="en-VN" i="1">
                                          <a:solidFill>
                                            <a:srgbClr val="FF0000"/>
                                          </a:solidFill>
                                          <a:latin typeface="Cambria Math" panose="02040503050406030204" pitchFamily="18" charset="0"/>
                                        </a:rPr>
                                      </m:ctrlPr>
                                    </m:sSubSupPr>
                                    <m:e>
                                      <m:r>
                                        <a:rPr lang="en-VN" i="1">
                                          <a:solidFill>
                                            <a:srgbClr val="FF0000"/>
                                          </a:solidFill>
                                          <a:latin typeface="Cambria Math" panose="02040503050406030204" pitchFamily="18" charset="0"/>
                                        </a:rPr>
                                        <m:t>𝛾</m:t>
                                      </m:r>
                                    </m:e>
                                    <m:sub>
                                      <m:r>
                                        <a:rPr lang="en-VN" i="1">
                                          <a:solidFill>
                                            <a:srgbClr val="FF0000"/>
                                          </a:solidFill>
                                          <a:latin typeface="Cambria Math" panose="02040503050406030204" pitchFamily="18" charset="0"/>
                                        </a:rPr>
                                        <m:t>𝑛𝑘</m:t>
                                      </m:r>
                                    </m:sub>
                                    <m:sup>
                                      <m:d>
                                        <m:dPr>
                                          <m:ctrlPr>
                                            <a:rPr lang="en-VN" i="1">
                                              <a:solidFill>
                                                <a:srgbClr val="FF0000"/>
                                              </a:solidFill>
                                              <a:latin typeface="Cambria Math" panose="02040503050406030204" pitchFamily="18" charset="0"/>
                                            </a:rPr>
                                          </m:ctrlPr>
                                        </m:dPr>
                                        <m:e>
                                          <m:r>
                                            <a:rPr lang="en-VN" i="1">
                                              <a:solidFill>
                                                <a:srgbClr val="FF0000"/>
                                              </a:solidFill>
                                              <a:latin typeface="Cambria Math" panose="02040503050406030204" pitchFamily="18" charset="0"/>
                                            </a:rPr>
                                            <m:t>𝑡</m:t>
                                          </m:r>
                                        </m:e>
                                      </m:d>
                                    </m:sup>
                                  </m:sSubSup>
                                </m:e>
                              </m:nary>
                            </m:den>
                          </m:f>
                        </m:e>
                      </m:borderBox>
                    </m:oMath>
                  </m:oMathPara>
                </a14:m>
                <a:endParaRPr lang="en-VN" dirty="0"/>
              </a:p>
            </p:txBody>
          </p:sp>
        </mc:Choice>
        <mc:Fallback xmlns="">
          <p:sp>
            <p:nvSpPr>
              <p:cNvPr id="6" name="TextBox 5">
                <a:extLst>
                  <a:ext uri="{FF2B5EF4-FFF2-40B4-BE49-F238E27FC236}">
                    <a16:creationId xmlns:a16="http://schemas.microsoft.com/office/drawing/2014/main" id="{088AF870-C4E1-1077-8476-1E2196A2AD8E}"/>
                  </a:ext>
                </a:extLst>
              </p:cNvPr>
              <p:cNvSpPr txBox="1">
                <a:spLocks noRot="1" noChangeAspect="1" noMove="1" noResize="1" noEditPoints="1" noAdjustHandles="1" noChangeArrowheads="1" noChangeShapeType="1" noTextEdit="1"/>
              </p:cNvSpPr>
              <p:nvPr/>
            </p:nvSpPr>
            <p:spPr>
              <a:xfrm>
                <a:off x="6824134" y="2696215"/>
                <a:ext cx="2230811" cy="961545"/>
              </a:xfrm>
              <a:prstGeom prst="rect">
                <a:avLst/>
              </a:prstGeom>
              <a:blipFill>
                <a:blip r:embed="rId4"/>
                <a:stretch>
                  <a:fillRect t="-32895" b="-56579"/>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590E4F75-6E13-95E6-04A3-6D32107CF385}"/>
                  </a:ext>
                </a:extLst>
              </p:cNvPr>
              <p:cNvSpPr txBox="1"/>
              <p:nvPr/>
            </p:nvSpPr>
            <p:spPr>
              <a:xfrm>
                <a:off x="6798733" y="3697383"/>
                <a:ext cx="3721099" cy="1292662"/>
              </a:xfrm>
              <a:prstGeom prst="rect">
                <a:avLst/>
              </a:prstGeom>
              <a:noFill/>
            </p:spPr>
            <p:txBody>
              <a:bodyPr wrap="square">
                <a:spAutoFit/>
              </a:bodyPr>
              <a:lstStyle/>
              <a:p>
                <a:pPr/>
                <a14:m>
                  <m:oMathPara xmlns:m="http://schemas.openxmlformats.org/officeDocument/2006/math">
                    <m:oMath>
                      <m:borderBox>
                        <m:borderBoxPr>
                          <m:ctrlPr>
                            <a:rPr lang="en-VN" b="1" i="1">
                              <a:solidFill>
                                <a:srgbClr val="00B050"/>
                              </a:solidFill>
                              <a:latin typeface="Cambria Math" panose="02040503050406030204" pitchFamily="18" charset="0"/>
                            </a:rPr>
                          </m:ctrlPr>
                        </m:borderBoxPr>
                        <m:e>
                          <m:sSubSup>
                            <m:sSubSupPr>
                              <m:ctrlPr>
                                <a:rPr lang="en-VN" b="1" i="1">
                                  <a:solidFill>
                                    <a:srgbClr val="00B050"/>
                                  </a:solidFill>
                                  <a:latin typeface="Cambria Math" panose="02040503050406030204" pitchFamily="18" charset="0"/>
                                </a:rPr>
                              </m:ctrlPr>
                            </m:sSubSupPr>
                            <m:e>
                              <m:r>
                                <a:rPr lang="en-VN" b="1" i="1">
                                  <a:solidFill>
                                    <a:srgbClr val="00B050"/>
                                  </a:solidFill>
                                  <a:latin typeface="Cambria Math" panose="02040503050406030204" pitchFamily="18" charset="0"/>
                                </a:rPr>
                                <m:t>𝝈</m:t>
                              </m:r>
                            </m:e>
                            <m:sub>
                              <m:r>
                                <a:rPr lang="en-VN" b="1" i="1">
                                  <a:solidFill>
                                    <a:srgbClr val="00B050"/>
                                  </a:solidFill>
                                  <a:latin typeface="Cambria Math" panose="02040503050406030204" pitchFamily="18" charset="0"/>
                                </a:rPr>
                                <m:t>𝒌</m:t>
                              </m:r>
                            </m:sub>
                            <m:sup>
                              <m:d>
                                <m:dPr>
                                  <m:ctrlPr>
                                    <a:rPr lang="en-VN" b="1" i="1">
                                      <a:solidFill>
                                        <a:srgbClr val="00B050"/>
                                      </a:solidFill>
                                      <a:latin typeface="Cambria Math" panose="02040503050406030204" pitchFamily="18" charset="0"/>
                                    </a:rPr>
                                  </m:ctrlPr>
                                </m:dPr>
                                <m:e>
                                  <m:r>
                                    <a:rPr lang="en-VN" b="1" i="1">
                                      <a:solidFill>
                                        <a:srgbClr val="00B050"/>
                                      </a:solidFill>
                                      <a:latin typeface="Cambria Math" panose="02040503050406030204" pitchFamily="18" charset="0"/>
                                    </a:rPr>
                                    <m:t>𝒕</m:t>
                                  </m:r>
                                  <m:r>
                                    <a:rPr lang="en-VN" b="1" i="0">
                                      <a:solidFill>
                                        <a:srgbClr val="00B050"/>
                                      </a:solidFill>
                                      <a:latin typeface="Cambria Math" panose="02040503050406030204" pitchFamily="18" charset="0"/>
                                    </a:rPr>
                                    <m:t>+</m:t>
                                  </m:r>
                                  <m:r>
                                    <a:rPr lang="en-VN" b="1" i="0">
                                      <a:solidFill>
                                        <a:srgbClr val="00B050"/>
                                      </a:solidFill>
                                      <a:latin typeface="Cambria Math" panose="02040503050406030204" pitchFamily="18" charset="0"/>
                                    </a:rPr>
                                    <m:t>𝟏</m:t>
                                  </m:r>
                                </m:e>
                              </m:d>
                            </m:sup>
                          </m:sSubSup>
                          <m:r>
                            <a:rPr lang="en-VN" i="0">
                              <a:latin typeface="Cambria Math" panose="02040503050406030204" pitchFamily="18" charset="0"/>
                            </a:rPr>
                            <m:t>=</m:t>
                          </m:r>
                          <m:rad>
                            <m:radPr>
                              <m:degHide m:val="on"/>
                              <m:ctrlPr>
                                <a:rPr lang="en-VN" i="1">
                                  <a:latin typeface="Cambria Math" panose="02040503050406030204" pitchFamily="18" charset="0"/>
                                </a:rPr>
                              </m:ctrlPr>
                            </m:radPr>
                            <m:deg/>
                            <m:e>
                              <m:f>
                                <m:fPr>
                                  <m:ctrlPr>
                                    <a:rPr lang="en-VN" i="1">
                                      <a:latin typeface="Cambria Math" panose="02040503050406030204" pitchFamily="18" charset="0"/>
                                    </a:rPr>
                                  </m:ctrlPr>
                                </m:fPr>
                                <m:num>
                                  <m:nary>
                                    <m:naryPr>
                                      <m:chr m:val="∑"/>
                                      <m:limLoc m:val="undOvr"/>
                                      <m:ctrlPr>
                                        <a:rPr lang="en-VN" i="1">
                                          <a:latin typeface="Cambria Math" panose="02040503050406030204" pitchFamily="18" charset="0"/>
                                        </a:rPr>
                                      </m:ctrlPr>
                                    </m:naryPr>
                                    <m:sub>
                                      <m:r>
                                        <a:rPr lang="en-VN" i="1">
                                          <a:latin typeface="Cambria Math" panose="02040503050406030204" pitchFamily="18" charset="0"/>
                                        </a:rPr>
                                        <m:t>𝑛</m:t>
                                      </m:r>
                                      <m:r>
                                        <a:rPr lang="en-VN" i="0">
                                          <a:latin typeface="Cambria Math" panose="02040503050406030204" pitchFamily="18" charset="0"/>
                                        </a:rPr>
                                        <m:t>=1</m:t>
                                      </m:r>
                                    </m:sub>
                                    <m:sup>
                                      <m:r>
                                        <a:rPr lang="en-VN" i="1">
                                          <a:latin typeface="Cambria Math" panose="02040503050406030204" pitchFamily="18" charset="0"/>
                                        </a:rPr>
                                        <m:t>𝑁</m:t>
                                      </m:r>
                                    </m:sup>
                                    <m:e>
                                      <m:sSubSup>
                                        <m:sSubSupPr>
                                          <m:ctrlPr>
                                            <a:rPr lang="en-VN" i="1">
                                              <a:solidFill>
                                                <a:srgbClr val="FF0000"/>
                                              </a:solidFill>
                                              <a:latin typeface="Cambria Math" panose="02040503050406030204" pitchFamily="18" charset="0"/>
                                            </a:rPr>
                                          </m:ctrlPr>
                                        </m:sSubSupPr>
                                        <m:e>
                                          <m:r>
                                            <a:rPr lang="en-VN" i="1">
                                              <a:solidFill>
                                                <a:srgbClr val="FF0000"/>
                                              </a:solidFill>
                                              <a:latin typeface="Cambria Math" panose="02040503050406030204" pitchFamily="18" charset="0"/>
                                            </a:rPr>
                                            <m:t>𝛾</m:t>
                                          </m:r>
                                        </m:e>
                                        <m:sub>
                                          <m:r>
                                            <a:rPr lang="en-VN" i="1">
                                              <a:solidFill>
                                                <a:srgbClr val="FF0000"/>
                                              </a:solidFill>
                                              <a:latin typeface="Cambria Math" panose="02040503050406030204" pitchFamily="18" charset="0"/>
                                            </a:rPr>
                                            <m:t>𝑛𝑘</m:t>
                                          </m:r>
                                        </m:sub>
                                        <m:sup>
                                          <m:d>
                                            <m:dPr>
                                              <m:ctrlPr>
                                                <a:rPr lang="en-VN" i="1">
                                                  <a:solidFill>
                                                    <a:srgbClr val="FF0000"/>
                                                  </a:solidFill>
                                                  <a:latin typeface="Cambria Math" panose="02040503050406030204" pitchFamily="18" charset="0"/>
                                                </a:rPr>
                                              </m:ctrlPr>
                                            </m:dPr>
                                            <m:e>
                                              <m:r>
                                                <a:rPr lang="en-VN" i="1">
                                                  <a:solidFill>
                                                    <a:srgbClr val="FF0000"/>
                                                  </a:solidFill>
                                                  <a:latin typeface="Cambria Math" panose="02040503050406030204" pitchFamily="18" charset="0"/>
                                                </a:rPr>
                                                <m:t>𝑡</m:t>
                                              </m:r>
                                            </m:e>
                                          </m:d>
                                        </m:sup>
                                      </m:sSubSup>
                                    </m:e>
                                  </m:nary>
                                  <m:sSup>
                                    <m:sSupPr>
                                      <m:ctrlPr>
                                        <a:rPr lang="en-VN" i="1">
                                          <a:latin typeface="Cambria Math" panose="02040503050406030204" pitchFamily="18" charset="0"/>
                                        </a:rPr>
                                      </m:ctrlPr>
                                    </m:sSupPr>
                                    <m:e>
                                      <m:d>
                                        <m:dPr>
                                          <m:ctrlPr>
                                            <a:rPr lang="en-VN" i="1">
                                              <a:latin typeface="Cambria Math" panose="02040503050406030204" pitchFamily="18" charset="0"/>
                                            </a:rPr>
                                          </m:ctrlPr>
                                        </m:dPr>
                                        <m:e>
                                          <m:sSub>
                                            <m:sSubPr>
                                              <m:ctrlPr>
                                                <a:rPr lang="en-VN" i="1">
                                                  <a:latin typeface="Cambria Math" panose="02040503050406030204" pitchFamily="18" charset="0"/>
                                                </a:rPr>
                                              </m:ctrlPr>
                                            </m:sSubPr>
                                            <m:e>
                                              <m:r>
                                                <a:rPr lang="en-VN" i="1">
                                                  <a:latin typeface="Cambria Math" panose="02040503050406030204" pitchFamily="18" charset="0"/>
                                                </a:rPr>
                                                <m:t>𝑥</m:t>
                                              </m:r>
                                            </m:e>
                                            <m:sub>
                                              <m:r>
                                                <a:rPr lang="en-VN" i="1">
                                                  <a:latin typeface="Cambria Math" panose="02040503050406030204" pitchFamily="18" charset="0"/>
                                                </a:rPr>
                                                <m:t>𝑛</m:t>
                                              </m:r>
                                            </m:sub>
                                          </m:sSub>
                                          <m:r>
                                            <a:rPr lang="en-VN" i="0">
                                              <a:latin typeface="Cambria Math" panose="02040503050406030204" pitchFamily="18" charset="0"/>
                                            </a:rPr>
                                            <m:t>−</m:t>
                                          </m:r>
                                          <m:sSubSup>
                                            <m:sSubSupPr>
                                              <m:ctrlPr>
                                                <a:rPr lang="en-VN" i="1">
                                                  <a:solidFill>
                                                    <a:srgbClr val="0070C0"/>
                                                  </a:solidFill>
                                                  <a:latin typeface="Cambria Math" panose="02040503050406030204" pitchFamily="18" charset="0"/>
                                                </a:rPr>
                                              </m:ctrlPr>
                                            </m:sSubSupPr>
                                            <m:e>
                                              <m:r>
                                                <a:rPr lang="en-VN" i="1">
                                                  <a:solidFill>
                                                    <a:srgbClr val="0070C0"/>
                                                  </a:solidFill>
                                                  <a:latin typeface="Cambria Math" panose="02040503050406030204" pitchFamily="18" charset="0"/>
                                                </a:rPr>
                                                <m:t>𝜇</m:t>
                                              </m:r>
                                            </m:e>
                                            <m:sub>
                                              <m:r>
                                                <a:rPr lang="en-VN" i="1">
                                                  <a:solidFill>
                                                    <a:srgbClr val="0070C0"/>
                                                  </a:solidFill>
                                                  <a:latin typeface="Cambria Math" panose="02040503050406030204" pitchFamily="18" charset="0"/>
                                                </a:rPr>
                                                <m:t>𝑘</m:t>
                                              </m:r>
                                            </m:sub>
                                            <m:sup>
                                              <m:d>
                                                <m:dPr>
                                                  <m:ctrlPr>
                                                    <a:rPr lang="en-VN" i="1">
                                                      <a:solidFill>
                                                        <a:srgbClr val="0070C0"/>
                                                      </a:solidFill>
                                                      <a:latin typeface="Cambria Math" panose="02040503050406030204" pitchFamily="18" charset="0"/>
                                                    </a:rPr>
                                                  </m:ctrlPr>
                                                </m:dPr>
                                                <m:e>
                                                  <m:r>
                                                    <a:rPr lang="en-VN" i="1">
                                                      <a:solidFill>
                                                        <a:srgbClr val="0070C0"/>
                                                      </a:solidFill>
                                                      <a:latin typeface="Cambria Math" panose="02040503050406030204" pitchFamily="18" charset="0"/>
                                                    </a:rPr>
                                                    <m:t>𝑡</m:t>
                                                  </m:r>
                                                  <m:r>
                                                    <a:rPr lang="en-VN" i="0">
                                                      <a:solidFill>
                                                        <a:srgbClr val="0070C0"/>
                                                      </a:solidFill>
                                                      <a:latin typeface="Cambria Math" panose="02040503050406030204" pitchFamily="18" charset="0"/>
                                                    </a:rPr>
                                                    <m:t>+1</m:t>
                                                  </m:r>
                                                </m:e>
                                              </m:d>
                                            </m:sup>
                                          </m:sSubSup>
                                        </m:e>
                                      </m:d>
                                    </m:e>
                                    <m:sup>
                                      <m:r>
                                        <a:rPr lang="en-VN" i="0">
                                          <a:latin typeface="Cambria Math" panose="02040503050406030204" pitchFamily="18" charset="0"/>
                                        </a:rPr>
                                        <m:t>2</m:t>
                                      </m:r>
                                    </m:sup>
                                  </m:sSup>
                                </m:num>
                                <m:den>
                                  <m:nary>
                                    <m:naryPr>
                                      <m:chr m:val="∑"/>
                                      <m:limLoc m:val="undOvr"/>
                                      <m:ctrlPr>
                                        <a:rPr lang="en-VN" i="1">
                                          <a:latin typeface="Cambria Math" panose="02040503050406030204" pitchFamily="18" charset="0"/>
                                        </a:rPr>
                                      </m:ctrlPr>
                                    </m:naryPr>
                                    <m:sub>
                                      <m:r>
                                        <a:rPr lang="en-VN" i="1">
                                          <a:latin typeface="Cambria Math" panose="02040503050406030204" pitchFamily="18" charset="0"/>
                                        </a:rPr>
                                        <m:t>𝑛</m:t>
                                      </m:r>
                                      <m:r>
                                        <a:rPr lang="en-VN" i="0">
                                          <a:latin typeface="Cambria Math" panose="02040503050406030204" pitchFamily="18" charset="0"/>
                                        </a:rPr>
                                        <m:t>=1</m:t>
                                      </m:r>
                                    </m:sub>
                                    <m:sup>
                                      <m:r>
                                        <a:rPr lang="en-VN" i="1">
                                          <a:latin typeface="Cambria Math" panose="02040503050406030204" pitchFamily="18" charset="0"/>
                                        </a:rPr>
                                        <m:t>𝑁</m:t>
                                      </m:r>
                                    </m:sup>
                                    <m:e>
                                      <m:sSubSup>
                                        <m:sSubSupPr>
                                          <m:ctrlPr>
                                            <a:rPr lang="en-VN" i="1">
                                              <a:solidFill>
                                                <a:srgbClr val="FF0000"/>
                                              </a:solidFill>
                                              <a:latin typeface="Cambria Math" panose="02040503050406030204" pitchFamily="18" charset="0"/>
                                            </a:rPr>
                                          </m:ctrlPr>
                                        </m:sSubSupPr>
                                        <m:e>
                                          <m:r>
                                            <a:rPr lang="en-VN" i="1">
                                              <a:solidFill>
                                                <a:srgbClr val="FF0000"/>
                                              </a:solidFill>
                                              <a:latin typeface="Cambria Math" panose="02040503050406030204" pitchFamily="18" charset="0"/>
                                            </a:rPr>
                                            <m:t>𝛾</m:t>
                                          </m:r>
                                        </m:e>
                                        <m:sub>
                                          <m:r>
                                            <a:rPr lang="en-VN" i="1">
                                              <a:solidFill>
                                                <a:srgbClr val="FF0000"/>
                                              </a:solidFill>
                                              <a:latin typeface="Cambria Math" panose="02040503050406030204" pitchFamily="18" charset="0"/>
                                            </a:rPr>
                                            <m:t>𝑛𝑘</m:t>
                                          </m:r>
                                        </m:sub>
                                        <m:sup>
                                          <m:d>
                                            <m:dPr>
                                              <m:ctrlPr>
                                                <a:rPr lang="en-VN" i="1">
                                                  <a:solidFill>
                                                    <a:srgbClr val="FF0000"/>
                                                  </a:solidFill>
                                                  <a:latin typeface="Cambria Math" panose="02040503050406030204" pitchFamily="18" charset="0"/>
                                                </a:rPr>
                                              </m:ctrlPr>
                                            </m:dPr>
                                            <m:e>
                                              <m:r>
                                                <a:rPr lang="en-VN" i="1">
                                                  <a:solidFill>
                                                    <a:srgbClr val="FF0000"/>
                                                  </a:solidFill>
                                                  <a:latin typeface="Cambria Math" panose="02040503050406030204" pitchFamily="18" charset="0"/>
                                                </a:rPr>
                                                <m:t>𝑡</m:t>
                                              </m:r>
                                            </m:e>
                                          </m:d>
                                        </m:sup>
                                      </m:sSubSup>
                                    </m:e>
                                  </m:nary>
                                </m:den>
                              </m:f>
                            </m:e>
                          </m:rad>
                        </m:e>
                      </m:borderBox>
                    </m:oMath>
                  </m:oMathPara>
                </a14:m>
                <a:endParaRPr lang="en-VN" dirty="0"/>
              </a:p>
            </p:txBody>
          </p:sp>
        </mc:Choice>
        <mc:Fallback xmlns="">
          <p:sp>
            <p:nvSpPr>
              <p:cNvPr id="13" name="TextBox 12">
                <a:extLst>
                  <a:ext uri="{FF2B5EF4-FFF2-40B4-BE49-F238E27FC236}">
                    <a16:creationId xmlns:a16="http://schemas.microsoft.com/office/drawing/2014/main" id="{590E4F75-6E13-95E6-04A3-6D32107CF385}"/>
                  </a:ext>
                </a:extLst>
              </p:cNvPr>
              <p:cNvSpPr txBox="1">
                <a:spLocks noRot="1" noChangeAspect="1" noMove="1" noResize="1" noEditPoints="1" noAdjustHandles="1" noChangeArrowheads="1" noChangeShapeType="1" noTextEdit="1"/>
              </p:cNvSpPr>
              <p:nvPr/>
            </p:nvSpPr>
            <p:spPr>
              <a:xfrm>
                <a:off x="6798733" y="3697383"/>
                <a:ext cx="3721099" cy="1292662"/>
              </a:xfrm>
              <a:prstGeom prst="rect">
                <a:avLst/>
              </a:prstGeom>
              <a:blipFill>
                <a:blip r:embed="rId5"/>
                <a:stretch>
                  <a:fillRect t="-8738" b="-3398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CFF5CB22-B5A3-F2BD-4AC8-F9E43A69BD64}"/>
                  </a:ext>
                </a:extLst>
              </p:cNvPr>
              <p:cNvSpPr txBox="1"/>
              <p:nvPr/>
            </p:nvSpPr>
            <p:spPr>
              <a:xfrm>
                <a:off x="6375322" y="5084824"/>
                <a:ext cx="2992966" cy="821700"/>
              </a:xfrm>
              <a:prstGeom prst="rect">
                <a:avLst/>
              </a:prstGeom>
              <a:noFill/>
            </p:spPr>
            <p:txBody>
              <a:bodyPr wrap="square">
                <a:spAutoFit/>
              </a:bodyPr>
              <a:lstStyle/>
              <a:p>
                <a:pPr/>
                <a14:m>
                  <m:oMathPara xmlns:m="http://schemas.openxmlformats.org/officeDocument/2006/math">
                    <m:oMath>
                      <m:borderBox>
                        <m:borderBoxPr>
                          <m:ctrlPr>
                            <a:rPr lang="en-VN" b="1" i="1">
                              <a:solidFill>
                                <a:schemeClr val="accent6">
                                  <a:lumMod val="75000"/>
                                </a:schemeClr>
                              </a:solidFill>
                              <a:latin typeface="Cambria Math" panose="02040503050406030204" pitchFamily="18" charset="0"/>
                            </a:rPr>
                          </m:ctrlPr>
                        </m:borderBoxPr>
                        <m:e>
                          <m:sSubSup>
                            <m:sSubSupPr>
                              <m:ctrlPr>
                                <a:rPr lang="en-VN" b="1" i="1">
                                  <a:solidFill>
                                    <a:schemeClr val="accent6">
                                      <a:lumMod val="75000"/>
                                    </a:schemeClr>
                                  </a:solidFill>
                                  <a:latin typeface="Cambria Math" panose="02040503050406030204" pitchFamily="18" charset="0"/>
                                </a:rPr>
                              </m:ctrlPr>
                            </m:sSubSupPr>
                            <m:e>
                              <m:r>
                                <a:rPr lang="en-VN" b="1" i="1">
                                  <a:solidFill>
                                    <a:schemeClr val="accent6">
                                      <a:lumMod val="75000"/>
                                    </a:schemeClr>
                                  </a:solidFill>
                                  <a:latin typeface="Cambria Math" panose="02040503050406030204" pitchFamily="18" charset="0"/>
                                </a:rPr>
                                <m:t>𝝅</m:t>
                              </m:r>
                            </m:e>
                            <m:sub>
                              <m:r>
                                <a:rPr lang="en-VN" b="1" i="1">
                                  <a:solidFill>
                                    <a:schemeClr val="accent6">
                                      <a:lumMod val="75000"/>
                                    </a:schemeClr>
                                  </a:solidFill>
                                  <a:latin typeface="Cambria Math" panose="02040503050406030204" pitchFamily="18" charset="0"/>
                                </a:rPr>
                                <m:t>𝒌</m:t>
                              </m:r>
                            </m:sub>
                            <m:sup>
                              <m:d>
                                <m:dPr>
                                  <m:ctrlPr>
                                    <a:rPr lang="en-VN" b="1" i="1">
                                      <a:solidFill>
                                        <a:schemeClr val="accent6">
                                          <a:lumMod val="75000"/>
                                        </a:schemeClr>
                                      </a:solidFill>
                                      <a:latin typeface="Cambria Math" panose="02040503050406030204" pitchFamily="18" charset="0"/>
                                    </a:rPr>
                                  </m:ctrlPr>
                                </m:dPr>
                                <m:e>
                                  <m:r>
                                    <a:rPr lang="en-VN" b="1" i="1">
                                      <a:solidFill>
                                        <a:schemeClr val="accent6">
                                          <a:lumMod val="75000"/>
                                        </a:schemeClr>
                                      </a:solidFill>
                                      <a:latin typeface="Cambria Math" panose="02040503050406030204" pitchFamily="18" charset="0"/>
                                    </a:rPr>
                                    <m:t>𝒕</m:t>
                                  </m:r>
                                  <m:r>
                                    <a:rPr lang="en-VN" b="1" i="0">
                                      <a:solidFill>
                                        <a:schemeClr val="accent6">
                                          <a:lumMod val="75000"/>
                                        </a:schemeClr>
                                      </a:solidFill>
                                      <a:latin typeface="Cambria Math" panose="02040503050406030204" pitchFamily="18" charset="0"/>
                                    </a:rPr>
                                    <m:t>+</m:t>
                                  </m:r>
                                  <m:r>
                                    <a:rPr lang="en-VN" b="1" i="0">
                                      <a:solidFill>
                                        <a:schemeClr val="accent6">
                                          <a:lumMod val="75000"/>
                                        </a:schemeClr>
                                      </a:solidFill>
                                      <a:latin typeface="Cambria Math" panose="02040503050406030204" pitchFamily="18" charset="0"/>
                                    </a:rPr>
                                    <m:t>𝟏</m:t>
                                  </m:r>
                                </m:e>
                              </m:d>
                            </m:sup>
                          </m:sSubSup>
                          <m:r>
                            <a:rPr lang="en-VN" i="0">
                              <a:latin typeface="Cambria Math" panose="02040503050406030204" pitchFamily="18" charset="0"/>
                            </a:rPr>
                            <m:t>=</m:t>
                          </m:r>
                          <m:f>
                            <m:fPr>
                              <m:ctrlPr>
                                <a:rPr lang="en-VN" i="1">
                                  <a:latin typeface="Cambria Math" panose="02040503050406030204" pitchFamily="18" charset="0"/>
                                </a:rPr>
                              </m:ctrlPr>
                            </m:fPr>
                            <m:num>
                              <m:nary>
                                <m:naryPr>
                                  <m:chr m:val="∑"/>
                                  <m:limLoc m:val="undOvr"/>
                                  <m:ctrlPr>
                                    <a:rPr lang="en-VN" i="1">
                                      <a:latin typeface="Cambria Math" panose="02040503050406030204" pitchFamily="18" charset="0"/>
                                    </a:rPr>
                                  </m:ctrlPr>
                                </m:naryPr>
                                <m:sub>
                                  <m:r>
                                    <a:rPr lang="en-VN" i="1">
                                      <a:latin typeface="Cambria Math" panose="02040503050406030204" pitchFamily="18" charset="0"/>
                                    </a:rPr>
                                    <m:t>𝑛</m:t>
                                  </m:r>
                                  <m:r>
                                    <a:rPr lang="en-VN" i="0">
                                      <a:latin typeface="Cambria Math" panose="02040503050406030204" pitchFamily="18" charset="0"/>
                                    </a:rPr>
                                    <m:t>=1</m:t>
                                  </m:r>
                                </m:sub>
                                <m:sup>
                                  <m:r>
                                    <a:rPr lang="en-VN" i="1">
                                      <a:latin typeface="Cambria Math" panose="02040503050406030204" pitchFamily="18" charset="0"/>
                                    </a:rPr>
                                    <m:t>𝑁</m:t>
                                  </m:r>
                                </m:sup>
                                <m:e>
                                  <m:sSubSup>
                                    <m:sSubSupPr>
                                      <m:ctrlPr>
                                        <a:rPr lang="en-VN" i="1">
                                          <a:solidFill>
                                            <a:srgbClr val="FF0000"/>
                                          </a:solidFill>
                                          <a:latin typeface="Cambria Math" panose="02040503050406030204" pitchFamily="18" charset="0"/>
                                        </a:rPr>
                                      </m:ctrlPr>
                                    </m:sSubSupPr>
                                    <m:e>
                                      <m:r>
                                        <a:rPr lang="en-VN" i="1">
                                          <a:solidFill>
                                            <a:srgbClr val="FF0000"/>
                                          </a:solidFill>
                                          <a:latin typeface="Cambria Math" panose="02040503050406030204" pitchFamily="18" charset="0"/>
                                        </a:rPr>
                                        <m:t>𝛾</m:t>
                                      </m:r>
                                    </m:e>
                                    <m:sub>
                                      <m:r>
                                        <a:rPr lang="en-VN" i="1">
                                          <a:solidFill>
                                            <a:srgbClr val="FF0000"/>
                                          </a:solidFill>
                                          <a:latin typeface="Cambria Math" panose="02040503050406030204" pitchFamily="18" charset="0"/>
                                        </a:rPr>
                                        <m:t>𝑛𝑘</m:t>
                                      </m:r>
                                    </m:sub>
                                    <m:sup>
                                      <m:d>
                                        <m:dPr>
                                          <m:ctrlPr>
                                            <a:rPr lang="en-VN" i="1">
                                              <a:solidFill>
                                                <a:srgbClr val="FF0000"/>
                                              </a:solidFill>
                                              <a:latin typeface="Cambria Math" panose="02040503050406030204" pitchFamily="18" charset="0"/>
                                            </a:rPr>
                                          </m:ctrlPr>
                                        </m:dPr>
                                        <m:e>
                                          <m:r>
                                            <a:rPr lang="en-VN" i="1">
                                              <a:solidFill>
                                                <a:srgbClr val="FF0000"/>
                                              </a:solidFill>
                                              <a:latin typeface="Cambria Math" panose="02040503050406030204" pitchFamily="18" charset="0"/>
                                            </a:rPr>
                                            <m:t>𝑡</m:t>
                                          </m:r>
                                        </m:e>
                                      </m:d>
                                    </m:sup>
                                  </m:sSubSup>
                                </m:e>
                              </m:nary>
                            </m:num>
                            <m:den>
                              <m:r>
                                <a:rPr lang="en-VN" i="1">
                                  <a:latin typeface="Cambria Math" panose="02040503050406030204" pitchFamily="18" charset="0"/>
                                </a:rPr>
                                <m:t>𝑁</m:t>
                              </m:r>
                            </m:den>
                          </m:f>
                        </m:e>
                      </m:borderBox>
                    </m:oMath>
                  </m:oMathPara>
                </a14:m>
                <a:endParaRPr lang="en-VN" dirty="0"/>
              </a:p>
            </p:txBody>
          </p:sp>
        </mc:Choice>
        <mc:Fallback xmlns="">
          <p:sp>
            <p:nvSpPr>
              <p:cNvPr id="15" name="TextBox 14">
                <a:extLst>
                  <a:ext uri="{FF2B5EF4-FFF2-40B4-BE49-F238E27FC236}">
                    <a16:creationId xmlns:a16="http://schemas.microsoft.com/office/drawing/2014/main" id="{CFF5CB22-B5A3-F2BD-4AC8-F9E43A69BD64}"/>
                  </a:ext>
                </a:extLst>
              </p:cNvPr>
              <p:cNvSpPr txBox="1">
                <a:spLocks noRot="1" noChangeAspect="1" noMove="1" noResize="1" noEditPoints="1" noAdjustHandles="1" noChangeArrowheads="1" noChangeShapeType="1" noTextEdit="1"/>
              </p:cNvSpPr>
              <p:nvPr/>
            </p:nvSpPr>
            <p:spPr>
              <a:xfrm>
                <a:off x="6375322" y="5084824"/>
                <a:ext cx="2992966" cy="821700"/>
              </a:xfrm>
              <a:prstGeom prst="rect">
                <a:avLst/>
              </a:prstGeom>
              <a:blipFill>
                <a:blip r:embed="rId6"/>
                <a:stretch>
                  <a:fillRect t="-37879" b="-33333"/>
                </a:stretch>
              </a:blipFill>
            </p:spPr>
            <p:txBody>
              <a:bodyPr/>
              <a:lstStyle/>
              <a:p>
                <a:r>
                  <a:rPr lang="en-VN">
                    <a:noFill/>
                  </a:rPr>
                  <a:t> </a:t>
                </a:r>
              </a:p>
            </p:txBody>
          </p:sp>
        </mc:Fallback>
      </mc:AlternateContent>
      <p:sp>
        <p:nvSpPr>
          <p:cNvPr id="16" name="TextBox 15">
            <a:extLst>
              <a:ext uri="{FF2B5EF4-FFF2-40B4-BE49-F238E27FC236}">
                <a16:creationId xmlns:a16="http://schemas.microsoft.com/office/drawing/2014/main" id="{E2D7AC6C-99CF-5154-EFA4-0AF17152FAE7}"/>
              </a:ext>
            </a:extLst>
          </p:cNvPr>
          <p:cNvSpPr txBox="1"/>
          <p:nvPr/>
        </p:nvSpPr>
        <p:spPr>
          <a:xfrm>
            <a:off x="6824134" y="2368626"/>
            <a:ext cx="1895071" cy="307777"/>
          </a:xfrm>
          <a:prstGeom prst="rect">
            <a:avLst/>
          </a:prstGeom>
          <a:noFill/>
        </p:spPr>
        <p:txBody>
          <a:bodyPr wrap="none" rtlCol="0">
            <a:spAutoFit/>
          </a:bodyPr>
          <a:lstStyle/>
          <a:p>
            <a:pPr>
              <a:spcAft>
                <a:spcPts val="600"/>
              </a:spcAft>
            </a:pPr>
            <a:r>
              <a:rPr lang="vi-VN" sz="1400" dirty="0">
                <a:solidFill>
                  <a:srgbClr val="444B52"/>
                </a:solidFill>
                <a:latin typeface="Arial"/>
              </a:rPr>
              <a:t>Cập nhật bộ tham số:</a:t>
            </a:r>
            <a:endParaRPr lang="vi-VN" sz="1400" b="1" dirty="0">
              <a:solidFill>
                <a:srgbClr val="444B52"/>
              </a:solidFill>
              <a:latin typeface="Arial"/>
            </a:endParaRPr>
          </a:p>
        </p:txBody>
      </p:sp>
    </p:spTree>
    <p:extLst>
      <p:ext uri="{BB962C8B-B14F-4D97-AF65-F5344CB8AC3E}">
        <p14:creationId xmlns:p14="http://schemas.microsoft.com/office/powerpoint/2010/main" val="22174218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71803-DA8D-CD35-E2BF-361965FD1BC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83CCC8F-DCD0-370E-E68A-F24E2C57B3B9}"/>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p:sp>
        <p:nvSpPr>
          <p:cNvPr id="4" name="TextBox 3">
            <a:extLst>
              <a:ext uri="{FF2B5EF4-FFF2-40B4-BE49-F238E27FC236}">
                <a16:creationId xmlns:a16="http://schemas.microsoft.com/office/drawing/2014/main" id="{0B75FA47-33E1-14C7-14EE-B8332EB320F8}"/>
              </a:ext>
            </a:extLst>
          </p:cNvPr>
          <p:cNvSpPr txBox="1"/>
          <p:nvPr/>
        </p:nvSpPr>
        <p:spPr>
          <a:xfrm>
            <a:off x="364066" y="1267772"/>
            <a:ext cx="10961159" cy="600164"/>
          </a:xfrm>
          <a:prstGeom prst="rect">
            <a:avLst/>
          </a:prstGeom>
          <a:noFill/>
        </p:spPr>
        <p:txBody>
          <a:bodyPr wrap="square">
            <a:spAutoFit/>
          </a:bodyPr>
          <a:lstStyle/>
          <a:p>
            <a:pPr>
              <a:spcAft>
                <a:spcPts val="600"/>
              </a:spcAft>
            </a:pPr>
            <a:r>
              <a:rPr lang="vi-VN" sz="1400" b="1" dirty="0">
                <a:solidFill>
                  <a:srgbClr val="1B8A7A"/>
                </a:solidFill>
                <a:latin typeface="Arial"/>
              </a:rPr>
              <a:t>2.2. Expectation-Maximization (EM) - </a:t>
            </a:r>
            <a:r>
              <a:rPr lang="vi-VN" sz="1000" b="1" dirty="0">
                <a:solidFill>
                  <a:schemeClr val="accent5">
                    <a:lumMod val="60000"/>
                    <a:lumOff val="40000"/>
                  </a:schemeClr>
                </a:solidFill>
                <a:latin typeface="Arial"/>
              </a:rPr>
              <a:t>Phương pháp cực đại hoá kỳ vọng</a:t>
            </a:r>
          </a:p>
          <a:p>
            <a:pPr>
              <a:spcAft>
                <a:spcPts val="600"/>
              </a:spcAft>
            </a:pPr>
            <a:r>
              <a:rPr lang="vi-VN" sz="1400" dirty="0">
                <a:solidFill>
                  <a:srgbClr val="444B52"/>
                </a:solidFill>
                <a:latin typeface="Arial"/>
              </a:rPr>
              <a:t>Các bước của phương pháp </a:t>
            </a:r>
            <a:r>
              <a:rPr lang="vi-VN" sz="1400" b="1" dirty="0">
                <a:solidFill>
                  <a:srgbClr val="444B52"/>
                </a:solidFill>
                <a:latin typeface="Arial"/>
              </a:rPr>
              <a:t>Expectation-Maximization (EM)</a:t>
            </a:r>
            <a:r>
              <a:rPr lang="vi-VN" sz="1400" dirty="0">
                <a:solidFill>
                  <a:srgbClr val="444B52"/>
                </a:solidFill>
                <a:latin typeface="Arial"/>
              </a:rPr>
              <a:t>:</a:t>
            </a:r>
            <a:endParaRPr lang="vi-VN" sz="1400" b="1" dirty="0">
              <a:solidFill>
                <a:srgbClr val="444B52"/>
              </a:solidFill>
              <a:latin typeface="Arial"/>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CF2F81C-8F74-F677-64B6-AD3232623D6B}"/>
                  </a:ext>
                </a:extLst>
              </p:cNvPr>
              <p:cNvSpPr txBox="1"/>
              <p:nvPr/>
            </p:nvSpPr>
            <p:spPr>
              <a:xfrm>
                <a:off x="364066" y="2350561"/>
                <a:ext cx="5655734" cy="2939266"/>
              </a:xfrm>
              <a:prstGeom prst="rect">
                <a:avLst/>
              </a:prstGeom>
              <a:noFill/>
            </p:spPr>
            <p:txBody>
              <a:bodyPr wrap="square" rtlCol="0">
                <a:spAutoFit/>
              </a:bodyPr>
              <a:lstStyle/>
              <a:p>
                <a:pPr>
                  <a:spcAft>
                    <a:spcPts val="600"/>
                  </a:spcAft>
                </a:pPr>
                <a:r>
                  <a:rPr lang="vi-VN" sz="1400" dirty="0">
                    <a:solidFill>
                      <a:schemeClr val="bg1">
                        <a:lumMod val="75000"/>
                      </a:schemeClr>
                    </a:solidFill>
                    <a:latin typeface="Arial"/>
                  </a:rPr>
                  <a:t>1. Khởi tạo </a:t>
                </a:r>
                <a14:m>
                  <m:oMath xmlns:m="http://schemas.openxmlformats.org/officeDocument/2006/math">
                    <m:sSub>
                      <m:sSubPr>
                        <m:ctrlPr>
                          <a:rPr lang="en-US" sz="1400" b="1" i="1">
                            <a:solidFill>
                              <a:schemeClr val="bg1">
                                <a:lumMod val="75000"/>
                              </a:schemeClr>
                            </a:solidFill>
                            <a:latin typeface="Cambria Math" panose="02040503050406030204" pitchFamily="18" charset="0"/>
                          </a:rPr>
                        </m:ctrlPr>
                      </m:sSubPr>
                      <m:e>
                        <m:r>
                          <a:rPr lang="en-US" sz="1400" b="1" i="1">
                            <a:solidFill>
                              <a:schemeClr val="bg1">
                                <a:lumMod val="75000"/>
                              </a:schemeClr>
                            </a:solidFill>
                            <a:latin typeface="Cambria Math" panose="02040503050406030204" pitchFamily="18" charset="0"/>
                          </a:rPr>
                          <m:t>𝝁</m:t>
                        </m:r>
                      </m:e>
                      <m:sub>
                        <m:r>
                          <a:rPr lang="en-US" sz="1400" b="1" i="1">
                            <a:solidFill>
                              <a:schemeClr val="bg1">
                                <a:lumMod val="75000"/>
                              </a:schemeClr>
                            </a:solidFill>
                            <a:latin typeface="Cambria Math" panose="02040503050406030204" pitchFamily="18" charset="0"/>
                          </a:rPr>
                          <m:t>𝒌</m:t>
                        </m:r>
                      </m:sub>
                    </m:sSub>
                  </m:oMath>
                </a14:m>
                <a:r>
                  <a:rPr lang="vi-VN" sz="1400" dirty="0">
                    <a:solidFill>
                      <a:schemeClr val="bg1">
                        <a:lumMod val="75000"/>
                      </a:schemeClr>
                    </a:solidFill>
                    <a:latin typeface="Arial"/>
                  </a:rPr>
                  <a:t>, </a:t>
                </a:r>
                <a14:m>
                  <m:oMath xmlns:m="http://schemas.openxmlformats.org/officeDocument/2006/math">
                    <m:sSub>
                      <m:sSubPr>
                        <m:ctrlPr>
                          <a:rPr lang="en-US" sz="1400" b="1" i="1" dirty="0">
                            <a:solidFill>
                              <a:schemeClr val="bg1">
                                <a:lumMod val="75000"/>
                              </a:schemeClr>
                            </a:solidFill>
                            <a:latin typeface="Cambria Math" panose="02040503050406030204" pitchFamily="18" charset="0"/>
                          </a:rPr>
                        </m:ctrlPr>
                      </m:sSubPr>
                      <m:e>
                        <m:r>
                          <a:rPr lang="en-US" sz="1400" b="1" i="1" dirty="0">
                            <a:solidFill>
                              <a:schemeClr val="bg1">
                                <a:lumMod val="75000"/>
                              </a:schemeClr>
                            </a:solidFill>
                            <a:latin typeface="Cambria Math" panose="02040503050406030204" pitchFamily="18" charset="0"/>
                          </a:rPr>
                          <m:t>𝝈</m:t>
                        </m:r>
                      </m:e>
                      <m:sub>
                        <m:r>
                          <a:rPr lang="en-US" sz="1400" b="1" i="1">
                            <a:solidFill>
                              <a:schemeClr val="bg1">
                                <a:lumMod val="75000"/>
                              </a:schemeClr>
                            </a:solidFill>
                            <a:latin typeface="Cambria Math" panose="02040503050406030204" pitchFamily="18" charset="0"/>
                          </a:rPr>
                          <m:t>𝒌</m:t>
                        </m:r>
                      </m:sub>
                    </m:sSub>
                  </m:oMath>
                </a14:m>
                <a:r>
                  <a:rPr lang="vi-VN" sz="1400" b="1" dirty="0">
                    <a:solidFill>
                      <a:schemeClr val="bg1">
                        <a:lumMod val="75000"/>
                      </a:schemeClr>
                    </a:solidFill>
                    <a:latin typeface="Arial"/>
                  </a:rPr>
                  <a:t>, </a:t>
                </a:r>
                <a14:m>
                  <m:oMath xmlns:m="http://schemas.openxmlformats.org/officeDocument/2006/math">
                    <m:sSub>
                      <m:sSubPr>
                        <m:ctrlPr>
                          <a:rPr lang="en-US" sz="1400" b="1" i="1">
                            <a:solidFill>
                              <a:schemeClr val="bg1">
                                <a:lumMod val="75000"/>
                              </a:schemeClr>
                            </a:solidFill>
                            <a:latin typeface="Cambria Math" panose="02040503050406030204" pitchFamily="18" charset="0"/>
                          </a:rPr>
                        </m:ctrlPr>
                      </m:sSubPr>
                      <m:e>
                        <m:r>
                          <a:rPr lang="en-US" sz="1400" b="1" i="1">
                            <a:solidFill>
                              <a:schemeClr val="bg1">
                                <a:lumMod val="75000"/>
                              </a:schemeClr>
                            </a:solidFill>
                            <a:latin typeface="Cambria Math" panose="02040503050406030204" pitchFamily="18" charset="0"/>
                          </a:rPr>
                          <m:t>𝝅</m:t>
                        </m:r>
                      </m:e>
                      <m:sub>
                        <m:r>
                          <a:rPr lang="en-US" sz="1400" b="1" i="1">
                            <a:solidFill>
                              <a:schemeClr val="bg1">
                                <a:lumMod val="75000"/>
                              </a:schemeClr>
                            </a:solidFill>
                            <a:latin typeface="Cambria Math" panose="02040503050406030204" pitchFamily="18" charset="0"/>
                          </a:rPr>
                          <m:t>𝒌</m:t>
                        </m:r>
                      </m:sub>
                    </m:sSub>
                  </m:oMath>
                </a14:m>
                <a:endParaRPr lang="vi-VN" sz="1400" dirty="0">
                  <a:solidFill>
                    <a:schemeClr val="bg1">
                      <a:lumMod val="75000"/>
                    </a:schemeClr>
                  </a:solidFill>
                  <a:latin typeface="Arial"/>
                </a:endParaRPr>
              </a:p>
              <a:p>
                <a:pPr>
                  <a:spcAft>
                    <a:spcPts val="600"/>
                  </a:spcAft>
                </a:pPr>
                <a:r>
                  <a:rPr lang="vi-VN" sz="1400" dirty="0">
                    <a:solidFill>
                      <a:schemeClr val="bg1">
                        <a:lumMod val="75000"/>
                      </a:schemeClr>
                    </a:solidFill>
                    <a:latin typeface="Arial"/>
                  </a:rPr>
                  <a:t>2. Bước </a:t>
                </a:r>
                <a:r>
                  <a:rPr lang="vi-VN" sz="1400" b="1" dirty="0">
                    <a:solidFill>
                      <a:schemeClr val="bg1">
                        <a:lumMod val="75000"/>
                      </a:schemeClr>
                    </a:solidFill>
                    <a:latin typeface="Arial"/>
                  </a:rPr>
                  <a:t>Expectation (E)</a:t>
                </a:r>
                <a:r>
                  <a:rPr lang="vi-VN" sz="1400" dirty="0">
                    <a:solidFill>
                      <a:schemeClr val="bg1">
                        <a:lumMod val="75000"/>
                      </a:schemeClr>
                    </a:solidFill>
                    <a:latin typeface="Arial"/>
                  </a:rPr>
                  <a:t>: Tính xác suất hậu nghiệm </a:t>
                </a:r>
                <a14:m>
                  <m:oMath xmlns:m="http://schemas.openxmlformats.org/officeDocument/2006/math">
                    <m:sSub>
                      <m:sSubPr>
                        <m:ctrlPr>
                          <a:rPr lang="en-US" sz="1400" b="1" i="1">
                            <a:solidFill>
                              <a:schemeClr val="bg1">
                                <a:lumMod val="75000"/>
                              </a:schemeClr>
                            </a:solidFill>
                            <a:latin typeface="Cambria Math" panose="02040503050406030204" pitchFamily="18" charset="0"/>
                          </a:rPr>
                        </m:ctrlPr>
                      </m:sSubPr>
                      <m:e>
                        <m:r>
                          <a:rPr lang="en-US" sz="1400" b="1" i="1">
                            <a:solidFill>
                              <a:schemeClr val="bg1">
                                <a:lumMod val="75000"/>
                              </a:schemeClr>
                            </a:solidFill>
                            <a:latin typeface="Cambria Math" panose="02040503050406030204" pitchFamily="18" charset="0"/>
                          </a:rPr>
                          <m:t>𝜸</m:t>
                        </m:r>
                      </m:e>
                      <m:sub>
                        <m:r>
                          <a:rPr lang="en-US" sz="1400" b="1" i="1">
                            <a:solidFill>
                              <a:schemeClr val="bg1">
                                <a:lumMod val="75000"/>
                              </a:schemeClr>
                            </a:solidFill>
                            <a:latin typeface="Cambria Math" panose="02040503050406030204" pitchFamily="18" charset="0"/>
                          </a:rPr>
                          <m:t>𝒏𝒌</m:t>
                        </m:r>
                      </m:sub>
                    </m:sSub>
                  </m:oMath>
                </a14:m>
                <a:endParaRPr lang="vi-VN" sz="1400" dirty="0">
                  <a:solidFill>
                    <a:schemeClr val="bg1">
                      <a:lumMod val="75000"/>
                    </a:schemeClr>
                  </a:solidFill>
                  <a:latin typeface="Arial"/>
                </a:endParaRPr>
              </a:p>
              <a:p>
                <a:pPr>
                  <a:spcAft>
                    <a:spcPts val="600"/>
                  </a:spcAft>
                </a:pPr>
                <a:r>
                  <a:rPr lang="vi-VN" sz="1400" dirty="0">
                    <a:solidFill>
                      <a:schemeClr val="bg1">
                        <a:lumMod val="75000"/>
                      </a:schemeClr>
                    </a:solidFill>
                    <a:latin typeface="Arial"/>
                  </a:rPr>
                  <a:t>3. Bước </a:t>
                </a:r>
                <a:r>
                  <a:rPr lang="vi-VN" sz="1400" b="1" dirty="0">
                    <a:solidFill>
                      <a:schemeClr val="bg1">
                        <a:lumMod val="75000"/>
                      </a:schemeClr>
                    </a:solidFill>
                    <a:latin typeface="Arial"/>
                  </a:rPr>
                  <a:t>Maximization (M)</a:t>
                </a:r>
                <a:r>
                  <a:rPr lang="vi-VN" sz="1400" dirty="0">
                    <a:solidFill>
                      <a:schemeClr val="bg1">
                        <a:lumMod val="75000"/>
                      </a:schemeClr>
                    </a:solidFill>
                    <a:latin typeface="Arial"/>
                  </a:rPr>
                  <a:t>: Dùng </a:t>
                </a:r>
                <a14:m>
                  <m:oMath xmlns:m="http://schemas.openxmlformats.org/officeDocument/2006/math">
                    <m:sSub>
                      <m:sSubPr>
                        <m:ctrlPr>
                          <a:rPr lang="en-US" sz="1400" b="1" i="1">
                            <a:solidFill>
                              <a:schemeClr val="bg1">
                                <a:lumMod val="75000"/>
                              </a:schemeClr>
                            </a:solidFill>
                            <a:latin typeface="Cambria Math" panose="02040503050406030204" pitchFamily="18" charset="0"/>
                          </a:rPr>
                        </m:ctrlPr>
                      </m:sSubPr>
                      <m:e>
                        <m:r>
                          <a:rPr lang="en-US" sz="1400" b="1" i="1">
                            <a:solidFill>
                              <a:schemeClr val="bg1">
                                <a:lumMod val="75000"/>
                              </a:schemeClr>
                            </a:solidFill>
                            <a:latin typeface="Cambria Math" panose="02040503050406030204" pitchFamily="18" charset="0"/>
                          </a:rPr>
                          <m:t>𝜸</m:t>
                        </m:r>
                      </m:e>
                      <m:sub>
                        <m:r>
                          <a:rPr lang="en-US" sz="1400" b="1" i="1">
                            <a:solidFill>
                              <a:schemeClr val="bg1">
                                <a:lumMod val="75000"/>
                              </a:schemeClr>
                            </a:solidFill>
                            <a:latin typeface="Cambria Math" panose="02040503050406030204" pitchFamily="18" charset="0"/>
                          </a:rPr>
                          <m:t>𝒏𝒌</m:t>
                        </m:r>
                      </m:sub>
                    </m:sSub>
                  </m:oMath>
                </a14:m>
                <a:r>
                  <a:rPr lang="vi-VN" sz="1400" dirty="0">
                    <a:solidFill>
                      <a:schemeClr val="bg1">
                        <a:lumMod val="75000"/>
                      </a:schemeClr>
                    </a:solidFill>
                    <a:latin typeface="Arial"/>
                  </a:rPr>
                  <a:t> để cập nhật </a:t>
                </a:r>
                <a14:m>
                  <m:oMath xmlns:m="http://schemas.openxmlformats.org/officeDocument/2006/math">
                    <m:sSub>
                      <m:sSubPr>
                        <m:ctrlPr>
                          <a:rPr lang="en-US" sz="1400" b="1" i="1">
                            <a:solidFill>
                              <a:schemeClr val="bg1">
                                <a:lumMod val="75000"/>
                              </a:schemeClr>
                            </a:solidFill>
                            <a:latin typeface="Cambria Math" panose="02040503050406030204" pitchFamily="18" charset="0"/>
                          </a:rPr>
                        </m:ctrlPr>
                      </m:sSubPr>
                      <m:e>
                        <m:r>
                          <a:rPr lang="en-US" sz="1400" b="1" i="1">
                            <a:solidFill>
                              <a:schemeClr val="bg1">
                                <a:lumMod val="75000"/>
                              </a:schemeClr>
                            </a:solidFill>
                            <a:latin typeface="Cambria Math" panose="02040503050406030204" pitchFamily="18" charset="0"/>
                          </a:rPr>
                          <m:t>𝝁</m:t>
                        </m:r>
                      </m:e>
                      <m:sub>
                        <m:r>
                          <a:rPr lang="en-US" sz="1400" b="1" i="1">
                            <a:solidFill>
                              <a:schemeClr val="bg1">
                                <a:lumMod val="75000"/>
                              </a:schemeClr>
                            </a:solidFill>
                            <a:latin typeface="Cambria Math" panose="02040503050406030204" pitchFamily="18" charset="0"/>
                          </a:rPr>
                          <m:t>𝒌</m:t>
                        </m:r>
                      </m:sub>
                    </m:sSub>
                  </m:oMath>
                </a14:m>
                <a:r>
                  <a:rPr lang="vi-VN" sz="1400" dirty="0">
                    <a:solidFill>
                      <a:schemeClr val="bg1">
                        <a:lumMod val="75000"/>
                      </a:schemeClr>
                    </a:solidFill>
                    <a:latin typeface="Arial"/>
                  </a:rPr>
                  <a:t>, </a:t>
                </a:r>
                <a14:m>
                  <m:oMath xmlns:m="http://schemas.openxmlformats.org/officeDocument/2006/math">
                    <m:sSub>
                      <m:sSubPr>
                        <m:ctrlPr>
                          <a:rPr lang="en-US" sz="1400" b="1" i="1" dirty="0">
                            <a:solidFill>
                              <a:schemeClr val="bg1">
                                <a:lumMod val="75000"/>
                              </a:schemeClr>
                            </a:solidFill>
                            <a:latin typeface="Cambria Math" panose="02040503050406030204" pitchFamily="18" charset="0"/>
                          </a:rPr>
                        </m:ctrlPr>
                      </m:sSubPr>
                      <m:e>
                        <m:r>
                          <a:rPr lang="en-US" sz="1400" b="1" i="1" dirty="0">
                            <a:solidFill>
                              <a:schemeClr val="bg1">
                                <a:lumMod val="75000"/>
                              </a:schemeClr>
                            </a:solidFill>
                            <a:latin typeface="Cambria Math" panose="02040503050406030204" pitchFamily="18" charset="0"/>
                          </a:rPr>
                          <m:t>𝝈</m:t>
                        </m:r>
                      </m:e>
                      <m:sub>
                        <m:r>
                          <a:rPr lang="en-US" sz="1400" b="1" i="1">
                            <a:solidFill>
                              <a:schemeClr val="bg1">
                                <a:lumMod val="75000"/>
                              </a:schemeClr>
                            </a:solidFill>
                            <a:latin typeface="Cambria Math" panose="02040503050406030204" pitchFamily="18" charset="0"/>
                          </a:rPr>
                          <m:t>𝒌</m:t>
                        </m:r>
                      </m:sub>
                    </m:sSub>
                  </m:oMath>
                </a14:m>
                <a:r>
                  <a:rPr lang="vi-VN" sz="1400" b="1" dirty="0">
                    <a:solidFill>
                      <a:schemeClr val="bg1">
                        <a:lumMod val="75000"/>
                      </a:schemeClr>
                    </a:solidFill>
                    <a:latin typeface="Arial"/>
                  </a:rPr>
                  <a:t>, </a:t>
                </a:r>
                <a14:m>
                  <m:oMath xmlns:m="http://schemas.openxmlformats.org/officeDocument/2006/math">
                    <m:sSub>
                      <m:sSubPr>
                        <m:ctrlPr>
                          <a:rPr lang="en-US" sz="1400" b="1" i="1">
                            <a:solidFill>
                              <a:schemeClr val="bg1">
                                <a:lumMod val="75000"/>
                              </a:schemeClr>
                            </a:solidFill>
                            <a:latin typeface="Cambria Math" panose="02040503050406030204" pitchFamily="18" charset="0"/>
                          </a:rPr>
                        </m:ctrlPr>
                      </m:sSubPr>
                      <m:e>
                        <m:r>
                          <a:rPr lang="en-US" sz="1400" b="1" i="1">
                            <a:solidFill>
                              <a:schemeClr val="bg1">
                                <a:lumMod val="75000"/>
                              </a:schemeClr>
                            </a:solidFill>
                            <a:latin typeface="Cambria Math" panose="02040503050406030204" pitchFamily="18" charset="0"/>
                          </a:rPr>
                          <m:t>𝝅</m:t>
                        </m:r>
                      </m:e>
                      <m:sub>
                        <m:r>
                          <a:rPr lang="en-US" sz="1400" b="1" i="1">
                            <a:solidFill>
                              <a:schemeClr val="bg1">
                                <a:lumMod val="75000"/>
                              </a:schemeClr>
                            </a:solidFill>
                            <a:latin typeface="Cambria Math" panose="02040503050406030204" pitchFamily="18" charset="0"/>
                          </a:rPr>
                          <m:t>𝒌</m:t>
                        </m:r>
                      </m:sub>
                    </m:sSub>
                  </m:oMath>
                </a14:m>
                <a:endParaRPr lang="vi-VN" sz="1400" b="1" dirty="0">
                  <a:solidFill>
                    <a:schemeClr val="bg1">
                      <a:lumMod val="75000"/>
                    </a:schemeClr>
                  </a:solidFill>
                  <a:latin typeface="Arial"/>
                </a:endParaRPr>
              </a:p>
              <a:p>
                <a:pPr>
                  <a:spcAft>
                    <a:spcPts val="600"/>
                  </a:spcAft>
                </a:pPr>
                <a:r>
                  <a:rPr lang="vi-VN" sz="1400" dirty="0">
                    <a:solidFill>
                      <a:srgbClr val="444B52"/>
                    </a:solidFill>
                    <a:latin typeface="Arial"/>
                  </a:rPr>
                  <a:t>4. Kiểm tra hội tụ:</a:t>
                </a:r>
              </a:p>
              <a:p>
                <a:pPr>
                  <a:spcAft>
                    <a:spcPts val="600"/>
                  </a:spcAft>
                </a:pPr>
                <a:r>
                  <a:rPr lang="vi-VN" sz="1400" dirty="0">
                    <a:solidFill>
                      <a:srgbClr val="444B52"/>
                    </a:solidFill>
                    <a:latin typeface="Arial"/>
                  </a:rPr>
                  <a:t>	Tính lại giá trị hàm mục tiêu Log-likelihood</a:t>
                </a:r>
              </a:p>
              <a:p>
                <a:pPr>
                  <a:spcAft>
                    <a:spcPts val="600"/>
                  </a:spcAft>
                </a:pPr>
                <a:r>
                  <a:rPr lang="vi-VN" sz="1400" dirty="0">
                    <a:solidFill>
                      <a:srgbClr val="444B52"/>
                    </a:solidFill>
                    <a:latin typeface="Arial"/>
                  </a:rPr>
                  <a:t>	So với giá trị hàm mục tiêu ở lần lặp trước đó</a:t>
                </a:r>
              </a:p>
              <a:p>
                <a:pPr>
                  <a:spcAft>
                    <a:spcPts val="600"/>
                  </a:spcAft>
                </a:pPr>
                <a:r>
                  <a:rPr lang="vi-VN" sz="1400" dirty="0">
                    <a:solidFill>
                      <a:srgbClr val="444B52"/>
                    </a:solidFill>
                    <a:latin typeface="Arial"/>
                  </a:rPr>
                  <a:t>		Nếu mức tăng nhỏ hơn ngưỡng cực nhỏ </a:t>
                </a:r>
                <a14:m>
                  <m:oMath xmlns:m="http://schemas.openxmlformats.org/officeDocument/2006/math">
                    <m:r>
                      <a:rPr lang="vi-VN" sz="1400" i="1" dirty="0">
                        <a:solidFill>
                          <a:srgbClr val="444B52"/>
                        </a:solidFill>
                        <a:latin typeface="Cambria Math" panose="02040503050406030204" pitchFamily="18" charset="0"/>
                      </a:rPr>
                      <m:t>𝜖</m:t>
                    </m:r>
                  </m:oMath>
                </a14:m>
                <a:endParaRPr lang="vi-VN" sz="1400" dirty="0">
                  <a:solidFill>
                    <a:srgbClr val="444B52"/>
                  </a:solidFill>
                  <a:latin typeface="Arial"/>
                </a:endParaRPr>
              </a:p>
              <a:p>
                <a:pPr>
                  <a:spcAft>
                    <a:spcPts val="600"/>
                  </a:spcAft>
                </a:pPr>
                <a:r>
                  <a:rPr lang="vi-VN" sz="1400" dirty="0">
                    <a:solidFill>
                      <a:srgbClr val="444B52"/>
                    </a:solidFill>
                    <a:latin typeface="Arial"/>
                  </a:rPr>
                  <a:t>			Thì dừng</a:t>
                </a:r>
              </a:p>
              <a:p>
                <a:pPr>
                  <a:spcAft>
                    <a:spcPts val="600"/>
                  </a:spcAft>
                </a:pPr>
                <a:r>
                  <a:rPr lang="vi-VN" sz="1400" dirty="0">
                    <a:solidFill>
                      <a:srgbClr val="444B52"/>
                    </a:solidFill>
                    <a:latin typeface="Arial"/>
                  </a:rPr>
                  <a:t>		Nếu không</a:t>
                </a:r>
              </a:p>
              <a:p>
                <a:pPr>
                  <a:spcAft>
                    <a:spcPts val="600"/>
                  </a:spcAft>
                </a:pPr>
                <a:r>
                  <a:rPr lang="vi-VN" sz="1400" dirty="0">
                    <a:solidFill>
                      <a:srgbClr val="444B52"/>
                    </a:solidFill>
                    <a:latin typeface="Arial"/>
                  </a:rPr>
                  <a:t>			Quay lại bước 2</a:t>
                </a:r>
              </a:p>
            </p:txBody>
          </p:sp>
        </mc:Choice>
        <mc:Fallback xmlns="">
          <p:sp>
            <p:nvSpPr>
              <p:cNvPr id="10" name="TextBox 9">
                <a:extLst>
                  <a:ext uri="{FF2B5EF4-FFF2-40B4-BE49-F238E27FC236}">
                    <a16:creationId xmlns:a16="http://schemas.microsoft.com/office/drawing/2014/main" id="{2CF2F81C-8F74-F677-64B6-AD3232623D6B}"/>
                  </a:ext>
                </a:extLst>
              </p:cNvPr>
              <p:cNvSpPr txBox="1">
                <a:spLocks noRot="1" noChangeAspect="1" noMove="1" noResize="1" noEditPoints="1" noAdjustHandles="1" noChangeArrowheads="1" noChangeShapeType="1" noTextEdit="1"/>
              </p:cNvSpPr>
              <p:nvPr/>
            </p:nvSpPr>
            <p:spPr>
              <a:xfrm>
                <a:off x="364066" y="2350561"/>
                <a:ext cx="5655734" cy="2939266"/>
              </a:xfrm>
              <a:prstGeom prst="rect">
                <a:avLst/>
              </a:prstGeom>
              <a:blipFill>
                <a:blip r:embed="rId3"/>
                <a:stretch>
                  <a:fillRect l="-224" t="-431" b="-1293"/>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3576A63-FAA3-2BB7-CB68-26A20A0C4215}"/>
                  </a:ext>
                </a:extLst>
              </p:cNvPr>
              <p:cNvSpPr txBox="1"/>
              <p:nvPr/>
            </p:nvSpPr>
            <p:spPr>
              <a:xfrm>
                <a:off x="6604003" y="3791952"/>
                <a:ext cx="4495800" cy="532903"/>
              </a:xfrm>
              <a:prstGeom prst="rect">
                <a:avLst/>
              </a:prstGeom>
              <a:noFill/>
            </p:spPr>
            <p:txBody>
              <a:bodyPr wrap="square">
                <a:spAutoFit/>
              </a:bodyPr>
              <a:lstStyle/>
              <a:p>
                <a:pPr/>
                <a14:m>
                  <m:oMathPara xmlns:m="http://schemas.openxmlformats.org/officeDocument/2006/math">
                    <m:oMath>
                      <m:borderBox>
                        <m:borderBoxPr>
                          <m:ctrlPr>
                            <a:rPr lang="en-VN" smtClean="0">
                              <a:solidFill>
                                <a:srgbClr val="00B050"/>
                              </a:solidFill>
                              <a:latin typeface="Cambria Math" panose="02040503050406030204" pitchFamily="18" charset="0"/>
                            </a:rPr>
                          </m:ctrlPr>
                        </m:borderBoxPr>
                        <m:e>
                          <m:r>
                            <m:rPr>
                              <m:sty m:val="p"/>
                            </m:rPr>
                            <a:rPr lang="en-VN" smtClean="0">
                              <a:solidFill>
                                <a:srgbClr val="00B050"/>
                              </a:solidFill>
                              <a:latin typeface="Cambria Math" panose="02040503050406030204" pitchFamily="18" charset="0"/>
                            </a:rPr>
                            <m:t>Δ</m:t>
                          </m:r>
                          <m:r>
                            <m:rPr>
                              <m:sty m:val="p"/>
                            </m:rPr>
                            <a:rPr lang="en-VN" i="0">
                              <a:solidFill>
                                <a:srgbClr val="00B050"/>
                              </a:solidFill>
                              <a:latin typeface="Cambria Math" panose="02040503050406030204" pitchFamily="18" charset="0"/>
                            </a:rPr>
                            <m:t>ℓ</m:t>
                          </m:r>
                          <m:r>
                            <a:rPr lang="en-VN" i="0">
                              <a:latin typeface="Cambria Math" panose="02040503050406030204" pitchFamily="18" charset="0"/>
                            </a:rPr>
                            <m:t>=</m:t>
                          </m:r>
                          <m:d>
                            <m:dPr>
                              <m:begChr m:val="|"/>
                              <m:endChr m:val="|"/>
                              <m:ctrlPr>
                                <a:rPr lang="en-VN" i="1">
                                  <a:solidFill>
                                    <a:schemeClr val="accent5">
                                      <a:lumMod val="75000"/>
                                    </a:schemeClr>
                                  </a:solidFill>
                                  <a:latin typeface="Cambria Math" panose="02040503050406030204" pitchFamily="18" charset="0"/>
                                </a:rPr>
                              </m:ctrlPr>
                            </m:dPr>
                            <m:e>
                              <m:func>
                                <m:funcPr>
                                  <m:ctrlPr>
                                    <a:rPr lang="en-VN" i="0">
                                      <a:solidFill>
                                        <a:schemeClr val="accent5">
                                          <a:lumMod val="75000"/>
                                        </a:schemeClr>
                                      </a:solidFill>
                                      <a:latin typeface="Cambria Math" panose="02040503050406030204" pitchFamily="18" charset="0"/>
                                    </a:rPr>
                                  </m:ctrlPr>
                                </m:funcPr>
                                <m:fName>
                                  <m:r>
                                    <m:rPr>
                                      <m:sty m:val="p"/>
                                    </m:rPr>
                                    <a:rPr lang="en-VN" i="0">
                                      <a:solidFill>
                                        <a:schemeClr val="accent5">
                                          <a:lumMod val="75000"/>
                                        </a:schemeClr>
                                      </a:solidFill>
                                      <a:latin typeface="Cambria Math" panose="02040503050406030204" pitchFamily="18" charset="0"/>
                                    </a:rPr>
                                    <m:t>ln</m:t>
                                  </m:r>
                                </m:fName>
                                <m:e>
                                  <m:r>
                                    <a:rPr lang="en-VN" i="1">
                                      <a:solidFill>
                                        <a:schemeClr val="accent5">
                                          <a:lumMod val="75000"/>
                                        </a:schemeClr>
                                      </a:solidFill>
                                      <a:latin typeface="Cambria Math" panose="02040503050406030204" pitchFamily="18" charset="0"/>
                                    </a:rPr>
                                    <m:t>𝐿</m:t>
                                  </m:r>
                                </m:e>
                              </m:func>
                              <m:d>
                                <m:dPr>
                                  <m:ctrlPr>
                                    <a:rPr lang="en-VN" i="1">
                                      <a:solidFill>
                                        <a:schemeClr val="accent5">
                                          <a:lumMod val="75000"/>
                                        </a:schemeClr>
                                      </a:solidFill>
                                      <a:latin typeface="Cambria Math" panose="02040503050406030204" pitchFamily="18" charset="0"/>
                                    </a:rPr>
                                  </m:ctrlPr>
                                </m:dPr>
                                <m:e>
                                  <m:sSup>
                                    <m:sSupPr>
                                      <m:ctrlPr>
                                        <a:rPr lang="en-VN" i="1">
                                          <a:solidFill>
                                            <a:schemeClr val="accent5">
                                              <a:lumMod val="75000"/>
                                            </a:schemeClr>
                                          </a:solidFill>
                                          <a:latin typeface="Cambria Math" panose="02040503050406030204" pitchFamily="18" charset="0"/>
                                        </a:rPr>
                                      </m:ctrlPr>
                                    </m:sSupPr>
                                    <m:e>
                                      <m:r>
                                        <a:rPr lang="en-VN" i="1">
                                          <a:solidFill>
                                            <a:schemeClr val="accent5">
                                              <a:lumMod val="75000"/>
                                            </a:schemeClr>
                                          </a:solidFill>
                                          <a:latin typeface="Cambria Math" panose="02040503050406030204" pitchFamily="18" charset="0"/>
                                        </a:rPr>
                                        <m:t>𝜃</m:t>
                                      </m:r>
                                    </m:e>
                                    <m:sup>
                                      <m:d>
                                        <m:dPr>
                                          <m:ctrlPr>
                                            <a:rPr lang="en-VN" i="1">
                                              <a:solidFill>
                                                <a:schemeClr val="accent5">
                                                  <a:lumMod val="75000"/>
                                                </a:schemeClr>
                                              </a:solidFill>
                                              <a:latin typeface="Cambria Math" panose="02040503050406030204" pitchFamily="18" charset="0"/>
                                            </a:rPr>
                                          </m:ctrlPr>
                                        </m:dPr>
                                        <m:e>
                                          <m:r>
                                            <a:rPr lang="en-VN" i="1">
                                              <a:solidFill>
                                                <a:schemeClr val="accent5">
                                                  <a:lumMod val="75000"/>
                                                </a:schemeClr>
                                              </a:solidFill>
                                              <a:latin typeface="Cambria Math" panose="02040503050406030204" pitchFamily="18" charset="0"/>
                                            </a:rPr>
                                            <m:t>𝑡</m:t>
                                          </m:r>
                                          <m:r>
                                            <a:rPr lang="en-VN" i="0">
                                              <a:solidFill>
                                                <a:schemeClr val="accent5">
                                                  <a:lumMod val="75000"/>
                                                </a:schemeClr>
                                              </a:solidFill>
                                              <a:latin typeface="Cambria Math" panose="02040503050406030204" pitchFamily="18" charset="0"/>
                                            </a:rPr>
                                            <m:t>+1</m:t>
                                          </m:r>
                                        </m:e>
                                      </m:d>
                                    </m:sup>
                                  </m:sSup>
                                  <m:r>
                                    <a:rPr lang="en-VN" i="0">
                                      <a:solidFill>
                                        <a:schemeClr val="accent5">
                                          <a:lumMod val="75000"/>
                                        </a:schemeClr>
                                      </a:solidFill>
                                      <a:latin typeface="Cambria Math" panose="02040503050406030204" pitchFamily="18" charset="0"/>
                                    </a:rPr>
                                    <m:t>∣</m:t>
                                  </m:r>
                                  <m:r>
                                    <a:rPr lang="en-VN" i="1">
                                      <a:solidFill>
                                        <a:schemeClr val="accent5">
                                          <a:lumMod val="75000"/>
                                        </a:schemeClr>
                                      </a:solidFill>
                                      <a:latin typeface="Cambria Math" panose="02040503050406030204" pitchFamily="18" charset="0"/>
                                    </a:rPr>
                                    <m:t>𝑥</m:t>
                                  </m:r>
                                </m:e>
                              </m:d>
                              <m:r>
                                <a:rPr lang="en-VN" i="0">
                                  <a:latin typeface="Cambria Math" panose="02040503050406030204" pitchFamily="18" charset="0"/>
                                </a:rPr>
                                <m:t>−</m:t>
                              </m:r>
                              <m:func>
                                <m:funcPr>
                                  <m:ctrlPr>
                                    <a:rPr lang="en-VN" i="0">
                                      <a:solidFill>
                                        <a:schemeClr val="accent2">
                                          <a:lumMod val="75000"/>
                                        </a:schemeClr>
                                      </a:solidFill>
                                      <a:latin typeface="Cambria Math" panose="02040503050406030204" pitchFamily="18" charset="0"/>
                                    </a:rPr>
                                  </m:ctrlPr>
                                </m:funcPr>
                                <m:fName>
                                  <m:r>
                                    <m:rPr>
                                      <m:sty m:val="p"/>
                                    </m:rPr>
                                    <a:rPr lang="en-VN" i="0">
                                      <a:solidFill>
                                        <a:schemeClr val="accent2">
                                          <a:lumMod val="75000"/>
                                        </a:schemeClr>
                                      </a:solidFill>
                                      <a:latin typeface="Cambria Math" panose="02040503050406030204" pitchFamily="18" charset="0"/>
                                    </a:rPr>
                                    <m:t>ln</m:t>
                                  </m:r>
                                </m:fName>
                                <m:e>
                                  <m:r>
                                    <a:rPr lang="en-VN" i="1">
                                      <a:solidFill>
                                        <a:schemeClr val="accent2">
                                          <a:lumMod val="75000"/>
                                        </a:schemeClr>
                                      </a:solidFill>
                                      <a:latin typeface="Cambria Math" panose="02040503050406030204" pitchFamily="18" charset="0"/>
                                    </a:rPr>
                                    <m:t>𝐿</m:t>
                                  </m:r>
                                </m:e>
                              </m:func>
                              <m:d>
                                <m:dPr>
                                  <m:ctrlPr>
                                    <a:rPr lang="en-VN" i="1">
                                      <a:solidFill>
                                        <a:schemeClr val="accent2">
                                          <a:lumMod val="75000"/>
                                        </a:schemeClr>
                                      </a:solidFill>
                                      <a:latin typeface="Cambria Math" panose="02040503050406030204" pitchFamily="18" charset="0"/>
                                    </a:rPr>
                                  </m:ctrlPr>
                                </m:dPr>
                                <m:e>
                                  <m:sSup>
                                    <m:sSupPr>
                                      <m:ctrlPr>
                                        <a:rPr lang="en-VN" i="1">
                                          <a:solidFill>
                                            <a:schemeClr val="accent2">
                                              <a:lumMod val="75000"/>
                                            </a:schemeClr>
                                          </a:solidFill>
                                          <a:latin typeface="Cambria Math" panose="02040503050406030204" pitchFamily="18" charset="0"/>
                                        </a:rPr>
                                      </m:ctrlPr>
                                    </m:sSupPr>
                                    <m:e>
                                      <m:r>
                                        <a:rPr lang="en-VN" i="1">
                                          <a:solidFill>
                                            <a:schemeClr val="accent2">
                                              <a:lumMod val="75000"/>
                                            </a:schemeClr>
                                          </a:solidFill>
                                          <a:latin typeface="Cambria Math" panose="02040503050406030204" pitchFamily="18" charset="0"/>
                                        </a:rPr>
                                        <m:t>𝜃</m:t>
                                      </m:r>
                                    </m:e>
                                    <m:sup>
                                      <m:d>
                                        <m:dPr>
                                          <m:ctrlPr>
                                            <a:rPr lang="en-VN" i="1">
                                              <a:solidFill>
                                                <a:schemeClr val="accent2">
                                                  <a:lumMod val="75000"/>
                                                </a:schemeClr>
                                              </a:solidFill>
                                              <a:latin typeface="Cambria Math" panose="02040503050406030204" pitchFamily="18" charset="0"/>
                                            </a:rPr>
                                          </m:ctrlPr>
                                        </m:dPr>
                                        <m:e>
                                          <m:r>
                                            <a:rPr lang="en-VN" i="1">
                                              <a:solidFill>
                                                <a:schemeClr val="accent2">
                                                  <a:lumMod val="75000"/>
                                                </a:schemeClr>
                                              </a:solidFill>
                                              <a:latin typeface="Cambria Math" panose="02040503050406030204" pitchFamily="18" charset="0"/>
                                            </a:rPr>
                                            <m:t>𝑡</m:t>
                                          </m:r>
                                        </m:e>
                                      </m:d>
                                    </m:sup>
                                  </m:sSup>
                                  <m:r>
                                    <a:rPr lang="en-VN" i="0">
                                      <a:solidFill>
                                        <a:schemeClr val="accent2">
                                          <a:lumMod val="75000"/>
                                        </a:schemeClr>
                                      </a:solidFill>
                                      <a:latin typeface="Cambria Math" panose="02040503050406030204" pitchFamily="18" charset="0"/>
                                    </a:rPr>
                                    <m:t>∣</m:t>
                                  </m:r>
                                  <m:r>
                                    <a:rPr lang="en-VN" i="1">
                                      <a:solidFill>
                                        <a:schemeClr val="accent2">
                                          <a:lumMod val="75000"/>
                                        </a:schemeClr>
                                      </a:solidFill>
                                      <a:latin typeface="Cambria Math" panose="02040503050406030204" pitchFamily="18" charset="0"/>
                                    </a:rPr>
                                    <m:t>𝑥</m:t>
                                  </m:r>
                                </m:e>
                              </m:d>
                            </m:e>
                          </m:d>
                        </m:e>
                      </m:borderBox>
                    </m:oMath>
                  </m:oMathPara>
                </a14:m>
                <a:endParaRPr lang="en-VN" dirty="0"/>
              </a:p>
            </p:txBody>
          </p:sp>
        </mc:Choice>
        <mc:Fallback xmlns="">
          <p:sp>
            <p:nvSpPr>
              <p:cNvPr id="8" name="TextBox 7">
                <a:extLst>
                  <a:ext uri="{FF2B5EF4-FFF2-40B4-BE49-F238E27FC236}">
                    <a16:creationId xmlns:a16="http://schemas.microsoft.com/office/drawing/2014/main" id="{33576A63-FAA3-2BB7-CB68-26A20A0C4215}"/>
                  </a:ext>
                </a:extLst>
              </p:cNvPr>
              <p:cNvSpPr txBox="1">
                <a:spLocks noRot="1" noChangeAspect="1" noMove="1" noResize="1" noEditPoints="1" noAdjustHandles="1" noChangeArrowheads="1" noChangeShapeType="1" noTextEdit="1"/>
              </p:cNvSpPr>
              <p:nvPr/>
            </p:nvSpPr>
            <p:spPr>
              <a:xfrm>
                <a:off x="6604003" y="3791952"/>
                <a:ext cx="4495800" cy="532903"/>
              </a:xfrm>
              <a:prstGeom prst="rect">
                <a:avLst/>
              </a:prstGeom>
              <a:blipFill>
                <a:blip r:embed="rId4"/>
                <a:stretch>
                  <a:fillRect/>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65AD0EF4-91E4-01D8-D0ED-40D6B009CE53}"/>
                  </a:ext>
                </a:extLst>
              </p:cNvPr>
              <p:cNvSpPr txBox="1"/>
              <p:nvPr/>
            </p:nvSpPr>
            <p:spPr>
              <a:xfrm>
                <a:off x="6841068" y="4892184"/>
                <a:ext cx="2412999" cy="459485"/>
              </a:xfrm>
              <a:prstGeom prst="rect">
                <a:avLst/>
              </a:prstGeom>
              <a:noFill/>
            </p:spPr>
            <p:txBody>
              <a:bodyPr wrap="square">
                <a:spAutoFit/>
              </a:bodyPr>
              <a:lstStyle/>
              <a:p>
                <a:pPr/>
                <a14:m>
                  <m:oMathPara xmlns:m="http://schemas.openxmlformats.org/officeDocument/2006/math">
                    <m:oMath>
                      <m:borderBox>
                        <m:borderBoxPr>
                          <m:ctrlPr>
                            <a:rPr lang="en-VN" smtClean="0">
                              <a:solidFill>
                                <a:srgbClr val="00B050"/>
                              </a:solidFill>
                              <a:latin typeface="Cambria Math" panose="02040503050406030204" pitchFamily="18" charset="0"/>
                            </a:rPr>
                          </m:ctrlPr>
                        </m:borderBoxPr>
                        <m:e>
                          <m:r>
                            <m:rPr>
                              <m:sty m:val="p"/>
                            </m:rPr>
                            <a:rPr lang="en-VN" smtClean="0">
                              <a:solidFill>
                                <a:srgbClr val="00B050"/>
                              </a:solidFill>
                              <a:latin typeface="Cambria Math" panose="02040503050406030204" pitchFamily="18" charset="0"/>
                            </a:rPr>
                            <m:t>Δ</m:t>
                          </m:r>
                          <m:r>
                            <m:rPr>
                              <m:sty m:val="p"/>
                            </m:rPr>
                            <a:rPr lang="en-VN" i="0">
                              <a:solidFill>
                                <a:srgbClr val="00B050"/>
                              </a:solidFill>
                              <a:latin typeface="Cambria Math" panose="02040503050406030204" pitchFamily="18" charset="0"/>
                            </a:rPr>
                            <m:t>ℓ</m:t>
                          </m:r>
                          <m:r>
                            <a:rPr lang="en-VN" i="0">
                              <a:latin typeface="Cambria Math" panose="02040503050406030204" pitchFamily="18" charset="0"/>
                            </a:rPr>
                            <m:t>≥</m:t>
                          </m:r>
                          <m:r>
                            <a:rPr lang="en-VN" i="1">
                              <a:latin typeface="Cambria Math" panose="02040503050406030204" pitchFamily="18" charset="0"/>
                            </a:rPr>
                            <m:t>𝜀</m:t>
                          </m:r>
                          <m:r>
                            <a:rPr lang="en-VN" i="0">
                              <a:latin typeface="Cambria Math" panose="02040503050406030204" pitchFamily="18" charset="0"/>
                            </a:rPr>
                            <m:t>⇒</m:t>
                          </m:r>
                          <m:r>
                            <m:rPr>
                              <m:nor/>
                            </m:rPr>
                            <a:rPr lang="vi-VN" b="0" i="0" smtClean="0">
                              <a:latin typeface="+mn-lt"/>
                            </a:rPr>
                            <m:t>Q</m:t>
                          </m:r>
                          <m:r>
                            <m:rPr>
                              <m:nor/>
                            </m:rPr>
                            <a:rPr lang="en-VN" i="0">
                              <a:latin typeface="+mn-lt"/>
                            </a:rPr>
                            <m:t>uay lại </m:t>
                          </m:r>
                          <m:r>
                            <m:rPr>
                              <m:sty m:val="p"/>
                            </m:rPr>
                            <a:rPr lang="vi-VN" b="0" i="1" smtClean="0">
                              <a:latin typeface="Cambria Math" panose="02040503050406030204" pitchFamily="18" charset="0"/>
                            </a:rPr>
                            <m:t>b</m:t>
                          </m:r>
                          <m:r>
                            <a:rPr lang="vi-VN" b="0" i="1" smtClean="0">
                              <a:latin typeface="Cambria Math" panose="02040503050406030204" pitchFamily="18" charset="0"/>
                            </a:rPr>
                            <m:t>ướ</m:t>
                          </m:r>
                          <m:r>
                            <m:rPr>
                              <m:sty m:val="p"/>
                            </m:rPr>
                            <a:rPr lang="vi-VN" b="0" i="1" smtClean="0">
                              <a:latin typeface="Cambria Math" panose="02040503050406030204" pitchFamily="18" charset="0"/>
                            </a:rPr>
                            <m:t>c</m:t>
                          </m:r>
                          <m:r>
                            <a:rPr lang="vi-VN" b="0" i="1" smtClean="0">
                              <a:latin typeface="Cambria Math" panose="02040503050406030204" pitchFamily="18" charset="0"/>
                            </a:rPr>
                            <m:t> 2</m:t>
                          </m:r>
                        </m:e>
                      </m:borderBox>
                    </m:oMath>
                  </m:oMathPara>
                </a14:m>
                <a:endParaRPr lang="en-VN" dirty="0"/>
              </a:p>
            </p:txBody>
          </p:sp>
        </mc:Choice>
        <mc:Fallback xmlns="">
          <p:sp>
            <p:nvSpPr>
              <p:cNvPr id="13" name="TextBox 12">
                <a:extLst>
                  <a:ext uri="{FF2B5EF4-FFF2-40B4-BE49-F238E27FC236}">
                    <a16:creationId xmlns:a16="http://schemas.microsoft.com/office/drawing/2014/main" id="{65AD0EF4-91E4-01D8-D0ED-40D6B009CE53}"/>
                  </a:ext>
                </a:extLst>
              </p:cNvPr>
              <p:cNvSpPr txBox="1">
                <a:spLocks noRot="1" noChangeAspect="1" noMove="1" noResize="1" noEditPoints="1" noAdjustHandles="1" noChangeArrowheads="1" noChangeShapeType="1" noTextEdit="1"/>
              </p:cNvSpPr>
              <p:nvPr/>
            </p:nvSpPr>
            <p:spPr>
              <a:xfrm>
                <a:off x="6841068" y="4892184"/>
                <a:ext cx="2412999" cy="459485"/>
              </a:xfrm>
              <a:prstGeom prst="rect">
                <a:avLst/>
              </a:prstGeom>
              <a:blipFill>
                <a:blip r:embed="rId5"/>
                <a:stretch>
                  <a:fillRect r="-12565" b="-2703"/>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D7382DD-4FB3-93B9-A6F2-94E3BEDE82B5}"/>
                  </a:ext>
                </a:extLst>
              </p:cNvPr>
              <p:cNvSpPr txBox="1"/>
              <p:nvPr/>
            </p:nvSpPr>
            <p:spPr>
              <a:xfrm>
                <a:off x="6172202" y="4378585"/>
                <a:ext cx="3141133" cy="461793"/>
              </a:xfrm>
              <a:prstGeom prst="rect">
                <a:avLst/>
              </a:prstGeom>
              <a:noFill/>
            </p:spPr>
            <p:txBody>
              <a:bodyPr wrap="square">
                <a:spAutoFit/>
              </a:bodyPr>
              <a:lstStyle/>
              <a:p>
                <a:pPr/>
                <a14:m>
                  <m:oMathPara xmlns:m="http://schemas.openxmlformats.org/officeDocument/2006/math">
                    <m:oMath>
                      <m:borderBox>
                        <m:borderBoxPr>
                          <m:ctrlPr>
                            <a:rPr lang="en-VN" smtClean="0">
                              <a:solidFill>
                                <a:srgbClr val="00B050"/>
                              </a:solidFill>
                              <a:latin typeface="Cambria Math" panose="02040503050406030204" pitchFamily="18" charset="0"/>
                            </a:rPr>
                          </m:ctrlPr>
                        </m:borderBoxPr>
                        <m:e>
                          <m:r>
                            <m:rPr>
                              <m:sty m:val="p"/>
                            </m:rPr>
                            <a:rPr lang="en-VN" smtClean="0">
                              <a:solidFill>
                                <a:srgbClr val="00B050"/>
                              </a:solidFill>
                              <a:latin typeface="Cambria Math" panose="02040503050406030204" pitchFamily="18" charset="0"/>
                            </a:rPr>
                            <m:t>Δ</m:t>
                          </m:r>
                          <m:r>
                            <m:rPr>
                              <m:sty m:val="p"/>
                            </m:rPr>
                            <a:rPr lang="en-VN" i="0">
                              <a:solidFill>
                                <a:srgbClr val="00B050"/>
                              </a:solidFill>
                              <a:latin typeface="Cambria Math" panose="02040503050406030204" pitchFamily="18" charset="0"/>
                            </a:rPr>
                            <m:t>ℓ</m:t>
                          </m:r>
                          <m:r>
                            <a:rPr lang="vi-VN" b="0" i="0" smtClean="0">
                              <a:latin typeface="Cambria Math" panose="02040503050406030204" pitchFamily="18" charset="0"/>
                            </a:rPr>
                            <m:t>&lt;</m:t>
                          </m:r>
                          <m:r>
                            <a:rPr lang="en-VN" i="1">
                              <a:latin typeface="Cambria Math" panose="02040503050406030204" pitchFamily="18" charset="0"/>
                            </a:rPr>
                            <m:t>𝜀</m:t>
                          </m:r>
                          <m:r>
                            <a:rPr lang="en-VN" i="0">
                              <a:latin typeface="Cambria Math" panose="02040503050406030204" pitchFamily="18" charset="0"/>
                            </a:rPr>
                            <m:t>⇒</m:t>
                          </m:r>
                          <m:r>
                            <m:rPr>
                              <m:sty m:val="p"/>
                            </m:rPr>
                            <a:rPr lang="vi-VN" b="0" i="1" smtClean="0">
                              <a:latin typeface="Cambria Math" panose="02040503050406030204" pitchFamily="18" charset="0"/>
                            </a:rPr>
                            <m:t>D</m:t>
                          </m:r>
                          <m:r>
                            <a:rPr lang="vi-VN" b="0" i="1" smtClean="0">
                              <a:latin typeface="Cambria Math" panose="02040503050406030204" pitchFamily="18" charset="0"/>
                            </a:rPr>
                            <m:t>ừ</m:t>
                          </m:r>
                          <m:r>
                            <m:rPr>
                              <m:sty m:val="p"/>
                            </m:rPr>
                            <a:rPr lang="vi-VN" b="0" i="1" smtClean="0">
                              <a:latin typeface="Cambria Math" panose="02040503050406030204" pitchFamily="18" charset="0"/>
                            </a:rPr>
                            <m:t>ng</m:t>
                          </m:r>
                        </m:e>
                      </m:borderBox>
                    </m:oMath>
                  </m:oMathPara>
                </a14:m>
                <a:endParaRPr lang="en-VN" dirty="0"/>
              </a:p>
            </p:txBody>
          </p:sp>
        </mc:Choice>
        <mc:Fallback xmlns="">
          <p:sp>
            <p:nvSpPr>
              <p:cNvPr id="14" name="TextBox 13">
                <a:extLst>
                  <a:ext uri="{FF2B5EF4-FFF2-40B4-BE49-F238E27FC236}">
                    <a16:creationId xmlns:a16="http://schemas.microsoft.com/office/drawing/2014/main" id="{4D7382DD-4FB3-93B9-A6F2-94E3BEDE82B5}"/>
                  </a:ext>
                </a:extLst>
              </p:cNvPr>
              <p:cNvSpPr txBox="1">
                <a:spLocks noRot="1" noChangeAspect="1" noMove="1" noResize="1" noEditPoints="1" noAdjustHandles="1" noChangeArrowheads="1" noChangeShapeType="1" noTextEdit="1"/>
              </p:cNvSpPr>
              <p:nvPr/>
            </p:nvSpPr>
            <p:spPr>
              <a:xfrm>
                <a:off x="6172202" y="4378585"/>
                <a:ext cx="3141133" cy="461793"/>
              </a:xfrm>
              <a:prstGeom prst="rect">
                <a:avLst/>
              </a:prstGeom>
              <a:blipFill>
                <a:blip r:embed="rId6"/>
                <a:stretch>
                  <a:fillRect/>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F1EB5A3D-3BE8-FC81-287D-25343E95E5CE}"/>
                  </a:ext>
                </a:extLst>
              </p:cNvPr>
              <p:cNvSpPr txBox="1"/>
              <p:nvPr/>
            </p:nvSpPr>
            <p:spPr>
              <a:xfrm>
                <a:off x="6841068" y="3082982"/>
                <a:ext cx="4418197" cy="523220"/>
              </a:xfrm>
              <a:prstGeom prst="rect">
                <a:avLst/>
              </a:prstGeom>
              <a:noFill/>
            </p:spPr>
            <p:txBody>
              <a:bodyPr wrap="none" rtlCol="0">
                <a:spAutoFit/>
              </a:bodyPr>
              <a:lstStyle/>
              <a:p>
                <a:r>
                  <a:rPr lang="vi-VN" sz="1400" dirty="0">
                    <a:solidFill>
                      <a:srgbClr val="444B52"/>
                    </a:solidFill>
                    <a:latin typeface="Arial"/>
                  </a:rPr>
                  <a:t>Ngưỡng hội tụ là siêu tham số định trước: (tolerance)</a:t>
                </a:r>
              </a:p>
              <a:p>
                <a:pPr/>
                <a14:m>
                  <m:oMathPara xmlns:m="http://schemas.openxmlformats.org/officeDocument/2006/math">
                    <m:oMathParaPr>
                      <m:jc m:val="left"/>
                    </m:oMathParaPr>
                    <m:oMath>
                      <m:r>
                        <a:rPr lang="vi-VN" sz="1400" b="1" i="1" dirty="0">
                          <a:solidFill>
                            <a:srgbClr val="444B52"/>
                          </a:solidFill>
                          <a:latin typeface="Cambria Math" panose="02040503050406030204" pitchFamily="18" charset="0"/>
                        </a:rPr>
                        <m:t>𝜀</m:t>
                      </m:r>
                      <m:r>
                        <a:rPr lang="vi-VN" sz="1400" b="1" i="0" dirty="0">
                          <a:solidFill>
                            <a:srgbClr val="444B52"/>
                          </a:solidFill>
                          <a:latin typeface="Cambria Math" panose="02040503050406030204" pitchFamily="18" charset="0"/>
                        </a:rPr>
                        <m:t>=</m:t>
                      </m:r>
                      <m:sSup>
                        <m:sSupPr>
                          <m:ctrlPr>
                            <a:rPr lang="vi-VN" sz="1400" b="1" i="0" dirty="0">
                              <a:solidFill>
                                <a:srgbClr val="444B52"/>
                              </a:solidFill>
                              <a:latin typeface="Cambria Math" panose="02040503050406030204" pitchFamily="18" charset="0"/>
                            </a:rPr>
                          </m:ctrlPr>
                        </m:sSupPr>
                        <m:e>
                          <m:r>
                            <a:rPr lang="vi-VN" sz="1400" b="1" i="0" dirty="0">
                              <a:solidFill>
                                <a:srgbClr val="444B52"/>
                              </a:solidFill>
                              <a:latin typeface="Cambria Math" panose="02040503050406030204" pitchFamily="18" charset="0"/>
                            </a:rPr>
                            <m:t>10</m:t>
                          </m:r>
                        </m:e>
                        <m:sup>
                          <m:r>
                            <a:rPr lang="vi-VN" sz="1400" b="1" i="0" dirty="0">
                              <a:solidFill>
                                <a:srgbClr val="444B52"/>
                              </a:solidFill>
                              <a:latin typeface="Cambria Math" panose="02040503050406030204" pitchFamily="18" charset="0"/>
                            </a:rPr>
                            <m:t>−6</m:t>
                          </m:r>
                        </m:sup>
                      </m:sSup>
                    </m:oMath>
                  </m:oMathPara>
                </a14:m>
                <a:endParaRPr lang="vi-VN" sz="1400" b="1" dirty="0">
                  <a:solidFill>
                    <a:srgbClr val="444B52"/>
                  </a:solidFill>
                  <a:latin typeface="Arial"/>
                </a:endParaRPr>
              </a:p>
            </p:txBody>
          </p:sp>
        </mc:Choice>
        <mc:Fallback xmlns="">
          <p:sp>
            <p:nvSpPr>
              <p:cNvPr id="16" name="TextBox 15">
                <a:extLst>
                  <a:ext uri="{FF2B5EF4-FFF2-40B4-BE49-F238E27FC236}">
                    <a16:creationId xmlns:a16="http://schemas.microsoft.com/office/drawing/2014/main" id="{F1EB5A3D-3BE8-FC81-287D-25343E95E5CE}"/>
                  </a:ext>
                </a:extLst>
              </p:cNvPr>
              <p:cNvSpPr txBox="1">
                <a:spLocks noRot="1" noChangeAspect="1" noMove="1" noResize="1" noEditPoints="1" noAdjustHandles="1" noChangeArrowheads="1" noChangeShapeType="1" noTextEdit="1"/>
              </p:cNvSpPr>
              <p:nvPr/>
            </p:nvSpPr>
            <p:spPr>
              <a:xfrm>
                <a:off x="6841068" y="3082982"/>
                <a:ext cx="4418197" cy="523220"/>
              </a:xfrm>
              <a:prstGeom prst="rect">
                <a:avLst/>
              </a:prstGeom>
              <a:blipFill>
                <a:blip r:embed="rId7"/>
                <a:stretch>
                  <a:fillRect l="-287" t="-2326"/>
                </a:stretch>
              </a:blipFill>
            </p:spPr>
            <p:txBody>
              <a:bodyPr/>
              <a:lstStyle/>
              <a:p>
                <a:r>
                  <a:rPr lang="en-VN">
                    <a:noFill/>
                  </a:rPr>
                  <a:t> </a:t>
                </a:r>
              </a:p>
            </p:txBody>
          </p:sp>
        </mc:Fallback>
      </mc:AlternateContent>
    </p:spTree>
    <p:extLst>
      <p:ext uri="{BB962C8B-B14F-4D97-AF65-F5344CB8AC3E}">
        <p14:creationId xmlns:p14="http://schemas.microsoft.com/office/powerpoint/2010/main" val="1239998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1C1BF-E023-FBC4-3034-2C684E91A71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FCB140E-98DF-9B51-8588-821955C00D52}"/>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44BAA30E-8767-B460-8C12-AC8FC7A299A4}"/>
                  </a:ext>
                </a:extLst>
              </p:cNvPr>
              <p:cNvSpPr txBox="1"/>
              <p:nvPr/>
            </p:nvSpPr>
            <p:spPr>
              <a:xfrm>
                <a:off x="364066" y="1267772"/>
                <a:ext cx="10961159" cy="1400383"/>
              </a:xfrm>
              <a:prstGeom prst="rect">
                <a:avLst/>
              </a:prstGeom>
              <a:noFill/>
            </p:spPr>
            <p:txBody>
              <a:bodyPr wrap="square">
                <a:spAutoFit/>
              </a:bodyPr>
              <a:lstStyle/>
              <a:p>
                <a:pPr>
                  <a:spcAft>
                    <a:spcPts val="600"/>
                  </a:spcAft>
                </a:pPr>
                <a:r>
                  <a:rPr lang="vi-VN" sz="1400" b="1" dirty="0">
                    <a:solidFill>
                      <a:srgbClr val="1B8A7A"/>
                    </a:solidFill>
                    <a:latin typeface="Arial"/>
                  </a:rPr>
                  <a:t>2.2. Expectation-Maximization (EM) - </a:t>
                </a:r>
                <a:r>
                  <a:rPr lang="vi-VN" sz="1000" b="1" dirty="0">
                    <a:solidFill>
                      <a:schemeClr val="accent5">
                        <a:lumMod val="60000"/>
                        <a:lumOff val="40000"/>
                      </a:schemeClr>
                    </a:solidFill>
                    <a:latin typeface="Arial"/>
                  </a:rPr>
                  <a:t>Phương pháp cực đại hoá kỳ vọng</a:t>
                </a:r>
              </a:p>
              <a:p>
                <a:pPr>
                  <a:spcAft>
                    <a:spcPts val="600"/>
                  </a:spcAft>
                </a:pPr>
                <a:r>
                  <a:rPr lang="vi-VN" sz="1400" dirty="0">
                    <a:solidFill>
                      <a:srgbClr val="444B52"/>
                    </a:solidFill>
                    <a:latin typeface="Arial"/>
                  </a:rPr>
                  <a:t>Vì sao việc tính xác suất hậu nghiệm và cập nhật lại 3 tham số lại giúp tăng log-likelihood qua từng vòng lặp?</a:t>
                </a:r>
              </a:p>
              <a:p>
                <a:pPr>
                  <a:spcAft>
                    <a:spcPts val="600"/>
                  </a:spcAft>
                </a:pPr>
                <a:br>
                  <a:rPr lang="vi-VN" sz="1400" b="1" dirty="0">
                    <a:solidFill>
                      <a:srgbClr val="444B52"/>
                    </a:solidFill>
                    <a:latin typeface="Arial"/>
                  </a:rPr>
                </a:br>
                <a:r>
                  <a:rPr lang="vi-VN" sz="1400" dirty="0">
                    <a:solidFill>
                      <a:srgbClr val="444B52"/>
                    </a:solidFill>
                    <a:latin typeface="Arial"/>
                  </a:rPr>
                  <a:t>Hàm mục tiêu log-likelihood được cấu thành từ 2 thành phần: </a:t>
                </a:r>
              </a:p>
              <a:p>
                <a:pPr>
                  <a:spcAft>
                    <a:spcPts val="600"/>
                  </a:spcAft>
                </a:pPr>
                <a:r>
                  <a:rPr lang="vi-VN" sz="1400" dirty="0">
                    <a:solidFill>
                      <a:schemeClr val="tx2">
                        <a:lumMod val="60000"/>
                        <a:lumOff val="40000"/>
                      </a:schemeClr>
                    </a:solidFill>
                    <a:latin typeface="Arial"/>
                  </a:rPr>
                  <a:t>Log-likelihood</a:t>
                </a:r>
                <a:r>
                  <a:rPr lang="vi-VN" sz="1400" dirty="0">
                    <a:solidFill>
                      <a:srgbClr val="444B52"/>
                    </a:solidFill>
                    <a:latin typeface="Arial"/>
                  </a:rPr>
                  <a:t> = </a:t>
                </a:r>
                <a14:m>
                  <m:oMath xmlns:m="http://schemas.openxmlformats.org/officeDocument/2006/math">
                    <m:r>
                      <m:rPr>
                        <m:nor/>
                      </m:rPr>
                      <a:rPr lang="en-VN" sz="1400" i="0" smtClean="0">
                        <a:solidFill>
                          <a:schemeClr val="accent2">
                            <a:lumMod val="60000"/>
                            <a:lumOff val="40000"/>
                          </a:schemeClr>
                        </a:solidFill>
                        <a:latin typeface="Cambria Math" panose="02040503050406030204" pitchFamily="18" charset="0"/>
                      </a:rPr>
                      <m:t>ELBO</m:t>
                    </m:r>
                  </m:oMath>
                </a14:m>
                <a:r>
                  <a:rPr lang="vi-VN" sz="1400" dirty="0">
                    <a:solidFill>
                      <a:srgbClr val="444B52"/>
                    </a:solidFill>
                    <a:latin typeface="Arial"/>
                  </a:rPr>
                  <a:t> + </a:t>
                </a:r>
                <a14:m>
                  <m:oMath xmlns:m="http://schemas.openxmlformats.org/officeDocument/2006/math">
                    <m:sSub>
                      <m:sSubPr>
                        <m:ctrlPr>
                          <a:rPr lang="en-VN" sz="1400" i="1">
                            <a:solidFill>
                              <a:srgbClr val="00B050"/>
                            </a:solidFill>
                            <a:latin typeface="Cambria Math" panose="02040503050406030204" pitchFamily="18" charset="0"/>
                          </a:rPr>
                        </m:ctrlPr>
                      </m:sSubPr>
                      <m:e>
                        <m:r>
                          <a:rPr lang="en-VN" sz="1400" i="1">
                            <a:solidFill>
                              <a:srgbClr val="00B050"/>
                            </a:solidFill>
                            <a:latin typeface="Cambria Math" panose="02040503050406030204" pitchFamily="18" charset="0"/>
                          </a:rPr>
                          <m:t>𝐷</m:t>
                        </m:r>
                      </m:e>
                      <m:sub>
                        <m:r>
                          <a:rPr lang="en-VN" sz="1400" i="1">
                            <a:solidFill>
                              <a:srgbClr val="00B050"/>
                            </a:solidFill>
                            <a:latin typeface="Cambria Math" panose="02040503050406030204" pitchFamily="18" charset="0"/>
                          </a:rPr>
                          <m:t>𝐾𝐿</m:t>
                        </m:r>
                      </m:sub>
                    </m:sSub>
                  </m:oMath>
                </a14:m>
                <a:endParaRPr lang="vi-VN" sz="1400" b="1" dirty="0">
                  <a:solidFill>
                    <a:srgbClr val="444B52"/>
                  </a:solidFill>
                  <a:latin typeface="Arial"/>
                </a:endParaRPr>
              </a:p>
            </p:txBody>
          </p:sp>
        </mc:Choice>
        <mc:Fallback xmlns="">
          <p:sp>
            <p:nvSpPr>
              <p:cNvPr id="4" name="TextBox 3">
                <a:extLst>
                  <a:ext uri="{FF2B5EF4-FFF2-40B4-BE49-F238E27FC236}">
                    <a16:creationId xmlns:a16="http://schemas.microsoft.com/office/drawing/2014/main" id="{44BAA30E-8767-B460-8C12-AC8FC7A299A4}"/>
                  </a:ext>
                </a:extLst>
              </p:cNvPr>
              <p:cNvSpPr txBox="1">
                <a:spLocks noRot="1" noChangeAspect="1" noMove="1" noResize="1" noEditPoints="1" noAdjustHandles="1" noChangeArrowheads="1" noChangeShapeType="1" noTextEdit="1"/>
              </p:cNvSpPr>
              <p:nvPr/>
            </p:nvSpPr>
            <p:spPr>
              <a:xfrm>
                <a:off x="364066" y="1267772"/>
                <a:ext cx="10961159" cy="1400383"/>
              </a:xfrm>
              <a:prstGeom prst="rect">
                <a:avLst/>
              </a:prstGeom>
              <a:blipFill>
                <a:blip r:embed="rId3"/>
                <a:stretch>
                  <a:fillRect l="-116" t="-893" b="-357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171FCA69-526D-B23D-FE13-82E609A1CD4A}"/>
                  </a:ext>
                </a:extLst>
              </p:cNvPr>
              <p:cNvSpPr txBox="1"/>
              <p:nvPr/>
            </p:nvSpPr>
            <p:spPr>
              <a:xfrm>
                <a:off x="430967" y="3179064"/>
                <a:ext cx="6901390" cy="985334"/>
              </a:xfrm>
              <a:prstGeom prst="rect">
                <a:avLst/>
              </a:prstGeom>
              <a:noFill/>
            </p:spPr>
            <p:txBody>
              <a:bodyPr wrap="square">
                <a:spAutoFit/>
              </a:bodyPr>
              <a:lstStyle/>
              <a:p>
                <a:pPr/>
                <a14:m>
                  <m:oMathPara xmlns:m="http://schemas.openxmlformats.org/officeDocument/2006/math">
                    <m:oMath>
                      <m:borderBox>
                        <m:borderBoxPr>
                          <m:ctrlPr>
                            <a:rPr lang="en-VN" sz="1400" i="1">
                              <a:solidFill>
                                <a:schemeClr val="tx2">
                                  <a:lumMod val="60000"/>
                                  <a:lumOff val="40000"/>
                                </a:schemeClr>
                              </a:solidFill>
                              <a:latin typeface="Cambria Math" panose="02040503050406030204" pitchFamily="18" charset="0"/>
                            </a:rPr>
                          </m:ctrlPr>
                        </m:borderBoxPr>
                        <m:e>
                          <m:func>
                            <m:funcPr>
                              <m:ctrlPr>
                                <a:rPr lang="en-VN" sz="1400" i="0">
                                  <a:solidFill>
                                    <a:schemeClr val="tx2">
                                      <a:lumMod val="60000"/>
                                      <a:lumOff val="40000"/>
                                    </a:schemeClr>
                                  </a:solidFill>
                                  <a:latin typeface="Cambria Math" panose="02040503050406030204" pitchFamily="18" charset="0"/>
                                </a:rPr>
                              </m:ctrlPr>
                            </m:funcPr>
                            <m:fName>
                              <m:r>
                                <m:rPr>
                                  <m:sty m:val="p"/>
                                </m:rPr>
                                <a:rPr lang="en-VN" sz="1400" i="0">
                                  <a:solidFill>
                                    <a:schemeClr val="tx2">
                                      <a:lumMod val="60000"/>
                                      <a:lumOff val="40000"/>
                                    </a:schemeClr>
                                  </a:solidFill>
                                  <a:latin typeface="Cambria Math" panose="02040503050406030204" pitchFamily="18" charset="0"/>
                                </a:rPr>
                                <m:t>ln</m:t>
                              </m:r>
                            </m:fName>
                            <m:e>
                              <m:r>
                                <a:rPr lang="en-VN" sz="1400" i="1">
                                  <a:solidFill>
                                    <a:schemeClr val="tx2">
                                      <a:lumMod val="60000"/>
                                      <a:lumOff val="40000"/>
                                    </a:schemeClr>
                                  </a:solidFill>
                                  <a:latin typeface="Cambria Math" panose="02040503050406030204" pitchFamily="18" charset="0"/>
                                </a:rPr>
                                <m:t>𝐿</m:t>
                              </m:r>
                            </m:e>
                          </m:func>
                          <m:d>
                            <m:dPr>
                              <m:ctrlPr>
                                <a:rPr lang="en-VN" sz="1400" i="1">
                                  <a:solidFill>
                                    <a:schemeClr val="tx2">
                                      <a:lumMod val="60000"/>
                                      <a:lumOff val="40000"/>
                                    </a:schemeClr>
                                  </a:solidFill>
                                  <a:latin typeface="Cambria Math" panose="02040503050406030204" pitchFamily="18" charset="0"/>
                                </a:rPr>
                              </m:ctrlPr>
                            </m:dPr>
                            <m:e>
                              <m:r>
                                <a:rPr lang="en-VN" sz="1400" i="1">
                                  <a:solidFill>
                                    <a:schemeClr val="tx2">
                                      <a:lumMod val="60000"/>
                                      <a:lumOff val="40000"/>
                                    </a:schemeClr>
                                  </a:solidFill>
                                  <a:latin typeface="Cambria Math" panose="02040503050406030204" pitchFamily="18" charset="0"/>
                                </a:rPr>
                                <m:t>𝜃</m:t>
                              </m:r>
                              <m:r>
                                <a:rPr lang="en-VN" sz="1400" i="0">
                                  <a:solidFill>
                                    <a:schemeClr val="tx2">
                                      <a:lumMod val="60000"/>
                                      <a:lumOff val="40000"/>
                                    </a:schemeClr>
                                  </a:solidFill>
                                  <a:latin typeface="Cambria Math" panose="02040503050406030204" pitchFamily="18" charset="0"/>
                                </a:rPr>
                                <m:t>∣</m:t>
                              </m:r>
                              <m:r>
                                <a:rPr lang="en-VN" sz="1400" i="1">
                                  <a:solidFill>
                                    <a:schemeClr val="tx2">
                                      <a:lumMod val="60000"/>
                                      <a:lumOff val="40000"/>
                                    </a:schemeClr>
                                  </a:solidFill>
                                  <a:latin typeface="Cambria Math" panose="02040503050406030204" pitchFamily="18" charset="0"/>
                                </a:rPr>
                                <m:t>𝑥</m:t>
                              </m:r>
                            </m:e>
                          </m:d>
                          <m:r>
                            <a:rPr lang="en-VN" sz="1400" i="0">
                              <a:latin typeface="Cambria Math" panose="02040503050406030204" pitchFamily="18" charset="0"/>
                            </a:rPr>
                            <m:t>=</m:t>
                          </m:r>
                          <m:limLow>
                            <m:limLowPr>
                              <m:ctrlPr>
                                <a:rPr lang="en-VN" sz="1400" i="1" smtClean="0">
                                  <a:solidFill>
                                    <a:schemeClr val="accent2">
                                      <a:lumMod val="60000"/>
                                      <a:lumOff val="40000"/>
                                    </a:schemeClr>
                                  </a:solidFill>
                                  <a:latin typeface="Cambria Math" panose="02040503050406030204" pitchFamily="18" charset="0"/>
                                </a:rPr>
                              </m:ctrlPr>
                            </m:limLowPr>
                            <m:e>
                              <m:groupChr>
                                <m:groupChrPr>
                                  <m:chr m:val="⏟"/>
                                  <m:pos m:val="bot"/>
                                  <m:vertJc m:val="top"/>
                                  <m:ctrlPr>
                                    <a:rPr lang="en-VN" sz="1400" i="1">
                                      <a:solidFill>
                                        <a:schemeClr val="accent2">
                                          <a:lumMod val="60000"/>
                                          <a:lumOff val="40000"/>
                                        </a:schemeClr>
                                      </a:solidFill>
                                      <a:latin typeface="Cambria Math" panose="02040503050406030204" pitchFamily="18" charset="0"/>
                                    </a:rPr>
                                  </m:ctrlPr>
                                </m:groupChrPr>
                                <m:e>
                                  <m:nary>
                                    <m:naryPr>
                                      <m:chr m:val="∑"/>
                                      <m:limLoc m:val="undOvr"/>
                                      <m:ctrlPr>
                                        <a:rPr lang="en-VN" sz="1400" i="1">
                                          <a:solidFill>
                                            <a:schemeClr val="accent2">
                                              <a:lumMod val="60000"/>
                                              <a:lumOff val="40000"/>
                                            </a:schemeClr>
                                          </a:solidFill>
                                          <a:latin typeface="Cambria Math" panose="02040503050406030204" pitchFamily="18" charset="0"/>
                                        </a:rPr>
                                      </m:ctrlPr>
                                    </m:naryPr>
                                    <m:sub>
                                      <m:r>
                                        <a:rPr lang="en-VN" sz="1400" i="1">
                                          <a:solidFill>
                                            <a:schemeClr val="accent2">
                                              <a:lumMod val="60000"/>
                                              <a:lumOff val="40000"/>
                                            </a:schemeClr>
                                          </a:solidFill>
                                          <a:latin typeface="Cambria Math" panose="02040503050406030204" pitchFamily="18" charset="0"/>
                                        </a:rPr>
                                        <m:t>𝑛</m:t>
                                      </m:r>
                                      <m:r>
                                        <a:rPr lang="en-VN" sz="1400" i="0">
                                          <a:solidFill>
                                            <a:schemeClr val="accent2">
                                              <a:lumMod val="60000"/>
                                              <a:lumOff val="40000"/>
                                            </a:schemeClr>
                                          </a:solidFill>
                                          <a:latin typeface="Cambria Math" panose="02040503050406030204" pitchFamily="18" charset="0"/>
                                        </a:rPr>
                                        <m:t>=1</m:t>
                                      </m:r>
                                    </m:sub>
                                    <m:sup>
                                      <m:r>
                                        <a:rPr lang="en-VN" sz="1400" i="1">
                                          <a:solidFill>
                                            <a:schemeClr val="accent2">
                                              <a:lumMod val="60000"/>
                                              <a:lumOff val="40000"/>
                                            </a:schemeClr>
                                          </a:solidFill>
                                          <a:latin typeface="Cambria Math" panose="02040503050406030204" pitchFamily="18" charset="0"/>
                                        </a:rPr>
                                        <m:t>𝑁</m:t>
                                      </m:r>
                                    </m:sup>
                                    <m:e>
                                      <m:nary>
                                        <m:naryPr>
                                          <m:chr m:val="∑"/>
                                          <m:limLoc m:val="undOvr"/>
                                          <m:ctrlPr>
                                            <a:rPr lang="en-VN" sz="1400" i="1">
                                              <a:solidFill>
                                                <a:schemeClr val="accent2">
                                                  <a:lumMod val="60000"/>
                                                  <a:lumOff val="40000"/>
                                                </a:schemeClr>
                                              </a:solidFill>
                                              <a:latin typeface="Cambria Math" panose="02040503050406030204" pitchFamily="18" charset="0"/>
                                            </a:rPr>
                                          </m:ctrlPr>
                                        </m:naryPr>
                                        <m:sub>
                                          <m:r>
                                            <a:rPr lang="en-VN" sz="1400" i="1">
                                              <a:solidFill>
                                                <a:schemeClr val="accent2">
                                                  <a:lumMod val="60000"/>
                                                  <a:lumOff val="40000"/>
                                                </a:schemeClr>
                                              </a:solidFill>
                                              <a:latin typeface="Cambria Math" panose="02040503050406030204" pitchFamily="18" charset="0"/>
                                            </a:rPr>
                                            <m:t>𝑘</m:t>
                                          </m:r>
                                          <m:r>
                                            <a:rPr lang="en-VN" sz="1400" i="0">
                                              <a:solidFill>
                                                <a:schemeClr val="accent2">
                                                  <a:lumMod val="60000"/>
                                                  <a:lumOff val="40000"/>
                                                </a:schemeClr>
                                              </a:solidFill>
                                              <a:latin typeface="Cambria Math" panose="02040503050406030204" pitchFamily="18" charset="0"/>
                                            </a:rPr>
                                            <m:t>=1</m:t>
                                          </m:r>
                                        </m:sub>
                                        <m:sup>
                                          <m:r>
                                            <a:rPr lang="en-VN" sz="1400" i="1">
                                              <a:solidFill>
                                                <a:schemeClr val="accent2">
                                                  <a:lumMod val="60000"/>
                                                  <a:lumOff val="40000"/>
                                                </a:schemeClr>
                                              </a:solidFill>
                                              <a:latin typeface="Cambria Math" panose="02040503050406030204" pitchFamily="18" charset="0"/>
                                            </a:rPr>
                                            <m:t>𝐾</m:t>
                                          </m:r>
                                        </m:sup>
                                        <m:e>
                                          <m:sSub>
                                            <m:sSubPr>
                                              <m:ctrlPr>
                                                <a:rPr lang="en-VN" sz="1400" i="1">
                                                  <a:solidFill>
                                                    <a:schemeClr val="accent2">
                                                      <a:lumMod val="60000"/>
                                                      <a:lumOff val="40000"/>
                                                    </a:schemeClr>
                                                  </a:solidFill>
                                                  <a:latin typeface="Cambria Math" panose="02040503050406030204" pitchFamily="18" charset="0"/>
                                                </a:rPr>
                                              </m:ctrlPr>
                                            </m:sSubPr>
                                            <m:e>
                                              <m:r>
                                                <a:rPr lang="en-VN" sz="1400" i="1">
                                                  <a:solidFill>
                                                    <a:schemeClr val="accent2">
                                                      <a:lumMod val="60000"/>
                                                      <a:lumOff val="40000"/>
                                                    </a:schemeClr>
                                                  </a:solidFill>
                                                  <a:latin typeface="Cambria Math" panose="02040503050406030204" pitchFamily="18" charset="0"/>
                                                </a:rPr>
                                                <m:t>𝑞</m:t>
                                              </m:r>
                                            </m:e>
                                            <m:sub>
                                              <m:r>
                                                <a:rPr lang="en-VN" sz="1400" i="1">
                                                  <a:solidFill>
                                                    <a:schemeClr val="accent2">
                                                      <a:lumMod val="60000"/>
                                                      <a:lumOff val="40000"/>
                                                    </a:schemeClr>
                                                  </a:solidFill>
                                                  <a:latin typeface="Cambria Math" panose="02040503050406030204" pitchFamily="18" charset="0"/>
                                                </a:rPr>
                                                <m:t>𝑛𝑘</m:t>
                                              </m:r>
                                            </m:sub>
                                          </m:sSub>
                                        </m:e>
                                      </m:nary>
                                    </m:e>
                                  </m:nary>
                                  <m:func>
                                    <m:funcPr>
                                      <m:ctrlPr>
                                        <a:rPr lang="en-VN" sz="1400" i="0">
                                          <a:solidFill>
                                            <a:schemeClr val="accent2">
                                              <a:lumMod val="60000"/>
                                              <a:lumOff val="40000"/>
                                            </a:schemeClr>
                                          </a:solidFill>
                                          <a:latin typeface="Cambria Math" panose="02040503050406030204" pitchFamily="18" charset="0"/>
                                        </a:rPr>
                                      </m:ctrlPr>
                                    </m:funcPr>
                                    <m:fName>
                                      <m:r>
                                        <m:rPr>
                                          <m:sty m:val="p"/>
                                        </m:rPr>
                                        <a:rPr lang="en-VN" sz="1400" i="0">
                                          <a:solidFill>
                                            <a:schemeClr val="accent2">
                                              <a:lumMod val="60000"/>
                                              <a:lumOff val="40000"/>
                                            </a:schemeClr>
                                          </a:solidFill>
                                          <a:latin typeface="Cambria Math" panose="02040503050406030204" pitchFamily="18" charset="0"/>
                                        </a:rPr>
                                        <m:t>ln</m:t>
                                      </m:r>
                                    </m:fName>
                                    <m:e>
                                      <m:d>
                                        <m:dPr>
                                          <m:ctrlPr>
                                            <a:rPr lang="en-VN" sz="1400" i="1">
                                              <a:solidFill>
                                                <a:schemeClr val="accent2">
                                                  <a:lumMod val="60000"/>
                                                  <a:lumOff val="40000"/>
                                                </a:schemeClr>
                                              </a:solidFill>
                                              <a:latin typeface="Cambria Math" panose="02040503050406030204" pitchFamily="18" charset="0"/>
                                            </a:rPr>
                                          </m:ctrlPr>
                                        </m:dPr>
                                        <m:e>
                                          <m:f>
                                            <m:fPr>
                                              <m:ctrlPr>
                                                <a:rPr lang="en-VN" sz="1400" i="1">
                                                  <a:solidFill>
                                                    <a:schemeClr val="accent2">
                                                      <a:lumMod val="60000"/>
                                                      <a:lumOff val="40000"/>
                                                    </a:schemeClr>
                                                  </a:solidFill>
                                                  <a:latin typeface="Cambria Math" panose="02040503050406030204" pitchFamily="18" charset="0"/>
                                                </a:rPr>
                                              </m:ctrlPr>
                                            </m:fPr>
                                            <m:num>
                                              <m:sSub>
                                                <m:sSubPr>
                                                  <m:ctrlPr>
                                                    <a:rPr lang="en-VN" sz="1400" i="1">
                                                      <a:solidFill>
                                                        <a:schemeClr val="accent2">
                                                          <a:lumMod val="60000"/>
                                                          <a:lumOff val="40000"/>
                                                        </a:schemeClr>
                                                      </a:solidFill>
                                                      <a:latin typeface="Cambria Math" panose="02040503050406030204" pitchFamily="18" charset="0"/>
                                                    </a:rPr>
                                                  </m:ctrlPr>
                                                </m:sSubPr>
                                                <m:e>
                                                  <m:r>
                                                    <a:rPr lang="en-VN" sz="1400" i="1">
                                                      <a:solidFill>
                                                        <a:schemeClr val="accent2">
                                                          <a:lumMod val="60000"/>
                                                          <a:lumOff val="40000"/>
                                                        </a:schemeClr>
                                                      </a:solidFill>
                                                      <a:latin typeface="Cambria Math" panose="02040503050406030204" pitchFamily="18" charset="0"/>
                                                    </a:rPr>
                                                    <m:t>𝜋</m:t>
                                                  </m:r>
                                                </m:e>
                                                <m:sub>
                                                  <m:r>
                                                    <a:rPr lang="en-VN" sz="1400" i="1">
                                                      <a:solidFill>
                                                        <a:schemeClr val="accent2">
                                                          <a:lumMod val="60000"/>
                                                          <a:lumOff val="40000"/>
                                                        </a:schemeClr>
                                                      </a:solidFill>
                                                      <a:latin typeface="Cambria Math" panose="02040503050406030204" pitchFamily="18" charset="0"/>
                                                    </a:rPr>
                                                    <m:t>𝑘</m:t>
                                                  </m:r>
                                                </m:sub>
                                              </m:sSub>
                                              <m:r>
                                                <a:rPr lang="en-VN" sz="1400" i="0">
                                                  <a:solidFill>
                                                    <a:schemeClr val="accent2">
                                                      <a:lumMod val="60000"/>
                                                      <a:lumOff val="40000"/>
                                                    </a:schemeClr>
                                                  </a:solidFill>
                                                  <a:latin typeface="Cambria Math" panose="02040503050406030204" pitchFamily="18" charset="0"/>
                                                </a:rPr>
                                                <m:t>𝒩</m:t>
                                              </m:r>
                                              <m:d>
                                                <m:dPr>
                                                  <m:ctrlPr>
                                                    <a:rPr lang="en-VN" sz="1400" i="1">
                                                      <a:solidFill>
                                                        <a:schemeClr val="accent2">
                                                          <a:lumMod val="60000"/>
                                                          <a:lumOff val="40000"/>
                                                        </a:schemeClr>
                                                      </a:solidFill>
                                                      <a:latin typeface="Cambria Math" panose="02040503050406030204" pitchFamily="18" charset="0"/>
                                                    </a:rPr>
                                                  </m:ctrlPr>
                                                </m:dPr>
                                                <m:e>
                                                  <m:sSub>
                                                    <m:sSubPr>
                                                      <m:ctrlPr>
                                                        <a:rPr lang="en-VN" sz="1400" i="1">
                                                          <a:solidFill>
                                                            <a:schemeClr val="accent2">
                                                              <a:lumMod val="60000"/>
                                                              <a:lumOff val="40000"/>
                                                            </a:schemeClr>
                                                          </a:solidFill>
                                                          <a:latin typeface="Cambria Math" panose="02040503050406030204" pitchFamily="18" charset="0"/>
                                                        </a:rPr>
                                                      </m:ctrlPr>
                                                    </m:sSubPr>
                                                    <m:e>
                                                      <m:r>
                                                        <a:rPr lang="en-VN" sz="1400" i="1">
                                                          <a:solidFill>
                                                            <a:schemeClr val="accent2">
                                                              <a:lumMod val="60000"/>
                                                              <a:lumOff val="40000"/>
                                                            </a:schemeClr>
                                                          </a:solidFill>
                                                          <a:latin typeface="Cambria Math" panose="02040503050406030204" pitchFamily="18" charset="0"/>
                                                        </a:rPr>
                                                        <m:t>𝑥</m:t>
                                                      </m:r>
                                                    </m:e>
                                                    <m:sub>
                                                      <m:r>
                                                        <a:rPr lang="en-VN" sz="1400" i="1">
                                                          <a:solidFill>
                                                            <a:schemeClr val="accent2">
                                                              <a:lumMod val="60000"/>
                                                              <a:lumOff val="40000"/>
                                                            </a:schemeClr>
                                                          </a:solidFill>
                                                          <a:latin typeface="Cambria Math" panose="02040503050406030204" pitchFamily="18" charset="0"/>
                                                        </a:rPr>
                                                        <m:t>𝑛</m:t>
                                                      </m:r>
                                                    </m:sub>
                                                  </m:sSub>
                                                  <m:r>
                                                    <a:rPr lang="en-VN" sz="1400" i="0">
                                                      <a:solidFill>
                                                        <a:schemeClr val="accent2">
                                                          <a:lumMod val="60000"/>
                                                          <a:lumOff val="40000"/>
                                                        </a:schemeClr>
                                                      </a:solidFill>
                                                      <a:latin typeface="Cambria Math" panose="02040503050406030204" pitchFamily="18" charset="0"/>
                                                    </a:rPr>
                                                    <m:t>∣</m:t>
                                                  </m:r>
                                                  <m:sSub>
                                                    <m:sSubPr>
                                                      <m:ctrlPr>
                                                        <a:rPr lang="en-VN" sz="1400" i="1">
                                                          <a:solidFill>
                                                            <a:schemeClr val="accent2">
                                                              <a:lumMod val="60000"/>
                                                              <a:lumOff val="40000"/>
                                                            </a:schemeClr>
                                                          </a:solidFill>
                                                          <a:latin typeface="Cambria Math" panose="02040503050406030204" pitchFamily="18" charset="0"/>
                                                        </a:rPr>
                                                      </m:ctrlPr>
                                                    </m:sSubPr>
                                                    <m:e>
                                                      <m:r>
                                                        <a:rPr lang="en-VN" sz="1400" i="1">
                                                          <a:solidFill>
                                                            <a:schemeClr val="accent2">
                                                              <a:lumMod val="60000"/>
                                                              <a:lumOff val="40000"/>
                                                            </a:schemeClr>
                                                          </a:solidFill>
                                                          <a:latin typeface="Cambria Math" panose="02040503050406030204" pitchFamily="18" charset="0"/>
                                                        </a:rPr>
                                                        <m:t>𝜇</m:t>
                                                      </m:r>
                                                    </m:e>
                                                    <m:sub>
                                                      <m:r>
                                                        <a:rPr lang="en-VN" sz="1400" i="1">
                                                          <a:solidFill>
                                                            <a:schemeClr val="accent2">
                                                              <a:lumMod val="60000"/>
                                                              <a:lumOff val="40000"/>
                                                            </a:schemeClr>
                                                          </a:solidFill>
                                                          <a:latin typeface="Cambria Math" panose="02040503050406030204" pitchFamily="18" charset="0"/>
                                                        </a:rPr>
                                                        <m:t>𝑘</m:t>
                                                      </m:r>
                                                    </m:sub>
                                                  </m:sSub>
                                                  <m:r>
                                                    <a:rPr lang="en-VN" sz="1400" i="0">
                                                      <a:solidFill>
                                                        <a:schemeClr val="accent2">
                                                          <a:lumMod val="60000"/>
                                                          <a:lumOff val="40000"/>
                                                        </a:schemeClr>
                                                      </a:solidFill>
                                                      <a:latin typeface="Cambria Math" panose="02040503050406030204" pitchFamily="18" charset="0"/>
                                                    </a:rPr>
                                                    <m:t>,</m:t>
                                                  </m:r>
                                                  <m:sSubSup>
                                                    <m:sSubSupPr>
                                                      <m:ctrlPr>
                                                        <a:rPr lang="en-VN" sz="1400" i="1">
                                                          <a:solidFill>
                                                            <a:schemeClr val="accent2">
                                                              <a:lumMod val="60000"/>
                                                              <a:lumOff val="40000"/>
                                                            </a:schemeClr>
                                                          </a:solidFill>
                                                          <a:latin typeface="Cambria Math" panose="02040503050406030204" pitchFamily="18" charset="0"/>
                                                        </a:rPr>
                                                      </m:ctrlPr>
                                                    </m:sSubSupPr>
                                                    <m:e>
                                                      <m:r>
                                                        <a:rPr lang="en-VN" sz="1400" i="1">
                                                          <a:solidFill>
                                                            <a:schemeClr val="accent2">
                                                              <a:lumMod val="60000"/>
                                                              <a:lumOff val="40000"/>
                                                            </a:schemeClr>
                                                          </a:solidFill>
                                                          <a:latin typeface="Cambria Math" panose="02040503050406030204" pitchFamily="18" charset="0"/>
                                                        </a:rPr>
                                                        <m:t>𝜎</m:t>
                                                      </m:r>
                                                    </m:e>
                                                    <m:sub>
                                                      <m:r>
                                                        <a:rPr lang="en-VN" sz="1400" i="1">
                                                          <a:solidFill>
                                                            <a:schemeClr val="accent2">
                                                              <a:lumMod val="60000"/>
                                                              <a:lumOff val="40000"/>
                                                            </a:schemeClr>
                                                          </a:solidFill>
                                                          <a:latin typeface="Cambria Math" panose="02040503050406030204" pitchFamily="18" charset="0"/>
                                                        </a:rPr>
                                                        <m:t>𝑘</m:t>
                                                      </m:r>
                                                    </m:sub>
                                                    <m:sup>
                                                      <m:r>
                                                        <a:rPr lang="en-VN" sz="1400" i="0">
                                                          <a:solidFill>
                                                            <a:schemeClr val="accent2">
                                                              <a:lumMod val="60000"/>
                                                              <a:lumOff val="40000"/>
                                                            </a:schemeClr>
                                                          </a:solidFill>
                                                          <a:latin typeface="Cambria Math" panose="02040503050406030204" pitchFamily="18" charset="0"/>
                                                        </a:rPr>
                                                        <m:t>2</m:t>
                                                      </m:r>
                                                    </m:sup>
                                                  </m:sSubSup>
                                                </m:e>
                                              </m:d>
                                            </m:num>
                                            <m:den>
                                              <m:sSub>
                                                <m:sSubPr>
                                                  <m:ctrlPr>
                                                    <a:rPr lang="en-VN" sz="1400" i="1">
                                                      <a:solidFill>
                                                        <a:schemeClr val="accent2">
                                                          <a:lumMod val="60000"/>
                                                          <a:lumOff val="40000"/>
                                                        </a:schemeClr>
                                                      </a:solidFill>
                                                      <a:latin typeface="Cambria Math" panose="02040503050406030204" pitchFamily="18" charset="0"/>
                                                    </a:rPr>
                                                  </m:ctrlPr>
                                                </m:sSubPr>
                                                <m:e>
                                                  <m:r>
                                                    <a:rPr lang="en-VN" sz="1400" i="1">
                                                      <a:solidFill>
                                                        <a:schemeClr val="accent2">
                                                          <a:lumMod val="60000"/>
                                                          <a:lumOff val="40000"/>
                                                        </a:schemeClr>
                                                      </a:solidFill>
                                                      <a:latin typeface="Cambria Math" panose="02040503050406030204" pitchFamily="18" charset="0"/>
                                                    </a:rPr>
                                                    <m:t>𝑞</m:t>
                                                  </m:r>
                                                </m:e>
                                                <m:sub>
                                                  <m:r>
                                                    <a:rPr lang="en-VN" sz="1400" i="1">
                                                      <a:solidFill>
                                                        <a:schemeClr val="accent2">
                                                          <a:lumMod val="60000"/>
                                                          <a:lumOff val="40000"/>
                                                        </a:schemeClr>
                                                      </a:solidFill>
                                                      <a:latin typeface="Cambria Math" panose="02040503050406030204" pitchFamily="18" charset="0"/>
                                                    </a:rPr>
                                                    <m:t>𝑛𝑘</m:t>
                                                  </m:r>
                                                </m:sub>
                                              </m:sSub>
                                            </m:den>
                                          </m:f>
                                        </m:e>
                                      </m:d>
                                    </m:e>
                                  </m:func>
                                </m:e>
                              </m:groupChr>
                            </m:e>
                            <m:lim/>
                          </m:limLow>
                          <m:r>
                            <a:rPr lang="en-VN" sz="1400" i="0">
                              <a:latin typeface="Cambria Math" panose="02040503050406030204" pitchFamily="18" charset="0"/>
                            </a:rPr>
                            <m:t>+</m:t>
                          </m:r>
                          <m:limLow>
                            <m:limLowPr>
                              <m:ctrlPr>
                                <a:rPr lang="en-VN" sz="1400" i="1" smtClean="0">
                                  <a:solidFill>
                                    <a:srgbClr val="00B050"/>
                                  </a:solidFill>
                                  <a:latin typeface="Cambria Math" panose="02040503050406030204" pitchFamily="18" charset="0"/>
                                </a:rPr>
                              </m:ctrlPr>
                            </m:limLowPr>
                            <m:e>
                              <m:groupChr>
                                <m:groupChrPr>
                                  <m:chr m:val="⏟"/>
                                  <m:pos m:val="bot"/>
                                  <m:vertJc m:val="top"/>
                                  <m:ctrlPr>
                                    <a:rPr lang="en-VN" sz="1400" i="1">
                                      <a:solidFill>
                                        <a:srgbClr val="00B050"/>
                                      </a:solidFill>
                                      <a:latin typeface="Cambria Math" panose="02040503050406030204" pitchFamily="18" charset="0"/>
                                    </a:rPr>
                                  </m:ctrlPr>
                                </m:groupChrPr>
                                <m:e>
                                  <m:nary>
                                    <m:naryPr>
                                      <m:chr m:val="∑"/>
                                      <m:limLoc m:val="undOvr"/>
                                      <m:ctrlPr>
                                        <a:rPr lang="en-VN" sz="1400" i="1">
                                          <a:solidFill>
                                            <a:srgbClr val="00B050"/>
                                          </a:solidFill>
                                          <a:latin typeface="Cambria Math" panose="02040503050406030204" pitchFamily="18" charset="0"/>
                                        </a:rPr>
                                      </m:ctrlPr>
                                    </m:naryPr>
                                    <m:sub>
                                      <m:r>
                                        <a:rPr lang="en-VN" sz="1400" i="1">
                                          <a:solidFill>
                                            <a:srgbClr val="00B050"/>
                                          </a:solidFill>
                                          <a:latin typeface="Cambria Math" panose="02040503050406030204" pitchFamily="18" charset="0"/>
                                        </a:rPr>
                                        <m:t>𝑛</m:t>
                                      </m:r>
                                      <m:r>
                                        <a:rPr lang="en-VN" sz="1400" i="0">
                                          <a:solidFill>
                                            <a:srgbClr val="00B050"/>
                                          </a:solidFill>
                                          <a:latin typeface="Cambria Math" panose="02040503050406030204" pitchFamily="18" charset="0"/>
                                        </a:rPr>
                                        <m:t>=1</m:t>
                                      </m:r>
                                    </m:sub>
                                    <m:sup>
                                      <m:r>
                                        <a:rPr lang="en-VN" sz="1400" i="1">
                                          <a:solidFill>
                                            <a:srgbClr val="00B050"/>
                                          </a:solidFill>
                                          <a:latin typeface="Cambria Math" panose="02040503050406030204" pitchFamily="18" charset="0"/>
                                        </a:rPr>
                                        <m:t>𝑁</m:t>
                                      </m:r>
                                    </m:sup>
                                    <m:e>
                                      <m:nary>
                                        <m:naryPr>
                                          <m:chr m:val="∑"/>
                                          <m:limLoc m:val="undOvr"/>
                                          <m:ctrlPr>
                                            <a:rPr lang="en-VN" sz="1400" i="1">
                                              <a:solidFill>
                                                <a:srgbClr val="00B050"/>
                                              </a:solidFill>
                                              <a:latin typeface="Cambria Math" panose="02040503050406030204" pitchFamily="18" charset="0"/>
                                            </a:rPr>
                                          </m:ctrlPr>
                                        </m:naryPr>
                                        <m:sub>
                                          <m:r>
                                            <a:rPr lang="en-VN" sz="1400" i="1">
                                              <a:solidFill>
                                                <a:srgbClr val="00B050"/>
                                              </a:solidFill>
                                              <a:latin typeface="Cambria Math" panose="02040503050406030204" pitchFamily="18" charset="0"/>
                                            </a:rPr>
                                            <m:t>𝑘</m:t>
                                          </m:r>
                                          <m:r>
                                            <a:rPr lang="en-VN" sz="1400" i="0">
                                              <a:solidFill>
                                                <a:srgbClr val="00B050"/>
                                              </a:solidFill>
                                              <a:latin typeface="Cambria Math" panose="02040503050406030204" pitchFamily="18" charset="0"/>
                                            </a:rPr>
                                            <m:t>=1</m:t>
                                          </m:r>
                                        </m:sub>
                                        <m:sup>
                                          <m:r>
                                            <a:rPr lang="en-VN" sz="1400" i="1">
                                              <a:solidFill>
                                                <a:srgbClr val="00B050"/>
                                              </a:solidFill>
                                              <a:latin typeface="Cambria Math" panose="02040503050406030204" pitchFamily="18" charset="0"/>
                                            </a:rPr>
                                            <m:t>𝐾</m:t>
                                          </m:r>
                                        </m:sup>
                                        <m:e>
                                          <m:sSub>
                                            <m:sSubPr>
                                              <m:ctrlPr>
                                                <a:rPr lang="en-VN" sz="1400" i="1">
                                                  <a:solidFill>
                                                    <a:srgbClr val="00B050"/>
                                                  </a:solidFill>
                                                  <a:latin typeface="Cambria Math" panose="02040503050406030204" pitchFamily="18" charset="0"/>
                                                </a:rPr>
                                              </m:ctrlPr>
                                            </m:sSubPr>
                                            <m:e>
                                              <m:r>
                                                <a:rPr lang="en-VN" sz="1400" i="1">
                                                  <a:solidFill>
                                                    <a:srgbClr val="00B050"/>
                                                  </a:solidFill>
                                                  <a:latin typeface="Cambria Math" panose="02040503050406030204" pitchFamily="18" charset="0"/>
                                                </a:rPr>
                                                <m:t>𝑞</m:t>
                                              </m:r>
                                            </m:e>
                                            <m:sub>
                                              <m:r>
                                                <a:rPr lang="en-VN" sz="1400" i="1">
                                                  <a:solidFill>
                                                    <a:srgbClr val="00B050"/>
                                                  </a:solidFill>
                                                  <a:latin typeface="Cambria Math" panose="02040503050406030204" pitchFamily="18" charset="0"/>
                                                </a:rPr>
                                                <m:t>𝑛𝑘</m:t>
                                              </m:r>
                                            </m:sub>
                                          </m:sSub>
                                        </m:e>
                                      </m:nary>
                                    </m:e>
                                  </m:nary>
                                  <m:func>
                                    <m:funcPr>
                                      <m:ctrlPr>
                                        <a:rPr lang="en-VN" sz="1400" i="0">
                                          <a:solidFill>
                                            <a:srgbClr val="00B050"/>
                                          </a:solidFill>
                                          <a:latin typeface="Cambria Math" panose="02040503050406030204" pitchFamily="18" charset="0"/>
                                        </a:rPr>
                                      </m:ctrlPr>
                                    </m:funcPr>
                                    <m:fName>
                                      <m:r>
                                        <m:rPr>
                                          <m:sty m:val="p"/>
                                        </m:rPr>
                                        <a:rPr lang="en-VN" sz="1400" i="0">
                                          <a:solidFill>
                                            <a:srgbClr val="00B050"/>
                                          </a:solidFill>
                                          <a:latin typeface="Cambria Math" panose="02040503050406030204" pitchFamily="18" charset="0"/>
                                        </a:rPr>
                                        <m:t>ln</m:t>
                                      </m:r>
                                    </m:fName>
                                    <m:e>
                                      <m:d>
                                        <m:dPr>
                                          <m:ctrlPr>
                                            <a:rPr lang="en-VN" sz="1400" i="1">
                                              <a:solidFill>
                                                <a:srgbClr val="00B050"/>
                                              </a:solidFill>
                                              <a:latin typeface="Cambria Math" panose="02040503050406030204" pitchFamily="18" charset="0"/>
                                            </a:rPr>
                                          </m:ctrlPr>
                                        </m:dPr>
                                        <m:e>
                                          <m:f>
                                            <m:fPr>
                                              <m:ctrlPr>
                                                <a:rPr lang="en-VN" sz="1400" i="1">
                                                  <a:solidFill>
                                                    <a:srgbClr val="00B050"/>
                                                  </a:solidFill>
                                                  <a:latin typeface="Cambria Math" panose="02040503050406030204" pitchFamily="18" charset="0"/>
                                                </a:rPr>
                                              </m:ctrlPr>
                                            </m:fPr>
                                            <m:num>
                                              <m:sSub>
                                                <m:sSubPr>
                                                  <m:ctrlPr>
                                                    <a:rPr lang="en-VN" sz="1400" i="1">
                                                      <a:solidFill>
                                                        <a:srgbClr val="00B050"/>
                                                      </a:solidFill>
                                                      <a:latin typeface="Cambria Math" panose="02040503050406030204" pitchFamily="18" charset="0"/>
                                                    </a:rPr>
                                                  </m:ctrlPr>
                                                </m:sSubPr>
                                                <m:e>
                                                  <m:r>
                                                    <a:rPr lang="en-VN" sz="1400" i="1">
                                                      <a:solidFill>
                                                        <a:srgbClr val="00B050"/>
                                                      </a:solidFill>
                                                      <a:latin typeface="Cambria Math" panose="02040503050406030204" pitchFamily="18" charset="0"/>
                                                    </a:rPr>
                                                    <m:t>𝑞</m:t>
                                                  </m:r>
                                                </m:e>
                                                <m:sub>
                                                  <m:r>
                                                    <a:rPr lang="en-VN" sz="1400" i="1">
                                                      <a:solidFill>
                                                        <a:srgbClr val="00B050"/>
                                                      </a:solidFill>
                                                      <a:latin typeface="Cambria Math" panose="02040503050406030204" pitchFamily="18" charset="0"/>
                                                    </a:rPr>
                                                    <m:t>𝑛𝑘</m:t>
                                                  </m:r>
                                                </m:sub>
                                              </m:sSub>
                                            </m:num>
                                            <m:den>
                                              <m:r>
                                                <a:rPr lang="en-VN" sz="1400" i="1">
                                                  <a:solidFill>
                                                    <a:srgbClr val="00B050"/>
                                                  </a:solidFill>
                                                  <a:latin typeface="Cambria Math" panose="02040503050406030204" pitchFamily="18" charset="0"/>
                                                </a:rPr>
                                                <m:t>𝑃</m:t>
                                              </m:r>
                                              <m:d>
                                                <m:dPr>
                                                  <m:ctrlPr>
                                                    <a:rPr lang="en-VN" sz="1400" i="1">
                                                      <a:solidFill>
                                                        <a:srgbClr val="00B050"/>
                                                      </a:solidFill>
                                                      <a:latin typeface="Cambria Math" panose="02040503050406030204" pitchFamily="18" charset="0"/>
                                                    </a:rPr>
                                                  </m:ctrlPr>
                                                </m:dPr>
                                                <m:e>
                                                  <m:sSub>
                                                    <m:sSubPr>
                                                      <m:ctrlPr>
                                                        <a:rPr lang="en-VN" sz="1400" i="1">
                                                          <a:solidFill>
                                                            <a:srgbClr val="00B050"/>
                                                          </a:solidFill>
                                                          <a:latin typeface="Cambria Math" panose="02040503050406030204" pitchFamily="18" charset="0"/>
                                                        </a:rPr>
                                                      </m:ctrlPr>
                                                    </m:sSubPr>
                                                    <m:e>
                                                      <m:r>
                                                        <a:rPr lang="en-VN" sz="1400" i="1">
                                                          <a:solidFill>
                                                            <a:srgbClr val="00B050"/>
                                                          </a:solidFill>
                                                          <a:latin typeface="Cambria Math" panose="02040503050406030204" pitchFamily="18" charset="0"/>
                                                        </a:rPr>
                                                        <m:t>𝑧</m:t>
                                                      </m:r>
                                                    </m:e>
                                                    <m:sub>
                                                      <m:r>
                                                        <a:rPr lang="en-VN" sz="1400" i="1">
                                                          <a:solidFill>
                                                            <a:srgbClr val="00B050"/>
                                                          </a:solidFill>
                                                          <a:latin typeface="Cambria Math" panose="02040503050406030204" pitchFamily="18" charset="0"/>
                                                        </a:rPr>
                                                        <m:t>𝑛</m:t>
                                                      </m:r>
                                                    </m:sub>
                                                  </m:sSub>
                                                  <m:r>
                                                    <a:rPr lang="en-VN" sz="1400" i="0">
                                                      <a:solidFill>
                                                        <a:srgbClr val="00B050"/>
                                                      </a:solidFill>
                                                      <a:latin typeface="Cambria Math" panose="02040503050406030204" pitchFamily="18" charset="0"/>
                                                    </a:rPr>
                                                    <m:t>=</m:t>
                                                  </m:r>
                                                  <m:r>
                                                    <a:rPr lang="en-VN" sz="1400" i="1">
                                                      <a:solidFill>
                                                        <a:srgbClr val="00B050"/>
                                                      </a:solidFill>
                                                      <a:latin typeface="Cambria Math" panose="02040503050406030204" pitchFamily="18" charset="0"/>
                                                    </a:rPr>
                                                    <m:t>𝑘</m:t>
                                                  </m:r>
                                                  <m:r>
                                                    <a:rPr lang="en-VN" sz="1400" i="0">
                                                      <a:solidFill>
                                                        <a:srgbClr val="00B050"/>
                                                      </a:solidFill>
                                                      <a:latin typeface="Cambria Math" panose="02040503050406030204" pitchFamily="18" charset="0"/>
                                                    </a:rPr>
                                                    <m:t>∣</m:t>
                                                  </m:r>
                                                  <m:sSub>
                                                    <m:sSubPr>
                                                      <m:ctrlPr>
                                                        <a:rPr lang="en-VN" sz="1400" i="1">
                                                          <a:solidFill>
                                                            <a:srgbClr val="00B050"/>
                                                          </a:solidFill>
                                                          <a:latin typeface="Cambria Math" panose="02040503050406030204" pitchFamily="18" charset="0"/>
                                                        </a:rPr>
                                                      </m:ctrlPr>
                                                    </m:sSubPr>
                                                    <m:e>
                                                      <m:r>
                                                        <a:rPr lang="en-VN" sz="1400" i="1">
                                                          <a:solidFill>
                                                            <a:srgbClr val="00B050"/>
                                                          </a:solidFill>
                                                          <a:latin typeface="Cambria Math" panose="02040503050406030204" pitchFamily="18" charset="0"/>
                                                        </a:rPr>
                                                        <m:t>𝑥</m:t>
                                                      </m:r>
                                                    </m:e>
                                                    <m:sub>
                                                      <m:r>
                                                        <a:rPr lang="en-VN" sz="1400" i="1">
                                                          <a:solidFill>
                                                            <a:srgbClr val="00B050"/>
                                                          </a:solidFill>
                                                          <a:latin typeface="Cambria Math" panose="02040503050406030204" pitchFamily="18" charset="0"/>
                                                        </a:rPr>
                                                        <m:t>𝑛</m:t>
                                                      </m:r>
                                                    </m:sub>
                                                  </m:sSub>
                                                  <m:r>
                                                    <a:rPr lang="en-VN" sz="1400" i="0">
                                                      <a:solidFill>
                                                        <a:srgbClr val="00B050"/>
                                                      </a:solidFill>
                                                      <a:latin typeface="Cambria Math" panose="02040503050406030204" pitchFamily="18" charset="0"/>
                                                    </a:rPr>
                                                    <m:t>,</m:t>
                                                  </m:r>
                                                  <m:r>
                                                    <a:rPr lang="en-VN" sz="1400" i="1">
                                                      <a:solidFill>
                                                        <a:srgbClr val="00B050"/>
                                                      </a:solidFill>
                                                      <a:latin typeface="Cambria Math" panose="02040503050406030204" pitchFamily="18" charset="0"/>
                                                    </a:rPr>
                                                    <m:t>𝜃</m:t>
                                                  </m:r>
                                                </m:e>
                                              </m:d>
                                            </m:den>
                                          </m:f>
                                        </m:e>
                                      </m:d>
                                    </m:e>
                                  </m:func>
                                </m:e>
                              </m:groupChr>
                            </m:e>
                            <m:lim/>
                          </m:limLow>
                        </m:e>
                      </m:borderBox>
                    </m:oMath>
                  </m:oMathPara>
                </a14:m>
                <a:endParaRPr lang="en-VN" sz="1400" dirty="0"/>
              </a:p>
            </p:txBody>
          </p:sp>
        </mc:Choice>
        <mc:Fallback xmlns="">
          <p:sp>
            <p:nvSpPr>
              <p:cNvPr id="11" name="TextBox 10">
                <a:extLst>
                  <a:ext uri="{FF2B5EF4-FFF2-40B4-BE49-F238E27FC236}">
                    <a16:creationId xmlns:a16="http://schemas.microsoft.com/office/drawing/2014/main" id="{171FCA69-526D-B23D-FE13-82E609A1CD4A}"/>
                  </a:ext>
                </a:extLst>
              </p:cNvPr>
              <p:cNvSpPr txBox="1">
                <a:spLocks noRot="1" noChangeAspect="1" noMove="1" noResize="1" noEditPoints="1" noAdjustHandles="1" noChangeArrowheads="1" noChangeShapeType="1" noTextEdit="1"/>
              </p:cNvSpPr>
              <p:nvPr/>
            </p:nvSpPr>
            <p:spPr>
              <a:xfrm>
                <a:off x="430967" y="3179064"/>
                <a:ext cx="6901390" cy="985334"/>
              </a:xfrm>
              <a:prstGeom prst="rect">
                <a:avLst/>
              </a:prstGeom>
              <a:blipFill>
                <a:blip r:embed="rId4"/>
                <a:stretch>
                  <a:fillRect t="-61538" b="-83333"/>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54788EEA-B24C-FEC0-D0FA-17BDFFD737FE}"/>
                  </a:ext>
                </a:extLst>
              </p:cNvPr>
              <p:cNvSpPr txBox="1"/>
              <p:nvPr/>
            </p:nvSpPr>
            <p:spPr>
              <a:xfrm>
                <a:off x="406399" y="2725096"/>
                <a:ext cx="4518023" cy="335476"/>
              </a:xfrm>
              <a:prstGeom prst="rect">
                <a:avLst/>
              </a:prstGeom>
              <a:noFill/>
            </p:spPr>
            <p:txBody>
              <a:bodyPr wrap="square">
                <a:spAutoFit/>
              </a:bodyPr>
              <a:lstStyle/>
              <a:p>
                <a:pPr/>
                <a14:m>
                  <m:oMathPara xmlns:m="http://schemas.openxmlformats.org/officeDocument/2006/math">
                    <m:oMath>
                      <m:func>
                        <m:funcPr>
                          <m:ctrlPr>
                            <a:rPr lang="en-VN" sz="1400" i="0">
                              <a:solidFill>
                                <a:schemeClr val="tx2">
                                  <a:lumMod val="60000"/>
                                  <a:lumOff val="40000"/>
                                </a:schemeClr>
                              </a:solidFill>
                              <a:latin typeface="Cambria Math" panose="02040503050406030204" pitchFamily="18" charset="0"/>
                            </a:rPr>
                          </m:ctrlPr>
                        </m:funcPr>
                        <m:fName>
                          <m:r>
                            <m:rPr>
                              <m:sty m:val="p"/>
                            </m:rPr>
                            <a:rPr lang="en-VN" sz="1400" i="0">
                              <a:solidFill>
                                <a:schemeClr val="tx2">
                                  <a:lumMod val="60000"/>
                                  <a:lumOff val="40000"/>
                                </a:schemeClr>
                              </a:solidFill>
                              <a:latin typeface="Cambria Math" panose="02040503050406030204" pitchFamily="18" charset="0"/>
                            </a:rPr>
                            <m:t>ln</m:t>
                          </m:r>
                        </m:fName>
                        <m:e>
                          <m:r>
                            <a:rPr lang="en-VN" sz="1400" i="1">
                              <a:solidFill>
                                <a:schemeClr val="tx2">
                                  <a:lumMod val="60000"/>
                                  <a:lumOff val="40000"/>
                                </a:schemeClr>
                              </a:solidFill>
                              <a:latin typeface="Cambria Math" panose="02040503050406030204" pitchFamily="18" charset="0"/>
                            </a:rPr>
                            <m:t>𝐿</m:t>
                          </m:r>
                        </m:e>
                      </m:func>
                      <m:d>
                        <m:dPr>
                          <m:ctrlPr>
                            <a:rPr lang="en-VN" sz="1400" i="1">
                              <a:solidFill>
                                <a:schemeClr val="tx2">
                                  <a:lumMod val="60000"/>
                                  <a:lumOff val="40000"/>
                                </a:schemeClr>
                              </a:solidFill>
                              <a:latin typeface="Cambria Math" panose="02040503050406030204" pitchFamily="18" charset="0"/>
                            </a:rPr>
                          </m:ctrlPr>
                        </m:dPr>
                        <m:e>
                          <m:r>
                            <a:rPr lang="en-VN" sz="1400" i="1">
                              <a:solidFill>
                                <a:schemeClr val="tx2">
                                  <a:lumMod val="60000"/>
                                  <a:lumOff val="40000"/>
                                </a:schemeClr>
                              </a:solidFill>
                              <a:latin typeface="Cambria Math" panose="02040503050406030204" pitchFamily="18" charset="0"/>
                            </a:rPr>
                            <m:t>𝜃</m:t>
                          </m:r>
                          <m:r>
                            <a:rPr lang="en-VN" sz="1400" i="0">
                              <a:solidFill>
                                <a:schemeClr val="tx2">
                                  <a:lumMod val="60000"/>
                                  <a:lumOff val="40000"/>
                                </a:schemeClr>
                              </a:solidFill>
                              <a:latin typeface="Cambria Math" panose="02040503050406030204" pitchFamily="18" charset="0"/>
                            </a:rPr>
                            <m:t>∣</m:t>
                          </m:r>
                          <m:r>
                            <a:rPr lang="en-VN" sz="1400" i="1">
                              <a:solidFill>
                                <a:schemeClr val="tx2">
                                  <a:lumMod val="60000"/>
                                  <a:lumOff val="40000"/>
                                </a:schemeClr>
                              </a:solidFill>
                              <a:latin typeface="Cambria Math" panose="02040503050406030204" pitchFamily="18" charset="0"/>
                            </a:rPr>
                            <m:t>𝑥</m:t>
                          </m:r>
                        </m:e>
                      </m:d>
                      <m:r>
                        <a:rPr lang="en-VN" sz="1400" i="0">
                          <a:latin typeface="Cambria Math" panose="02040503050406030204" pitchFamily="18" charset="0"/>
                        </a:rPr>
                        <m:t>=</m:t>
                      </m:r>
                      <m:r>
                        <a:rPr lang="en-VN" sz="1400" i="0" smtClean="0">
                          <a:solidFill>
                            <a:schemeClr val="accent2">
                              <a:lumMod val="60000"/>
                              <a:lumOff val="40000"/>
                            </a:schemeClr>
                          </a:solidFill>
                          <a:latin typeface="Cambria Math" panose="02040503050406030204" pitchFamily="18" charset="0"/>
                        </a:rPr>
                        <m:t>ℒ</m:t>
                      </m:r>
                      <m:d>
                        <m:dPr>
                          <m:ctrlPr>
                            <a:rPr lang="en-VN" sz="1400" i="1">
                              <a:solidFill>
                                <a:schemeClr val="accent2">
                                  <a:lumMod val="60000"/>
                                  <a:lumOff val="40000"/>
                                </a:schemeClr>
                              </a:solidFill>
                              <a:latin typeface="Cambria Math" panose="02040503050406030204" pitchFamily="18" charset="0"/>
                            </a:rPr>
                          </m:ctrlPr>
                        </m:dPr>
                        <m:e>
                          <m:r>
                            <a:rPr lang="en-VN" sz="1400" i="1">
                              <a:solidFill>
                                <a:schemeClr val="accent2">
                                  <a:lumMod val="60000"/>
                                  <a:lumOff val="40000"/>
                                </a:schemeClr>
                              </a:solidFill>
                              <a:latin typeface="Cambria Math" panose="02040503050406030204" pitchFamily="18" charset="0"/>
                            </a:rPr>
                            <m:t>𝑞</m:t>
                          </m:r>
                          <m:r>
                            <a:rPr lang="en-VN" sz="1400" i="0">
                              <a:solidFill>
                                <a:schemeClr val="accent2">
                                  <a:lumMod val="60000"/>
                                  <a:lumOff val="40000"/>
                                </a:schemeClr>
                              </a:solidFill>
                              <a:latin typeface="Cambria Math" panose="02040503050406030204" pitchFamily="18" charset="0"/>
                            </a:rPr>
                            <m:t>,</m:t>
                          </m:r>
                          <m:r>
                            <a:rPr lang="en-VN" sz="1400" i="1">
                              <a:solidFill>
                                <a:schemeClr val="accent2">
                                  <a:lumMod val="60000"/>
                                  <a:lumOff val="40000"/>
                                </a:schemeClr>
                              </a:solidFill>
                              <a:latin typeface="Cambria Math" panose="02040503050406030204" pitchFamily="18" charset="0"/>
                            </a:rPr>
                            <m:t>𝜃</m:t>
                          </m:r>
                        </m:e>
                      </m:d>
                      <m:r>
                        <a:rPr lang="en-VN" sz="1400" i="0">
                          <a:latin typeface="Cambria Math" panose="02040503050406030204" pitchFamily="18" charset="0"/>
                        </a:rPr>
                        <m:t>+</m:t>
                      </m:r>
                      <m:sSub>
                        <m:sSubPr>
                          <m:ctrlPr>
                            <a:rPr lang="en-VN" sz="1400" i="1">
                              <a:solidFill>
                                <a:srgbClr val="00B050"/>
                              </a:solidFill>
                              <a:latin typeface="Cambria Math" panose="02040503050406030204" pitchFamily="18" charset="0"/>
                            </a:rPr>
                          </m:ctrlPr>
                        </m:sSubPr>
                        <m:e>
                          <m:r>
                            <a:rPr lang="en-VN" sz="1400" i="1">
                              <a:solidFill>
                                <a:srgbClr val="00B050"/>
                              </a:solidFill>
                              <a:latin typeface="Cambria Math" panose="02040503050406030204" pitchFamily="18" charset="0"/>
                            </a:rPr>
                            <m:t>𝐷</m:t>
                          </m:r>
                        </m:e>
                        <m:sub>
                          <m:r>
                            <a:rPr lang="en-VN" sz="1400" i="1">
                              <a:solidFill>
                                <a:srgbClr val="00B050"/>
                              </a:solidFill>
                              <a:latin typeface="Cambria Math" panose="02040503050406030204" pitchFamily="18" charset="0"/>
                            </a:rPr>
                            <m:t>𝐾𝐿</m:t>
                          </m:r>
                        </m:sub>
                      </m:sSub>
                      <m:d>
                        <m:dPr>
                          <m:ctrlPr>
                            <a:rPr lang="en-VN" sz="1400" i="1">
                              <a:solidFill>
                                <a:srgbClr val="00B050"/>
                              </a:solidFill>
                              <a:latin typeface="Cambria Math" panose="02040503050406030204" pitchFamily="18" charset="0"/>
                            </a:rPr>
                          </m:ctrlPr>
                        </m:dPr>
                        <m:e>
                          <m:r>
                            <a:rPr lang="en-VN" sz="1400" i="1">
                              <a:solidFill>
                                <a:srgbClr val="00B050"/>
                              </a:solidFill>
                              <a:latin typeface="Cambria Math" panose="02040503050406030204" pitchFamily="18" charset="0"/>
                            </a:rPr>
                            <m:t>𝑞</m:t>
                          </m:r>
                          <m:d>
                            <m:dPr>
                              <m:ctrlPr>
                                <a:rPr lang="en-VN" sz="1400" i="1">
                                  <a:solidFill>
                                    <a:srgbClr val="00B050"/>
                                  </a:solidFill>
                                  <a:latin typeface="Cambria Math" panose="02040503050406030204" pitchFamily="18" charset="0"/>
                                </a:rPr>
                              </m:ctrlPr>
                            </m:dPr>
                            <m:e>
                              <m:r>
                                <a:rPr lang="en-VN" sz="1400" i="1">
                                  <a:solidFill>
                                    <a:srgbClr val="00B050"/>
                                  </a:solidFill>
                                  <a:latin typeface="Cambria Math" panose="02040503050406030204" pitchFamily="18" charset="0"/>
                                </a:rPr>
                                <m:t>𝑍</m:t>
                              </m:r>
                              <m:r>
                                <a:rPr lang="en-VN" sz="1400" i="0">
                                  <a:solidFill>
                                    <a:srgbClr val="00B050"/>
                                  </a:solidFill>
                                  <a:latin typeface="Cambria Math" panose="02040503050406030204" pitchFamily="18" charset="0"/>
                                </a:rPr>
                                <m:t>∣</m:t>
                              </m:r>
                              <m:r>
                                <a:rPr lang="en-VN" sz="1400" i="1">
                                  <a:solidFill>
                                    <a:srgbClr val="00B050"/>
                                  </a:solidFill>
                                  <a:latin typeface="Cambria Math" panose="02040503050406030204" pitchFamily="18" charset="0"/>
                                </a:rPr>
                                <m:t>𝑋</m:t>
                              </m:r>
                            </m:e>
                          </m:d>
                          <m:r>
                            <a:rPr lang="en-VN" sz="1400" i="0">
                              <a:solidFill>
                                <a:srgbClr val="00B050"/>
                              </a:solidFill>
                              <a:latin typeface="Cambria Math" panose="02040503050406030204" pitchFamily="18" charset="0"/>
                            </a:rPr>
                            <m:t>∥</m:t>
                          </m:r>
                          <m:r>
                            <a:rPr lang="en-VN" sz="1400" i="1">
                              <a:solidFill>
                                <a:srgbClr val="00B050"/>
                              </a:solidFill>
                              <a:latin typeface="Cambria Math" panose="02040503050406030204" pitchFamily="18" charset="0"/>
                            </a:rPr>
                            <m:t>𝑃</m:t>
                          </m:r>
                          <m:d>
                            <m:dPr>
                              <m:ctrlPr>
                                <a:rPr lang="en-VN" sz="1400" i="1">
                                  <a:solidFill>
                                    <a:srgbClr val="00B050"/>
                                  </a:solidFill>
                                  <a:latin typeface="Cambria Math" panose="02040503050406030204" pitchFamily="18" charset="0"/>
                                </a:rPr>
                              </m:ctrlPr>
                            </m:dPr>
                            <m:e>
                              <m:r>
                                <a:rPr lang="en-VN" sz="1400" i="1">
                                  <a:solidFill>
                                    <a:srgbClr val="00B050"/>
                                  </a:solidFill>
                                  <a:latin typeface="Cambria Math" panose="02040503050406030204" pitchFamily="18" charset="0"/>
                                </a:rPr>
                                <m:t>𝑍</m:t>
                              </m:r>
                              <m:r>
                                <a:rPr lang="en-VN" sz="1400" i="0">
                                  <a:solidFill>
                                    <a:srgbClr val="00B050"/>
                                  </a:solidFill>
                                  <a:latin typeface="Cambria Math" panose="02040503050406030204" pitchFamily="18" charset="0"/>
                                </a:rPr>
                                <m:t>∣</m:t>
                              </m:r>
                              <m:r>
                                <a:rPr lang="en-VN" sz="1400" i="1">
                                  <a:solidFill>
                                    <a:srgbClr val="00B050"/>
                                  </a:solidFill>
                                  <a:latin typeface="Cambria Math" panose="02040503050406030204" pitchFamily="18" charset="0"/>
                                </a:rPr>
                                <m:t>𝑋</m:t>
                              </m:r>
                              <m:r>
                                <a:rPr lang="en-VN" sz="1400" i="0">
                                  <a:solidFill>
                                    <a:srgbClr val="00B050"/>
                                  </a:solidFill>
                                  <a:latin typeface="Cambria Math" panose="02040503050406030204" pitchFamily="18" charset="0"/>
                                </a:rPr>
                                <m:t>,</m:t>
                              </m:r>
                              <m:r>
                                <a:rPr lang="en-VN" sz="1400" i="1">
                                  <a:solidFill>
                                    <a:srgbClr val="00B050"/>
                                  </a:solidFill>
                                  <a:latin typeface="Cambria Math" panose="02040503050406030204" pitchFamily="18" charset="0"/>
                                </a:rPr>
                                <m:t>𝜃</m:t>
                              </m:r>
                            </m:e>
                          </m:d>
                        </m:e>
                      </m:d>
                    </m:oMath>
                  </m:oMathPara>
                </a14:m>
                <a:endParaRPr lang="en-VN" sz="1400" dirty="0">
                  <a:solidFill>
                    <a:srgbClr val="00B050"/>
                  </a:solidFill>
                </a:endParaRPr>
              </a:p>
            </p:txBody>
          </p:sp>
        </mc:Choice>
        <mc:Fallback xmlns="">
          <p:sp>
            <p:nvSpPr>
              <p:cNvPr id="23" name="TextBox 22">
                <a:extLst>
                  <a:ext uri="{FF2B5EF4-FFF2-40B4-BE49-F238E27FC236}">
                    <a16:creationId xmlns:a16="http://schemas.microsoft.com/office/drawing/2014/main" id="{54788EEA-B24C-FEC0-D0FA-17BDFFD737FE}"/>
                  </a:ext>
                </a:extLst>
              </p:cNvPr>
              <p:cNvSpPr txBox="1">
                <a:spLocks noRot="1" noChangeAspect="1" noMove="1" noResize="1" noEditPoints="1" noAdjustHandles="1" noChangeArrowheads="1" noChangeShapeType="1" noTextEdit="1"/>
              </p:cNvSpPr>
              <p:nvPr/>
            </p:nvSpPr>
            <p:spPr>
              <a:xfrm>
                <a:off x="406399" y="2725096"/>
                <a:ext cx="4518023" cy="335476"/>
              </a:xfrm>
              <a:prstGeom prst="rect">
                <a:avLst/>
              </a:prstGeom>
              <a:blipFill>
                <a:blip r:embed="rId5"/>
                <a:stretch>
                  <a:fillRect b="-3704"/>
                </a:stretch>
              </a:blipFill>
            </p:spPr>
            <p:txBody>
              <a:bodyPr/>
              <a:lstStyle/>
              <a:p>
                <a:r>
                  <a:rPr lang="en-VN">
                    <a:noFill/>
                  </a:rPr>
                  <a:t> </a:t>
                </a:r>
              </a:p>
            </p:txBody>
          </p:sp>
        </mc:Fallback>
      </mc:AlternateContent>
    </p:spTree>
    <p:extLst>
      <p:ext uri="{BB962C8B-B14F-4D97-AF65-F5344CB8AC3E}">
        <p14:creationId xmlns:p14="http://schemas.microsoft.com/office/powerpoint/2010/main" val="110545193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A55EF-E117-C896-72AD-216D9EB569F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A09F76D-C086-5B5C-EA47-5088780846B3}"/>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p:sp>
        <p:nvSpPr>
          <p:cNvPr id="4" name="TextBox 3">
            <a:extLst>
              <a:ext uri="{FF2B5EF4-FFF2-40B4-BE49-F238E27FC236}">
                <a16:creationId xmlns:a16="http://schemas.microsoft.com/office/drawing/2014/main" id="{7A20DE5B-5622-6B8E-2959-B4A6F23DF1AF}"/>
              </a:ext>
            </a:extLst>
          </p:cNvPr>
          <p:cNvSpPr txBox="1"/>
          <p:nvPr/>
        </p:nvSpPr>
        <p:spPr>
          <a:xfrm>
            <a:off x="364066" y="1267772"/>
            <a:ext cx="10961159" cy="600164"/>
          </a:xfrm>
          <a:prstGeom prst="rect">
            <a:avLst/>
          </a:prstGeom>
          <a:noFill/>
        </p:spPr>
        <p:txBody>
          <a:bodyPr wrap="square">
            <a:spAutoFit/>
          </a:bodyPr>
          <a:lstStyle/>
          <a:p>
            <a:pPr>
              <a:spcAft>
                <a:spcPts val="600"/>
              </a:spcAft>
            </a:pPr>
            <a:r>
              <a:rPr lang="vi-VN" sz="1400" b="1" dirty="0">
                <a:solidFill>
                  <a:srgbClr val="1B8A7A"/>
                </a:solidFill>
                <a:latin typeface="Arial"/>
              </a:rPr>
              <a:t>2.2. Expectation-Maximization (EM) - </a:t>
            </a:r>
            <a:r>
              <a:rPr lang="vi-VN" sz="1000" b="1" dirty="0">
                <a:solidFill>
                  <a:schemeClr val="accent5">
                    <a:lumMod val="60000"/>
                    <a:lumOff val="40000"/>
                  </a:schemeClr>
                </a:solidFill>
                <a:latin typeface="Arial"/>
              </a:rPr>
              <a:t>Phương pháp cực đại hoá kỳ vọng</a:t>
            </a:r>
          </a:p>
          <a:p>
            <a:pPr>
              <a:spcAft>
                <a:spcPts val="600"/>
              </a:spcAft>
            </a:pPr>
            <a:r>
              <a:rPr lang="vi-VN" sz="1400" dirty="0">
                <a:solidFill>
                  <a:srgbClr val="444B52"/>
                </a:solidFill>
                <a:latin typeface="Arial"/>
              </a:rPr>
              <a:t>Vì sao việc tính xác suất hậu nghiệm và cập nhật lại 3 tham số lại giúp tăng log-likelihood qua từng vòng lặp?</a:t>
            </a:r>
          </a:p>
        </p:txBody>
      </p:sp>
      <p:pic>
        <p:nvPicPr>
          <p:cNvPr id="27" name="Picture 26">
            <a:extLst>
              <a:ext uri="{FF2B5EF4-FFF2-40B4-BE49-F238E27FC236}">
                <a16:creationId xmlns:a16="http://schemas.microsoft.com/office/drawing/2014/main" id="{B2E0D67B-9748-C6C3-8125-94495D293987}"/>
              </a:ext>
            </a:extLst>
          </p:cNvPr>
          <p:cNvPicPr>
            <a:picLocks noChangeAspect="1"/>
          </p:cNvPicPr>
          <p:nvPr/>
        </p:nvPicPr>
        <p:blipFill>
          <a:blip r:embed="rId3"/>
          <a:stretch>
            <a:fillRect/>
          </a:stretch>
        </p:blipFill>
        <p:spPr>
          <a:xfrm>
            <a:off x="1346047" y="1867936"/>
            <a:ext cx="9499600" cy="4744444"/>
          </a:xfrm>
          <a:prstGeom prst="rect">
            <a:avLst/>
          </a:prstGeom>
        </p:spPr>
      </p:pic>
    </p:spTree>
    <p:extLst>
      <p:ext uri="{BB962C8B-B14F-4D97-AF65-F5344CB8AC3E}">
        <p14:creationId xmlns:p14="http://schemas.microsoft.com/office/powerpoint/2010/main" val="23982442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9793B-8759-77D2-9313-B222115FE9BC}"/>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8A14FB3-116D-B615-AE57-EB720EC88C63}"/>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p:sp>
        <p:nvSpPr>
          <p:cNvPr id="4" name="TextBox 3">
            <a:extLst>
              <a:ext uri="{FF2B5EF4-FFF2-40B4-BE49-F238E27FC236}">
                <a16:creationId xmlns:a16="http://schemas.microsoft.com/office/drawing/2014/main" id="{2D6EAD69-B6B2-D67E-9743-379D5E5386DA}"/>
              </a:ext>
            </a:extLst>
          </p:cNvPr>
          <p:cNvSpPr txBox="1"/>
          <p:nvPr/>
        </p:nvSpPr>
        <p:spPr>
          <a:xfrm>
            <a:off x="364066" y="1267772"/>
            <a:ext cx="10961159" cy="600164"/>
          </a:xfrm>
          <a:prstGeom prst="rect">
            <a:avLst/>
          </a:prstGeom>
          <a:noFill/>
        </p:spPr>
        <p:txBody>
          <a:bodyPr wrap="square">
            <a:spAutoFit/>
          </a:bodyPr>
          <a:lstStyle/>
          <a:p>
            <a:pPr>
              <a:spcAft>
                <a:spcPts val="600"/>
              </a:spcAft>
            </a:pPr>
            <a:r>
              <a:rPr lang="vi-VN" sz="1400" b="1" dirty="0">
                <a:solidFill>
                  <a:srgbClr val="1B8A7A"/>
                </a:solidFill>
                <a:latin typeface="Arial"/>
              </a:rPr>
              <a:t>2.2. Expectation-Maximization (EM) - </a:t>
            </a:r>
            <a:r>
              <a:rPr lang="vi-VN" sz="1000" b="1" dirty="0">
                <a:solidFill>
                  <a:schemeClr val="accent5">
                    <a:lumMod val="60000"/>
                    <a:lumOff val="40000"/>
                  </a:schemeClr>
                </a:solidFill>
                <a:latin typeface="Arial"/>
              </a:rPr>
              <a:t>Phương pháp cực đại hoá kỳ vọng</a:t>
            </a:r>
          </a:p>
          <a:p>
            <a:pPr>
              <a:spcAft>
                <a:spcPts val="600"/>
              </a:spcAft>
            </a:pPr>
            <a:r>
              <a:rPr lang="vi-VN" sz="1400" dirty="0">
                <a:solidFill>
                  <a:srgbClr val="444B52"/>
                </a:solidFill>
                <a:latin typeface="Arial"/>
              </a:rPr>
              <a:t>Cách chọn k cụm sao cho tốt?</a:t>
            </a:r>
          </a:p>
        </p:txBody>
      </p:sp>
    </p:spTree>
    <p:extLst>
      <p:ext uri="{BB962C8B-B14F-4D97-AF65-F5344CB8AC3E}">
        <p14:creationId xmlns:p14="http://schemas.microsoft.com/office/powerpoint/2010/main" val="25223241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C4FDF-DCEE-ABAA-9CC8-177BDB50634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46FE89F5-01DB-5F93-3F06-C56822212227}"/>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p:sp>
        <p:nvSpPr>
          <p:cNvPr id="4" name="TextBox 3">
            <a:extLst>
              <a:ext uri="{FF2B5EF4-FFF2-40B4-BE49-F238E27FC236}">
                <a16:creationId xmlns:a16="http://schemas.microsoft.com/office/drawing/2014/main" id="{4392DC23-8084-A0E8-399D-F362C4825BF3}"/>
              </a:ext>
            </a:extLst>
          </p:cNvPr>
          <p:cNvSpPr txBox="1"/>
          <p:nvPr/>
        </p:nvSpPr>
        <p:spPr>
          <a:xfrm>
            <a:off x="364066" y="1267772"/>
            <a:ext cx="10961159" cy="892552"/>
          </a:xfrm>
          <a:prstGeom prst="rect">
            <a:avLst/>
          </a:prstGeom>
          <a:noFill/>
        </p:spPr>
        <p:txBody>
          <a:bodyPr wrap="square">
            <a:spAutoFit/>
          </a:bodyPr>
          <a:lstStyle/>
          <a:p>
            <a:pPr>
              <a:spcAft>
                <a:spcPts val="600"/>
              </a:spcAft>
            </a:pPr>
            <a:r>
              <a:rPr lang="vi-VN" sz="1400" b="1" dirty="0">
                <a:solidFill>
                  <a:srgbClr val="1B8A7A"/>
                </a:solidFill>
                <a:latin typeface="Arial"/>
              </a:rPr>
              <a:t>2.2. Expectation-Maximization (EM) - </a:t>
            </a:r>
            <a:r>
              <a:rPr lang="vi-VN" sz="1000" b="1" dirty="0">
                <a:solidFill>
                  <a:schemeClr val="accent5">
                    <a:lumMod val="60000"/>
                    <a:lumOff val="40000"/>
                  </a:schemeClr>
                </a:solidFill>
                <a:latin typeface="Arial"/>
              </a:rPr>
              <a:t>Phương pháp cực đại hoá kỳ vọng</a:t>
            </a:r>
          </a:p>
          <a:p>
            <a:pPr>
              <a:spcAft>
                <a:spcPts val="600"/>
              </a:spcAft>
            </a:pPr>
            <a:r>
              <a:rPr lang="vi-VN" sz="1400" dirty="0">
                <a:solidFill>
                  <a:srgbClr val="444B52"/>
                </a:solidFill>
                <a:latin typeface="Arial"/>
              </a:rPr>
              <a:t>Cách chọn k cụm sao cho tốt?</a:t>
            </a:r>
          </a:p>
          <a:p>
            <a:pPr>
              <a:spcAft>
                <a:spcPts val="600"/>
              </a:spcAft>
            </a:pPr>
            <a:r>
              <a:rPr lang="vi-VN" sz="1400" dirty="0">
                <a:solidFill>
                  <a:srgbClr val="444B52"/>
                </a:solidFill>
                <a:latin typeface="Arial"/>
              </a:rPr>
              <a:t>=&gt; Thử train GMM với nhiều k khác nhau, rồi chọn theo tiêu chí như BIC/AIC</a:t>
            </a:r>
          </a:p>
        </p:txBody>
      </p:sp>
    </p:spTree>
    <p:extLst>
      <p:ext uri="{BB962C8B-B14F-4D97-AF65-F5344CB8AC3E}">
        <p14:creationId xmlns:p14="http://schemas.microsoft.com/office/powerpoint/2010/main" val="249482739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A7B44-A0D3-8C74-6D45-A5D6A141D5A4}"/>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860AFA5E-8BC0-9C19-FD21-5EE193747BA6}"/>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p:sp>
        <p:nvSpPr>
          <p:cNvPr id="4" name="TextBox 3">
            <a:extLst>
              <a:ext uri="{FF2B5EF4-FFF2-40B4-BE49-F238E27FC236}">
                <a16:creationId xmlns:a16="http://schemas.microsoft.com/office/drawing/2014/main" id="{93928A9A-E096-0DD5-2B0D-084F1709AACD}"/>
              </a:ext>
            </a:extLst>
          </p:cNvPr>
          <p:cNvSpPr txBox="1"/>
          <p:nvPr/>
        </p:nvSpPr>
        <p:spPr>
          <a:xfrm>
            <a:off x="364066" y="1267772"/>
            <a:ext cx="10961159" cy="892552"/>
          </a:xfrm>
          <a:prstGeom prst="rect">
            <a:avLst/>
          </a:prstGeom>
          <a:noFill/>
        </p:spPr>
        <p:txBody>
          <a:bodyPr wrap="square">
            <a:spAutoFit/>
          </a:bodyPr>
          <a:lstStyle/>
          <a:p>
            <a:pPr>
              <a:spcAft>
                <a:spcPts val="600"/>
              </a:spcAft>
            </a:pPr>
            <a:r>
              <a:rPr lang="vi-VN" sz="1400" b="1" dirty="0">
                <a:solidFill>
                  <a:srgbClr val="1B8A7A"/>
                </a:solidFill>
                <a:latin typeface="Arial"/>
              </a:rPr>
              <a:t>2.2. Expectation-Maximization (EM) - </a:t>
            </a:r>
            <a:r>
              <a:rPr lang="vi-VN" sz="1000" b="1" dirty="0">
                <a:solidFill>
                  <a:schemeClr val="accent5">
                    <a:lumMod val="60000"/>
                    <a:lumOff val="40000"/>
                  </a:schemeClr>
                </a:solidFill>
                <a:latin typeface="Arial"/>
              </a:rPr>
              <a:t>Phương pháp cực đại hoá kỳ vọng</a:t>
            </a:r>
          </a:p>
          <a:p>
            <a:pPr>
              <a:spcAft>
                <a:spcPts val="600"/>
              </a:spcAft>
            </a:pPr>
            <a:r>
              <a:rPr lang="vi-VN" sz="1400" dirty="0">
                <a:solidFill>
                  <a:srgbClr val="444B52"/>
                </a:solidFill>
                <a:latin typeface="Arial"/>
              </a:rPr>
              <a:t>Cách chọn k cụm sao cho tốt?</a:t>
            </a:r>
          </a:p>
          <a:p>
            <a:pPr>
              <a:spcAft>
                <a:spcPts val="600"/>
              </a:spcAft>
            </a:pPr>
            <a:r>
              <a:rPr lang="vi-VN" sz="1400" dirty="0">
                <a:solidFill>
                  <a:srgbClr val="444B52"/>
                </a:solidFill>
                <a:latin typeface="Arial"/>
              </a:rPr>
              <a:t>=&gt; Thử train GMM với nhiều k khác nhau, rồi chọn theo tiêu chí như BIC/AIC</a:t>
            </a:r>
          </a:p>
        </p:txBody>
      </p:sp>
      <p:sp>
        <p:nvSpPr>
          <p:cNvPr id="5" name="TextBox 4">
            <a:extLst>
              <a:ext uri="{FF2B5EF4-FFF2-40B4-BE49-F238E27FC236}">
                <a16:creationId xmlns:a16="http://schemas.microsoft.com/office/drawing/2014/main" id="{9288E3CE-F83A-6930-59A7-4ADAAEFEE27C}"/>
              </a:ext>
            </a:extLst>
          </p:cNvPr>
          <p:cNvSpPr txBox="1"/>
          <p:nvPr/>
        </p:nvSpPr>
        <p:spPr>
          <a:xfrm>
            <a:off x="364066" y="2593986"/>
            <a:ext cx="6138332" cy="307777"/>
          </a:xfrm>
          <a:prstGeom prst="rect">
            <a:avLst/>
          </a:prstGeom>
          <a:noFill/>
        </p:spPr>
        <p:txBody>
          <a:bodyPr wrap="square">
            <a:spAutoFit/>
          </a:bodyPr>
          <a:lstStyle/>
          <a:p>
            <a:pPr>
              <a:buNone/>
            </a:pPr>
            <a:r>
              <a:rPr lang="en-VN" sz="1400" b="1" dirty="0"/>
              <a:t>Tiêu chí Bayesian - BIC (Bayesian Information Criterion)</a:t>
            </a:r>
            <a:r>
              <a:rPr lang="en-VN" sz="1400" dirty="0"/>
              <a:t>:</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E79DAA2-DFA7-DCE1-E87A-FF81679F5421}"/>
                  </a:ext>
                </a:extLst>
              </p:cNvPr>
              <p:cNvSpPr txBox="1"/>
              <p:nvPr/>
            </p:nvSpPr>
            <p:spPr>
              <a:xfrm>
                <a:off x="4506383" y="2294593"/>
                <a:ext cx="2247898" cy="339517"/>
              </a:xfrm>
              <a:prstGeom prst="rect">
                <a:avLst/>
              </a:prstGeom>
              <a:noFill/>
            </p:spPr>
            <p:txBody>
              <a:bodyPr wrap="square">
                <a:spAutoFit/>
              </a:bodyPr>
              <a:lstStyle/>
              <a:p>
                <a:pPr/>
                <a14:m>
                  <m:oMathPara xmlns:m="http://schemas.openxmlformats.org/officeDocument/2006/math">
                    <m:oMath>
                      <m:r>
                        <m:rPr>
                          <m:sty m:val="p"/>
                        </m:rPr>
                        <a:rPr lang="en-VN" sz="1400" smtClean="0">
                          <a:solidFill>
                            <a:schemeClr val="tx2">
                              <a:lumMod val="60000"/>
                              <a:lumOff val="40000"/>
                            </a:schemeClr>
                          </a:solidFill>
                          <a:latin typeface="Cambria Math" panose="02040503050406030204" pitchFamily="18" charset="0"/>
                        </a:rPr>
                        <m:t>A</m:t>
                      </m:r>
                      <m:r>
                        <m:rPr>
                          <m:sty m:val="p"/>
                        </m:rPr>
                        <a:rPr lang="en-VN" sz="1400" i="0">
                          <a:solidFill>
                            <a:schemeClr val="tx2">
                              <a:lumMod val="60000"/>
                              <a:lumOff val="40000"/>
                            </a:schemeClr>
                          </a:solidFill>
                          <a:latin typeface="Cambria Math" panose="02040503050406030204" pitchFamily="18" charset="0"/>
                        </a:rPr>
                        <m:t>IC</m:t>
                      </m:r>
                      <m:r>
                        <a:rPr lang="en-VN" sz="1400" i="0">
                          <a:latin typeface="Cambria Math" panose="02040503050406030204" pitchFamily="18" charset="0"/>
                        </a:rPr>
                        <m:t>=−2</m:t>
                      </m:r>
                      <m:func>
                        <m:funcPr>
                          <m:ctrlPr>
                            <a:rPr lang="en-VN" sz="1400" i="0">
                              <a:latin typeface="Cambria Math" panose="02040503050406030204" pitchFamily="18" charset="0"/>
                            </a:rPr>
                          </m:ctrlPr>
                        </m:funcPr>
                        <m:fName>
                          <m:r>
                            <m:rPr>
                              <m:sty m:val="p"/>
                            </m:rPr>
                            <a:rPr lang="en-VN" sz="1400" i="0">
                              <a:latin typeface="Cambria Math" panose="02040503050406030204" pitchFamily="18" charset="0"/>
                            </a:rPr>
                            <m:t>ln</m:t>
                          </m:r>
                        </m:fName>
                        <m:e>
                          <m:r>
                            <a:rPr lang="en-VN" sz="1400" i="1">
                              <a:latin typeface="Cambria Math" panose="02040503050406030204" pitchFamily="18" charset="0"/>
                            </a:rPr>
                            <m:t>𝐿</m:t>
                          </m:r>
                        </m:e>
                      </m:func>
                      <m:d>
                        <m:dPr>
                          <m:ctrlPr>
                            <a:rPr lang="en-VN" sz="1400" i="1">
                              <a:solidFill>
                                <a:schemeClr val="accent5">
                                  <a:lumMod val="75000"/>
                                </a:schemeClr>
                              </a:solidFill>
                              <a:latin typeface="Cambria Math" panose="02040503050406030204" pitchFamily="18" charset="0"/>
                            </a:rPr>
                          </m:ctrlPr>
                        </m:dPr>
                        <m:e>
                          <m:acc>
                            <m:accPr>
                              <m:chr m:val="ˆ"/>
                              <m:ctrlPr>
                                <a:rPr lang="en-VN" sz="1400" i="1">
                                  <a:solidFill>
                                    <a:schemeClr val="accent5">
                                      <a:lumMod val="75000"/>
                                    </a:schemeClr>
                                  </a:solidFill>
                                  <a:latin typeface="Cambria Math" panose="02040503050406030204" pitchFamily="18" charset="0"/>
                                </a:rPr>
                              </m:ctrlPr>
                            </m:accPr>
                            <m:e>
                              <m:r>
                                <a:rPr lang="en-VN" sz="1400" i="1">
                                  <a:solidFill>
                                    <a:schemeClr val="accent5">
                                      <a:lumMod val="75000"/>
                                    </a:schemeClr>
                                  </a:solidFill>
                                  <a:latin typeface="Cambria Math" panose="02040503050406030204" pitchFamily="18" charset="0"/>
                                </a:rPr>
                                <m:t>𝜃</m:t>
                              </m:r>
                            </m:e>
                          </m:acc>
                          <m:r>
                            <a:rPr lang="en-VN" sz="1400" i="0">
                              <a:latin typeface="Cambria Math" panose="02040503050406030204" pitchFamily="18" charset="0"/>
                            </a:rPr>
                            <m:t>∣</m:t>
                          </m:r>
                          <m:r>
                            <a:rPr lang="en-VN" sz="1400" i="1">
                              <a:latin typeface="Cambria Math" panose="02040503050406030204" pitchFamily="18" charset="0"/>
                            </a:rPr>
                            <m:t>𝑋</m:t>
                          </m:r>
                        </m:e>
                      </m:d>
                      <m:r>
                        <a:rPr lang="en-VN" sz="1400" i="0">
                          <a:latin typeface="Cambria Math" panose="02040503050406030204" pitchFamily="18" charset="0"/>
                        </a:rPr>
                        <m:t>+2</m:t>
                      </m:r>
                      <m:r>
                        <a:rPr lang="en-VN" sz="1400" i="1" smtClean="0">
                          <a:solidFill>
                            <a:schemeClr val="accent6">
                              <a:lumMod val="75000"/>
                            </a:schemeClr>
                          </a:solidFill>
                          <a:latin typeface="Cambria Math" panose="02040503050406030204" pitchFamily="18" charset="0"/>
                        </a:rPr>
                        <m:t>𝑝</m:t>
                      </m:r>
                    </m:oMath>
                  </m:oMathPara>
                </a14:m>
                <a:endParaRPr lang="en-VN" sz="1400" dirty="0"/>
              </a:p>
            </p:txBody>
          </p:sp>
        </mc:Choice>
        <mc:Fallback xmlns="">
          <p:sp>
            <p:nvSpPr>
              <p:cNvPr id="8" name="TextBox 7">
                <a:extLst>
                  <a:ext uri="{FF2B5EF4-FFF2-40B4-BE49-F238E27FC236}">
                    <a16:creationId xmlns:a16="http://schemas.microsoft.com/office/drawing/2014/main" id="{3E79DAA2-DFA7-DCE1-E87A-FF81679F5421}"/>
                  </a:ext>
                </a:extLst>
              </p:cNvPr>
              <p:cNvSpPr txBox="1">
                <a:spLocks noRot="1" noChangeAspect="1" noMove="1" noResize="1" noEditPoints="1" noAdjustHandles="1" noChangeArrowheads="1" noChangeShapeType="1" noTextEdit="1"/>
              </p:cNvSpPr>
              <p:nvPr/>
            </p:nvSpPr>
            <p:spPr>
              <a:xfrm>
                <a:off x="4506383" y="2294593"/>
                <a:ext cx="2247898" cy="339517"/>
              </a:xfrm>
              <a:prstGeom prst="rect">
                <a:avLst/>
              </a:prstGeom>
              <a:blipFill>
                <a:blip r:embed="rId3"/>
                <a:stretch>
                  <a:fillRect t="-3571"/>
                </a:stretch>
              </a:blipFill>
            </p:spPr>
            <p:txBody>
              <a:bodyPr/>
              <a:lstStyle/>
              <a:p>
                <a:r>
                  <a:rPr lang="en-VN">
                    <a:noFill/>
                  </a:rPr>
                  <a:t> </a:t>
                </a:r>
              </a:p>
            </p:txBody>
          </p:sp>
        </mc:Fallback>
      </mc:AlternateContent>
      <p:sp>
        <p:nvSpPr>
          <p:cNvPr id="12" name="TextBox 11">
            <a:extLst>
              <a:ext uri="{FF2B5EF4-FFF2-40B4-BE49-F238E27FC236}">
                <a16:creationId xmlns:a16="http://schemas.microsoft.com/office/drawing/2014/main" id="{0F61AD78-2BC8-CCEB-1E0E-B8A5923CFE9F}"/>
              </a:ext>
            </a:extLst>
          </p:cNvPr>
          <p:cNvSpPr txBox="1"/>
          <p:nvPr/>
        </p:nvSpPr>
        <p:spPr>
          <a:xfrm>
            <a:off x="364066" y="2303721"/>
            <a:ext cx="3979334" cy="307777"/>
          </a:xfrm>
          <a:prstGeom prst="rect">
            <a:avLst/>
          </a:prstGeom>
          <a:noFill/>
        </p:spPr>
        <p:txBody>
          <a:bodyPr wrap="square">
            <a:spAutoFit/>
          </a:bodyPr>
          <a:lstStyle/>
          <a:p>
            <a:pPr>
              <a:buNone/>
            </a:pPr>
            <a:r>
              <a:rPr lang="en-VN" sz="1400" b="1" dirty="0"/>
              <a:t>Tiêu chí Akaike - AIC (Akaike Information Criterion)</a:t>
            </a:r>
            <a:r>
              <a:rPr lang="en-VN" sz="1400" dirty="0"/>
              <a:t>:</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5F3321FC-231B-F561-AAC5-BBA50F7AB7A4}"/>
                  </a:ext>
                </a:extLst>
              </p:cNvPr>
              <p:cNvSpPr txBox="1"/>
              <p:nvPr/>
            </p:nvSpPr>
            <p:spPr>
              <a:xfrm>
                <a:off x="4131581" y="2585136"/>
                <a:ext cx="3255434" cy="339517"/>
              </a:xfrm>
              <a:prstGeom prst="rect">
                <a:avLst/>
              </a:prstGeom>
              <a:noFill/>
            </p:spPr>
            <p:txBody>
              <a:bodyPr wrap="square">
                <a:spAutoFit/>
              </a:bodyPr>
              <a:lstStyle/>
              <a:p>
                <a:pPr/>
                <a14:m>
                  <m:oMathPara xmlns:m="http://schemas.openxmlformats.org/officeDocument/2006/math">
                    <m:oMath>
                      <m:r>
                        <m:rPr>
                          <m:sty m:val="p"/>
                        </m:rPr>
                        <a:rPr lang="en-VN" sz="1400" smtClean="0">
                          <a:solidFill>
                            <a:schemeClr val="tx2">
                              <a:lumMod val="60000"/>
                              <a:lumOff val="40000"/>
                            </a:schemeClr>
                          </a:solidFill>
                          <a:latin typeface="Cambria Math" panose="02040503050406030204" pitchFamily="18" charset="0"/>
                        </a:rPr>
                        <m:t>B</m:t>
                      </m:r>
                      <m:r>
                        <m:rPr>
                          <m:sty m:val="p"/>
                        </m:rPr>
                        <a:rPr lang="en-VN" sz="1400" i="0">
                          <a:solidFill>
                            <a:schemeClr val="tx2">
                              <a:lumMod val="60000"/>
                              <a:lumOff val="40000"/>
                            </a:schemeClr>
                          </a:solidFill>
                          <a:latin typeface="Cambria Math" panose="02040503050406030204" pitchFamily="18" charset="0"/>
                        </a:rPr>
                        <m:t>IC</m:t>
                      </m:r>
                      <m:r>
                        <a:rPr lang="en-VN" sz="1400" i="0">
                          <a:latin typeface="Cambria Math" panose="02040503050406030204" pitchFamily="18" charset="0"/>
                        </a:rPr>
                        <m:t>=−2</m:t>
                      </m:r>
                      <m:func>
                        <m:funcPr>
                          <m:ctrlPr>
                            <a:rPr lang="en-VN" sz="1400" i="0">
                              <a:latin typeface="Cambria Math" panose="02040503050406030204" pitchFamily="18" charset="0"/>
                            </a:rPr>
                          </m:ctrlPr>
                        </m:funcPr>
                        <m:fName>
                          <m:r>
                            <m:rPr>
                              <m:sty m:val="p"/>
                            </m:rPr>
                            <a:rPr lang="en-VN" sz="1400" i="0">
                              <a:latin typeface="Cambria Math" panose="02040503050406030204" pitchFamily="18" charset="0"/>
                            </a:rPr>
                            <m:t>ln</m:t>
                          </m:r>
                        </m:fName>
                        <m:e>
                          <m:r>
                            <a:rPr lang="en-VN" sz="1400" i="1">
                              <a:latin typeface="Cambria Math" panose="02040503050406030204" pitchFamily="18" charset="0"/>
                            </a:rPr>
                            <m:t>𝐿</m:t>
                          </m:r>
                        </m:e>
                      </m:func>
                      <m:d>
                        <m:dPr>
                          <m:ctrlPr>
                            <a:rPr lang="en-VN" sz="1400" i="1" smtClean="0">
                              <a:solidFill>
                                <a:schemeClr val="accent5">
                                  <a:lumMod val="75000"/>
                                </a:schemeClr>
                              </a:solidFill>
                              <a:latin typeface="Cambria Math" panose="02040503050406030204" pitchFamily="18" charset="0"/>
                            </a:rPr>
                          </m:ctrlPr>
                        </m:dPr>
                        <m:e>
                          <m:acc>
                            <m:accPr>
                              <m:chr m:val="ˆ"/>
                              <m:ctrlPr>
                                <a:rPr lang="en-VN" sz="1400" i="1" smtClean="0">
                                  <a:solidFill>
                                    <a:schemeClr val="accent5">
                                      <a:lumMod val="75000"/>
                                    </a:schemeClr>
                                  </a:solidFill>
                                  <a:latin typeface="Cambria Math" panose="02040503050406030204" pitchFamily="18" charset="0"/>
                                </a:rPr>
                              </m:ctrlPr>
                            </m:accPr>
                            <m:e>
                              <m:r>
                                <a:rPr lang="en-VN" sz="1400" i="1" smtClean="0">
                                  <a:solidFill>
                                    <a:schemeClr val="accent5">
                                      <a:lumMod val="75000"/>
                                    </a:schemeClr>
                                  </a:solidFill>
                                  <a:latin typeface="Cambria Math" panose="02040503050406030204" pitchFamily="18" charset="0"/>
                                </a:rPr>
                                <m:t>𝜃</m:t>
                              </m:r>
                            </m:e>
                          </m:acc>
                          <m:r>
                            <a:rPr lang="en-VN" sz="1400" i="0">
                              <a:latin typeface="Cambria Math" panose="02040503050406030204" pitchFamily="18" charset="0"/>
                            </a:rPr>
                            <m:t>∣</m:t>
                          </m:r>
                          <m:r>
                            <a:rPr lang="en-VN" sz="1400" i="1">
                              <a:latin typeface="Cambria Math" panose="02040503050406030204" pitchFamily="18" charset="0"/>
                            </a:rPr>
                            <m:t>𝑋</m:t>
                          </m:r>
                        </m:e>
                      </m:d>
                      <m:r>
                        <a:rPr lang="en-VN" sz="1400" i="0">
                          <a:latin typeface="Cambria Math" panose="02040503050406030204" pitchFamily="18" charset="0"/>
                        </a:rPr>
                        <m:t>+</m:t>
                      </m:r>
                      <m:r>
                        <a:rPr lang="en-VN" sz="1400" i="1" smtClean="0">
                          <a:solidFill>
                            <a:schemeClr val="accent6">
                              <a:lumMod val="75000"/>
                            </a:schemeClr>
                          </a:solidFill>
                          <a:latin typeface="Cambria Math" panose="02040503050406030204" pitchFamily="18" charset="0"/>
                        </a:rPr>
                        <m:t>𝑝</m:t>
                      </m:r>
                      <m:func>
                        <m:funcPr>
                          <m:ctrlPr>
                            <a:rPr lang="en-VN" sz="1400" i="0">
                              <a:latin typeface="Cambria Math" panose="02040503050406030204" pitchFamily="18" charset="0"/>
                            </a:rPr>
                          </m:ctrlPr>
                        </m:funcPr>
                        <m:fName>
                          <m:r>
                            <m:rPr>
                              <m:sty m:val="p"/>
                            </m:rPr>
                            <a:rPr lang="en-VN" sz="1400" i="0">
                              <a:latin typeface="Cambria Math" panose="02040503050406030204" pitchFamily="18" charset="0"/>
                            </a:rPr>
                            <m:t>ln</m:t>
                          </m:r>
                        </m:fName>
                        <m:e>
                          <m:r>
                            <a:rPr lang="en-VN" sz="1400" i="1">
                              <a:latin typeface="Cambria Math" panose="02040503050406030204" pitchFamily="18" charset="0"/>
                            </a:rPr>
                            <m:t>𝑁</m:t>
                          </m:r>
                        </m:e>
                      </m:func>
                    </m:oMath>
                  </m:oMathPara>
                </a14:m>
                <a:endParaRPr lang="en-VN" sz="1400" dirty="0"/>
              </a:p>
            </p:txBody>
          </p:sp>
        </mc:Choice>
        <mc:Fallback xmlns="">
          <p:sp>
            <p:nvSpPr>
              <p:cNvPr id="14" name="TextBox 13">
                <a:extLst>
                  <a:ext uri="{FF2B5EF4-FFF2-40B4-BE49-F238E27FC236}">
                    <a16:creationId xmlns:a16="http://schemas.microsoft.com/office/drawing/2014/main" id="{5F3321FC-231B-F561-AAC5-BBA50F7AB7A4}"/>
                  </a:ext>
                </a:extLst>
              </p:cNvPr>
              <p:cNvSpPr txBox="1">
                <a:spLocks noRot="1" noChangeAspect="1" noMove="1" noResize="1" noEditPoints="1" noAdjustHandles="1" noChangeArrowheads="1" noChangeShapeType="1" noTextEdit="1"/>
              </p:cNvSpPr>
              <p:nvPr/>
            </p:nvSpPr>
            <p:spPr>
              <a:xfrm>
                <a:off x="4131581" y="2585136"/>
                <a:ext cx="3255434" cy="339517"/>
              </a:xfrm>
              <a:prstGeom prst="rect">
                <a:avLst/>
              </a:prstGeom>
              <a:blipFill>
                <a:blip r:embed="rId4"/>
                <a:stretch>
                  <a:fillRect t="-3571"/>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59A7E84E-79E2-72A0-1BE2-D6A0B1F11B7B}"/>
                  </a:ext>
                </a:extLst>
              </p:cNvPr>
              <p:cNvSpPr txBox="1"/>
              <p:nvPr/>
            </p:nvSpPr>
            <p:spPr>
              <a:xfrm>
                <a:off x="436034" y="3218765"/>
                <a:ext cx="4237566" cy="614655"/>
              </a:xfrm>
              <a:prstGeom prst="rect">
                <a:avLst/>
              </a:prstGeom>
              <a:noFill/>
            </p:spPr>
            <p:txBody>
              <a:bodyPr wrap="square">
                <a:spAutoFit/>
              </a:bodyPr>
              <a:lstStyle/>
              <a:p>
                <a:pPr>
                  <a:spcAft>
                    <a:spcPts val="600"/>
                  </a:spcAft>
                </a:pPr>
                <a14:m>
                  <m:oMath xmlns:m="http://schemas.openxmlformats.org/officeDocument/2006/math">
                    <m:acc>
                      <m:accPr>
                        <m:chr m:val="ˆ"/>
                        <m:ctrlPr>
                          <a:rPr lang="en-VN" sz="1400" i="1" smtClean="0">
                            <a:solidFill>
                              <a:schemeClr val="accent5">
                                <a:lumMod val="75000"/>
                              </a:schemeClr>
                            </a:solidFill>
                            <a:latin typeface="Cambria Math" panose="02040503050406030204" pitchFamily="18" charset="0"/>
                          </a:rPr>
                        </m:ctrlPr>
                      </m:accPr>
                      <m:e>
                        <m:r>
                          <a:rPr lang="en-VN" sz="1400" i="1" smtClean="0">
                            <a:solidFill>
                              <a:schemeClr val="accent5">
                                <a:lumMod val="75000"/>
                              </a:schemeClr>
                            </a:solidFill>
                            <a:latin typeface="Cambria Math" panose="02040503050406030204" pitchFamily="18" charset="0"/>
                          </a:rPr>
                          <m:t>𝜃</m:t>
                        </m:r>
                      </m:e>
                    </m:acc>
                  </m:oMath>
                </a14:m>
                <a:r>
                  <a:rPr lang="vi-VN" sz="1400" dirty="0">
                    <a:solidFill>
                      <a:srgbClr val="444B52"/>
                    </a:solidFill>
                    <a:latin typeface="Arial"/>
                  </a:rPr>
                  <a:t> là số lượng tham số tự do</a:t>
                </a:r>
              </a:p>
              <a:p>
                <a:pPr>
                  <a:spcAft>
                    <a:spcPts val="600"/>
                  </a:spcAft>
                </a:pPr>
                <a14:m>
                  <m:oMath xmlns:m="http://schemas.openxmlformats.org/officeDocument/2006/math">
                    <m:r>
                      <a:rPr lang="en-VN" sz="1400" i="1" smtClean="0">
                        <a:solidFill>
                          <a:schemeClr val="accent6">
                            <a:lumMod val="75000"/>
                          </a:schemeClr>
                        </a:solidFill>
                        <a:latin typeface="Cambria Math" panose="02040503050406030204" pitchFamily="18" charset="0"/>
                      </a:rPr>
                      <m:t>𝑝</m:t>
                    </m:r>
                  </m:oMath>
                </a14:m>
                <a:r>
                  <a:rPr lang="vi-VN" sz="1400" dirty="0">
                    <a:solidFill>
                      <a:srgbClr val="444B52"/>
                    </a:solidFill>
                    <a:latin typeface="Arial"/>
                  </a:rPr>
                  <a:t> là bộ tham số cuối cùng sau khi train mô hình</a:t>
                </a:r>
              </a:p>
            </p:txBody>
          </p:sp>
        </mc:Choice>
        <mc:Fallback xmlns="">
          <p:sp>
            <p:nvSpPr>
              <p:cNvPr id="36" name="TextBox 35">
                <a:extLst>
                  <a:ext uri="{FF2B5EF4-FFF2-40B4-BE49-F238E27FC236}">
                    <a16:creationId xmlns:a16="http://schemas.microsoft.com/office/drawing/2014/main" id="{59A7E84E-79E2-72A0-1BE2-D6A0B1F11B7B}"/>
                  </a:ext>
                </a:extLst>
              </p:cNvPr>
              <p:cNvSpPr txBox="1">
                <a:spLocks noRot="1" noChangeAspect="1" noMove="1" noResize="1" noEditPoints="1" noAdjustHandles="1" noChangeArrowheads="1" noChangeShapeType="1" noTextEdit="1"/>
              </p:cNvSpPr>
              <p:nvPr/>
            </p:nvSpPr>
            <p:spPr>
              <a:xfrm>
                <a:off x="436034" y="3218765"/>
                <a:ext cx="4237566" cy="614655"/>
              </a:xfrm>
              <a:prstGeom prst="rect">
                <a:avLst/>
              </a:prstGeom>
              <a:blipFill>
                <a:blip r:embed="rId5"/>
                <a:stretch>
                  <a:fillRect t="-2041" b="-10204"/>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F11D46BE-2F80-2034-F923-95F9691C0E2D}"/>
                  </a:ext>
                </a:extLst>
              </p:cNvPr>
              <p:cNvSpPr txBox="1"/>
              <p:nvPr/>
            </p:nvSpPr>
            <p:spPr>
              <a:xfrm>
                <a:off x="693966" y="4642210"/>
                <a:ext cx="1934633" cy="371640"/>
              </a:xfrm>
              <a:prstGeom prst="rect">
                <a:avLst/>
              </a:prstGeom>
              <a:noFill/>
            </p:spPr>
            <p:txBody>
              <a:bodyPr wrap="square">
                <a:spAutoFit/>
              </a:bodyPr>
              <a:lstStyle/>
              <a:p>
                <a:pPr/>
                <a14:m>
                  <m:oMathPara xmlns:m="http://schemas.openxmlformats.org/officeDocument/2006/math">
                    <m:oMath>
                      <m:sSubSup>
                        <m:sSubSupPr>
                          <m:ctrlPr>
                            <a:rPr lang="en-VN" sz="1400" i="1">
                              <a:latin typeface="Cambria Math" panose="02040503050406030204" pitchFamily="18" charset="0"/>
                            </a:rPr>
                          </m:ctrlPr>
                        </m:sSubSupPr>
                        <m:e>
                          <m:r>
                            <a:rPr lang="en-VN" sz="1400" i="1">
                              <a:latin typeface="Cambria Math" panose="02040503050406030204" pitchFamily="18" charset="0"/>
                            </a:rPr>
                            <m:t>𝐾</m:t>
                          </m:r>
                        </m:e>
                        <m:sub>
                          <m:r>
                            <m:rPr>
                              <m:sty m:val="p"/>
                            </m:rPr>
                            <a:rPr lang="en-VN" sz="1400" i="0">
                              <a:latin typeface="Cambria Math" panose="02040503050406030204" pitchFamily="18" charset="0"/>
                            </a:rPr>
                            <m:t>AIC</m:t>
                          </m:r>
                        </m:sub>
                        <m:sup>
                          <m:r>
                            <a:rPr lang="en-VN" sz="1400" i="0">
                              <a:latin typeface="Cambria Math" panose="02040503050406030204" pitchFamily="18" charset="0"/>
                            </a:rPr>
                            <m:t>∗</m:t>
                          </m:r>
                        </m:sup>
                      </m:sSubSup>
                      <m:r>
                        <a:rPr lang="en-VN" sz="1400" i="0">
                          <a:latin typeface="Cambria Math" panose="02040503050406030204" pitchFamily="18" charset="0"/>
                        </a:rPr>
                        <m:t>=</m:t>
                      </m:r>
                      <m:func>
                        <m:funcPr>
                          <m:ctrlPr>
                            <a:rPr lang="en-VN" sz="1400" i="0">
                              <a:latin typeface="Cambria Math" panose="02040503050406030204" pitchFamily="18" charset="0"/>
                            </a:rPr>
                          </m:ctrlPr>
                        </m:funcPr>
                        <m:fName>
                          <m:r>
                            <m:rPr>
                              <m:sty m:val="p"/>
                            </m:rPr>
                            <a:rPr lang="en-VN" sz="1400" i="0">
                              <a:latin typeface="Cambria Math" panose="02040503050406030204" pitchFamily="18" charset="0"/>
                            </a:rPr>
                            <m:t>arg</m:t>
                          </m:r>
                        </m:fName>
                        <m:e>
                          <m:func>
                            <m:funcPr>
                              <m:ctrlPr>
                                <a:rPr lang="en-VN" sz="1400" i="1">
                                  <a:latin typeface="Cambria Math" panose="02040503050406030204" pitchFamily="18" charset="0"/>
                                </a:rPr>
                              </m:ctrlPr>
                            </m:funcPr>
                            <m:fName>
                              <m:limLow>
                                <m:limLowPr>
                                  <m:ctrlPr>
                                    <a:rPr lang="en-VN" sz="1400" i="0">
                                      <a:latin typeface="Cambria Math" panose="02040503050406030204" pitchFamily="18" charset="0"/>
                                    </a:rPr>
                                  </m:ctrlPr>
                                </m:limLowPr>
                                <m:e>
                                  <m:r>
                                    <m:rPr>
                                      <m:sty m:val="p"/>
                                    </m:rPr>
                                    <a:rPr lang="en-VN" sz="1400" i="0">
                                      <a:latin typeface="Cambria Math" panose="02040503050406030204" pitchFamily="18" charset="0"/>
                                    </a:rPr>
                                    <m:t>min</m:t>
                                  </m:r>
                                </m:e>
                                <m:lim>
                                  <m:r>
                                    <a:rPr lang="en-VN" sz="1400" i="1">
                                      <a:latin typeface="Cambria Math" panose="02040503050406030204" pitchFamily="18" charset="0"/>
                                    </a:rPr>
                                    <m:t>𝐾</m:t>
                                  </m:r>
                                </m:lim>
                              </m:limLow>
                            </m:fName>
                            <m:e>
                              <m:r>
                                <m:rPr>
                                  <m:sty m:val="p"/>
                                </m:rPr>
                                <a:rPr lang="en-VN" sz="1400" i="0">
                                  <a:latin typeface="Cambria Math" panose="02040503050406030204" pitchFamily="18" charset="0"/>
                                </a:rPr>
                                <m:t>AIC</m:t>
                              </m:r>
                              <m:d>
                                <m:dPr>
                                  <m:ctrlPr>
                                    <a:rPr lang="en-VN" sz="1400" i="1">
                                      <a:latin typeface="Cambria Math" panose="02040503050406030204" pitchFamily="18" charset="0"/>
                                    </a:rPr>
                                  </m:ctrlPr>
                                </m:dPr>
                                <m:e>
                                  <m:r>
                                    <a:rPr lang="en-VN" sz="1400" i="1">
                                      <a:latin typeface="Cambria Math" panose="02040503050406030204" pitchFamily="18" charset="0"/>
                                    </a:rPr>
                                    <m:t>𝐾</m:t>
                                  </m:r>
                                </m:e>
                              </m:d>
                            </m:e>
                          </m:func>
                        </m:e>
                      </m:func>
                    </m:oMath>
                  </m:oMathPara>
                </a14:m>
                <a:endParaRPr lang="en-VN" sz="1400" dirty="0"/>
              </a:p>
            </p:txBody>
          </p:sp>
        </mc:Choice>
        <mc:Fallback xmlns="">
          <p:sp>
            <p:nvSpPr>
              <p:cNvPr id="40" name="TextBox 39">
                <a:extLst>
                  <a:ext uri="{FF2B5EF4-FFF2-40B4-BE49-F238E27FC236}">
                    <a16:creationId xmlns:a16="http://schemas.microsoft.com/office/drawing/2014/main" id="{F11D46BE-2F80-2034-F923-95F9691C0E2D}"/>
                  </a:ext>
                </a:extLst>
              </p:cNvPr>
              <p:cNvSpPr txBox="1">
                <a:spLocks noRot="1" noChangeAspect="1" noMove="1" noResize="1" noEditPoints="1" noAdjustHandles="1" noChangeArrowheads="1" noChangeShapeType="1" noTextEdit="1"/>
              </p:cNvSpPr>
              <p:nvPr/>
            </p:nvSpPr>
            <p:spPr>
              <a:xfrm>
                <a:off x="693966" y="4642210"/>
                <a:ext cx="1934633" cy="371640"/>
              </a:xfrm>
              <a:prstGeom prst="rect">
                <a:avLst/>
              </a:prstGeom>
              <a:blipFill>
                <a:blip r:embed="rId6"/>
                <a:stretch>
                  <a:fillRect/>
                </a:stretch>
              </a:blipFill>
            </p:spPr>
            <p:txBody>
              <a:bodyPr/>
              <a:lstStyle/>
              <a:p>
                <a:r>
                  <a:rPr lang="en-VN">
                    <a:noFill/>
                  </a:rPr>
                  <a:t> </a:t>
                </a:r>
              </a:p>
            </p:txBody>
          </p:sp>
        </mc:Fallback>
      </mc:AlternateContent>
      <p:sp>
        <p:nvSpPr>
          <p:cNvPr id="42" name="TextBox 41">
            <a:extLst>
              <a:ext uri="{FF2B5EF4-FFF2-40B4-BE49-F238E27FC236}">
                <a16:creationId xmlns:a16="http://schemas.microsoft.com/office/drawing/2014/main" id="{59F3A933-CF2F-EF84-8C3F-42A948AD3F9A}"/>
              </a:ext>
            </a:extLst>
          </p:cNvPr>
          <p:cNvSpPr txBox="1"/>
          <p:nvPr/>
        </p:nvSpPr>
        <p:spPr>
          <a:xfrm>
            <a:off x="436034" y="4334433"/>
            <a:ext cx="2040466" cy="307777"/>
          </a:xfrm>
          <a:prstGeom prst="rect">
            <a:avLst/>
          </a:prstGeom>
          <a:noFill/>
        </p:spPr>
        <p:txBody>
          <a:bodyPr wrap="square">
            <a:spAutoFit/>
          </a:bodyPr>
          <a:lstStyle/>
          <a:p>
            <a:pPr>
              <a:spcAft>
                <a:spcPts val="600"/>
              </a:spcAft>
            </a:pPr>
            <a:r>
              <a:rPr lang="vi-VN" sz="1400" dirty="0">
                <a:solidFill>
                  <a:srgbClr val="444B52"/>
                </a:solidFill>
                <a:latin typeface="Arial"/>
              </a:rPr>
              <a:t>Thử nhiều K và chọn:</a:t>
            </a: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6F60DE6F-9AD4-8F9B-7C86-376E4D76174B}"/>
                  </a:ext>
                </a:extLst>
              </p:cNvPr>
              <p:cNvSpPr txBox="1"/>
              <p:nvPr/>
            </p:nvSpPr>
            <p:spPr>
              <a:xfrm>
                <a:off x="641049" y="5013850"/>
                <a:ext cx="2040466" cy="371640"/>
              </a:xfrm>
              <a:prstGeom prst="rect">
                <a:avLst/>
              </a:prstGeom>
              <a:noFill/>
            </p:spPr>
            <p:txBody>
              <a:bodyPr wrap="square">
                <a:spAutoFit/>
              </a:bodyPr>
              <a:lstStyle/>
              <a:p>
                <a:pPr/>
                <a14:m>
                  <m:oMathPara xmlns:m="http://schemas.openxmlformats.org/officeDocument/2006/math">
                    <m:oMath>
                      <m:sSubSup>
                        <m:sSubSupPr>
                          <m:ctrlPr>
                            <a:rPr lang="en-VN" sz="1400" i="1">
                              <a:latin typeface="Cambria Math" panose="02040503050406030204" pitchFamily="18" charset="0"/>
                            </a:rPr>
                          </m:ctrlPr>
                        </m:sSubSupPr>
                        <m:e>
                          <m:r>
                            <a:rPr lang="en-VN" sz="1400" i="1">
                              <a:latin typeface="Cambria Math" panose="02040503050406030204" pitchFamily="18" charset="0"/>
                            </a:rPr>
                            <m:t>𝐾</m:t>
                          </m:r>
                        </m:e>
                        <m:sub>
                          <m:r>
                            <m:rPr>
                              <m:sty m:val="p"/>
                            </m:rPr>
                            <a:rPr lang="en-VN" sz="1400" i="0">
                              <a:latin typeface="Cambria Math" panose="02040503050406030204" pitchFamily="18" charset="0"/>
                            </a:rPr>
                            <m:t>BIC</m:t>
                          </m:r>
                        </m:sub>
                        <m:sup>
                          <m:r>
                            <a:rPr lang="en-VN" sz="1400" i="0">
                              <a:latin typeface="Cambria Math" panose="02040503050406030204" pitchFamily="18" charset="0"/>
                            </a:rPr>
                            <m:t>∗</m:t>
                          </m:r>
                        </m:sup>
                      </m:sSubSup>
                      <m:r>
                        <a:rPr lang="en-VN" sz="1400" i="0">
                          <a:latin typeface="Cambria Math" panose="02040503050406030204" pitchFamily="18" charset="0"/>
                        </a:rPr>
                        <m:t>=</m:t>
                      </m:r>
                      <m:func>
                        <m:funcPr>
                          <m:ctrlPr>
                            <a:rPr lang="en-VN" sz="1400" i="0">
                              <a:latin typeface="Cambria Math" panose="02040503050406030204" pitchFamily="18" charset="0"/>
                            </a:rPr>
                          </m:ctrlPr>
                        </m:funcPr>
                        <m:fName>
                          <m:r>
                            <m:rPr>
                              <m:sty m:val="p"/>
                            </m:rPr>
                            <a:rPr lang="en-VN" sz="1400" i="0">
                              <a:latin typeface="Cambria Math" panose="02040503050406030204" pitchFamily="18" charset="0"/>
                            </a:rPr>
                            <m:t>arg</m:t>
                          </m:r>
                        </m:fName>
                        <m:e>
                          <m:func>
                            <m:funcPr>
                              <m:ctrlPr>
                                <a:rPr lang="en-VN" sz="1400" i="1">
                                  <a:latin typeface="Cambria Math" panose="02040503050406030204" pitchFamily="18" charset="0"/>
                                </a:rPr>
                              </m:ctrlPr>
                            </m:funcPr>
                            <m:fName>
                              <m:limLow>
                                <m:limLowPr>
                                  <m:ctrlPr>
                                    <a:rPr lang="en-VN" sz="1400" i="0">
                                      <a:latin typeface="Cambria Math" panose="02040503050406030204" pitchFamily="18" charset="0"/>
                                    </a:rPr>
                                  </m:ctrlPr>
                                </m:limLowPr>
                                <m:e>
                                  <m:r>
                                    <m:rPr>
                                      <m:sty m:val="p"/>
                                    </m:rPr>
                                    <a:rPr lang="en-VN" sz="1400" i="0">
                                      <a:latin typeface="Cambria Math" panose="02040503050406030204" pitchFamily="18" charset="0"/>
                                    </a:rPr>
                                    <m:t>min</m:t>
                                  </m:r>
                                </m:e>
                                <m:lim>
                                  <m:r>
                                    <a:rPr lang="en-VN" sz="1400" i="1">
                                      <a:latin typeface="Cambria Math" panose="02040503050406030204" pitchFamily="18" charset="0"/>
                                    </a:rPr>
                                    <m:t>𝐾</m:t>
                                  </m:r>
                                </m:lim>
                              </m:limLow>
                            </m:fName>
                            <m:e>
                              <m:r>
                                <m:rPr>
                                  <m:sty m:val="p"/>
                                </m:rPr>
                                <a:rPr lang="en-VN" sz="1400" i="0">
                                  <a:latin typeface="Cambria Math" panose="02040503050406030204" pitchFamily="18" charset="0"/>
                                </a:rPr>
                                <m:t>BIC</m:t>
                              </m:r>
                              <m:d>
                                <m:dPr>
                                  <m:ctrlPr>
                                    <a:rPr lang="en-VN" sz="1400" i="1">
                                      <a:latin typeface="Cambria Math" panose="02040503050406030204" pitchFamily="18" charset="0"/>
                                    </a:rPr>
                                  </m:ctrlPr>
                                </m:dPr>
                                <m:e>
                                  <m:r>
                                    <a:rPr lang="en-VN" sz="1400" i="1">
                                      <a:latin typeface="Cambria Math" panose="02040503050406030204" pitchFamily="18" charset="0"/>
                                    </a:rPr>
                                    <m:t>𝐾</m:t>
                                  </m:r>
                                </m:e>
                              </m:d>
                            </m:e>
                          </m:func>
                        </m:e>
                      </m:func>
                    </m:oMath>
                  </m:oMathPara>
                </a14:m>
                <a:endParaRPr lang="en-VN" dirty="0"/>
              </a:p>
            </p:txBody>
          </p:sp>
        </mc:Choice>
        <mc:Fallback xmlns="">
          <p:sp>
            <p:nvSpPr>
              <p:cNvPr id="44" name="TextBox 43">
                <a:extLst>
                  <a:ext uri="{FF2B5EF4-FFF2-40B4-BE49-F238E27FC236}">
                    <a16:creationId xmlns:a16="http://schemas.microsoft.com/office/drawing/2014/main" id="{6F60DE6F-9AD4-8F9B-7C86-376E4D76174B}"/>
                  </a:ext>
                </a:extLst>
              </p:cNvPr>
              <p:cNvSpPr txBox="1">
                <a:spLocks noRot="1" noChangeAspect="1" noMove="1" noResize="1" noEditPoints="1" noAdjustHandles="1" noChangeArrowheads="1" noChangeShapeType="1" noTextEdit="1"/>
              </p:cNvSpPr>
              <p:nvPr/>
            </p:nvSpPr>
            <p:spPr>
              <a:xfrm>
                <a:off x="641049" y="5013850"/>
                <a:ext cx="2040466" cy="371640"/>
              </a:xfrm>
              <a:prstGeom prst="rect">
                <a:avLst/>
              </a:prstGeom>
              <a:blipFill>
                <a:blip r:embed="rId7"/>
                <a:stretch>
                  <a:fillRect/>
                </a:stretch>
              </a:blipFill>
            </p:spPr>
            <p:txBody>
              <a:bodyPr/>
              <a:lstStyle/>
              <a:p>
                <a:r>
                  <a:rPr lang="en-VN">
                    <a:noFill/>
                  </a:rPr>
                  <a:t> </a:t>
                </a:r>
              </a:p>
            </p:txBody>
          </p:sp>
        </mc:Fallback>
      </mc:AlternateContent>
    </p:spTree>
    <p:extLst>
      <p:ext uri="{BB962C8B-B14F-4D97-AF65-F5344CB8AC3E}">
        <p14:creationId xmlns:p14="http://schemas.microsoft.com/office/powerpoint/2010/main" val="9078532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5D707-C5CE-2CB1-A077-FA8DD5B3E7F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AD5AAA05-4E56-7E94-8276-E3AEF528DDF1}"/>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p:sp>
        <p:nvSpPr>
          <p:cNvPr id="4" name="TextBox 3">
            <a:extLst>
              <a:ext uri="{FF2B5EF4-FFF2-40B4-BE49-F238E27FC236}">
                <a16:creationId xmlns:a16="http://schemas.microsoft.com/office/drawing/2014/main" id="{AFE5F861-9B78-5FF9-0264-7FB9F1ECEACD}"/>
              </a:ext>
            </a:extLst>
          </p:cNvPr>
          <p:cNvSpPr txBox="1"/>
          <p:nvPr/>
        </p:nvSpPr>
        <p:spPr>
          <a:xfrm>
            <a:off x="364066" y="1267772"/>
            <a:ext cx="10961159" cy="307777"/>
          </a:xfrm>
          <a:prstGeom prst="rect">
            <a:avLst/>
          </a:prstGeom>
          <a:noFill/>
        </p:spPr>
        <p:txBody>
          <a:bodyPr wrap="square">
            <a:spAutoFit/>
          </a:bodyPr>
          <a:lstStyle/>
          <a:p>
            <a:pPr>
              <a:spcAft>
                <a:spcPts val="600"/>
              </a:spcAft>
            </a:pPr>
            <a:r>
              <a:rPr lang="vi-VN" sz="1400" b="1" dirty="0">
                <a:solidFill>
                  <a:srgbClr val="1B8A7A"/>
                </a:solidFill>
                <a:latin typeface="Arial"/>
              </a:rPr>
              <a:t>Siêu tham số mô hình GMM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2EDBC8B-5DC2-8BBA-147A-6404E0DAFAF9}"/>
                  </a:ext>
                </a:extLst>
              </p:cNvPr>
              <p:cNvSpPr txBox="1"/>
              <p:nvPr/>
            </p:nvSpPr>
            <p:spPr>
              <a:xfrm>
                <a:off x="609601" y="1791761"/>
                <a:ext cx="7342075" cy="2462213"/>
              </a:xfrm>
              <a:prstGeom prst="rect">
                <a:avLst/>
              </a:prstGeom>
              <a:noFill/>
            </p:spPr>
            <p:txBody>
              <a:bodyPr wrap="none" rtlCol="0">
                <a:spAutoFit/>
              </a:bodyPr>
              <a:lstStyle/>
              <a:p>
                <a:pPr lvl="0"/>
                <a:r>
                  <a:rPr lang="vi-VN" sz="1400" dirty="0"/>
                  <a:t>1. </a:t>
                </a:r>
                <a14:m>
                  <m:oMath xmlns:m="http://schemas.openxmlformats.org/officeDocument/2006/math">
                    <m:r>
                      <a:rPr lang="vi-VN" sz="1400" b="1" i="1" dirty="0" smtClean="0">
                        <a:solidFill>
                          <a:schemeClr val="accent3">
                            <a:lumMod val="75000"/>
                          </a:schemeClr>
                        </a:solidFill>
                        <a:latin typeface="Cambria Math" panose="02040503050406030204" pitchFamily="18" charset="0"/>
                      </a:rPr>
                      <m:t>𝑲</m:t>
                    </m:r>
                  </m:oMath>
                </a14:m>
                <a:r>
                  <a:rPr lang="vi-VN" sz="1400" dirty="0"/>
                  <a:t>: số Gaussian / số mixture components.</a:t>
                </a:r>
              </a:p>
              <a:p>
                <a:pPr lvl="0"/>
                <a:r>
                  <a:rPr lang="vi-VN" sz="1400" dirty="0"/>
                  <a:t>2. </a:t>
                </a:r>
                <a:r>
                  <a:rPr lang="vi-VN" sz="1400" b="1" i="1" dirty="0">
                    <a:solidFill>
                      <a:schemeClr val="accent3">
                        <a:lumMod val="75000"/>
                      </a:schemeClr>
                    </a:solidFill>
                  </a:rPr>
                  <a:t>covariance_type</a:t>
                </a:r>
                <a:r>
                  <a:rPr lang="vi-VN" sz="1400" dirty="0"/>
                  <a:t>: dạng ma trận hiệp phương sai:</a:t>
                </a:r>
              </a:p>
              <a:p>
                <a:pPr lvl="0"/>
                <a:r>
                  <a:rPr lang="vi-VN" sz="1400" dirty="0"/>
                  <a:t>	</a:t>
                </a:r>
                <a:r>
                  <a:rPr lang="vi-VN" sz="1400" dirty="0">
                    <a:solidFill>
                      <a:schemeClr val="accent6">
                        <a:lumMod val="75000"/>
                      </a:schemeClr>
                    </a:solidFill>
                  </a:rPr>
                  <a:t>full</a:t>
                </a:r>
                <a:r>
                  <a:rPr lang="vi-VN" sz="1400" dirty="0"/>
                  <a:t>: mỗi Gaussian có \(\Sigma_k\) đầy đủ.</a:t>
                </a:r>
              </a:p>
              <a:p>
                <a:pPr lvl="0"/>
                <a:r>
                  <a:rPr lang="vi-VN" sz="1400" dirty="0"/>
                  <a:t>	</a:t>
                </a:r>
                <a:r>
                  <a:rPr lang="vi-VN" sz="1400" dirty="0">
                    <a:solidFill>
                      <a:schemeClr val="accent6">
                        <a:lumMod val="75000"/>
                      </a:schemeClr>
                    </a:solidFill>
                  </a:rPr>
                  <a:t>diag</a:t>
                </a:r>
                <a:r>
                  <a:rPr lang="vi-VN" sz="1400" dirty="0"/>
                  <a:t>: chỉ giữ phương sai từng chiều.</a:t>
                </a:r>
              </a:p>
              <a:p>
                <a:pPr lvl="0"/>
                <a:r>
                  <a:rPr lang="vi-VN" sz="1400" dirty="0"/>
                  <a:t>	</a:t>
                </a:r>
                <a:r>
                  <a:rPr lang="vi-VN" sz="1400" dirty="0">
                    <a:solidFill>
                      <a:schemeClr val="accent6">
                        <a:lumMod val="75000"/>
                      </a:schemeClr>
                    </a:solidFill>
                  </a:rPr>
                  <a:t>spherical</a:t>
                </a:r>
                <a:r>
                  <a:rPr lang="vi-VN" sz="1400" dirty="0"/>
                  <a:t>: mỗi Gaussian dùng một phương sai chung cho mọi chiều.</a:t>
                </a:r>
              </a:p>
              <a:p>
                <a:pPr lvl="0"/>
                <a:r>
                  <a:rPr lang="vi-VN" sz="1400" dirty="0"/>
                  <a:t>	</a:t>
                </a:r>
                <a:r>
                  <a:rPr lang="vi-VN" sz="1400" dirty="0">
                    <a:solidFill>
                      <a:schemeClr val="accent6">
                        <a:lumMod val="75000"/>
                      </a:schemeClr>
                    </a:solidFill>
                  </a:rPr>
                  <a:t>tied</a:t>
                </a:r>
                <a:r>
                  <a:rPr lang="vi-VN" sz="1400" dirty="0"/>
                  <a:t>: tất cả Gaussian dùng chung một ma trận covariance.</a:t>
                </a:r>
              </a:p>
              <a:p>
                <a:pPr lvl="0"/>
                <a:r>
                  <a:rPr lang="vi-VN" sz="1400" dirty="0"/>
                  <a:t>3. </a:t>
                </a:r>
                <a14:m>
                  <m:oMath xmlns:m="http://schemas.openxmlformats.org/officeDocument/2006/math">
                    <m:r>
                      <a:rPr lang="vi-VN" sz="1400" b="1" i="1" smtClean="0">
                        <a:solidFill>
                          <a:schemeClr val="accent3">
                            <a:lumMod val="75000"/>
                          </a:schemeClr>
                        </a:solidFill>
                        <a:latin typeface="Cambria Math" panose="02040503050406030204" pitchFamily="18" charset="0"/>
                      </a:rPr>
                      <m:t>𝜺</m:t>
                    </m:r>
                  </m:oMath>
                </a14:m>
                <a:r>
                  <a:rPr lang="vi-VN" sz="1400" b="1" dirty="0">
                    <a:solidFill>
                      <a:schemeClr val="accent3">
                        <a:lumMod val="75000"/>
                      </a:schemeClr>
                    </a:solidFill>
                  </a:rPr>
                  <a:t> / </a:t>
                </a:r>
                <a:r>
                  <a:rPr lang="vi-VN" sz="1400" b="1" i="1" dirty="0">
                    <a:solidFill>
                      <a:schemeClr val="accent3">
                        <a:lumMod val="75000"/>
                      </a:schemeClr>
                    </a:solidFill>
                  </a:rPr>
                  <a:t>tol</a:t>
                </a:r>
                <a:r>
                  <a:rPr lang="vi-VN" sz="1400" dirty="0"/>
                  <a:t>: ngưỡng hội tụ của EM.</a:t>
                </a:r>
              </a:p>
              <a:p>
                <a:pPr lvl="0"/>
                <a:r>
                  <a:rPr lang="vi-VN" sz="1400" dirty="0"/>
                  <a:t>4. </a:t>
                </a:r>
                <a:r>
                  <a:rPr lang="vi-VN" sz="1400" b="1" i="1" dirty="0">
                    <a:solidFill>
                      <a:schemeClr val="accent3">
                        <a:lumMod val="75000"/>
                      </a:schemeClr>
                    </a:solidFill>
                  </a:rPr>
                  <a:t>max_iter</a:t>
                </a:r>
                <a:r>
                  <a:rPr lang="vi-VN" sz="1400" dirty="0"/>
                  <a:t>: số vòng EM tối đa.</a:t>
                </a:r>
              </a:p>
              <a:p>
                <a:pPr lvl="0"/>
                <a:r>
                  <a:rPr lang="vi-VN" sz="1400" dirty="0"/>
                  <a:t>5. </a:t>
                </a:r>
                <a:r>
                  <a:rPr lang="vi-VN" sz="1400" b="1" i="1" dirty="0">
                    <a:solidFill>
                      <a:schemeClr val="accent3">
                        <a:lumMod val="75000"/>
                      </a:schemeClr>
                    </a:solidFill>
                  </a:rPr>
                  <a:t>n_init</a:t>
                </a:r>
                <a:r>
                  <a:rPr lang="vi-VN" sz="1400" dirty="0"/>
                  <a:t>: số lần khởi tạo khác nhau rồi chọn nghiệm tốt nhất.</a:t>
                </a:r>
              </a:p>
              <a:p>
                <a:pPr lvl="0"/>
                <a:r>
                  <a:rPr lang="vi-VN" sz="1400" dirty="0"/>
                  <a:t>6. </a:t>
                </a:r>
                <a:r>
                  <a:rPr lang="vi-VN" sz="1400" b="1" i="1" dirty="0">
                    <a:solidFill>
                      <a:schemeClr val="accent3">
                        <a:lumMod val="75000"/>
                      </a:schemeClr>
                    </a:solidFill>
                  </a:rPr>
                  <a:t>init_params</a:t>
                </a:r>
                <a:r>
                  <a:rPr lang="vi-VN" sz="1400" dirty="0"/>
                  <a:t>: cách khởi tạo, ví dụ K-Means hoặc random.</a:t>
                </a:r>
              </a:p>
              <a:p>
                <a:pPr lvl="0"/>
                <a:r>
                  <a:rPr lang="vi-VN" sz="1400" dirty="0"/>
                  <a:t>7. </a:t>
                </a:r>
                <a:r>
                  <a:rPr lang="vi-VN" sz="1400" b="1" i="1" dirty="0">
                    <a:solidFill>
                      <a:schemeClr val="accent3">
                        <a:lumMod val="75000"/>
                      </a:schemeClr>
                    </a:solidFill>
                  </a:rPr>
                  <a:t>reg_covar</a:t>
                </a:r>
                <a:r>
                  <a:rPr lang="vi-VN" sz="1400" dirty="0"/>
                  <a:t>: một số nhỏ cộng vào đường chéo của covariance để tránh ma trận suy biến.</a:t>
                </a:r>
              </a:p>
            </p:txBody>
          </p:sp>
        </mc:Choice>
        <mc:Fallback xmlns="">
          <p:sp>
            <p:nvSpPr>
              <p:cNvPr id="3" name="TextBox 2">
                <a:extLst>
                  <a:ext uri="{FF2B5EF4-FFF2-40B4-BE49-F238E27FC236}">
                    <a16:creationId xmlns:a16="http://schemas.microsoft.com/office/drawing/2014/main" id="{D2EDBC8B-5DC2-8BBA-147A-6404E0DAFAF9}"/>
                  </a:ext>
                </a:extLst>
              </p:cNvPr>
              <p:cNvSpPr txBox="1">
                <a:spLocks noRot="1" noChangeAspect="1" noMove="1" noResize="1" noEditPoints="1" noAdjustHandles="1" noChangeArrowheads="1" noChangeShapeType="1" noTextEdit="1"/>
              </p:cNvSpPr>
              <p:nvPr/>
            </p:nvSpPr>
            <p:spPr>
              <a:xfrm>
                <a:off x="609601" y="1791761"/>
                <a:ext cx="7342075" cy="2462213"/>
              </a:xfrm>
              <a:prstGeom prst="rect">
                <a:avLst/>
              </a:prstGeom>
              <a:blipFill>
                <a:blip r:embed="rId3"/>
                <a:stretch>
                  <a:fillRect l="-346" t="-513" r="-173" b="-1538"/>
                </a:stretch>
              </a:blipFill>
            </p:spPr>
            <p:txBody>
              <a:bodyPr/>
              <a:lstStyle/>
              <a:p>
                <a:r>
                  <a:rPr lang="en-VN">
                    <a:noFill/>
                  </a:rPr>
                  <a:t> </a:t>
                </a:r>
              </a:p>
            </p:txBody>
          </p:sp>
        </mc:Fallback>
      </mc:AlternateContent>
    </p:spTree>
    <p:extLst>
      <p:ext uri="{BB962C8B-B14F-4D97-AF65-F5344CB8AC3E}">
        <p14:creationId xmlns:p14="http://schemas.microsoft.com/office/powerpoint/2010/main" val="380417646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5AC095-C383-DEA5-F58F-64F576BEF40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80B0569-2D1F-2F6B-0479-4B7FF7512CF5}"/>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p:sp>
        <p:nvSpPr>
          <p:cNvPr id="4" name="TextBox 3">
            <a:extLst>
              <a:ext uri="{FF2B5EF4-FFF2-40B4-BE49-F238E27FC236}">
                <a16:creationId xmlns:a16="http://schemas.microsoft.com/office/drawing/2014/main" id="{D6DE2F6E-A705-60EA-1794-F170DBB05D29}"/>
              </a:ext>
            </a:extLst>
          </p:cNvPr>
          <p:cNvSpPr txBox="1"/>
          <p:nvPr/>
        </p:nvSpPr>
        <p:spPr>
          <a:xfrm>
            <a:off x="364066" y="1267772"/>
            <a:ext cx="10961159" cy="307777"/>
          </a:xfrm>
          <a:prstGeom prst="rect">
            <a:avLst/>
          </a:prstGeom>
          <a:noFill/>
        </p:spPr>
        <p:txBody>
          <a:bodyPr wrap="square">
            <a:spAutoFit/>
          </a:bodyPr>
          <a:lstStyle/>
          <a:p>
            <a:pPr>
              <a:spcAft>
                <a:spcPts val="600"/>
              </a:spcAft>
            </a:pPr>
            <a:r>
              <a:rPr lang="vi-VN" sz="1400" b="1" dirty="0">
                <a:solidFill>
                  <a:srgbClr val="1B8A7A"/>
                </a:solidFill>
                <a:latin typeface="Arial"/>
              </a:rPr>
              <a:t>Siêu tham số mô hình GMM </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E8508172-EBD8-CFB1-E4BC-C8C36B7D6054}"/>
                  </a:ext>
                </a:extLst>
              </p:cNvPr>
              <p:cNvSpPr txBox="1"/>
              <p:nvPr/>
            </p:nvSpPr>
            <p:spPr>
              <a:xfrm>
                <a:off x="609601" y="1791761"/>
                <a:ext cx="7342075" cy="2462213"/>
              </a:xfrm>
              <a:prstGeom prst="rect">
                <a:avLst/>
              </a:prstGeom>
              <a:noFill/>
            </p:spPr>
            <p:txBody>
              <a:bodyPr wrap="none" rtlCol="0">
                <a:spAutoFit/>
              </a:bodyPr>
              <a:lstStyle/>
              <a:p>
                <a:pPr lvl="0"/>
                <a:r>
                  <a:rPr lang="vi-VN" sz="1400" dirty="0"/>
                  <a:t>1. </a:t>
                </a:r>
                <a14:m>
                  <m:oMath xmlns:m="http://schemas.openxmlformats.org/officeDocument/2006/math">
                    <m:r>
                      <a:rPr lang="vi-VN" sz="1400" b="1" i="1" dirty="0" smtClean="0">
                        <a:solidFill>
                          <a:schemeClr val="accent3">
                            <a:lumMod val="75000"/>
                          </a:schemeClr>
                        </a:solidFill>
                        <a:latin typeface="Cambria Math" panose="02040503050406030204" pitchFamily="18" charset="0"/>
                      </a:rPr>
                      <m:t>𝑲</m:t>
                    </m:r>
                  </m:oMath>
                </a14:m>
                <a:r>
                  <a:rPr lang="vi-VN" sz="1400" dirty="0"/>
                  <a:t>: số Gaussian / số mixture components.</a:t>
                </a:r>
              </a:p>
              <a:p>
                <a:pPr lvl="0"/>
                <a:r>
                  <a:rPr lang="vi-VN" sz="1400" dirty="0"/>
                  <a:t>2. </a:t>
                </a:r>
                <a:r>
                  <a:rPr lang="vi-VN" sz="1400" b="1" i="1" dirty="0">
                    <a:solidFill>
                      <a:schemeClr val="accent3">
                        <a:lumMod val="75000"/>
                      </a:schemeClr>
                    </a:solidFill>
                  </a:rPr>
                  <a:t>covariance_type</a:t>
                </a:r>
                <a:r>
                  <a:rPr lang="vi-VN" sz="1400" dirty="0"/>
                  <a:t>: dạng ma trận hiệp phương sai:</a:t>
                </a:r>
              </a:p>
              <a:p>
                <a:pPr lvl="0"/>
                <a:r>
                  <a:rPr lang="vi-VN" sz="1400" dirty="0"/>
                  <a:t>	</a:t>
                </a:r>
                <a:r>
                  <a:rPr lang="vi-VN" sz="1400" dirty="0">
                    <a:solidFill>
                      <a:schemeClr val="accent6">
                        <a:lumMod val="75000"/>
                      </a:schemeClr>
                    </a:solidFill>
                  </a:rPr>
                  <a:t>full</a:t>
                </a:r>
                <a:r>
                  <a:rPr lang="vi-VN" sz="1400" dirty="0"/>
                  <a:t>: mỗi Gaussian có \(\Sigma_k\) đầy đủ.</a:t>
                </a:r>
              </a:p>
              <a:p>
                <a:pPr lvl="0"/>
                <a:r>
                  <a:rPr lang="vi-VN" sz="1400" dirty="0"/>
                  <a:t>	</a:t>
                </a:r>
                <a:r>
                  <a:rPr lang="vi-VN" sz="1400" dirty="0">
                    <a:solidFill>
                      <a:schemeClr val="accent6">
                        <a:lumMod val="75000"/>
                      </a:schemeClr>
                    </a:solidFill>
                  </a:rPr>
                  <a:t>diag</a:t>
                </a:r>
                <a:r>
                  <a:rPr lang="vi-VN" sz="1400" dirty="0"/>
                  <a:t>: chỉ giữ phương sai từng chiều.</a:t>
                </a:r>
              </a:p>
              <a:p>
                <a:pPr lvl="0"/>
                <a:r>
                  <a:rPr lang="vi-VN" sz="1400" dirty="0"/>
                  <a:t>	</a:t>
                </a:r>
                <a:r>
                  <a:rPr lang="vi-VN" sz="1400" dirty="0">
                    <a:solidFill>
                      <a:schemeClr val="accent6">
                        <a:lumMod val="75000"/>
                      </a:schemeClr>
                    </a:solidFill>
                  </a:rPr>
                  <a:t>spherical</a:t>
                </a:r>
                <a:r>
                  <a:rPr lang="vi-VN" sz="1400" dirty="0"/>
                  <a:t>: mỗi Gaussian dùng một phương sai chung cho mọi chiều.</a:t>
                </a:r>
              </a:p>
              <a:p>
                <a:pPr lvl="0"/>
                <a:r>
                  <a:rPr lang="vi-VN" sz="1400" dirty="0"/>
                  <a:t>	</a:t>
                </a:r>
                <a:r>
                  <a:rPr lang="vi-VN" sz="1400" dirty="0">
                    <a:solidFill>
                      <a:schemeClr val="accent6">
                        <a:lumMod val="75000"/>
                      </a:schemeClr>
                    </a:solidFill>
                  </a:rPr>
                  <a:t>tied</a:t>
                </a:r>
                <a:r>
                  <a:rPr lang="vi-VN" sz="1400" dirty="0"/>
                  <a:t>: tất cả Gaussian dùng chung một ma trận covariance.</a:t>
                </a:r>
              </a:p>
              <a:p>
                <a:pPr lvl="0"/>
                <a:r>
                  <a:rPr lang="vi-VN" sz="1400" dirty="0"/>
                  <a:t>3. </a:t>
                </a:r>
                <a14:m>
                  <m:oMath xmlns:m="http://schemas.openxmlformats.org/officeDocument/2006/math">
                    <m:r>
                      <a:rPr lang="vi-VN" sz="1400" b="1" i="1" smtClean="0">
                        <a:solidFill>
                          <a:schemeClr val="accent3">
                            <a:lumMod val="75000"/>
                          </a:schemeClr>
                        </a:solidFill>
                        <a:latin typeface="Cambria Math" panose="02040503050406030204" pitchFamily="18" charset="0"/>
                      </a:rPr>
                      <m:t>𝜺</m:t>
                    </m:r>
                  </m:oMath>
                </a14:m>
                <a:r>
                  <a:rPr lang="vi-VN" sz="1400" b="1" dirty="0">
                    <a:solidFill>
                      <a:schemeClr val="accent3">
                        <a:lumMod val="75000"/>
                      </a:schemeClr>
                    </a:solidFill>
                  </a:rPr>
                  <a:t> / </a:t>
                </a:r>
                <a:r>
                  <a:rPr lang="vi-VN" sz="1400" b="1" i="1" dirty="0">
                    <a:solidFill>
                      <a:schemeClr val="accent3">
                        <a:lumMod val="75000"/>
                      </a:schemeClr>
                    </a:solidFill>
                  </a:rPr>
                  <a:t>tol</a:t>
                </a:r>
                <a:r>
                  <a:rPr lang="vi-VN" sz="1400" dirty="0"/>
                  <a:t>: ngưỡng hội tụ của EM.</a:t>
                </a:r>
              </a:p>
              <a:p>
                <a:pPr lvl="0"/>
                <a:r>
                  <a:rPr lang="vi-VN" sz="1400" dirty="0"/>
                  <a:t>4. </a:t>
                </a:r>
                <a:r>
                  <a:rPr lang="vi-VN" sz="1400" b="1" i="1" dirty="0">
                    <a:solidFill>
                      <a:schemeClr val="accent3">
                        <a:lumMod val="75000"/>
                      </a:schemeClr>
                    </a:solidFill>
                  </a:rPr>
                  <a:t>max_iter</a:t>
                </a:r>
                <a:r>
                  <a:rPr lang="vi-VN" sz="1400" dirty="0"/>
                  <a:t>: số vòng EM tối đa.</a:t>
                </a:r>
              </a:p>
              <a:p>
                <a:pPr lvl="0"/>
                <a:r>
                  <a:rPr lang="vi-VN" sz="1400" dirty="0"/>
                  <a:t>5. </a:t>
                </a:r>
                <a:r>
                  <a:rPr lang="vi-VN" sz="1400" b="1" i="1" dirty="0">
                    <a:solidFill>
                      <a:schemeClr val="accent3">
                        <a:lumMod val="75000"/>
                      </a:schemeClr>
                    </a:solidFill>
                  </a:rPr>
                  <a:t>n_init</a:t>
                </a:r>
                <a:r>
                  <a:rPr lang="vi-VN" sz="1400" dirty="0"/>
                  <a:t>: số lần khởi tạo khác nhau rồi chọn nghiệm tốt nhất.</a:t>
                </a:r>
              </a:p>
              <a:p>
                <a:pPr lvl="0"/>
                <a:r>
                  <a:rPr lang="vi-VN" sz="1400" dirty="0"/>
                  <a:t>6. </a:t>
                </a:r>
                <a:r>
                  <a:rPr lang="vi-VN" sz="1400" b="1" i="1" dirty="0">
                    <a:solidFill>
                      <a:schemeClr val="accent3">
                        <a:lumMod val="75000"/>
                      </a:schemeClr>
                    </a:solidFill>
                  </a:rPr>
                  <a:t>init_params</a:t>
                </a:r>
                <a:r>
                  <a:rPr lang="vi-VN" sz="1400" dirty="0"/>
                  <a:t>: cách khởi tạo, ví dụ K-Means hoặc random.</a:t>
                </a:r>
              </a:p>
              <a:p>
                <a:pPr lvl="0"/>
                <a:r>
                  <a:rPr lang="vi-VN" sz="1400" dirty="0"/>
                  <a:t>7. </a:t>
                </a:r>
                <a:r>
                  <a:rPr lang="vi-VN" sz="1400" b="1" i="1" dirty="0">
                    <a:solidFill>
                      <a:schemeClr val="accent3">
                        <a:lumMod val="75000"/>
                      </a:schemeClr>
                    </a:solidFill>
                  </a:rPr>
                  <a:t>reg_covar</a:t>
                </a:r>
                <a:r>
                  <a:rPr lang="vi-VN" sz="1400" dirty="0"/>
                  <a:t>: một số nhỏ cộng vào đường chéo của covariance để tránh ma trận suy biến.</a:t>
                </a:r>
              </a:p>
            </p:txBody>
          </p:sp>
        </mc:Choice>
        <mc:Fallback xmlns="">
          <p:sp>
            <p:nvSpPr>
              <p:cNvPr id="3" name="TextBox 2">
                <a:extLst>
                  <a:ext uri="{FF2B5EF4-FFF2-40B4-BE49-F238E27FC236}">
                    <a16:creationId xmlns:a16="http://schemas.microsoft.com/office/drawing/2014/main" id="{E8508172-EBD8-CFB1-E4BC-C8C36B7D6054}"/>
                  </a:ext>
                </a:extLst>
              </p:cNvPr>
              <p:cNvSpPr txBox="1">
                <a:spLocks noRot="1" noChangeAspect="1" noMove="1" noResize="1" noEditPoints="1" noAdjustHandles="1" noChangeArrowheads="1" noChangeShapeType="1" noTextEdit="1"/>
              </p:cNvSpPr>
              <p:nvPr/>
            </p:nvSpPr>
            <p:spPr>
              <a:xfrm>
                <a:off x="609601" y="1791761"/>
                <a:ext cx="7342075" cy="2462213"/>
              </a:xfrm>
              <a:prstGeom prst="rect">
                <a:avLst/>
              </a:prstGeom>
              <a:blipFill>
                <a:blip r:embed="rId3"/>
                <a:stretch>
                  <a:fillRect l="-346" t="-513" r="-173" b="-1538"/>
                </a:stretch>
              </a:blipFill>
            </p:spPr>
            <p:txBody>
              <a:bodyPr/>
              <a:lstStyle/>
              <a:p>
                <a:r>
                  <a:rPr lang="en-V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501B276-6A1F-6C7D-890A-E877F977F0C8}"/>
                  </a:ext>
                </a:extLst>
              </p:cNvPr>
              <p:cNvSpPr txBox="1"/>
              <p:nvPr/>
            </p:nvSpPr>
            <p:spPr>
              <a:xfrm>
                <a:off x="609601" y="5067008"/>
                <a:ext cx="6138332" cy="523220"/>
              </a:xfrm>
              <a:prstGeom prst="rect">
                <a:avLst/>
              </a:prstGeom>
              <a:noFill/>
            </p:spPr>
            <p:txBody>
              <a:bodyPr wrap="square">
                <a:spAutoFit/>
              </a:bodyPr>
              <a:lstStyle/>
              <a:p>
                <a:pPr lvl="0"/>
                <a:r>
                  <a:rPr lang="vi-VN" sz="1400" dirty="0"/>
                  <a:t>Trong đó, để mắt đến </a:t>
                </a:r>
                <a14:m>
                  <m:oMath xmlns:m="http://schemas.openxmlformats.org/officeDocument/2006/math">
                    <m:r>
                      <a:rPr lang="vi-VN" sz="1400" b="1" i="1" dirty="0">
                        <a:solidFill>
                          <a:schemeClr val="accent3">
                            <a:lumMod val="75000"/>
                          </a:schemeClr>
                        </a:solidFill>
                        <a:latin typeface="Cambria Math" panose="02040503050406030204" pitchFamily="18" charset="0"/>
                      </a:rPr>
                      <m:t>𝑲</m:t>
                    </m:r>
                  </m:oMath>
                </a14:m>
                <a:r>
                  <a:rPr lang="vi-VN" sz="1400" dirty="0"/>
                  <a:t> và </a:t>
                </a:r>
                <a:r>
                  <a:rPr lang="vi-VN" sz="1400" b="1" i="1" dirty="0">
                    <a:solidFill>
                      <a:schemeClr val="accent3">
                        <a:lumMod val="75000"/>
                      </a:schemeClr>
                    </a:solidFill>
                  </a:rPr>
                  <a:t>covariance_type</a:t>
                </a:r>
                <a:r>
                  <a:rPr lang="vi-VN" sz="1400" dirty="0"/>
                  <a:t> và </a:t>
                </a:r>
                <a14:m>
                  <m:oMath xmlns:m="http://schemas.openxmlformats.org/officeDocument/2006/math">
                    <m:r>
                      <a:rPr lang="vi-VN" sz="1400" b="1" i="1">
                        <a:solidFill>
                          <a:schemeClr val="accent3">
                            <a:lumMod val="75000"/>
                          </a:schemeClr>
                        </a:solidFill>
                        <a:latin typeface="Cambria Math" panose="02040503050406030204" pitchFamily="18" charset="0"/>
                      </a:rPr>
                      <m:t>𝜺</m:t>
                    </m:r>
                  </m:oMath>
                </a14:m>
                <a:r>
                  <a:rPr lang="vi-VN" sz="1400" dirty="0"/>
                  <a:t> và </a:t>
                </a:r>
                <a:r>
                  <a:rPr lang="vi-VN" sz="1400" b="1" i="1" dirty="0">
                    <a:solidFill>
                      <a:schemeClr val="accent3">
                        <a:lumMod val="75000"/>
                      </a:schemeClr>
                    </a:solidFill>
                  </a:rPr>
                  <a:t>reg_covar </a:t>
                </a:r>
                <a:r>
                  <a:rPr lang="vi-VN" sz="1400" dirty="0"/>
                  <a:t>vì chúng ảnh hưởng trực tiếp đến kết quả cuối của mô hình và điều kiện hội tụ</a:t>
                </a:r>
              </a:p>
            </p:txBody>
          </p:sp>
        </mc:Choice>
        <mc:Fallback xmlns="">
          <p:sp>
            <p:nvSpPr>
              <p:cNvPr id="9" name="TextBox 8">
                <a:extLst>
                  <a:ext uri="{FF2B5EF4-FFF2-40B4-BE49-F238E27FC236}">
                    <a16:creationId xmlns:a16="http://schemas.microsoft.com/office/drawing/2014/main" id="{5501B276-6A1F-6C7D-890A-E877F977F0C8}"/>
                  </a:ext>
                </a:extLst>
              </p:cNvPr>
              <p:cNvSpPr txBox="1">
                <a:spLocks noRot="1" noChangeAspect="1" noMove="1" noResize="1" noEditPoints="1" noAdjustHandles="1" noChangeArrowheads="1" noChangeShapeType="1" noTextEdit="1"/>
              </p:cNvSpPr>
              <p:nvPr/>
            </p:nvSpPr>
            <p:spPr>
              <a:xfrm>
                <a:off x="609601" y="5067008"/>
                <a:ext cx="6138332" cy="523220"/>
              </a:xfrm>
              <a:prstGeom prst="rect">
                <a:avLst/>
              </a:prstGeom>
              <a:blipFill>
                <a:blip r:embed="rId4"/>
                <a:stretch>
                  <a:fillRect l="-413" t="-2326" b="-9302"/>
                </a:stretch>
              </a:blipFill>
            </p:spPr>
            <p:txBody>
              <a:bodyPr/>
              <a:lstStyle/>
              <a:p>
                <a:r>
                  <a:rPr lang="en-VN">
                    <a:noFill/>
                  </a:rPr>
                  <a:t> </a:t>
                </a:r>
              </a:p>
            </p:txBody>
          </p:sp>
        </mc:Fallback>
      </mc:AlternateContent>
    </p:spTree>
    <p:extLst>
      <p:ext uri="{BB962C8B-B14F-4D97-AF65-F5344CB8AC3E}">
        <p14:creationId xmlns:p14="http://schemas.microsoft.com/office/powerpoint/2010/main" val="146727844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AAF887-6340-6FC1-BF60-764891ED24B5}"/>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C718377-7646-8773-AC4A-BD99BFA0F081}"/>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31EB255C-7859-B9A9-468F-CC1A1FB6190F}"/>
                  </a:ext>
                </a:extLst>
              </p:cNvPr>
              <p:cNvSpPr txBox="1"/>
              <p:nvPr/>
            </p:nvSpPr>
            <p:spPr>
              <a:xfrm>
                <a:off x="364066" y="1267772"/>
                <a:ext cx="10961159" cy="307777"/>
              </a:xfrm>
              <a:prstGeom prst="rect">
                <a:avLst/>
              </a:prstGeom>
              <a:noFill/>
            </p:spPr>
            <p:txBody>
              <a:bodyPr wrap="square">
                <a:spAutoFit/>
              </a:bodyPr>
              <a:lstStyle/>
              <a:p>
                <a:pPr>
                  <a:spcAft>
                    <a:spcPts val="600"/>
                  </a:spcAft>
                </a:pPr>
                <a:r>
                  <a:rPr lang="vi-VN" sz="1400" b="1" dirty="0">
                    <a:solidFill>
                      <a:srgbClr val="1B8A7A"/>
                    </a:solidFill>
                    <a:latin typeface="Arial"/>
                  </a:rPr>
                  <a:t>Vấn đề xung quanh GMM: Ma trận hiệp phương sai </a:t>
                </a:r>
                <a14:m>
                  <m:oMath xmlns:m="http://schemas.openxmlformats.org/officeDocument/2006/math">
                    <m:r>
                      <a:rPr lang="en-US" sz="1400" i="1">
                        <a:latin typeface="Cambria Math" panose="02040503050406030204" pitchFamily="18" charset="0"/>
                      </a:rPr>
                      <m:t>𝛴</m:t>
                    </m:r>
                  </m:oMath>
                </a14:m>
                <a:r>
                  <a:rPr lang="vi-VN" sz="1400" b="1" dirty="0">
                    <a:solidFill>
                      <a:srgbClr val="1B8A7A"/>
                    </a:solidFill>
                    <a:latin typeface="Arial"/>
                  </a:rPr>
                  <a:t> bị suy biến (định thức = 0)</a:t>
                </a:r>
              </a:p>
            </p:txBody>
          </p:sp>
        </mc:Choice>
        <mc:Fallback>
          <p:sp>
            <p:nvSpPr>
              <p:cNvPr id="4" name="TextBox 3">
                <a:extLst>
                  <a:ext uri="{FF2B5EF4-FFF2-40B4-BE49-F238E27FC236}">
                    <a16:creationId xmlns:a16="http://schemas.microsoft.com/office/drawing/2014/main" id="{31EB255C-7859-B9A9-468F-CC1A1FB6190F}"/>
                  </a:ext>
                </a:extLst>
              </p:cNvPr>
              <p:cNvSpPr txBox="1">
                <a:spLocks noRot="1" noChangeAspect="1" noMove="1" noResize="1" noEditPoints="1" noAdjustHandles="1" noChangeArrowheads="1" noChangeShapeType="1" noTextEdit="1"/>
              </p:cNvSpPr>
              <p:nvPr/>
            </p:nvSpPr>
            <p:spPr>
              <a:xfrm>
                <a:off x="364066" y="1267772"/>
                <a:ext cx="10961159" cy="307777"/>
              </a:xfrm>
              <a:prstGeom prst="rect">
                <a:avLst/>
              </a:prstGeom>
              <a:blipFill>
                <a:blip r:embed="rId3"/>
                <a:stretch>
                  <a:fillRect l="-116" t="-4000" b="-2400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E3AAB547-810D-A33D-B6CF-7EFEBBE17D98}"/>
                  </a:ext>
                </a:extLst>
              </p:cNvPr>
              <p:cNvSpPr txBox="1"/>
              <p:nvPr/>
            </p:nvSpPr>
            <p:spPr>
              <a:xfrm>
                <a:off x="609602" y="1798226"/>
                <a:ext cx="4478865" cy="523220"/>
              </a:xfrm>
              <a:prstGeom prst="rect">
                <a:avLst/>
              </a:prstGeom>
              <a:noFill/>
            </p:spPr>
            <p:txBody>
              <a:bodyPr wrap="square" rtlCol="0">
                <a:spAutoFit/>
              </a:bodyPr>
              <a:lstStyle/>
              <a:p>
                <a:pPr lvl="0"/>
                <a:r>
                  <a:rPr lang="vi-VN" sz="1400" dirty="0">
                    <a:latin typeface="Arial" panose="020B0604020202020204" pitchFamily="34" charset="0"/>
                    <a:cs typeface="Arial" panose="020B0604020202020204" pitchFamily="34" charset="0"/>
                  </a:rPr>
                  <a:t>Hậu quả nếu </a:t>
                </a:r>
                <a:r>
                  <a:rPr lang="vi-VN" sz="1400" dirty="0">
                    <a:cs typeface="Arial" panose="020B0604020202020204" pitchFamily="34" charset="0"/>
                  </a:rPr>
                  <a:t>ma trận </a:t>
                </a:r>
                <a14:m>
                  <m:oMath xmlns:m="http://schemas.openxmlformats.org/officeDocument/2006/math">
                    <m:r>
                      <a:rPr lang="en-US" sz="1400" i="1">
                        <a:latin typeface="Cambria Math" panose="02040503050406030204" pitchFamily="18" charset="0"/>
                      </a:rPr>
                      <m:t>𝛴</m:t>
                    </m:r>
                  </m:oMath>
                </a14:m>
                <a:r>
                  <a:rPr lang="vi-VN" sz="1400" dirty="0">
                    <a:cs typeface="Arial" panose="020B0604020202020204" pitchFamily="34" charset="0"/>
                  </a:rPr>
                  <a:t> bị suy biến</a:t>
                </a:r>
                <a:r>
                  <a:rPr lang="vi-VN" sz="1400" dirty="0">
                    <a:latin typeface="Arial" panose="020B0604020202020204" pitchFamily="34" charset="0"/>
                    <a:cs typeface="Arial" panose="020B0604020202020204" pitchFamily="34" charset="0"/>
                  </a:rPr>
                  <a:t>:</a:t>
                </a:r>
              </a:p>
              <a:p>
                <a:pPr lvl="0"/>
                <a:r>
                  <a:rPr lang="vi-VN" sz="1400" dirty="0">
                    <a:latin typeface="Arial" panose="020B0604020202020204" pitchFamily="34" charset="0"/>
                    <a:cs typeface="Arial" panose="020B0604020202020204" pitchFamily="34" charset="0"/>
                  </a:rPr>
                  <a:t>Sập </a:t>
                </a:r>
                <a:r>
                  <a:rPr lang="vi-VN" sz="1400" dirty="0">
                    <a:cs typeface="Arial" panose="020B0604020202020204" pitchFamily="34" charset="0"/>
                  </a:rPr>
                  <a:t>(không thể vẽ) </a:t>
                </a:r>
                <a:r>
                  <a:rPr lang="vi-VN" sz="1400" dirty="0">
                    <a:latin typeface="Arial" panose="020B0604020202020204" pitchFamily="34" charset="0"/>
                    <a:cs typeface="Arial" panose="020B0604020202020204" pitchFamily="34" charset="0"/>
                  </a:rPr>
                  <a:t>mô hình GMM vì 2 lý do:</a:t>
                </a:r>
              </a:p>
            </p:txBody>
          </p:sp>
        </mc:Choice>
        <mc:Fallback>
          <p:sp>
            <p:nvSpPr>
              <p:cNvPr id="7" name="TextBox 6">
                <a:extLst>
                  <a:ext uri="{FF2B5EF4-FFF2-40B4-BE49-F238E27FC236}">
                    <a16:creationId xmlns:a16="http://schemas.microsoft.com/office/drawing/2014/main" id="{E3AAB547-810D-A33D-B6CF-7EFEBBE17D98}"/>
                  </a:ext>
                </a:extLst>
              </p:cNvPr>
              <p:cNvSpPr txBox="1">
                <a:spLocks noRot="1" noChangeAspect="1" noMove="1" noResize="1" noEditPoints="1" noAdjustHandles="1" noChangeArrowheads="1" noChangeShapeType="1" noTextEdit="1"/>
              </p:cNvSpPr>
              <p:nvPr/>
            </p:nvSpPr>
            <p:spPr>
              <a:xfrm>
                <a:off x="609602" y="1798226"/>
                <a:ext cx="4478865" cy="523220"/>
              </a:xfrm>
              <a:prstGeom prst="rect">
                <a:avLst/>
              </a:prstGeom>
              <a:blipFill>
                <a:blip r:embed="rId4"/>
                <a:stretch>
                  <a:fillRect l="-567" t="-2381" b="-9524"/>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2332B134-0312-21DD-349D-568677A946B8}"/>
                  </a:ext>
                </a:extLst>
              </p:cNvPr>
              <p:cNvSpPr txBox="1"/>
              <p:nvPr/>
            </p:nvSpPr>
            <p:spPr>
              <a:xfrm>
                <a:off x="6095847" y="2094574"/>
                <a:ext cx="5373202" cy="610039"/>
              </a:xfrm>
              <a:prstGeom prst="rect">
                <a:avLst/>
              </a:prstGeom>
              <a:noFill/>
            </p:spPr>
            <p:txBody>
              <a:bodyPr wrap="none" lIns="0" tIns="0" rIns="0" bIns="0" rtlCol="0">
                <a:spAutoFit/>
              </a:bodyPr>
              <a:lstStyle/>
              <a:p>
                <a14:m>
                  <m:oMathPara xmlns:m="http://schemas.openxmlformats.org/officeDocument/2006/math">
                    <m:oMath>
                      <m:r>
                        <m:rPr>
                          <m:nor/>
                        </m:rPr>
                        <a:rPr lang="en-US" sz="1400" i="0" smtClean="0">
                          <a:latin typeface="Cambria Math" panose="02040503050406030204" pitchFamily="18" charset="0"/>
                        </a:rPr>
                        <m:t>GMM</m:t>
                      </m:r>
                      <m:d>
                        <m:dPr>
                          <m:ctrlPr>
                            <a:rPr lang="en-US" sz="1400" b="0" i="1">
                              <a:latin typeface="Cambria Math" panose="02040503050406030204" pitchFamily="18" charset="0"/>
                            </a:rPr>
                          </m:ctrlPr>
                        </m:dPr>
                        <m:e>
                          <m:r>
                            <a:rPr lang="en-US" sz="1400" b="0" i="1">
                              <a:latin typeface="Cambria Math" panose="02040503050406030204" pitchFamily="18" charset="0"/>
                            </a:rPr>
                            <m:t>𝑥</m:t>
                          </m:r>
                          <m:r>
                            <a:rPr lang="en-US" sz="1400" b="0" i="1">
                              <a:latin typeface="Cambria Math" panose="02040503050406030204" pitchFamily="18" charset="0"/>
                            </a:rPr>
                            <m:t>∣</m:t>
                          </m:r>
                          <m:r>
                            <a:rPr lang="en-US" sz="1400" b="0" i="1">
                              <a:latin typeface="Cambria Math" panose="02040503050406030204" pitchFamily="18" charset="0"/>
                            </a:rPr>
                            <m:t>𝜋</m:t>
                          </m:r>
                          <m:r>
                            <a:rPr lang="en-US" sz="1400" b="0" i="1">
                              <a:latin typeface="Cambria Math" panose="02040503050406030204" pitchFamily="18" charset="0"/>
                            </a:rPr>
                            <m:t>,</m:t>
                          </m:r>
                          <m:r>
                            <a:rPr lang="en-US" sz="1400" b="0" i="1">
                              <a:latin typeface="Cambria Math" panose="02040503050406030204" pitchFamily="18" charset="0"/>
                            </a:rPr>
                            <m:t>𝜇</m:t>
                          </m:r>
                          <m:r>
                            <a:rPr lang="en-US" sz="1400" b="0" i="1">
                              <a:latin typeface="Cambria Math" panose="02040503050406030204" pitchFamily="18" charset="0"/>
                            </a:rPr>
                            <m:t>,</m:t>
                          </m:r>
                          <m:r>
                            <a:rPr lang="en-US" sz="1400" b="0" i="1">
                              <a:latin typeface="Cambria Math" panose="02040503050406030204" pitchFamily="18" charset="0"/>
                            </a:rPr>
                            <m:t>𝛴</m:t>
                          </m:r>
                        </m:e>
                      </m:d>
                      <m:r>
                        <a:rPr lang="en-US" sz="1400" b="0" i="1">
                          <a:latin typeface="Cambria Math" panose="02040503050406030204" pitchFamily="18" charset="0"/>
                        </a:rPr>
                        <m:t>=</m:t>
                      </m:r>
                      <m:nary>
                        <m:naryPr>
                          <m:chr m:val="∑"/>
                          <m:limLoc m:val="undOvr"/>
                          <m:ctrlPr>
                            <a:rPr lang="en-US" sz="1400" b="0" i="1">
                              <a:latin typeface="Cambria Math" panose="02040503050406030204" pitchFamily="18" charset="0"/>
                            </a:rPr>
                          </m:ctrlPr>
                        </m:naryPr>
                        <m:sub>
                          <m:r>
                            <a:rPr lang="en-US" sz="1400" b="0" i="1">
                              <a:latin typeface="Cambria Math" panose="02040503050406030204" pitchFamily="18" charset="0"/>
                            </a:rPr>
                            <m:t>𝑘</m:t>
                          </m:r>
                          <m:r>
                            <a:rPr lang="en-US" sz="1400" b="0" i="1">
                              <a:latin typeface="Cambria Math" panose="02040503050406030204" pitchFamily="18" charset="0"/>
                            </a:rPr>
                            <m:t>=1</m:t>
                          </m:r>
                        </m:sub>
                        <m:sup>
                          <m:r>
                            <a:rPr lang="en-US" sz="1400" b="0" i="1">
                              <a:latin typeface="Cambria Math" panose="02040503050406030204" pitchFamily="18" charset="0"/>
                            </a:rPr>
                            <m:t>𝐾</m:t>
                          </m:r>
                        </m:sup>
                        <m:e>
                          <m:f>
                            <m:fPr>
                              <m:ctrlPr>
                                <a:rPr lang="en-US" sz="1400" i="1">
                                  <a:latin typeface="Cambria Math" panose="02040503050406030204" pitchFamily="18" charset="0"/>
                                </a:rPr>
                              </m:ctrlPr>
                            </m:fPr>
                            <m:num>
                              <m:sSub>
                                <m:sSubPr>
                                  <m:ctrlPr>
                                    <a:rPr lang="en-US" sz="1400" b="0" i="1">
                                      <a:latin typeface="Cambria Math" panose="02040503050406030204" pitchFamily="18" charset="0"/>
                                    </a:rPr>
                                  </m:ctrlPr>
                                </m:sSubPr>
                                <m:e>
                                  <m:r>
                                    <a:rPr lang="en-US" sz="1400" b="0" i="1">
                                      <a:latin typeface="Cambria Math" panose="02040503050406030204" pitchFamily="18" charset="0"/>
                                    </a:rPr>
                                    <m:t>𝜋</m:t>
                                  </m:r>
                                </m:e>
                                <m:sub>
                                  <m:r>
                                    <a:rPr lang="en-US" sz="1400" b="0" i="1">
                                      <a:latin typeface="Cambria Math" panose="02040503050406030204" pitchFamily="18" charset="0"/>
                                    </a:rPr>
                                    <m:t>𝑘</m:t>
                                  </m:r>
                                </m:sub>
                              </m:sSub>
                            </m:num>
                            <m:den>
                              <m:rad>
                                <m:radPr>
                                  <m:degHide m:val="on"/>
                                  <m:ctrlPr>
                                    <a:rPr lang="en-US" sz="1400" i="1">
                                      <a:latin typeface="Cambria Math" panose="02040503050406030204" pitchFamily="18" charset="0"/>
                                    </a:rPr>
                                  </m:ctrlPr>
                                </m:radPr>
                                <m:deg/>
                                <m:e>
                                  <m:sSup>
                                    <m:sSupPr>
                                      <m:ctrlPr>
                                        <a:rPr lang="en-US" sz="1400" i="1">
                                          <a:latin typeface="Cambria Math" panose="02040503050406030204" pitchFamily="18" charset="0"/>
                                        </a:rPr>
                                      </m:ctrlPr>
                                    </m:sSupPr>
                                    <m:e>
                                      <m:d>
                                        <m:dPr>
                                          <m:ctrlPr>
                                            <a:rPr lang="en-US" sz="1400" b="0" i="1">
                                              <a:latin typeface="Cambria Math" panose="02040503050406030204" pitchFamily="18" charset="0"/>
                                            </a:rPr>
                                          </m:ctrlPr>
                                        </m:dPr>
                                        <m:e>
                                          <m:r>
                                            <a:rPr lang="en-US" sz="1400" b="0" i="1">
                                              <a:latin typeface="Cambria Math" panose="02040503050406030204" pitchFamily="18" charset="0"/>
                                            </a:rPr>
                                            <m:t>2</m:t>
                                          </m:r>
                                          <m:r>
                                            <a:rPr lang="en-US" sz="1400" b="0" i="1">
                                              <a:latin typeface="Cambria Math" panose="02040503050406030204" pitchFamily="18" charset="0"/>
                                            </a:rPr>
                                            <m:t>𝜋</m:t>
                                          </m:r>
                                        </m:e>
                                      </m:d>
                                    </m:e>
                                    <m:sup>
                                      <m:r>
                                        <a:rPr lang="en-US" sz="1400" b="0" i="1">
                                          <a:latin typeface="Cambria Math" panose="02040503050406030204" pitchFamily="18" charset="0"/>
                                        </a:rPr>
                                        <m:t>𝑑</m:t>
                                      </m:r>
                                    </m:sup>
                                  </m:sSup>
                                  <m:d>
                                    <m:dPr>
                                      <m:begChr m:val="|"/>
                                      <m:endChr m:val="|"/>
                                      <m:ctrlPr>
                                        <a:rPr lang="en-US" sz="1400" i="1">
                                          <a:solidFill>
                                            <a:schemeClr val="tx1"/>
                                          </a:solidFill>
                                          <a:latin typeface="Cambria Math" panose="02040503050406030204" pitchFamily="18" charset="0"/>
                                        </a:rPr>
                                      </m:ctrlPr>
                                    </m:dPr>
                                    <m:e>
                                      <m:sSub>
                                        <m:sSubPr>
                                          <m:ctrlPr>
                                            <a:rPr lang="en-US" sz="1400" b="0" i="1">
                                              <a:solidFill>
                                                <a:schemeClr val="tx1"/>
                                              </a:solidFill>
                                              <a:latin typeface="Cambria Math" panose="02040503050406030204" pitchFamily="18" charset="0"/>
                                            </a:rPr>
                                          </m:ctrlPr>
                                        </m:sSubPr>
                                        <m:e>
                                          <m:r>
                                            <a:rPr lang="en-US" sz="1400" b="0" i="1">
                                              <a:solidFill>
                                                <a:schemeClr val="tx1"/>
                                              </a:solidFill>
                                              <a:latin typeface="Cambria Math" panose="02040503050406030204" pitchFamily="18" charset="0"/>
                                            </a:rPr>
                                            <m:t>𝛴</m:t>
                                          </m:r>
                                        </m:e>
                                        <m:sub>
                                          <m:r>
                                            <a:rPr lang="en-US" sz="1400" b="0" i="1">
                                              <a:solidFill>
                                                <a:schemeClr val="tx1"/>
                                              </a:solidFill>
                                              <a:latin typeface="Cambria Math" panose="02040503050406030204" pitchFamily="18" charset="0"/>
                                            </a:rPr>
                                            <m:t>𝑘</m:t>
                                          </m:r>
                                        </m:sub>
                                      </m:sSub>
                                    </m:e>
                                  </m:d>
                                </m:e>
                              </m:rad>
                            </m:den>
                          </m:f>
                        </m:e>
                      </m:nary>
                      <m:func>
                        <m:funcPr>
                          <m:ctrlPr>
                            <a:rPr lang="en-US" sz="1400" b="0" i="1">
                              <a:latin typeface="Cambria Math" panose="02040503050406030204" pitchFamily="18" charset="0"/>
                            </a:rPr>
                          </m:ctrlPr>
                        </m:funcPr>
                        <m:fName>
                          <m:r>
                            <a:rPr lang="en-US" sz="1400" b="0" i="1">
                              <a:latin typeface="Cambria Math" panose="02040503050406030204" pitchFamily="18" charset="0"/>
                            </a:rPr>
                            <m:t>𝑒𝑥𝑝</m:t>
                          </m:r>
                        </m:fName>
                        <m:e>
                          <m:d>
                            <m:dPr>
                              <m:ctrlPr>
                                <a:rPr lang="en-US" sz="1400" b="0" i="1">
                                  <a:latin typeface="Cambria Math" panose="02040503050406030204" pitchFamily="18" charset="0"/>
                                </a:rPr>
                              </m:ctrlPr>
                            </m:dPr>
                            <m:e>
                              <m:r>
                                <a:rPr lang="en-US" sz="1400" b="0" i="1">
                                  <a:latin typeface="Cambria Math" panose="02040503050406030204" pitchFamily="18" charset="0"/>
                                </a:rPr>
                                <m:t>−</m:t>
                              </m:r>
                              <m:f>
                                <m:fPr>
                                  <m:ctrlPr>
                                    <a:rPr lang="en-US" sz="1400" b="0" i="1">
                                      <a:latin typeface="Cambria Math" panose="02040503050406030204" pitchFamily="18" charset="0"/>
                                    </a:rPr>
                                  </m:ctrlPr>
                                </m:fPr>
                                <m:num>
                                  <m:r>
                                    <a:rPr lang="en-US" sz="1400" b="0" i="1">
                                      <a:latin typeface="Cambria Math" panose="02040503050406030204" pitchFamily="18" charset="0"/>
                                    </a:rPr>
                                    <m:t>1</m:t>
                                  </m:r>
                                </m:num>
                                <m:den>
                                  <m:r>
                                    <a:rPr lang="en-US" sz="1400" b="0" i="1">
                                      <a:latin typeface="Cambria Math" panose="02040503050406030204" pitchFamily="18" charset="0"/>
                                    </a:rPr>
                                    <m:t>2</m:t>
                                  </m:r>
                                </m:den>
                              </m:f>
                              <m:sSup>
                                <m:sSupPr>
                                  <m:ctrlPr>
                                    <a:rPr lang="en-US" sz="1400" i="1">
                                      <a:latin typeface="Cambria Math" panose="02040503050406030204" pitchFamily="18" charset="0"/>
                                    </a:rPr>
                                  </m:ctrlPr>
                                </m:sSupPr>
                                <m:e>
                                  <m:d>
                                    <m:dPr>
                                      <m:ctrlPr>
                                        <a:rPr lang="en-US" sz="1400" b="0" i="1">
                                          <a:latin typeface="Cambria Math" panose="02040503050406030204" pitchFamily="18" charset="0"/>
                                        </a:rPr>
                                      </m:ctrlPr>
                                    </m:dPr>
                                    <m:e>
                                      <m:r>
                                        <a:rPr lang="en-US" sz="1400" b="0" i="1">
                                          <a:latin typeface="Cambria Math" panose="02040503050406030204" pitchFamily="18" charset="0"/>
                                        </a:rPr>
                                        <m:t>𝑥</m:t>
                                      </m:r>
                                      <m:r>
                                        <a:rPr lang="en-US" sz="1400" b="0" i="1">
                                          <a:latin typeface="Cambria Math" panose="02040503050406030204" pitchFamily="18" charset="0"/>
                                        </a:rPr>
                                        <m:t>−</m:t>
                                      </m:r>
                                      <m:sSub>
                                        <m:sSubPr>
                                          <m:ctrlPr>
                                            <a:rPr lang="en-US" sz="1400" b="0" i="1">
                                              <a:latin typeface="Cambria Math" panose="02040503050406030204" pitchFamily="18" charset="0"/>
                                            </a:rPr>
                                          </m:ctrlPr>
                                        </m:sSubPr>
                                        <m:e>
                                          <m:r>
                                            <a:rPr lang="en-US" sz="1400" b="0" i="1">
                                              <a:latin typeface="Cambria Math" panose="02040503050406030204" pitchFamily="18" charset="0"/>
                                            </a:rPr>
                                            <m:t>𝜇</m:t>
                                          </m:r>
                                        </m:e>
                                        <m:sub>
                                          <m:r>
                                            <a:rPr lang="en-US" sz="1400" b="0" i="1">
                                              <a:latin typeface="Cambria Math" panose="02040503050406030204" pitchFamily="18" charset="0"/>
                                            </a:rPr>
                                            <m:t>𝑘</m:t>
                                          </m:r>
                                        </m:sub>
                                      </m:sSub>
                                    </m:e>
                                  </m:d>
                                </m:e>
                                <m:sup>
                                  <m:r>
                                    <a:rPr lang="en-US" sz="1400" b="0" i="1">
                                      <a:latin typeface="Cambria Math" panose="02040503050406030204" pitchFamily="18" charset="0"/>
                                    </a:rPr>
                                    <m:t>𝑇</m:t>
                                  </m:r>
                                </m:sup>
                              </m:sSup>
                              <m:sSubSup>
                                <m:sSubSupPr>
                                  <m:ctrlPr>
                                    <a:rPr lang="en-US" sz="1400" b="0" i="1">
                                      <a:solidFill>
                                        <a:schemeClr val="tx1"/>
                                      </a:solidFill>
                                      <a:latin typeface="Cambria Math" panose="02040503050406030204" pitchFamily="18" charset="0"/>
                                    </a:rPr>
                                  </m:ctrlPr>
                                </m:sSubSupPr>
                                <m:e>
                                  <m:r>
                                    <a:rPr lang="en-US" sz="1400" b="0" i="1">
                                      <a:solidFill>
                                        <a:schemeClr val="tx1"/>
                                      </a:solidFill>
                                      <a:latin typeface="Cambria Math" panose="02040503050406030204" pitchFamily="18" charset="0"/>
                                    </a:rPr>
                                    <m:t>𝛴</m:t>
                                  </m:r>
                                </m:e>
                                <m:sub>
                                  <m:r>
                                    <a:rPr lang="en-US" sz="1400" b="0" i="1">
                                      <a:solidFill>
                                        <a:schemeClr val="tx1"/>
                                      </a:solidFill>
                                      <a:latin typeface="Cambria Math" panose="02040503050406030204" pitchFamily="18" charset="0"/>
                                    </a:rPr>
                                    <m:t>𝑘</m:t>
                                  </m:r>
                                </m:sub>
                                <m:sup>
                                  <m:r>
                                    <a:rPr lang="en-US" sz="1400" b="0" i="1">
                                      <a:solidFill>
                                        <a:schemeClr val="tx1"/>
                                      </a:solidFill>
                                      <a:latin typeface="Cambria Math" panose="02040503050406030204" pitchFamily="18" charset="0"/>
                                    </a:rPr>
                                    <m:t>−1</m:t>
                                  </m:r>
                                </m:sup>
                              </m:sSubSup>
                              <m:d>
                                <m:dPr>
                                  <m:ctrlPr>
                                    <a:rPr lang="en-US" sz="1400" b="0" i="1">
                                      <a:latin typeface="Cambria Math" panose="02040503050406030204" pitchFamily="18" charset="0"/>
                                    </a:rPr>
                                  </m:ctrlPr>
                                </m:dPr>
                                <m:e>
                                  <m:r>
                                    <a:rPr lang="en-US" sz="1400" b="0" i="1">
                                      <a:latin typeface="Cambria Math" panose="02040503050406030204" pitchFamily="18" charset="0"/>
                                    </a:rPr>
                                    <m:t>𝑥</m:t>
                                  </m:r>
                                  <m:r>
                                    <a:rPr lang="en-US" sz="1400" b="0" i="1">
                                      <a:latin typeface="Cambria Math" panose="02040503050406030204" pitchFamily="18" charset="0"/>
                                    </a:rPr>
                                    <m:t>−</m:t>
                                  </m:r>
                                  <m:sSub>
                                    <m:sSubPr>
                                      <m:ctrlPr>
                                        <a:rPr lang="en-US" sz="1400" b="0" i="1">
                                          <a:latin typeface="Cambria Math" panose="02040503050406030204" pitchFamily="18" charset="0"/>
                                        </a:rPr>
                                      </m:ctrlPr>
                                    </m:sSubPr>
                                    <m:e>
                                      <m:r>
                                        <a:rPr lang="en-US" sz="1400" b="0" i="1">
                                          <a:latin typeface="Cambria Math" panose="02040503050406030204" pitchFamily="18" charset="0"/>
                                        </a:rPr>
                                        <m:t>𝜇</m:t>
                                      </m:r>
                                    </m:e>
                                    <m:sub>
                                      <m:r>
                                        <a:rPr lang="en-US" sz="1400" b="0" i="1">
                                          <a:latin typeface="Cambria Math" panose="02040503050406030204" pitchFamily="18" charset="0"/>
                                        </a:rPr>
                                        <m:t>𝑘</m:t>
                                      </m:r>
                                    </m:sub>
                                  </m:sSub>
                                </m:e>
                              </m:d>
                            </m:e>
                          </m:d>
                        </m:e>
                      </m:func>
                    </m:oMath>
                  </m:oMathPara>
                </a14:m>
                <a:endParaRPr lang="en-VN" dirty="0"/>
              </a:p>
            </p:txBody>
          </p:sp>
        </mc:Choice>
        <mc:Fallback>
          <p:sp>
            <p:nvSpPr>
              <p:cNvPr id="12" name="TextBox 11">
                <a:extLst>
                  <a:ext uri="{FF2B5EF4-FFF2-40B4-BE49-F238E27FC236}">
                    <a16:creationId xmlns:a16="http://schemas.microsoft.com/office/drawing/2014/main" id="{2332B134-0312-21DD-349D-568677A946B8}"/>
                  </a:ext>
                </a:extLst>
              </p:cNvPr>
              <p:cNvSpPr txBox="1">
                <a:spLocks noRot="1" noChangeAspect="1" noMove="1" noResize="1" noEditPoints="1" noAdjustHandles="1" noChangeArrowheads="1" noChangeShapeType="1" noTextEdit="1"/>
              </p:cNvSpPr>
              <p:nvPr/>
            </p:nvSpPr>
            <p:spPr>
              <a:xfrm>
                <a:off x="6095847" y="2094574"/>
                <a:ext cx="5373202" cy="610039"/>
              </a:xfrm>
              <a:prstGeom prst="rect">
                <a:avLst/>
              </a:prstGeom>
              <a:blipFill>
                <a:blip r:embed="rId5"/>
                <a:stretch>
                  <a:fillRect t="-114286" b="-175510"/>
                </a:stretch>
              </a:blipFill>
            </p:spPr>
            <p:txBody>
              <a:bodyPr/>
              <a:lstStyle/>
              <a:p>
                <a:r>
                  <a:rPr lang="en-VN">
                    <a:noFill/>
                  </a:rPr>
                  <a:t> </a:t>
                </a:r>
              </a:p>
            </p:txBody>
          </p:sp>
        </mc:Fallback>
      </mc:AlternateContent>
    </p:spTree>
    <p:extLst>
      <p:ext uri="{BB962C8B-B14F-4D97-AF65-F5344CB8AC3E}">
        <p14:creationId xmlns:p14="http://schemas.microsoft.com/office/powerpoint/2010/main" val="160375009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33C1E-D3BF-2DFA-9C5B-6135952FA95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E0847092-2110-3836-D391-803DA179BA10}"/>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2875C176-1F5D-32AA-9698-57A0A708E123}"/>
                  </a:ext>
                </a:extLst>
              </p:cNvPr>
              <p:cNvSpPr txBox="1"/>
              <p:nvPr/>
            </p:nvSpPr>
            <p:spPr>
              <a:xfrm>
                <a:off x="364066" y="1267772"/>
                <a:ext cx="10961159" cy="307777"/>
              </a:xfrm>
              <a:prstGeom prst="rect">
                <a:avLst/>
              </a:prstGeom>
              <a:noFill/>
            </p:spPr>
            <p:txBody>
              <a:bodyPr wrap="square">
                <a:spAutoFit/>
              </a:bodyPr>
              <a:lstStyle/>
              <a:p>
                <a:pPr>
                  <a:spcAft>
                    <a:spcPts val="600"/>
                  </a:spcAft>
                </a:pPr>
                <a:r>
                  <a:rPr lang="vi-VN" sz="1400" b="1" dirty="0">
                    <a:solidFill>
                      <a:srgbClr val="1B8A7A"/>
                    </a:solidFill>
                    <a:latin typeface="Arial"/>
                  </a:rPr>
                  <a:t>Vấn đề xung quanh GMM: Ma trận hiệp phương sai </a:t>
                </a:r>
                <a14:m>
                  <m:oMath xmlns:m="http://schemas.openxmlformats.org/officeDocument/2006/math">
                    <m:r>
                      <a:rPr lang="en-US" sz="1400" i="1">
                        <a:latin typeface="Cambria Math" panose="02040503050406030204" pitchFamily="18" charset="0"/>
                      </a:rPr>
                      <m:t>𝛴</m:t>
                    </m:r>
                  </m:oMath>
                </a14:m>
                <a:r>
                  <a:rPr lang="vi-VN" sz="1400" b="1" dirty="0">
                    <a:solidFill>
                      <a:srgbClr val="1B8A7A"/>
                    </a:solidFill>
                    <a:latin typeface="Arial"/>
                  </a:rPr>
                  <a:t> bị suy biến (định thức = 0)</a:t>
                </a:r>
              </a:p>
            </p:txBody>
          </p:sp>
        </mc:Choice>
        <mc:Fallback>
          <p:sp>
            <p:nvSpPr>
              <p:cNvPr id="4" name="TextBox 3">
                <a:extLst>
                  <a:ext uri="{FF2B5EF4-FFF2-40B4-BE49-F238E27FC236}">
                    <a16:creationId xmlns:a16="http://schemas.microsoft.com/office/drawing/2014/main" id="{2875C176-1F5D-32AA-9698-57A0A708E123}"/>
                  </a:ext>
                </a:extLst>
              </p:cNvPr>
              <p:cNvSpPr txBox="1">
                <a:spLocks noRot="1" noChangeAspect="1" noMove="1" noResize="1" noEditPoints="1" noAdjustHandles="1" noChangeArrowheads="1" noChangeShapeType="1" noTextEdit="1"/>
              </p:cNvSpPr>
              <p:nvPr/>
            </p:nvSpPr>
            <p:spPr>
              <a:xfrm>
                <a:off x="364066" y="1267772"/>
                <a:ext cx="10961159" cy="307777"/>
              </a:xfrm>
              <a:prstGeom prst="rect">
                <a:avLst/>
              </a:prstGeom>
              <a:blipFill>
                <a:blip r:embed="rId3"/>
                <a:stretch>
                  <a:fillRect l="-116" t="-4000" b="-2400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FDB58DA3-9AFC-051D-3BC7-8DC81FD7B6A4}"/>
                  </a:ext>
                </a:extLst>
              </p:cNvPr>
              <p:cNvSpPr txBox="1"/>
              <p:nvPr/>
            </p:nvSpPr>
            <p:spPr>
              <a:xfrm>
                <a:off x="609602" y="1798226"/>
                <a:ext cx="4478865" cy="738664"/>
              </a:xfrm>
              <a:prstGeom prst="rect">
                <a:avLst/>
              </a:prstGeom>
              <a:noFill/>
            </p:spPr>
            <p:txBody>
              <a:bodyPr wrap="square" rtlCol="0">
                <a:spAutoFit/>
              </a:bodyPr>
              <a:lstStyle/>
              <a:p>
                <a:pPr lvl="0"/>
                <a:r>
                  <a:rPr lang="vi-VN" sz="1400" dirty="0">
                    <a:latin typeface="Arial" panose="020B0604020202020204" pitchFamily="34" charset="0"/>
                    <a:cs typeface="Arial" panose="020B0604020202020204" pitchFamily="34" charset="0"/>
                  </a:rPr>
                  <a:t>Hậu quả nếu </a:t>
                </a:r>
                <a:r>
                  <a:rPr lang="vi-VN" sz="1400" dirty="0">
                    <a:cs typeface="Arial" panose="020B0604020202020204" pitchFamily="34" charset="0"/>
                  </a:rPr>
                  <a:t>ma trận </a:t>
                </a:r>
                <a14:m>
                  <m:oMath xmlns:m="http://schemas.openxmlformats.org/officeDocument/2006/math">
                    <m:r>
                      <a:rPr lang="en-US" sz="1400" i="1">
                        <a:latin typeface="Cambria Math" panose="02040503050406030204" pitchFamily="18" charset="0"/>
                      </a:rPr>
                      <m:t>𝛴</m:t>
                    </m:r>
                  </m:oMath>
                </a14:m>
                <a:r>
                  <a:rPr lang="vi-VN" sz="1400" dirty="0">
                    <a:cs typeface="Arial" panose="020B0604020202020204" pitchFamily="34" charset="0"/>
                  </a:rPr>
                  <a:t> bị suy biến</a:t>
                </a:r>
                <a:r>
                  <a:rPr lang="vi-VN" sz="1400" dirty="0">
                    <a:latin typeface="Arial" panose="020B0604020202020204" pitchFamily="34" charset="0"/>
                    <a:cs typeface="Arial" panose="020B0604020202020204" pitchFamily="34" charset="0"/>
                  </a:rPr>
                  <a:t>:</a:t>
                </a:r>
              </a:p>
              <a:p>
                <a:pPr lvl="0"/>
                <a:r>
                  <a:rPr lang="vi-VN" sz="1400" dirty="0">
                    <a:latin typeface="Arial" panose="020B0604020202020204" pitchFamily="34" charset="0"/>
                    <a:cs typeface="Arial" panose="020B0604020202020204" pitchFamily="34" charset="0"/>
                  </a:rPr>
                  <a:t>Sập </a:t>
                </a:r>
                <a:r>
                  <a:rPr lang="vi-VN" sz="1400" dirty="0">
                    <a:cs typeface="Arial" panose="020B0604020202020204" pitchFamily="34" charset="0"/>
                  </a:rPr>
                  <a:t>(không thể vẽ) </a:t>
                </a:r>
                <a:r>
                  <a:rPr lang="vi-VN" sz="1400" dirty="0">
                    <a:latin typeface="Arial" panose="020B0604020202020204" pitchFamily="34" charset="0"/>
                    <a:cs typeface="Arial" panose="020B0604020202020204" pitchFamily="34" charset="0"/>
                  </a:rPr>
                  <a:t>mô hình GMM vì 2 lý do:</a:t>
                </a:r>
              </a:p>
              <a:p>
                <a:pPr lvl="0"/>
                <a:r>
                  <a:rPr lang="vi-VN" sz="1400" dirty="0">
                    <a:latin typeface="Arial" panose="020B0604020202020204" pitchFamily="34" charset="0"/>
                    <a:cs typeface="Arial" panose="020B0604020202020204" pitchFamily="34" charset="0"/>
                  </a:rPr>
                  <a:t>- Mẫu số bằng 0</a:t>
                </a:r>
              </a:p>
            </p:txBody>
          </p:sp>
        </mc:Choice>
        <mc:Fallback>
          <p:sp>
            <p:nvSpPr>
              <p:cNvPr id="7" name="TextBox 6">
                <a:extLst>
                  <a:ext uri="{FF2B5EF4-FFF2-40B4-BE49-F238E27FC236}">
                    <a16:creationId xmlns:a16="http://schemas.microsoft.com/office/drawing/2014/main" id="{FDB58DA3-9AFC-051D-3BC7-8DC81FD7B6A4}"/>
                  </a:ext>
                </a:extLst>
              </p:cNvPr>
              <p:cNvSpPr txBox="1">
                <a:spLocks noRot="1" noChangeAspect="1" noMove="1" noResize="1" noEditPoints="1" noAdjustHandles="1" noChangeArrowheads="1" noChangeShapeType="1" noTextEdit="1"/>
              </p:cNvSpPr>
              <p:nvPr/>
            </p:nvSpPr>
            <p:spPr>
              <a:xfrm>
                <a:off x="609602" y="1798226"/>
                <a:ext cx="4478865" cy="738664"/>
              </a:xfrm>
              <a:prstGeom prst="rect">
                <a:avLst/>
              </a:prstGeom>
              <a:blipFill>
                <a:blip r:embed="rId4"/>
                <a:stretch>
                  <a:fillRect l="-567" t="-1695" b="-8475"/>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59312C83-2258-1C55-1E3D-58464D2DD376}"/>
                  </a:ext>
                </a:extLst>
              </p:cNvPr>
              <p:cNvSpPr txBox="1"/>
              <p:nvPr/>
            </p:nvSpPr>
            <p:spPr>
              <a:xfrm>
                <a:off x="6095847" y="2094574"/>
                <a:ext cx="5373202" cy="610039"/>
              </a:xfrm>
              <a:prstGeom prst="rect">
                <a:avLst/>
              </a:prstGeom>
              <a:noFill/>
            </p:spPr>
            <p:txBody>
              <a:bodyPr wrap="none" lIns="0" tIns="0" rIns="0" bIns="0" rtlCol="0">
                <a:spAutoFit/>
              </a:bodyPr>
              <a:lstStyle/>
              <a:p>
                <a14:m>
                  <m:oMathPara xmlns:m="http://schemas.openxmlformats.org/officeDocument/2006/math">
                    <m:oMath>
                      <m:r>
                        <m:rPr>
                          <m:nor/>
                        </m:rPr>
                        <a:rPr lang="en-US" sz="1400" i="0" smtClean="0">
                          <a:latin typeface="Cambria Math" panose="02040503050406030204" pitchFamily="18" charset="0"/>
                        </a:rPr>
                        <m:t>GMM</m:t>
                      </m:r>
                      <m:d>
                        <m:dPr>
                          <m:ctrlPr>
                            <a:rPr lang="en-US" sz="1400" b="0" i="1">
                              <a:latin typeface="Cambria Math" panose="02040503050406030204" pitchFamily="18" charset="0"/>
                            </a:rPr>
                          </m:ctrlPr>
                        </m:dPr>
                        <m:e>
                          <m:r>
                            <a:rPr lang="en-US" sz="1400" b="0" i="1">
                              <a:latin typeface="Cambria Math" panose="02040503050406030204" pitchFamily="18" charset="0"/>
                            </a:rPr>
                            <m:t>𝑥</m:t>
                          </m:r>
                          <m:r>
                            <a:rPr lang="en-US" sz="1400" b="0" i="1">
                              <a:latin typeface="Cambria Math" panose="02040503050406030204" pitchFamily="18" charset="0"/>
                            </a:rPr>
                            <m:t>∣</m:t>
                          </m:r>
                          <m:r>
                            <a:rPr lang="en-US" sz="1400" b="0" i="1">
                              <a:latin typeface="Cambria Math" panose="02040503050406030204" pitchFamily="18" charset="0"/>
                            </a:rPr>
                            <m:t>𝜋</m:t>
                          </m:r>
                          <m:r>
                            <a:rPr lang="en-US" sz="1400" b="0" i="1">
                              <a:latin typeface="Cambria Math" panose="02040503050406030204" pitchFamily="18" charset="0"/>
                            </a:rPr>
                            <m:t>,</m:t>
                          </m:r>
                          <m:r>
                            <a:rPr lang="en-US" sz="1400" b="0" i="1">
                              <a:latin typeface="Cambria Math" panose="02040503050406030204" pitchFamily="18" charset="0"/>
                            </a:rPr>
                            <m:t>𝜇</m:t>
                          </m:r>
                          <m:r>
                            <a:rPr lang="en-US" sz="1400" b="0" i="1">
                              <a:latin typeface="Cambria Math" panose="02040503050406030204" pitchFamily="18" charset="0"/>
                            </a:rPr>
                            <m:t>,</m:t>
                          </m:r>
                          <m:r>
                            <a:rPr lang="en-US" sz="1400" b="0" i="1">
                              <a:latin typeface="Cambria Math" panose="02040503050406030204" pitchFamily="18" charset="0"/>
                            </a:rPr>
                            <m:t>𝛴</m:t>
                          </m:r>
                        </m:e>
                      </m:d>
                      <m:r>
                        <a:rPr lang="en-US" sz="1400" b="0" i="1">
                          <a:latin typeface="Cambria Math" panose="02040503050406030204" pitchFamily="18" charset="0"/>
                        </a:rPr>
                        <m:t>=</m:t>
                      </m:r>
                      <m:nary>
                        <m:naryPr>
                          <m:chr m:val="∑"/>
                          <m:limLoc m:val="undOvr"/>
                          <m:ctrlPr>
                            <a:rPr lang="en-US" sz="1400" b="0" i="1">
                              <a:latin typeface="Cambria Math" panose="02040503050406030204" pitchFamily="18" charset="0"/>
                            </a:rPr>
                          </m:ctrlPr>
                        </m:naryPr>
                        <m:sub>
                          <m:r>
                            <a:rPr lang="en-US" sz="1400" b="0" i="1">
                              <a:latin typeface="Cambria Math" panose="02040503050406030204" pitchFamily="18" charset="0"/>
                            </a:rPr>
                            <m:t>𝑘</m:t>
                          </m:r>
                          <m:r>
                            <a:rPr lang="en-US" sz="1400" b="0" i="1">
                              <a:latin typeface="Cambria Math" panose="02040503050406030204" pitchFamily="18" charset="0"/>
                            </a:rPr>
                            <m:t>=1</m:t>
                          </m:r>
                        </m:sub>
                        <m:sup>
                          <m:r>
                            <a:rPr lang="en-US" sz="1400" b="0" i="1">
                              <a:latin typeface="Cambria Math" panose="02040503050406030204" pitchFamily="18" charset="0"/>
                            </a:rPr>
                            <m:t>𝐾</m:t>
                          </m:r>
                        </m:sup>
                        <m:e>
                          <m:f>
                            <m:fPr>
                              <m:ctrlPr>
                                <a:rPr lang="en-US" sz="1400" i="1">
                                  <a:latin typeface="Cambria Math" panose="02040503050406030204" pitchFamily="18" charset="0"/>
                                </a:rPr>
                              </m:ctrlPr>
                            </m:fPr>
                            <m:num>
                              <m:sSub>
                                <m:sSubPr>
                                  <m:ctrlPr>
                                    <a:rPr lang="en-US" sz="1400" b="0" i="1">
                                      <a:latin typeface="Cambria Math" panose="02040503050406030204" pitchFamily="18" charset="0"/>
                                    </a:rPr>
                                  </m:ctrlPr>
                                </m:sSubPr>
                                <m:e>
                                  <m:r>
                                    <a:rPr lang="en-US" sz="1400" b="0" i="1">
                                      <a:latin typeface="Cambria Math" panose="02040503050406030204" pitchFamily="18" charset="0"/>
                                    </a:rPr>
                                    <m:t>𝜋</m:t>
                                  </m:r>
                                </m:e>
                                <m:sub>
                                  <m:r>
                                    <a:rPr lang="en-US" sz="1400" b="0" i="1">
                                      <a:latin typeface="Cambria Math" panose="02040503050406030204" pitchFamily="18" charset="0"/>
                                    </a:rPr>
                                    <m:t>𝑘</m:t>
                                  </m:r>
                                </m:sub>
                              </m:sSub>
                            </m:num>
                            <m:den>
                              <m:rad>
                                <m:radPr>
                                  <m:degHide m:val="on"/>
                                  <m:ctrlPr>
                                    <a:rPr lang="en-US" sz="1400" i="1">
                                      <a:latin typeface="Cambria Math" panose="02040503050406030204" pitchFamily="18" charset="0"/>
                                    </a:rPr>
                                  </m:ctrlPr>
                                </m:radPr>
                                <m:deg/>
                                <m:e>
                                  <m:sSup>
                                    <m:sSupPr>
                                      <m:ctrlPr>
                                        <a:rPr lang="en-US" sz="1400" i="1">
                                          <a:latin typeface="Cambria Math" panose="02040503050406030204" pitchFamily="18" charset="0"/>
                                        </a:rPr>
                                      </m:ctrlPr>
                                    </m:sSupPr>
                                    <m:e>
                                      <m:d>
                                        <m:dPr>
                                          <m:ctrlPr>
                                            <a:rPr lang="en-US" sz="1400" b="0" i="1">
                                              <a:latin typeface="Cambria Math" panose="02040503050406030204" pitchFamily="18" charset="0"/>
                                            </a:rPr>
                                          </m:ctrlPr>
                                        </m:dPr>
                                        <m:e>
                                          <m:r>
                                            <a:rPr lang="en-US" sz="1400" b="0" i="1">
                                              <a:latin typeface="Cambria Math" panose="02040503050406030204" pitchFamily="18" charset="0"/>
                                            </a:rPr>
                                            <m:t>2</m:t>
                                          </m:r>
                                          <m:r>
                                            <a:rPr lang="en-US" sz="1400" b="0" i="1">
                                              <a:latin typeface="Cambria Math" panose="02040503050406030204" pitchFamily="18" charset="0"/>
                                            </a:rPr>
                                            <m:t>𝜋</m:t>
                                          </m:r>
                                        </m:e>
                                      </m:d>
                                    </m:e>
                                    <m:sup>
                                      <m:r>
                                        <a:rPr lang="en-US" sz="1400" b="0" i="1">
                                          <a:latin typeface="Cambria Math" panose="02040503050406030204" pitchFamily="18" charset="0"/>
                                        </a:rPr>
                                        <m:t>𝑑</m:t>
                                      </m:r>
                                    </m:sup>
                                  </m:sSup>
                                  <m:d>
                                    <m:dPr>
                                      <m:begChr m:val="|"/>
                                      <m:endChr m:val="|"/>
                                      <m:ctrlPr>
                                        <a:rPr lang="en-US" sz="1400" i="1">
                                          <a:solidFill>
                                            <a:srgbClr val="FF0000"/>
                                          </a:solidFill>
                                          <a:latin typeface="Cambria Math" panose="02040503050406030204" pitchFamily="18" charset="0"/>
                                        </a:rPr>
                                      </m:ctrlPr>
                                    </m:dPr>
                                    <m:e>
                                      <m:sSub>
                                        <m:sSubPr>
                                          <m:ctrlPr>
                                            <a:rPr lang="en-US" sz="1400" b="0" i="1">
                                              <a:solidFill>
                                                <a:srgbClr val="FF0000"/>
                                              </a:solidFill>
                                              <a:latin typeface="Cambria Math" panose="02040503050406030204" pitchFamily="18" charset="0"/>
                                            </a:rPr>
                                          </m:ctrlPr>
                                        </m:sSubPr>
                                        <m:e>
                                          <m:r>
                                            <a:rPr lang="en-US" sz="1400" b="0" i="1">
                                              <a:solidFill>
                                                <a:srgbClr val="FF0000"/>
                                              </a:solidFill>
                                              <a:latin typeface="Cambria Math" panose="02040503050406030204" pitchFamily="18" charset="0"/>
                                            </a:rPr>
                                            <m:t>𝛴</m:t>
                                          </m:r>
                                        </m:e>
                                        <m:sub>
                                          <m:r>
                                            <a:rPr lang="en-US" sz="1400" b="0" i="1">
                                              <a:solidFill>
                                                <a:srgbClr val="FF0000"/>
                                              </a:solidFill>
                                              <a:latin typeface="Cambria Math" panose="02040503050406030204" pitchFamily="18" charset="0"/>
                                            </a:rPr>
                                            <m:t>𝑘</m:t>
                                          </m:r>
                                        </m:sub>
                                      </m:sSub>
                                    </m:e>
                                  </m:d>
                                </m:e>
                              </m:rad>
                            </m:den>
                          </m:f>
                        </m:e>
                      </m:nary>
                      <m:func>
                        <m:funcPr>
                          <m:ctrlPr>
                            <a:rPr lang="en-US" sz="1400" b="0" i="1">
                              <a:latin typeface="Cambria Math" panose="02040503050406030204" pitchFamily="18" charset="0"/>
                            </a:rPr>
                          </m:ctrlPr>
                        </m:funcPr>
                        <m:fName>
                          <m:r>
                            <a:rPr lang="en-US" sz="1400" b="0" i="1">
                              <a:latin typeface="Cambria Math" panose="02040503050406030204" pitchFamily="18" charset="0"/>
                            </a:rPr>
                            <m:t>𝑒𝑥𝑝</m:t>
                          </m:r>
                        </m:fName>
                        <m:e>
                          <m:d>
                            <m:dPr>
                              <m:ctrlPr>
                                <a:rPr lang="en-US" sz="1400" b="0" i="1">
                                  <a:latin typeface="Cambria Math" panose="02040503050406030204" pitchFamily="18" charset="0"/>
                                </a:rPr>
                              </m:ctrlPr>
                            </m:dPr>
                            <m:e>
                              <m:r>
                                <a:rPr lang="en-US" sz="1400" b="0" i="1">
                                  <a:latin typeface="Cambria Math" panose="02040503050406030204" pitchFamily="18" charset="0"/>
                                </a:rPr>
                                <m:t>−</m:t>
                              </m:r>
                              <m:f>
                                <m:fPr>
                                  <m:ctrlPr>
                                    <a:rPr lang="en-US" sz="1400" b="0" i="1">
                                      <a:latin typeface="Cambria Math" panose="02040503050406030204" pitchFamily="18" charset="0"/>
                                    </a:rPr>
                                  </m:ctrlPr>
                                </m:fPr>
                                <m:num>
                                  <m:r>
                                    <a:rPr lang="en-US" sz="1400" b="0" i="1">
                                      <a:latin typeface="Cambria Math" panose="02040503050406030204" pitchFamily="18" charset="0"/>
                                    </a:rPr>
                                    <m:t>1</m:t>
                                  </m:r>
                                </m:num>
                                <m:den>
                                  <m:r>
                                    <a:rPr lang="en-US" sz="1400" b="0" i="1">
                                      <a:latin typeface="Cambria Math" panose="02040503050406030204" pitchFamily="18" charset="0"/>
                                    </a:rPr>
                                    <m:t>2</m:t>
                                  </m:r>
                                </m:den>
                              </m:f>
                              <m:sSup>
                                <m:sSupPr>
                                  <m:ctrlPr>
                                    <a:rPr lang="en-US" sz="1400" i="1">
                                      <a:latin typeface="Cambria Math" panose="02040503050406030204" pitchFamily="18" charset="0"/>
                                    </a:rPr>
                                  </m:ctrlPr>
                                </m:sSupPr>
                                <m:e>
                                  <m:d>
                                    <m:dPr>
                                      <m:ctrlPr>
                                        <a:rPr lang="en-US" sz="1400" b="0" i="1">
                                          <a:latin typeface="Cambria Math" panose="02040503050406030204" pitchFamily="18" charset="0"/>
                                        </a:rPr>
                                      </m:ctrlPr>
                                    </m:dPr>
                                    <m:e>
                                      <m:r>
                                        <a:rPr lang="en-US" sz="1400" b="0" i="1">
                                          <a:latin typeface="Cambria Math" panose="02040503050406030204" pitchFamily="18" charset="0"/>
                                        </a:rPr>
                                        <m:t>𝑥</m:t>
                                      </m:r>
                                      <m:r>
                                        <a:rPr lang="en-US" sz="1400" b="0" i="1">
                                          <a:latin typeface="Cambria Math" panose="02040503050406030204" pitchFamily="18" charset="0"/>
                                        </a:rPr>
                                        <m:t>−</m:t>
                                      </m:r>
                                      <m:sSub>
                                        <m:sSubPr>
                                          <m:ctrlPr>
                                            <a:rPr lang="en-US" sz="1400" b="0" i="1">
                                              <a:latin typeface="Cambria Math" panose="02040503050406030204" pitchFamily="18" charset="0"/>
                                            </a:rPr>
                                          </m:ctrlPr>
                                        </m:sSubPr>
                                        <m:e>
                                          <m:r>
                                            <a:rPr lang="en-US" sz="1400" b="0" i="1">
                                              <a:latin typeface="Cambria Math" panose="02040503050406030204" pitchFamily="18" charset="0"/>
                                            </a:rPr>
                                            <m:t>𝜇</m:t>
                                          </m:r>
                                        </m:e>
                                        <m:sub>
                                          <m:r>
                                            <a:rPr lang="en-US" sz="1400" b="0" i="1">
                                              <a:latin typeface="Cambria Math" panose="02040503050406030204" pitchFamily="18" charset="0"/>
                                            </a:rPr>
                                            <m:t>𝑘</m:t>
                                          </m:r>
                                        </m:sub>
                                      </m:sSub>
                                    </m:e>
                                  </m:d>
                                </m:e>
                                <m:sup>
                                  <m:r>
                                    <a:rPr lang="en-US" sz="1400" b="0" i="1">
                                      <a:latin typeface="Cambria Math" panose="02040503050406030204" pitchFamily="18" charset="0"/>
                                    </a:rPr>
                                    <m:t>𝑇</m:t>
                                  </m:r>
                                </m:sup>
                              </m:sSup>
                              <m:sSubSup>
                                <m:sSubSupPr>
                                  <m:ctrlPr>
                                    <a:rPr lang="en-US" sz="1400" b="0" i="1">
                                      <a:solidFill>
                                        <a:schemeClr val="tx1"/>
                                      </a:solidFill>
                                      <a:latin typeface="Cambria Math" panose="02040503050406030204" pitchFamily="18" charset="0"/>
                                    </a:rPr>
                                  </m:ctrlPr>
                                </m:sSubSupPr>
                                <m:e>
                                  <m:r>
                                    <a:rPr lang="en-US" sz="1400" b="0" i="1">
                                      <a:solidFill>
                                        <a:schemeClr val="tx1"/>
                                      </a:solidFill>
                                      <a:latin typeface="Cambria Math" panose="02040503050406030204" pitchFamily="18" charset="0"/>
                                    </a:rPr>
                                    <m:t>𝛴</m:t>
                                  </m:r>
                                </m:e>
                                <m:sub>
                                  <m:r>
                                    <a:rPr lang="en-US" sz="1400" b="0" i="1">
                                      <a:solidFill>
                                        <a:schemeClr val="tx1"/>
                                      </a:solidFill>
                                      <a:latin typeface="Cambria Math" panose="02040503050406030204" pitchFamily="18" charset="0"/>
                                    </a:rPr>
                                    <m:t>𝑘</m:t>
                                  </m:r>
                                </m:sub>
                                <m:sup>
                                  <m:r>
                                    <a:rPr lang="en-US" sz="1400" b="0" i="1">
                                      <a:solidFill>
                                        <a:schemeClr val="tx1"/>
                                      </a:solidFill>
                                      <a:latin typeface="Cambria Math" panose="02040503050406030204" pitchFamily="18" charset="0"/>
                                    </a:rPr>
                                    <m:t>−1</m:t>
                                  </m:r>
                                </m:sup>
                              </m:sSubSup>
                              <m:d>
                                <m:dPr>
                                  <m:ctrlPr>
                                    <a:rPr lang="en-US" sz="1400" b="0" i="1">
                                      <a:latin typeface="Cambria Math" panose="02040503050406030204" pitchFamily="18" charset="0"/>
                                    </a:rPr>
                                  </m:ctrlPr>
                                </m:dPr>
                                <m:e>
                                  <m:r>
                                    <a:rPr lang="en-US" sz="1400" b="0" i="1">
                                      <a:latin typeface="Cambria Math" panose="02040503050406030204" pitchFamily="18" charset="0"/>
                                    </a:rPr>
                                    <m:t>𝑥</m:t>
                                  </m:r>
                                  <m:r>
                                    <a:rPr lang="en-US" sz="1400" b="0" i="1">
                                      <a:latin typeface="Cambria Math" panose="02040503050406030204" pitchFamily="18" charset="0"/>
                                    </a:rPr>
                                    <m:t>−</m:t>
                                  </m:r>
                                  <m:sSub>
                                    <m:sSubPr>
                                      <m:ctrlPr>
                                        <a:rPr lang="en-US" sz="1400" b="0" i="1">
                                          <a:latin typeface="Cambria Math" panose="02040503050406030204" pitchFamily="18" charset="0"/>
                                        </a:rPr>
                                      </m:ctrlPr>
                                    </m:sSubPr>
                                    <m:e>
                                      <m:r>
                                        <a:rPr lang="en-US" sz="1400" b="0" i="1">
                                          <a:latin typeface="Cambria Math" panose="02040503050406030204" pitchFamily="18" charset="0"/>
                                        </a:rPr>
                                        <m:t>𝜇</m:t>
                                      </m:r>
                                    </m:e>
                                    <m:sub>
                                      <m:r>
                                        <a:rPr lang="en-US" sz="1400" b="0" i="1">
                                          <a:latin typeface="Cambria Math" panose="02040503050406030204" pitchFamily="18" charset="0"/>
                                        </a:rPr>
                                        <m:t>𝑘</m:t>
                                      </m:r>
                                    </m:sub>
                                  </m:sSub>
                                </m:e>
                              </m:d>
                            </m:e>
                          </m:d>
                        </m:e>
                      </m:func>
                    </m:oMath>
                  </m:oMathPara>
                </a14:m>
                <a:endParaRPr lang="en-VN" dirty="0"/>
              </a:p>
            </p:txBody>
          </p:sp>
        </mc:Choice>
        <mc:Fallback>
          <p:sp>
            <p:nvSpPr>
              <p:cNvPr id="12" name="TextBox 11">
                <a:extLst>
                  <a:ext uri="{FF2B5EF4-FFF2-40B4-BE49-F238E27FC236}">
                    <a16:creationId xmlns:a16="http://schemas.microsoft.com/office/drawing/2014/main" id="{59312C83-2258-1C55-1E3D-58464D2DD376}"/>
                  </a:ext>
                </a:extLst>
              </p:cNvPr>
              <p:cNvSpPr txBox="1">
                <a:spLocks noRot="1" noChangeAspect="1" noMove="1" noResize="1" noEditPoints="1" noAdjustHandles="1" noChangeArrowheads="1" noChangeShapeType="1" noTextEdit="1"/>
              </p:cNvSpPr>
              <p:nvPr/>
            </p:nvSpPr>
            <p:spPr>
              <a:xfrm>
                <a:off x="6095847" y="2094574"/>
                <a:ext cx="5373202" cy="610039"/>
              </a:xfrm>
              <a:prstGeom prst="rect">
                <a:avLst/>
              </a:prstGeom>
              <a:blipFill>
                <a:blip r:embed="rId5"/>
                <a:stretch>
                  <a:fillRect t="-114286" b="-175510"/>
                </a:stretch>
              </a:blipFill>
            </p:spPr>
            <p:txBody>
              <a:bodyPr/>
              <a:lstStyle/>
              <a:p>
                <a:r>
                  <a:rPr lang="en-VN">
                    <a:noFill/>
                  </a:rPr>
                  <a:t> </a:t>
                </a:r>
              </a:p>
            </p:txBody>
          </p:sp>
        </mc:Fallback>
      </mc:AlternateContent>
    </p:spTree>
    <p:extLst>
      <p:ext uri="{BB962C8B-B14F-4D97-AF65-F5344CB8AC3E}">
        <p14:creationId xmlns:p14="http://schemas.microsoft.com/office/powerpoint/2010/main" val="36764223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C846E-5D6D-FB40-4A70-DB9BB3916D5F}"/>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33FC04F-260F-8BA1-30E1-FA4EC61F89E5}"/>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39B413C1-00F0-D3E0-5F3D-291DDDC33BC4}"/>
                  </a:ext>
                </a:extLst>
              </p:cNvPr>
              <p:cNvSpPr txBox="1"/>
              <p:nvPr/>
            </p:nvSpPr>
            <p:spPr>
              <a:xfrm>
                <a:off x="364066" y="1267772"/>
                <a:ext cx="10961159" cy="307777"/>
              </a:xfrm>
              <a:prstGeom prst="rect">
                <a:avLst/>
              </a:prstGeom>
              <a:noFill/>
            </p:spPr>
            <p:txBody>
              <a:bodyPr wrap="square">
                <a:spAutoFit/>
              </a:bodyPr>
              <a:lstStyle/>
              <a:p>
                <a:pPr>
                  <a:spcAft>
                    <a:spcPts val="600"/>
                  </a:spcAft>
                </a:pPr>
                <a:r>
                  <a:rPr lang="vi-VN" sz="1400" b="1" dirty="0">
                    <a:solidFill>
                      <a:srgbClr val="1B8A7A"/>
                    </a:solidFill>
                    <a:latin typeface="Arial"/>
                  </a:rPr>
                  <a:t>Vấn đề xung quanh GMM: Ma trận hiệp phương sai </a:t>
                </a:r>
                <a14:m>
                  <m:oMath xmlns:m="http://schemas.openxmlformats.org/officeDocument/2006/math">
                    <m:r>
                      <a:rPr lang="en-US" sz="1400" i="1">
                        <a:latin typeface="Cambria Math" panose="02040503050406030204" pitchFamily="18" charset="0"/>
                      </a:rPr>
                      <m:t>𝛴</m:t>
                    </m:r>
                  </m:oMath>
                </a14:m>
                <a:r>
                  <a:rPr lang="vi-VN" sz="1400" b="1" dirty="0">
                    <a:solidFill>
                      <a:srgbClr val="1B8A7A"/>
                    </a:solidFill>
                    <a:latin typeface="Arial"/>
                  </a:rPr>
                  <a:t> bị suy biến (định thức = 0)</a:t>
                </a:r>
              </a:p>
            </p:txBody>
          </p:sp>
        </mc:Choice>
        <mc:Fallback>
          <p:sp>
            <p:nvSpPr>
              <p:cNvPr id="4" name="TextBox 3">
                <a:extLst>
                  <a:ext uri="{FF2B5EF4-FFF2-40B4-BE49-F238E27FC236}">
                    <a16:creationId xmlns:a16="http://schemas.microsoft.com/office/drawing/2014/main" id="{39B413C1-00F0-D3E0-5F3D-291DDDC33BC4}"/>
                  </a:ext>
                </a:extLst>
              </p:cNvPr>
              <p:cNvSpPr txBox="1">
                <a:spLocks noRot="1" noChangeAspect="1" noMove="1" noResize="1" noEditPoints="1" noAdjustHandles="1" noChangeArrowheads="1" noChangeShapeType="1" noTextEdit="1"/>
              </p:cNvSpPr>
              <p:nvPr/>
            </p:nvSpPr>
            <p:spPr>
              <a:xfrm>
                <a:off x="364066" y="1267772"/>
                <a:ext cx="10961159" cy="307777"/>
              </a:xfrm>
              <a:prstGeom prst="rect">
                <a:avLst/>
              </a:prstGeom>
              <a:blipFill>
                <a:blip r:embed="rId3"/>
                <a:stretch>
                  <a:fillRect l="-116" t="-4000" b="-2400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A4397FAD-63EE-588A-E30C-8D8CEE9EE5B3}"/>
                  </a:ext>
                </a:extLst>
              </p:cNvPr>
              <p:cNvSpPr txBox="1"/>
              <p:nvPr/>
            </p:nvSpPr>
            <p:spPr>
              <a:xfrm>
                <a:off x="609602" y="1798226"/>
                <a:ext cx="4478865" cy="954107"/>
              </a:xfrm>
              <a:prstGeom prst="rect">
                <a:avLst/>
              </a:prstGeom>
              <a:noFill/>
            </p:spPr>
            <p:txBody>
              <a:bodyPr wrap="square" rtlCol="0">
                <a:spAutoFit/>
              </a:bodyPr>
              <a:lstStyle/>
              <a:p>
                <a:pPr lvl="0"/>
                <a:r>
                  <a:rPr lang="vi-VN" sz="1400" dirty="0">
                    <a:latin typeface="Arial" panose="020B0604020202020204" pitchFamily="34" charset="0"/>
                    <a:cs typeface="Arial" panose="020B0604020202020204" pitchFamily="34" charset="0"/>
                  </a:rPr>
                  <a:t>Hậu quả nếu </a:t>
                </a:r>
                <a:r>
                  <a:rPr lang="vi-VN" sz="1400" dirty="0">
                    <a:cs typeface="Arial" panose="020B0604020202020204" pitchFamily="34" charset="0"/>
                  </a:rPr>
                  <a:t>ma trận </a:t>
                </a:r>
                <a14:m>
                  <m:oMath xmlns:m="http://schemas.openxmlformats.org/officeDocument/2006/math">
                    <m:r>
                      <a:rPr lang="en-US" sz="1400" i="1">
                        <a:latin typeface="Cambria Math" panose="02040503050406030204" pitchFamily="18" charset="0"/>
                      </a:rPr>
                      <m:t>𝛴</m:t>
                    </m:r>
                  </m:oMath>
                </a14:m>
                <a:r>
                  <a:rPr lang="vi-VN" sz="1400" dirty="0">
                    <a:cs typeface="Arial" panose="020B0604020202020204" pitchFamily="34" charset="0"/>
                  </a:rPr>
                  <a:t> bị suy biến</a:t>
                </a:r>
                <a:r>
                  <a:rPr lang="vi-VN" sz="1400" dirty="0">
                    <a:latin typeface="Arial" panose="020B0604020202020204" pitchFamily="34" charset="0"/>
                    <a:cs typeface="Arial" panose="020B0604020202020204" pitchFamily="34" charset="0"/>
                  </a:rPr>
                  <a:t>:</a:t>
                </a:r>
              </a:p>
              <a:p>
                <a:pPr lvl="0"/>
                <a:r>
                  <a:rPr lang="vi-VN" sz="1400" dirty="0">
                    <a:latin typeface="Arial" panose="020B0604020202020204" pitchFamily="34" charset="0"/>
                    <a:cs typeface="Arial" panose="020B0604020202020204" pitchFamily="34" charset="0"/>
                  </a:rPr>
                  <a:t>Sập </a:t>
                </a:r>
                <a:r>
                  <a:rPr lang="vi-VN" sz="1400" dirty="0">
                    <a:cs typeface="Arial" panose="020B0604020202020204" pitchFamily="34" charset="0"/>
                  </a:rPr>
                  <a:t>(không thể vẽ) </a:t>
                </a:r>
                <a:r>
                  <a:rPr lang="vi-VN" sz="1400" dirty="0">
                    <a:latin typeface="Arial" panose="020B0604020202020204" pitchFamily="34" charset="0"/>
                    <a:cs typeface="Arial" panose="020B0604020202020204" pitchFamily="34" charset="0"/>
                  </a:rPr>
                  <a:t>mô hình GMM vì 2 lý do:</a:t>
                </a:r>
              </a:p>
              <a:p>
                <a:pPr lvl="0"/>
                <a:r>
                  <a:rPr lang="vi-VN" sz="1400" dirty="0">
                    <a:latin typeface="Arial" panose="020B0604020202020204" pitchFamily="34" charset="0"/>
                    <a:cs typeface="Arial" panose="020B0604020202020204" pitchFamily="34" charset="0"/>
                  </a:rPr>
                  <a:t>- Mẫu số bằng 0</a:t>
                </a:r>
                <a:br>
                  <a:rPr lang="vi-VN" sz="1400" dirty="0">
                    <a:latin typeface="Arial" panose="020B0604020202020204" pitchFamily="34" charset="0"/>
                    <a:cs typeface="Arial" panose="020B0604020202020204" pitchFamily="34" charset="0"/>
                  </a:rPr>
                </a:br>
                <a:r>
                  <a:rPr lang="vi-VN" sz="1400" dirty="0">
                    <a:latin typeface="Arial" panose="020B0604020202020204" pitchFamily="34" charset="0"/>
                    <a:cs typeface="Arial" panose="020B0604020202020204" pitchFamily="34" charset="0"/>
                  </a:rPr>
                  <a:t>- Không thể nghịch đảo ma trận </a:t>
                </a:r>
                <a14:m>
                  <m:oMath xmlns:m="http://schemas.openxmlformats.org/officeDocument/2006/math">
                    <m:r>
                      <a:rPr lang="en-US" sz="1400" i="1">
                        <a:latin typeface="Cambria Math" panose="02040503050406030204" pitchFamily="18" charset="0"/>
                      </a:rPr>
                      <m:t>𝛴</m:t>
                    </m:r>
                  </m:oMath>
                </a14:m>
                <a:endParaRPr lang="vi-VN" sz="1400" dirty="0">
                  <a:latin typeface="Arial" panose="020B0604020202020204" pitchFamily="34" charset="0"/>
                  <a:cs typeface="Arial" panose="020B0604020202020204" pitchFamily="34" charset="0"/>
                </a:endParaRPr>
              </a:p>
            </p:txBody>
          </p:sp>
        </mc:Choice>
        <mc:Fallback>
          <p:sp>
            <p:nvSpPr>
              <p:cNvPr id="7" name="TextBox 6">
                <a:extLst>
                  <a:ext uri="{FF2B5EF4-FFF2-40B4-BE49-F238E27FC236}">
                    <a16:creationId xmlns:a16="http://schemas.microsoft.com/office/drawing/2014/main" id="{A4397FAD-63EE-588A-E30C-8D8CEE9EE5B3}"/>
                  </a:ext>
                </a:extLst>
              </p:cNvPr>
              <p:cNvSpPr txBox="1">
                <a:spLocks noRot="1" noChangeAspect="1" noMove="1" noResize="1" noEditPoints="1" noAdjustHandles="1" noChangeArrowheads="1" noChangeShapeType="1" noTextEdit="1"/>
              </p:cNvSpPr>
              <p:nvPr/>
            </p:nvSpPr>
            <p:spPr>
              <a:xfrm>
                <a:off x="609602" y="1798226"/>
                <a:ext cx="4478865" cy="954107"/>
              </a:xfrm>
              <a:prstGeom prst="rect">
                <a:avLst/>
              </a:prstGeom>
              <a:blipFill>
                <a:blip r:embed="rId4"/>
                <a:stretch>
                  <a:fillRect l="-567" t="-1316" b="-5263"/>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EAF508E2-2F6F-FCE9-6007-03E341F1DCE0}"/>
                  </a:ext>
                </a:extLst>
              </p:cNvPr>
              <p:cNvSpPr txBox="1"/>
              <p:nvPr/>
            </p:nvSpPr>
            <p:spPr>
              <a:xfrm>
                <a:off x="6095847" y="2094574"/>
                <a:ext cx="5373202" cy="610039"/>
              </a:xfrm>
              <a:prstGeom prst="rect">
                <a:avLst/>
              </a:prstGeom>
              <a:noFill/>
            </p:spPr>
            <p:txBody>
              <a:bodyPr wrap="none" lIns="0" tIns="0" rIns="0" bIns="0" rtlCol="0">
                <a:spAutoFit/>
              </a:bodyPr>
              <a:lstStyle/>
              <a:p>
                <a14:m>
                  <m:oMathPara xmlns:m="http://schemas.openxmlformats.org/officeDocument/2006/math">
                    <m:oMath>
                      <m:r>
                        <m:rPr>
                          <m:nor/>
                        </m:rPr>
                        <a:rPr lang="en-US" sz="1400" i="0" smtClean="0">
                          <a:latin typeface="Cambria Math" panose="02040503050406030204" pitchFamily="18" charset="0"/>
                        </a:rPr>
                        <m:t>GMM</m:t>
                      </m:r>
                      <m:d>
                        <m:dPr>
                          <m:ctrlPr>
                            <a:rPr lang="en-US" sz="1400" b="0" i="1">
                              <a:latin typeface="Cambria Math" panose="02040503050406030204" pitchFamily="18" charset="0"/>
                            </a:rPr>
                          </m:ctrlPr>
                        </m:dPr>
                        <m:e>
                          <m:r>
                            <a:rPr lang="en-US" sz="1400" b="0" i="1">
                              <a:latin typeface="Cambria Math" panose="02040503050406030204" pitchFamily="18" charset="0"/>
                            </a:rPr>
                            <m:t>𝑥</m:t>
                          </m:r>
                          <m:r>
                            <a:rPr lang="en-US" sz="1400" b="0" i="1">
                              <a:latin typeface="Cambria Math" panose="02040503050406030204" pitchFamily="18" charset="0"/>
                            </a:rPr>
                            <m:t>∣</m:t>
                          </m:r>
                          <m:r>
                            <a:rPr lang="en-US" sz="1400" b="0" i="1">
                              <a:latin typeface="Cambria Math" panose="02040503050406030204" pitchFamily="18" charset="0"/>
                            </a:rPr>
                            <m:t>𝜋</m:t>
                          </m:r>
                          <m:r>
                            <a:rPr lang="en-US" sz="1400" b="0" i="1">
                              <a:latin typeface="Cambria Math" panose="02040503050406030204" pitchFamily="18" charset="0"/>
                            </a:rPr>
                            <m:t>,</m:t>
                          </m:r>
                          <m:r>
                            <a:rPr lang="en-US" sz="1400" b="0" i="1">
                              <a:latin typeface="Cambria Math" panose="02040503050406030204" pitchFamily="18" charset="0"/>
                            </a:rPr>
                            <m:t>𝜇</m:t>
                          </m:r>
                          <m:r>
                            <a:rPr lang="en-US" sz="1400" b="0" i="1">
                              <a:latin typeface="Cambria Math" panose="02040503050406030204" pitchFamily="18" charset="0"/>
                            </a:rPr>
                            <m:t>,</m:t>
                          </m:r>
                          <m:r>
                            <a:rPr lang="en-US" sz="1400" b="0" i="1">
                              <a:latin typeface="Cambria Math" panose="02040503050406030204" pitchFamily="18" charset="0"/>
                            </a:rPr>
                            <m:t>𝛴</m:t>
                          </m:r>
                        </m:e>
                      </m:d>
                      <m:r>
                        <a:rPr lang="en-US" sz="1400" b="0" i="1">
                          <a:latin typeface="Cambria Math" panose="02040503050406030204" pitchFamily="18" charset="0"/>
                        </a:rPr>
                        <m:t>=</m:t>
                      </m:r>
                      <m:nary>
                        <m:naryPr>
                          <m:chr m:val="∑"/>
                          <m:limLoc m:val="undOvr"/>
                          <m:ctrlPr>
                            <a:rPr lang="en-US" sz="1400" b="0" i="1">
                              <a:latin typeface="Cambria Math" panose="02040503050406030204" pitchFamily="18" charset="0"/>
                            </a:rPr>
                          </m:ctrlPr>
                        </m:naryPr>
                        <m:sub>
                          <m:r>
                            <a:rPr lang="en-US" sz="1400" b="0" i="1">
                              <a:latin typeface="Cambria Math" panose="02040503050406030204" pitchFamily="18" charset="0"/>
                            </a:rPr>
                            <m:t>𝑘</m:t>
                          </m:r>
                          <m:r>
                            <a:rPr lang="en-US" sz="1400" b="0" i="1">
                              <a:latin typeface="Cambria Math" panose="02040503050406030204" pitchFamily="18" charset="0"/>
                            </a:rPr>
                            <m:t>=1</m:t>
                          </m:r>
                        </m:sub>
                        <m:sup>
                          <m:r>
                            <a:rPr lang="en-US" sz="1400" b="0" i="1">
                              <a:latin typeface="Cambria Math" panose="02040503050406030204" pitchFamily="18" charset="0"/>
                            </a:rPr>
                            <m:t>𝐾</m:t>
                          </m:r>
                        </m:sup>
                        <m:e>
                          <m:f>
                            <m:fPr>
                              <m:ctrlPr>
                                <a:rPr lang="en-US" sz="1400" i="1">
                                  <a:latin typeface="Cambria Math" panose="02040503050406030204" pitchFamily="18" charset="0"/>
                                </a:rPr>
                              </m:ctrlPr>
                            </m:fPr>
                            <m:num>
                              <m:sSub>
                                <m:sSubPr>
                                  <m:ctrlPr>
                                    <a:rPr lang="en-US" sz="1400" b="0" i="1">
                                      <a:latin typeface="Cambria Math" panose="02040503050406030204" pitchFamily="18" charset="0"/>
                                    </a:rPr>
                                  </m:ctrlPr>
                                </m:sSubPr>
                                <m:e>
                                  <m:r>
                                    <a:rPr lang="en-US" sz="1400" b="0" i="1">
                                      <a:latin typeface="Cambria Math" panose="02040503050406030204" pitchFamily="18" charset="0"/>
                                    </a:rPr>
                                    <m:t>𝜋</m:t>
                                  </m:r>
                                </m:e>
                                <m:sub>
                                  <m:r>
                                    <a:rPr lang="en-US" sz="1400" b="0" i="1">
                                      <a:latin typeface="Cambria Math" panose="02040503050406030204" pitchFamily="18" charset="0"/>
                                    </a:rPr>
                                    <m:t>𝑘</m:t>
                                  </m:r>
                                </m:sub>
                              </m:sSub>
                            </m:num>
                            <m:den>
                              <m:rad>
                                <m:radPr>
                                  <m:degHide m:val="on"/>
                                  <m:ctrlPr>
                                    <a:rPr lang="en-US" sz="1400" i="1">
                                      <a:latin typeface="Cambria Math" panose="02040503050406030204" pitchFamily="18" charset="0"/>
                                    </a:rPr>
                                  </m:ctrlPr>
                                </m:radPr>
                                <m:deg/>
                                <m:e>
                                  <m:sSup>
                                    <m:sSupPr>
                                      <m:ctrlPr>
                                        <a:rPr lang="en-US" sz="1400" i="1">
                                          <a:latin typeface="Cambria Math" panose="02040503050406030204" pitchFamily="18" charset="0"/>
                                        </a:rPr>
                                      </m:ctrlPr>
                                    </m:sSupPr>
                                    <m:e>
                                      <m:d>
                                        <m:dPr>
                                          <m:ctrlPr>
                                            <a:rPr lang="en-US" sz="1400" b="0" i="1">
                                              <a:latin typeface="Cambria Math" panose="02040503050406030204" pitchFamily="18" charset="0"/>
                                            </a:rPr>
                                          </m:ctrlPr>
                                        </m:dPr>
                                        <m:e>
                                          <m:r>
                                            <a:rPr lang="en-US" sz="1400" b="0" i="1">
                                              <a:latin typeface="Cambria Math" panose="02040503050406030204" pitchFamily="18" charset="0"/>
                                            </a:rPr>
                                            <m:t>2</m:t>
                                          </m:r>
                                          <m:r>
                                            <a:rPr lang="en-US" sz="1400" b="0" i="1">
                                              <a:latin typeface="Cambria Math" panose="02040503050406030204" pitchFamily="18" charset="0"/>
                                            </a:rPr>
                                            <m:t>𝜋</m:t>
                                          </m:r>
                                        </m:e>
                                      </m:d>
                                    </m:e>
                                    <m:sup>
                                      <m:r>
                                        <a:rPr lang="en-US" sz="1400" b="0" i="1">
                                          <a:latin typeface="Cambria Math" panose="02040503050406030204" pitchFamily="18" charset="0"/>
                                        </a:rPr>
                                        <m:t>𝑑</m:t>
                                      </m:r>
                                    </m:sup>
                                  </m:sSup>
                                  <m:d>
                                    <m:dPr>
                                      <m:begChr m:val="|"/>
                                      <m:endChr m:val="|"/>
                                      <m:ctrlPr>
                                        <a:rPr lang="en-US" sz="1400" i="1">
                                          <a:solidFill>
                                            <a:srgbClr val="FF0000"/>
                                          </a:solidFill>
                                          <a:latin typeface="Cambria Math" panose="02040503050406030204" pitchFamily="18" charset="0"/>
                                        </a:rPr>
                                      </m:ctrlPr>
                                    </m:dPr>
                                    <m:e>
                                      <m:sSub>
                                        <m:sSubPr>
                                          <m:ctrlPr>
                                            <a:rPr lang="en-US" sz="1400" b="0" i="1">
                                              <a:solidFill>
                                                <a:srgbClr val="FF0000"/>
                                              </a:solidFill>
                                              <a:latin typeface="Cambria Math" panose="02040503050406030204" pitchFamily="18" charset="0"/>
                                            </a:rPr>
                                          </m:ctrlPr>
                                        </m:sSubPr>
                                        <m:e>
                                          <m:r>
                                            <a:rPr lang="en-US" sz="1400" b="0" i="1">
                                              <a:solidFill>
                                                <a:srgbClr val="FF0000"/>
                                              </a:solidFill>
                                              <a:latin typeface="Cambria Math" panose="02040503050406030204" pitchFamily="18" charset="0"/>
                                            </a:rPr>
                                            <m:t>𝛴</m:t>
                                          </m:r>
                                        </m:e>
                                        <m:sub>
                                          <m:r>
                                            <a:rPr lang="en-US" sz="1400" b="0" i="1">
                                              <a:solidFill>
                                                <a:srgbClr val="FF0000"/>
                                              </a:solidFill>
                                              <a:latin typeface="Cambria Math" panose="02040503050406030204" pitchFamily="18" charset="0"/>
                                            </a:rPr>
                                            <m:t>𝑘</m:t>
                                          </m:r>
                                        </m:sub>
                                      </m:sSub>
                                    </m:e>
                                  </m:d>
                                </m:e>
                              </m:rad>
                            </m:den>
                          </m:f>
                        </m:e>
                      </m:nary>
                      <m:func>
                        <m:funcPr>
                          <m:ctrlPr>
                            <a:rPr lang="en-US" sz="1400" b="0" i="1">
                              <a:latin typeface="Cambria Math" panose="02040503050406030204" pitchFamily="18" charset="0"/>
                            </a:rPr>
                          </m:ctrlPr>
                        </m:funcPr>
                        <m:fName>
                          <m:r>
                            <a:rPr lang="en-US" sz="1400" b="0" i="1">
                              <a:latin typeface="Cambria Math" panose="02040503050406030204" pitchFamily="18" charset="0"/>
                            </a:rPr>
                            <m:t>𝑒𝑥𝑝</m:t>
                          </m:r>
                        </m:fName>
                        <m:e>
                          <m:d>
                            <m:dPr>
                              <m:ctrlPr>
                                <a:rPr lang="en-US" sz="1400" b="0" i="1">
                                  <a:latin typeface="Cambria Math" panose="02040503050406030204" pitchFamily="18" charset="0"/>
                                </a:rPr>
                              </m:ctrlPr>
                            </m:dPr>
                            <m:e>
                              <m:r>
                                <a:rPr lang="en-US" sz="1400" b="0" i="1">
                                  <a:latin typeface="Cambria Math" panose="02040503050406030204" pitchFamily="18" charset="0"/>
                                </a:rPr>
                                <m:t>−</m:t>
                              </m:r>
                              <m:f>
                                <m:fPr>
                                  <m:ctrlPr>
                                    <a:rPr lang="en-US" sz="1400" b="0" i="1">
                                      <a:latin typeface="Cambria Math" panose="02040503050406030204" pitchFamily="18" charset="0"/>
                                    </a:rPr>
                                  </m:ctrlPr>
                                </m:fPr>
                                <m:num>
                                  <m:r>
                                    <a:rPr lang="en-US" sz="1400" b="0" i="1">
                                      <a:latin typeface="Cambria Math" panose="02040503050406030204" pitchFamily="18" charset="0"/>
                                    </a:rPr>
                                    <m:t>1</m:t>
                                  </m:r>
                                </m:num>
                                <m:den>
                                  <m:r>
                                    <a:rPr lang="en-US" sz="1400" b="0" i="1">
                                      <a:latin typeface="Cambria Math" panose="02040503050406030204" pitchFamily="18" charset="0"/>
                                    </a:rPr>
                                    <m:t>2</m:t>
                                  </m:r>
                                </m:den>
                              </m:f>
                              <m:sSup>
                                <m:sSupPr>
                                  <m:ctrlPr>
                                    <a:rPr lang="en-US" sz="1400" i="1">
                                      <a:latin typeface="Cambria Math" panose="02040503050406030204" pitchFamily="18" charset="0"/>
                                    </a:rPr>
                                  </m:ctrlPr>
                                </m:sSupPr>
                                <m:e>
                                  <m:d>
                                    <m:dPr>
                                      <m:ctrlPr>
                                        <a:rPr lang="en-US" sz="1400" b="0" i="1">
                                          <a:latin typeface="Cambria Math" panose="02040503050406030204" pitchFamily="18" charset="0"/>
                                        </a:rPr>
                                      </m:ctrlPr>
                                    </m:dPr>
                                    <m:e>
                                      <m:r>
                                        <a:rPr lang="en-US" sz="1400" b="0" i="1">
                                          <a:latin typeface="Cambria Math" panose="02040503050406030204" pitchFamily="18" charset="0"/>
                                        </a:rPr>
                                        <m:t>𝑥</m:t>
                                      </m:r>
                                      <m:r>
                                        <a:rPr lang="en-US" sz="1400" b="0" i="1">
                                          <a:latin typeface="Cambria Math" panose="02040503050406030204" pitchFamily="18" charset="0"/>
                                        </a:rPr>
                                        <m:t>−</m:t>
                                      </m:r>
                                      <m:sSub>
                                        <m:sSubPr>
                                          <m:ctrlPr>
                                            <a:rPr lang="en-US" sz="1400" b="0" i="1">
                                              <a:latin typeface="Cambria Math" panose="02040503050406030204" pitchFamily="18" charset="0"/>
                                            </a:rPr>
                                          </m:ctrlPr>
                                        </m:sSubPr>
                                        <m:e>
                                          <m:r>
                                            <a:rPr lang="en-US" sz="1400" b="0" i="1">
                                              <a:latin typeface="Cambria Math" panose="02040503050406030204" pitchFamily="18" charset="0"/>
                                            </a:rPr>
                                            <m:t>𝜇</m:t>
                                          </m:r>
                                        </m:e>
                                        <m:sub>
                                          <m:r>
                                            <a:rPr lang="en-US" sz="1400" b="0" i="1">
                                              <a:latin typeface="Cambria Math" panose="02040503050406030204" pitchFamily="18" charset="0"/>
                                            </a:rPr>
                                            <m:t>𝑘</m:t>
                                          </m:r>
                                        </m:sub>
                                      </m:sSub>
                                    </m:e>
                                  </m:d>
                                </m:e>
                                <m:sup>
                                  <m:r>
                                    <a:rPr lang="en-US" sz="1400" b="0" i="1">
                                      <a:latin typeface="Cambria Math" panose="02040503050406030204" pitchFamily="18" charset="0"/>
                                    </a:rPr>
                                    <m:t>𝑇</m:t>
                                  </m:r>
                                </m:sup>
                              </m:sSup>
                              <m:sSubSup>
                                <m:sSubSupPr>
                                  <m:ctrlPr>
                                    <a:rPr lang="en-US" sz="1400" b="0" i="1">
                                      <a:solidFill>
                                        <a:srgbClr val="FF0000"/>
                                      </a:solidFill>
                                      <a:latin typeface="Cambria Math" panose="02040503050406030204" pitchFamily="18" charset="0"/>
                                    </a:rPr>
                                  </m:ctrlPr>
                                </m:sSubSupPr>
                                <m:e>
                                  <m:r>
                                    <a:rPr lang="en-US" sz="1400" b="0" i="1">
                                      <a:solidFill>
                                        <a:srgbClr val="FF0000"/>
                                      </a:solidFill>
                                      <a:latin typeface="Cambria Math" panose="02040503050406030204" pitchFamily="18" charset="0"/>
                                    </a:rPr>
                                    <m:t>𝛴</m:t>
                                  </m:r>
                                </m:e>
                                <m:sub>
                                  <m:r>
                                    <a:rPr lang="en-US" sz="1400" b="0" i="1">
                                      <a:solidFill>
                                        <a:srgbClr val="FF0000"/>
                                      </a:solidFill>
                                      <a:latin typeface="Cambria Math" panose="02040503050406030204" pitchFamily="18" charset="0"/>
                                    </a:rPr>
                                    <m:t>𝑘</m:t>
                                  </m:r>
                                </m:sub>
                                <m:sup>
                                  <m:r>
                                    <a:rPr lang="en-US" sz="1400" b="0" i="1">
                                      <a:solidFill>
                                        <a:srgbClr val="FF0000"/>
                                      </a:solidFill>
                                      <a:latin typeface="Cambria Math" panose="02040503050406030204" pitchFamily="18" charset="0"/>
                                    </a:rPr>
                                    <m:t>−1</m:t>
                                  </m:r>
                                </m:sup>
                              </m:sSubSup>
                              <m:d>
                                <m:dPr>
                                  <m:ctrlPr>
                                    <a:rPr lang="en-US" sz="1400" b="0" i="1">
                                      <a:latin typeface="Cambria Math" panose="02040503050406030204" pitchFamily="18" charset="0"/>
                                    </a:rPr>
                                  </m:ctrlPr>
                                </m:dPr>
                                <m:e>
                                  <m:r>
                                    <a:rPr lang="en-US" sz="1400" b="0" i="1">
                                      <a:latin typeface="Cambria Math" panose="02040503050406030204" pitchFamily="18" charset="0"/>
                                    </a:rPr>
                                    <m:t>𝑥</m:t>
                                  </m:r>
                                  <m:r>
                                    <a:rPr lang="en-US" sz="1400" b="0" i="1">
                                      <a:latin typeface="Cambria Math" panose="02040503050406030204" pitchFamily="18" charset="0"/>
                                    </a:rPr>
                                    <m:t>−</m:t>
                                  </m:r>
                                  <m:sSub>
                                    <m:sSubPr>
                                      <m:ctrlPr>
                                        <a:rPr lang="en-US" sz="1400" b="0" i="1">
                                          <a:latin typeface="Cambria Math" panose="02040503050406030204" pitchFamily="18" charset="0"/>
                                        </a:rPr>
                                      </m:ctrlPr>
                                    </m:sSubPr>
                                    <m:e>
                                      <m:r>
                                        <a:rPr lang="en-US" sz="1400" b="0" i="1">
                                          <a:latin typeface="Cambria Math" panose="02040503050406030204" pitchFamily="18" charset="0"/>
                                        </a:rPr>
                                        <m:t>𝜇</m:t>
                                      </m:r>
                                    </m:e>
                                    <m:sub>
                                      <m:r>
                                        <a:rPr lang="en-US" sz="1400" b="0" i="1">
                                          <a:latin typeface="Cambria Math" panose="02040503050406030204" pitchFamily="18" charset="0"/>
                                        </a:rPr>
                                        <m:t>𝑘</m:t>
                                      </m:r>
                                    </m:sub>
                                  </m:sSub>
                                </m:e>
                              </m:d>
                            </m:e>
                          </m:d>
                        </m:e>
                      </m:func>
                    </m:oMath>
                  </m:oMathPara>
                </a14:m>
                <a:endParaRPr lang="en-VN" dirty="0"/>
              </a:p>
            </p:txBody>
          </p:sp>
        </mc:Choice>
        <mc:Fallback>
          <p:sp>
            <p:nvSpPr>
              <p:cNvPr id="12" name="TextBox 11">
                <a:extLst>
                  <a:ext uri="{FF2B5EF4-FFF2-40B4-BE49-F238E27FC236}">
                    <a16:creationId xmlns:a16="http://schemas.microsoft.com/office/drawing/2014/main" id="{EAF508E2-2F6F-FCE9-6007-03E341F1DCE0}"/>
                  </a:ext>
                </a:extLst>
              </p:cNvPr>
              <p:cNvSpPr txBox="1">
                <a:spLocks noRot="1" noChangeAspect="1" noMove="1" noResize="1" noEditPoints="1" noAdjustHandles="1" noChangeArrowheads="1" noChangeShapeType="1" noTextEdit="1"/>
              </p:cNvSpPr>
              <p:nvPr/>
            </p:nvSpPr>
            <p:spPr>
              <a:xfrm>
                <a:off x="6095847" y="2094574"/>
                <a:ext cx="5373202" cy="610039"/>
              </a:xfrm>
              <a:prstGeom prst="rect">
                <a:avLst/>
              </a:prstGeom>
              <a:blipFill>
                <a:blip r:embed="rId5"/>
                <a:stretch>
                  <a:fillRect t="-114286" b="-175510"/>
                </a:stretch>
              </a:blipFill>
            </p:spPr>
            <p:txBody>
              <a:bodyPr/>
              <a:lstStyle/>
              <a:p>
                <a:r>
                  <a:rPr lang="en-VN">
                    <a:noFill/>
                  </a:rPr>
                  <a:t> </a:t>
                </a:r>
              </a:p>
            </p:txBody>
          </p:sp>
        </mc:Fallback>
      </mc:AlternateContent>
    </p:spTree>
    <p:extLst>
      <p:ext uri="{BB962C8B-B14F-4D97-AF65-F5344CB8AC3E}">
        <p14:creationId xmlns:p14="http://schemas.microsoft.com/office/powerpoint/2010/main" val="37870678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44008E-945F-47A7-5432-BCE26937EEE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2F30027-D74E-2A92-56DA-52883FCDD1F5}"/>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41C2A7F4-9E29-E1EC-A204-252446795900}"/>
                  </a:ext>
                </a:extLst>
              </p:cNvPr>
              <p:cNvSpPr txBox="1"/>
              <p:nvPr/>
            </p:nvSpPr>
            <p:spPr>
              <a:xfrm>
                <a:off x="364066" y="1267772"/>
                <a:ext cx="10961159" cy="307777"/>
              </a:xfrm>
              <a:prstGeom prst="rect">
                <a:avLst/>
              </a:prstGeom>
              <a:noFill/>
            </p:spPr>
            <p:txBody>
              <a:bodyPr wrap="square">
                <a:spAutoFit/>
              </a:bodyPr>
              <a:lstStyle/>
              <a:p>
                <a:pPr>
                  <a:spcAft>
                    <a:spcPts val="600"/>
                  </a:spcAft>
                </a:pPr>
                <a:r>
                  <a:rPr lang="vi-VN" sz="1400" b="1" dirty="0">
                    <a:solidFill>
                      <a:srgbClr val="1B8A7A"/>
                    </a:solidFill>
                    <a:latin typeface="Arial"/>
                  </a:rPr>
                  <a:t>Vấn đề xung quanh GMM: Ma trận hiệp phương sai </a:t>
                </a:r>
                <a14:m>
                  <m:oMath xmlns:m="http://schemas.openxmlformats.org/officeDocument/2006/math">
                    <m:r>
                      <a:rPr lang="en-US" sz="1400" i="1">
                        <a:latin typeface="Cambria Math" panose="02040503050406030204" pitchFamily="18" charset="0"/>
                      </a:rPr>
                      <m:t>𝛴</m:t>
                    </m:r>
                  </m:oMath>
                </a14:m>
                <a:r>
                  <a:rPr lang="vi-VN" sz="1400" b="1" dirty="0">
                    <a:solidFill>
                      <a:srgbClr val="1B8A7A"/>
                    </a:solidFill>
                    <a:latin typeface="Arial"/>
                  </a:rPr>
                  <a:t> bị suy biến (định thức = 0)</a:t>
                </a:r>
              </a:p>
            </p:txBody>
          </p:sp>
        </mc:Choice>
        <mc:Fallback>
          <p:sp>
            <p:nvSpPr>
              <p:cNvPr id="4" name="TextBox 3">
                <a:extLst>
                  <a:ext uri="{FF2B5EF4-FFF2-40B4-BE49-F238E27FC236}">
                    <a16:creationId xmlns:a16="http://schemas.microsoft.com/office/drawing/2014/main" id="{41C2A7F4-9E29-E1EC-A204-252446795900}"/>
                  </a:ext>
                </a:extLst>
              </p:cNvPr>
              <p:cNvSpPr txBox="1">
                <a:spLocks noRot="1" noChangeAspect="1" noMove="1" noResize="1" noEditPoints="1" noAdjustHandles="1" noChangeArrowheads="1" noChangeShapeType="1" noTextEdit="1"/>
              </p:cNvSpPr>
              <p:nvPr/>
            </p:nvSpPr>
            <p:spPr>
              <a:xfrm>
                <a:off x="364066" y="1267772"/>
                <a:ext cx="10961159" cy="307777"/>
              </a:xfrm>
              <a:prstGeom prst="rect">
                <a:avLst/>
              </a:prstGeom>
              <a:blipFill>
                <a:blip r:embed="rId3"/>
                <a:stretch>
                  <a:fillRect l="-116" t="-4000" b="-2400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B849FE5F-AE17-BF30-FE0A-627BFA0A8022}"/>
                  </a:ext>
                </a:extLst>
              </p:cNvPr>
              <p:cNvSpPr txBox="1"/>
              <p:nvPr/>
            </p:nvSpPr>
            <p:spPr>
              <a:xfrm>
                <a:off x="609601" y="3199281"/>
                <a:ext cx="10320865" cy="2893100"/>
              </a:xfrm>
              <a:prstGeom prst="rect">
                <a:avLst/>
              </a:prstGeom>
              <a:noFill/>
            </p:spPr>
            <p:txBody>
              <a:bodyPr wrap="square" rtlCol="0">
                <a:spAutoFit/>
              </a:bodyPr>
              <a:lstStyle/>
              <a:p>
                <a:pPr lvl="0"/>
                <a:r>
                  <a:rPr lang="vi-VN" sz="1400" dirty="0">
                    <a:latin typeface="Arial" panose="020B0604020202020204" pitchFamily="34" charset="0"/>
                    <a:cs typeface="Arial" panose="020B0604020202020204" pitchFamily="34" charset="0"/>
                  </a:rPr>
                  <a:t>Dữ liệu train có đặc điểm sau đây sẽ khiến ma trận </a:t>
                </a:r>
                <a14:m>
                  <m:oMath xmlns:m="http://schemas.openxmlformats.org/officeDocument/2006/math">
                    <m:r>
                      <a:rPr lang="en-US" sz="1400" i="1">
                        <a:latin typeface="Cambria Math" panose="02040503050406030204" pitchFamily="18" charset="0"/>
                      </a:rPr>
                      <m:t>𝛴</m:t>
                    </m:r>
                  </m:oMath>
                </a14:m>
                <a:r>
                  <a:rPr lang="vi-VN" sz="1400" dirty="0">
                    <a:latin typeface="Arial" panose="020B0604020202020204" pitchFamily="34" charset="0"/>
                    <a:cs typeface="Arial" panose="020B0604020202020204" pitchFamily="34" charset="0"/>
                  </a:rPr>
                  <a:t> bị suy biến:</a:t>
                </a:r>
                <a:endParaRPr lang="en-VN" sz="1400" dirty="0">
                  <a:latin typeface="Arial" panose="020B0604020202020204" pitchFamily="34" charset="0"/>
                  <a:cs typeface="Arial" panose="020B0604020202020204" pitchFamily="34" charset="0"/>
                </a:endParaRPr>
              </a:p>
              <a:p>
                <a:pPr lvl="0"/>
                <a:endParaRPr lang="en-VN" sz="1400" dirty="0">
                  <a:latin typeface="Arial" panose="020B0604020202020204" pitchFamily="34" charset="0"/>
                  <a:cs typeface="Arial" panose="020B0604020202020204" pitchFamily="34" charset="0"/>
                </a:endParaRPr>
              </a:p>
              <a:p>
                <a:pPr lvl="0"/>
                <a:r>
                  <a:rPr lang="en-VN" sz="1400" dirty="0">
                    <a:latin typeface="Arial" panose="020B0604020202020204" pitchFamily="34" charset="0"/>
                    <a:cs typeface="Arial" panose="020B0604020202020204" pitchFamily="34" charset="0"/>
                  </a:rPr>
                  <a:t>1 - Có các đặc trưng trùng lặp hoặc phụ thuộc tuyến tính (vấn đề cộng tuyến)</a:t>
                </a:r>
              </a:p>
              <a:p>
                <a:pPr lvl="0"/>
                <a:r>
                  <a:rPr lang="en-VN" sz="1400" dirty="0">
                    <a:latin typeface="Arial" panose="020B0604020202020204" pitchFamily="34" charset="0"/>
                    <a:cs typeface="Arial" panose="020B0604020202020204" pitchFamily="34" charset="0"/>
                  </a:rPr>
                  <a:t>	</a:t>
                </a:r>
              </a:p>
              <a:p>
                <a:pPr lvl="0"/>
                <a:endParaRPr lang="en-VN" sz="1400" dirty="0">
                  <a:latin typeface="Arial" panose="020B0604020202020204" pitchFamily="34" charset="0"/>
                  <a:cs typeface="Arial" panose="020B0604020202020204" pitchFamily="34" charset="0"/>
                </a:endParaRPr>
              </a:p>
              <a:p>
                <a:pPr lvl="0"/>
                <a:r>
                  <a:rPr lang="en-VN" sz="1400" dirty="0">
                    <a:latin typeface="Arial" panose="020B0604020202020204" pitchFamily="34" charset="0"/>
                    <a:cs typeface="Arial" panose="020B0604020202020204" pitchFamily="34" charset="0"/>
                  </a:rPr>
                  <a:t>2 - Một đặc trưng bất kỳ có giá trị không đổi (phương sai bằng 0) (khiến đường chéo chính ma trận hiệp phương sai chứa số 0)</a:t>
                </a:r>
              </a:p>
              <a:p>
                <a:pPr lvl="0"/>
                <a:r>
                  <a:rPr lang="en-VN" sz="1400" dirty="0">
                    <a:latin typeface="Arial" panose="020B0604020202020204" pitchFamily="34" charset="0"/>
                    <a:cs typeface="Arial" panose="020B0604020202020204" pitchFamily="34" charset="0"/>
                  </a:rPr>
                  <a:t>	</a:t>
                </a:r>
              </a:p>
              <a:p>
                <a:pPr lvl="0"/>
                <a:endParaRPr lang="en-VN" sz="1400" dirty="0">
                  <a:latin typeface="Arial" panose="020B0604020202020204" pitchFamily="34" charset="0"/>
                  <a:cs typeface="Arial" panose="020B0604020202020204" pitchFamily="34" charset="0"/>
                </a:endParaRPr>
              </a:p>
              <a:p>
                <a:pPr lvl="0"/>
                <a:r>
                  <a:rPr lang="en-VN" sz="1400" dirty="0">
                    <a:latin typeface="Arial" panose="020B0604020202020204" pitchFamily="34" charset="0"/>
                    <a:cs typeface="Arial" panose="020B0604020202020204" pitchFamily="34" charset="0"/>
                  </a:rPr>
                  <a:t>3 - </a:t>
                </a:r>
                <a:r>
                  <a:rPr lang="vi-VN" sz="1400" dirty="0">
                    <a:latin typeface="Arial" panose="020B0604020202020204" pitchFamily="34" charset="0"/>
                    <a:cs typeface="Arial" panose="020B0604020202020204" pitchFamily="34" charset="0"/>
                  </a:rPr>
                  <a:t>Số lượng mẫu dữ liệu ít hơn số chiều (Số dòng &lt; Số cột)</a:t>
                </a:r>
              </a:p>
              <a:p>
                <a:pPr lvl="0"/>
                <a:r>
                  <a:rPr lang="vi-VN" sz="1400" dirty="0">
                    <a:latin typeface="Arial" panose="020B0604020202020204" pitchFamily="34" charset="0"/>
                    <a:cs typeface="Arial" panose="020B0604020202020204" pitchFamily="34" charset="0"/>
                  </a:rPr>
                  <a:t>	</a:t>
                </a:r>
              </a:p>
              <a:p>
                <a:pPr lvl="0"/>
                <a:endParaRPr lang="vi-VN" sz="1400" dirty="0">
                  <a:latin typeface="Arial" panose="020B0604020202020204" pitchFamily="34" charset="0"/>
                  <a:cs typeface="Arial" panose="020B0604020202020204" pitchFamily="34" charset="0"/>
                </a:endParaRPr>
              </a:p>
              <a:p>
                <a:pPr lvl="0"/>
                <a:r>
                  <a:rPr lang="vi-VN" sz="1400" dirty="0">
                    <a:latin typeface="Arial" panose="020B0604020202020204" pitchFamily="34" charset="0"/>
                    <a:cs typeface="Arial" panose="020B0604020202020204" pitchFamily="34" charset="0"/>
                  </a:rPr>
                  <a:t>4 - Nhiều điểm dữ liệu trùng lặp hoàn toàn</a:t>
                </a:r>
              </a:p>
              <a:p>
                <a:pPr lvl="0"/>
                <a:r>
                  <a:rPr lang="vi-VN" sz="1400" dirty="0">
                    <a:latin typeface="Arial" panose="020B0604020202020204" pitchFamily="34" charset="0"/>
                    <a:cs typeface="Arial" panose="020B0604020202020204" pitchFamily="34" charset="0"/>
                  </a:rPr>
                  <a:t>	</a:t>
                </a:r>
              </a:p>
            </p:txBody>
          </p:sp>
        </mc:Choice>
        <mc:Fallback>
          <p:sp>
            <p:nvSpPr>
              <p:cNvPr id="3" name="TextBox 2">
                <a:extLst>
                  <a:ext uri="{FF2B5EF4-FFF2-40B4-BE49-F238E27FC236}">
                    <a16:creationId xmlns:a16="http://schemas.microsoft.com/office/drawing/2014/main" id="{B849FE5F-AE17-BF30-FE0A-627BFA0A8022}"/>
                  </a:ext>
                </a:extLst>
              </p:cNvPr>
              <p:cNvSpPr txBox="1">
                <a:spLocks noRot="1" noChangeAspect="1" noMove="1" noResize="1" noEditPoints="1" noAdjustHandles="1" noChangeArrowheads="1" noChangeShapeType="1" noTextEdit="1"/>
              </p:cNvSpPr>
              <p:nvPr/>
            </p:nvSpPr>
            <p:spPr>
              <a:xfrm>
                <a:off x="609601" y="3199281"/>
                <a:ext cx="10320865" cy="2893100"/>
              </a:xfrm>
              <a:prstGeom prst="rect">
                <a:avLst/>
              </a:prstGeom>
              <a:blipFill>
                <a:blip r:embed="rId4"/>
                <a:stretch>
                  <a:fillRect l="-246" t="-439"/>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36D51623-B564-C226-77DC-04EFA53D4F21}"/>
                  </a:ext>
                </a:extLst>
              </p:cNvPr>
              <p:cNvSpPr txBox="1"/>
              <p:nvPr/>
            </p:nvSpPr>
            <p:spPr>
              <a:xfrm>
                <a:off x="6095847" y="2094574"/>
                <a:ext cx="5373202" cy="610039"/>
              </a:xfrm>
              <a:prstGeom prst="rect">
                <a:avLst/>
              </a:prstGeom>
              <a:noFill/>
            </p:spPr>
            <p:txBody>
              <a:bodyPr wrap="none" lIns="0" tIns="0" rIns="0" bIns="0" rtlCol="0">
                <a:spAutoFit/>
              </a:bodyPr>
              <a:lstStyle/>
              <a:p>
                <a14:m>
                  <m:oMathPara xmlns:m="http://schemas.openxmlformats.org/officeDocument/2006/math">
                    <m:oMath>
                      <m:r>
                        <m:rPr>
                          <m:nor/>
                        </m:rPr>
                        <a:rPr lang="en-US" sz="1400" i="0" smtClean="0">
                          <a:latin typeface="Cambria Math" panose="02040503050406030204" pitchFamily="18" charset="0"/>
                        </a:rPr>
                        <m:t>GMM</m:t>
                      </m:r>
                      <m:d>
                        <m:dPr>
                          <m:ctrlPr>
                            <a:rPr lang="en-US" sz="1400" b="0" i="1">
                              <a:latin typeface="Cambria Math" panose="02040503050406030204" pitchFamily="18" charset="0"/>
                            </a:rPr>
                          </m:ctrlPr>
                        </m:dPr>
                        <m:e>
                          <m:r>
                            <a:rPr lang="en-US" sz="1400" b="0" i="1">
                              <a:latin typeface="Cambria Math" panose="02040503050406030204" pitchFamily="18" charset="0"/>
                            </a:rPr>
                            <m:t>𝑥</m:t>
                          </m:r>
                          <m:r>
                            <a:rPr lang="en-US" sz="1400" b="0" i="1">
                              <a:latin typeface="Cambria Math" panose="02040503050406030204" pitchFamily="18" charset="0"/>
                            </a:rPr>
                            <m:t>∣</m:t>
                          </m:r>
                          <m:r>
                            <a:rPr lang="en-US" sz="1400" b="0" i="1">
                              <a:latin typeface="Cambria Math" panose="02040503050406030204" pitchFamily="18" charset="0"/>
                            </a:rPr>
                            <m:t>𝜋</m:t>
                          </m:r>
                          <m:r>
                            <a:rPr lang="en-US" sz="1400" b="0" i="1">
                              <a:latin typeface="Cambria Math" panose="02040503050406030204" pitchFamily="18" charset="0"/>
                            </a:rPr>
                            <m:t>,</m:t>
                          </m:r>
                          <m:r>
                            <a:rPr lang="en-US" sz="1400" b="0" i="1">
                              <a:latin typeface="Cambria Math" panose="02040503050406030204" pitchFamily="18" charset="0"/>
                            </a:rPr>
                            <m:t>𝜇</m:t>
                          </m:r>
                          <m:r>
                            <a:rPr lang="en-US" sz="1400" b="0" i="1">
                              <a:latin typeface="Cambria Math" panose="02040503050406030204" pitchFamily="18" charset="0"/>
                            </a:rPr>
                            <m:t>,</m:t>
                          </m:r>
                          <m:r>
                            <a:rPr lang="en-US" sz="1400" b="0" i="1">
                              <a:latin typeface="Cambria Math" panose="02040503050406030204" pitchFamily="18" charset="0"/>
                            </a:rPr>
                            <m:t>𝛴</m:t>
                          </m:r>
                        </m:e>
                      </m:d>
                      <m:r>
                        <a:rPr lang="en-US" sz="1400" b="0" i="1">
                          <a:latin typeface="Cambria Math" panose="02040503050406030204" pitchFamily="18" charset="0"/>
                        </a:rPr>
                        <m:t>=</m:t>
                      </m:r>
                      <m:nary>
                        <m:naryPr>
                          <m:chr m:val="∑"/>
                          <m:limLoc m:val="undOvr"/>
                          <m:ctrlPr>
                            <a:rPr lang="en-US" sz="1400" b="0" i="1">
                              <a:latin typeface="Cambria Math" panose="02040503050406030204" pitchFamily="18" charset="0"/>
                            </a:rPr>
                          </m:ctrlPr>
                        </m:naryPr>
                        <m:sub>
                          <m:r>
                            <a:rPr lang="en-US" sz="1400" b="0" i="1">
                              <a:latin typeface="Cambria Math" panose="02040503050406030204" pitchFamily="18" charset="0"/>
                            </a:rPr>
                            <m:t>𝑘</m:t>
                          </m:r>
                          <m:r>
                            <a:rPr lang="en-US" sz="1400" b="0" i="1">
                              <a:latin typeface="Cambria Math" panose="02040503050406030204" pitchFamily="18" charset="0"/>
                            </a:rPr>
                            <m:t>=1</m:t>
                          </m:r>
                        </m:sub>
                        <m:sup>
                          <m:r>
                            <a:rPr lang="en-US" sz="1400" b="0" i="1">
                              <a:latin typeface="Cambria Math" panose="02040503050406030204" pitchFamily="18" charset="0"/>
                            </a:rPr>
                            <m:t>𝐾</m:t>
                          </m:r>
                        </m:sup>
                        <m:e>
                          <m:f>
                            <m:fPr>
                              <m:ctrlPr>
                                <a:rPr lang="en-US" sz="1400" i="1">
                                  <a:latin typeface="Cambria Math" panose="02040503050406030204" pitchFamily="18" charset="0"/>
                                </a:rPr>
                              </m:ctrlPr>
                            </m:fPr>
                            <m:num>
                              <m:sSub>
                                <m:sSubPr>
                                  <m:ctrlPr>
                                    <a:rPr lang="en-US" sz="1400" b="0" i="1">
                                      <a:latin typeface="Cambria Math" panose="02040503050406030204" pitchFamily="18" charset="0"/>
                                    </a:rPr>
                                  </m:ctrlPr>
                                </m:sSubPr>
                                <m:e>
                                  <m:r>
                                    <a:rPr lang="en-US" sz="1400" b="0" i="1">
                                      <a:latin typeface="Cambria Math" panose="02040503050406030204" pitchFamily="18" charset="0"/>
                                    </a:rPr>
                                    <m:t>𝜋</m:t>
                                  </m:r>
                                </m:e>
                                <m:sub>
                                  <m:r>
                                    <a:rPr lang="en-US" sz="1400" b="0" i="1">
                                      <a:latin typeface="Cambria Math" panose="02040503050406030204" pitchFamily="18" charset="0"/>
                                    </a:rPr>
                                    <m:t>𝑘</m:t>
                                  </m:r>
                                </m:sub>
                              </m:sSub>
                            </m:num>
                            <m:den>
                              <m:rad>
                                <m:radPr>
                                  <m:degHide m:val="on"/>
                                  <m:ctrlPr>
                                    <a:rPr lang="en-US" sz="1400" i="1">
                                      <a:latin typeface="Cambria Math" panose="02040503050406030204" pitchFamily="18" charset="0"/>
                                    </a:rPr>
                                  </m:ctrlPr>
                                </m:radPr>
                                <m:deg/>
                                <m:e>
                                  <m:sSup>
                                    <m:sSupPr>
                                      <m:ctrlPr>
                                        <a:rPr lang="en-US" sz="1400" i="1">
                                          <a:latin typeface="Cambria Math" panose="02040503050406030204" pitchFamily="18" charset="0"/>
                                        </a:rPr>
                                      </m:ctrlPr>
                                    </m:sSupPr>
                                    <m:e>
                                      <m:d>
                                        <m:dPr>
                                          <m:ctrlPr>
                                            <a:rPr lang="en-US" sz="1400" b="0" i="1">
                                              <a:latin typeface="Cambria Math" panose="02040503050406030204" pitchFamily="18" charset="0"/>
                                            </a:rPr>
                                          </m:ctrlPr>
                                        </m:dPr>
                                        <m:e>
                                          <m:r>
                                            <a:rPr lang="en-US" sz="1400" b="0" i="1">
                                              <a:latin typeface="Cambria Math" panose="02040503050406030204" pitchFamily="18" charset="0"/>
                                            </a:rPr>
                                            <m:t>2</m:t>
                                          </m:r>
                                          <m:r>
                                            <a:rPr lang="en-US" sz="1400" b="0" i="1">
                                              <a:latin typeface="Cambria Math" panose="02040503050406030204" pitchFamily="18" charset="0"/>
                                            </a:rPr>
                                            <m:t>𝜋</m:t>
                                          </m:r>
                                        </m:e>
                                      </m:d>
                                    </m:e>
                                    <m:sup>
                                      <m:r>
                                        <a:rPr lang="en-US" sz="1400" b="0" i="1">
                                          <a:latin typeface="Cambria Math" panose="02040503050406030204" pitchFamily="18" charset="0"/>
                                        </a:rPr>
                                        <m:t>𝑑</m:t>
                                      </m:r>
                                    </m:sup>
                                  </m:sSup>
                                  <m:d>
                                    <m:dPr>
                                      <m:begChr m:val="|"/>
                                      <m:endChr m:val="|"/>
                                      <m:ctrlPr>
                                        <a:rPr lang="en-US" sz="1400" i="1">
                                          <a:solidFill>
                                            <a:srgbClr val="FF0000"/>
                                          </a:solidFill>
                                          <a:latin typeface="Cambria Math" panose="02040503050406030204" pitchFamily="18" charset="0"/>
                                        </a:rPr>
                                      </m:ctrlPr>
                                    </m:dPr>
                                    <m:e>
                                      <m:sSub>
                                        <m:sSubPr>
                                          <m:ctrlPr>
                                            <a:rPr lang="en-US" sz="1400" b="0" i="1">
                                              <a:solidFill>
                                                <a:srgbClr val="FF0000"/>
                                              </a:solidFill>
                                              <a:latin typeface="Cambria Math" panose="02040503050406030204" pitchFamily="18" charset="0"/>
                                            </a:rPr>
                                          </m:ctrlPr>
                                        </m:sSubPr>
                                        <m:e>
                                          <m:r>
                                            <a:rPr lang="en-US" sz="1400" b="0" i="1">
                                              <a:solidFill>
                                                <a:srgbClr val="FF0000"/>
                                              </a:solidFill>
                                              <a:latin typeface="Cambria Math" panose="02040503050406030204" pitchFamily="18" charset="0"/>
                                            </a:rPr>
                                            <m:t>𝛴</m:t>
                                          </m:r>
                                        </m:e>
                                        <m:sub>
                                          <m:r>
                                            <a:rPr lang="en-US" sz="1400" b="0" i="1">
                                              <a:solidFill>
                                                <a:srgbClr val="FF0000"/>
                                              </a:solidFill>
                                              <a:latin typeface="Cambria Math" panose="02040503050406030204" pitchFamily="18" charset="0"/>
                                            </a:rPr>
                                            <m:t>𝑘</m:t>
                                          </m:r>
                                        </m:sub>
                                      </m:sSub>
                                    </m:e>
                                  </m:d>
                                </m:e>
                              </m:rad>
                            </m:den>
                          </m:f>
                        </m:e>
                      </m:nary>
                      <m:func>
                        <m:funcPr>
                          <m:ctrlPr>
                            <a:rPr lang="en-US" sz="1400" b="0" i="1">
                              <a:latin typeface="Cambria Math" panose="02040503050406030204" pitchFamily="18" charset="0"/>
                            </a:rPr>
                          </m:ctrlPr>
                        </m:funcPr>
                        <m:fName>
                          <m:r>
                            <a:rPr lang="en-US" sz="1400" b="0" i="1">
                              <a:latin typeface="Cambria Math" panose="02040503050406030204" pitchFamily="18" charset="0"/>
                            </a:rPr>
                            <m:t>𝑒𝑥𝑝</m:t>
                          </m:r>
                        </m:fName>
                        <m:e>
                          <m:d>
                            <m:dPr>
                              <m:ctrlPr>
                                <a:rPr lang="en-US" sz="1400" b="0" i="1">
                                  <a:latin typeface="Cambria Math" panose="02040503050406030204" pitchFamily="18" charset="0"/>
                                </a:rPr>
                              </m:ctrlPr>
                            </m:dPr>
                            <m:e>
                              <m:r>
                                <a:rPr lang="en-US" sz="1400" b="0" i="1">
                                  <a:latin typeface="Cambria Math" panose="02040503050406030204" pitchFamily="18" charset="0"/>
                                </a:rPr>
                                <m:t>−</m:t>
                              </m:r>
                              <m:f>
                                <m:fPr>
                                  <m:ctrlPr>
                                    <a:rPr lang="en-US" sz="1400" b="0" i="1">
                                      <a:latin typeface="Cambria Math" panose="02040503050406030204" pitchFamily="18" charset="0"/>
                                    </a:rPr>
                                  </m:ctrlPr>
                                </m:fPr>
                                <m:num>
                                  <m:r>
                                    <a:rPr lang="en-US" sz="1400" b="0" i="1">
                                      <a:latin typeface="Cambria Math" panose="02040503050406030204" pitchFamily="18" charset="0"/>
                                    </a:rPr>
                                    <m:t>1</m:t>
                                  </m:r>
                                </m:num>
                                <m:den>
                                  <m:r>
                                    <a:rPr lang="en-US" sz="1400" b="0" i="1">
                                      <a:latin typeface="Cambria Math" panose="02040503050406030204" pitchFamily="18" charset="0"/>
                                    </a:rPr>
                                    <m:t>2</m:t>
                                  </m:r>
                                </m:den>
                              </m:f>
                              <m:sSup>
                                <m:sSupPr>
                                  <m:ctrlPr>
                                    <a:rPr lang="en-US" sz="1400" i="1">
                                      <a:latin typeface="Cambria Math" panose="02040503050406030204" pitchFamily="18" charset="0"/>
                                    </a:rPr>
                                  </m:ctrlPr>
                                </m:sSupPr>
                                <m:e>
                                  <m:d>
                                    <m:dPr>
                                      <m:ctrlPr>
                                        <a:rPr lang="en-US" sz="1400" b="0" i="1">
                                          <a:latin typeface="Cambria Math" panose="02040503050406030204" pitchFamily="18" charset="0"/>
                                        </a:rPr>
                                      </m:ctrlPr>
                                    </m:dPr>
                                    <m:e>
                                      <m:r>
                                        <a:rPr lang="en-US" sz="1400" b="0" i="1">
                                          <a:latin typeface="Cambria Math" panose="02040503050406030204" pitchFamily="18" charset="0"/>
                                        </a:rPr>
                                        <m:t>𝑥</m:t>
                                      </m:r>
                                      <m:r>
                                        <a:rPr lang="en-US" sz="1400" b="0" i="1">
                                          <a:latin typeface="Cambria Math" panose="02040503050406030204" pitchFamily="18" charset="0"/>
                                        </a:rPr>
                                        <m:t>−</m:t>
                                      </m:r>
                                      <m:sSub>
                                        <m:sSubPr>
                                          <m:ctrlPr>
                                            <a:rPr lang="en-US" sz="1400" b="0" i="1">
                                              <a:latin typeface="Cambria Math" panose="02040503050406030204" pitchFamily="18" charset="0"/>
                                            </a:rPr>
                                          </m:ctrlPr>
                                        </m:sSubPr>
                                        <m:e>
                                          <m:r>
                                            <a:rPr lang="en-US" sz="1400" b="0" i="1">
                                              <a:latin typeface="Cambria Math" panose="02040503050406030204" pitchFamily="18" charset="0"/>
                                            </a:rPr>
                                            <m:t>𝜇</m:t>
                                          </m:r>
                                        </m:e>
                                        <m:sub>
                                          <m:r>
                                            <a:rPr lang="en-US" sz="1400" b="0" i="1">
                                              <a:latin typeface="Cambria Math" panose="02040503050406030204" pitchFamily="18" charset="0"/>
                                            </a:rPr>
                                            <m:t>𝑘</m:t>
                                          </m:r>
                                        </m:sub>
                                      </m:sSub>
                                    </m:e>
                                  </m:d>
                                </m:e>
                                <m:sup>
                                  <m:r>
                                    <a:rPr lang="en-US" sz="1400" b="0" i="1">
                                      <a:latin typeface="Cambria Math" panose="02040503050406030204" pitchFamily="18" charset="0"/>
                                    </a:rPr>
                                    <m:t>𝑇</m:t>
                                  </m:r>
                                </m:sup>
                              </m:sSup>
                              <m:sSubSup>
                                <m:sSubSupPr>
                                  <m:ctrlPr>
                                    <a:rPr lang="en-US" sz="1400" b="0" i="1">
                                      <a:solidFill>
                                        <a:srgbClr val="FF0000"/>
                                      </a:solidFill>
                                      <a:latin typeface="Cambria Math" panose="02040503050406030204" pitchFamily="18" charset="0"/>
                                    </a:rPr>
                                  </m:ctrlPr>
                                </m:sSubSupPr>
                                <m:e>
                                  <m:r>
                                    <a:rPr lang="en-US" sz="1400" b="0" i="1">
                                      <a:solidFill>
                                        <a:srgbClr val="FF0000"/>
                                      </a:solidFill>
                                      <a:latin typeface="Cambria Math" panose="02040503050406030204" pitchFamily="18" charset="0"/>
                                    </a:rPr>
                                    <m:t>𝛴</m:t>
                                  </m:r>
                                </m:e>
                                <m:sub>
                                  <m:r>
                                    <a:rPr lang="en-US" sz="1400" b="0" i="1">
                                      <a:solidFill>
                                        <a:srgbClr val="FF0000"/>
                                      </a:solidFill>
                                      <a:latin typeface="Cambria Math" panose="02040503050406030204" pitchFamily="18" charset="0"/>
                                    </a:rPr>
                                    <m:t>𝑘</m:t>
                                  </m:r>
                                </m:sub>
                                <m:sup>
                                  <m:r>
                                    <a:rPr lang="en-US" sz="1400" b="0" i="1">
                                      <a:solidFill>
                                        <a:srgbClr val="FF0000"/>
                                      </a:solidFill>
                                      <a:latin typeface="Cambria Math" panose="02040503050406030204" pitchFamily="18" charset="0"/>
                                    </a:rPr>
                                    <m:t>−1</m:t>
                                  </m:r>
                                </m:sup>
                              </m:sSubSup>
                              <m:d>
                                <m:dPr>
                                  <m:ctrlPr>
                                    <a:rPr lang="en-US" sz="1400" b="0" i="1">
                                      <a:latin typeface="Cambria Math" panose="02040503050406030204" pitchFamily="18" charset="0"/>
                                    </a:rPr>
                                  </m:ctrlPr>
                                </m:dPr>
                                <m:e>
                                  <m:r>
                                    <a:rPr lang="en-US" sz="1400" b="0" i="1">
                                      <a:latin typeface="Cambria Math" panose="02040503050406030204" pitchFamily="18" charset="0"/>
                                    </a:rPr>
                                    <m:t>𝑥</m:t>
                                  </m:r>
                                  <m:r>
                                    <a:rPr lang="en-US" sz="1400" b="0" i="1">
                                      <a:latin typeface="Cambria Math" panose="02040503050406030204" pitchFamily="18" charset="0"/>
                                    </a:rPr>
                                    <m:t>−</m:t>
                                  </m:r>
                                  <m:sSub>
                                    <m:sSubPr>
                                      <m:ctrlPr>
                                        <a:rPr lang="en-US" sz="1400" b="0" i="1">
                                          <a:latin typeface="Cambria Math" panose="02040503050406030204" pitchFamily="18" charset="0"/>
                                        </a:rPr>
                                      </m:ctrlPr>
                                    </m:sSubPr>
                                    <m:e>
                                      <m:r>
                                        <a:rPr lang="en-US" sz="1400" b="0" i="1">
                                          <a:latin typeface="Cambria Math" panose="02040503050406030204" pitchFamily="18" charset="0"/>
                                        </a:rPr>
                                        <m:t>𝜇</m:t>
                                      </m:r>
                                    </m:e>
                                    <m:sub>
                                      <m:r>
                                        <a:rPr lang="en-US" sz="1400" b="0" i="1">
                                          <a:latin typeface="Cambria Math" panose="02040503050406030204" pitchFamily="18" charset="0"/>
                                        </a:rPr>
                                        <m:t>𝑘</m:t>
                                      </m:r>
                                    </m:sub>
                                  </m:sSub>
                                </m:e>
                              </m:d>
                            </m:e>
                          </m:d>
                        </m:e>
                      </m:func>
                    </m:oMath>
                  </m:oMathPara>
                </a14:m>
                <a:endParaRPr lang="en-VN" dirty="0"/>
              </a:p>
            </p:txBody>
          </p:sp>
        </mc:Choice>
        <mc:Fallback>
          <p:sp>
            <p:nvSpPr>
              <p:cNvPr id="12" name="TextBox 11">
                <a:extLst>
                  <a:ext uri="{FF2B5EF4-FFF2-40B4-BE49-F238E27FC236}">
                    <a16:creationId xmlns:a16="http://schemas.microsoft.com/office/drawing/2014/main" id="{36D51623-B564-C226-77DC-04EFA53D4F21}"/>
                  </a:ext>
                </a:extLst>
              </p:cNvPr>
              <p:cNvSpPr txBox="1">
                <a:spLocks noRot="1" noChangeAspect="1" noMove="1" noResize="1" noEditPoints="1" noAdjustHandles="1" noChangeArrowheads="1" noChangeShapeType="1" noTextEdit="1"/>
              </p:cNvSpPr>
              <p:nvPr/>
            </p:nvSpPr>
            <p:spPr>
              <a:xfrm>
                <a:off x="6095847" y="2094574"/>
                <a:ext cx="5373202" cy="610039"/>
              </a:xfrm>
              <a:prstGeom prst="rect">
                <a:avLst/>
              </a:prstGeom>
              <a:blipFill>
                <a:blip r:embed="rId5"/>
                <a:stretch>
                  <a:fillRect t="-114286" b="-17551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6FE89A71-B030-026F-D8D4-BF17337475BD}"/>
                  </a:ext>
                </a:extLst>
              </p:cNvPr>
              <p:cNvSpPr txBox="1"/>
              <p:nvPr/>
            </p:nvSpPr>
            <p:spPr>
              <a:xfrm>
                <a:off x="609602" y="1798226"/>
                <a:ext cx="4478865" cy="954107"/>
              </a:xfrm>
              <a:prstGeom prst="rect">
                <a:avLst/>
              </a:prstGeom>
              <a:noFill/>
            </p:spPr>
            <p:txBody>
              <a:bodyPr wrap="square" rtlCol="0">
                <a:spAutoFit/>
              </a:bodyPr>
              <a:lstStyle/>
              <a:p>
                <a:pPr lvl="0"/>
                <a:r>
                  <a:rPr lang="vi-VN" sz="1400" dirty="0">
                    <a:latin typeface="Arial" panose="020B0604020202020204" pitchFamily="34" charset="0"/>
                    <a:cs typeface="Arial" panose="020B0604020202020204" pitchFamily="34" charset="0"/>
                  </a:rPr>
                  <a:t>Hậu quả nếu </a:t>
                </a:r>
                <a:r>
                  <a:rPr lang="vi-VN" sz="1400" dirty="0">
                    <a:cs typeface="Arial" panose="020B0604020202020204" pitchFamily="34" charset="0"/>
                  </a:rPr>
                  <a:t>ma trận </a:t>
                </a:r>
                <a14:m>
                  <m:oMath xmlns:m="http://schemas.openxmlformats.org/officeDocument/2006/math">
                    <m:r>
                      <a:rPr lang="en-US" sz="1400" i="1">
                        <a:latin typeface="Cambria Math" panose="02040503050406030204" pitchFamily="18" charset="0"/>
                      </a:rPr>
                      <m:t>𝛴</m:t>
                    </m:r>
                  </m:oMath>
                </a14:m>
                <a:r>
                  <a:rPr lang="vi-VN" sz="1400" dirty="0">
                    <a:cs typeface="Arial" panose="020B0604020202020204" pitchFamily="34" charset="0"/>
                  </a:rPr>
                  <a:t> bị suy biến</a:t>
                </a:r>
                <a:r>
                  <a:rPr lang="vi-VN" sz="1400" dirty="0">
                    <a:latin typeface="Arial" panose="020B0604020202020204" pitchFamily="34" charset="0"/>
                    <a:cs typeface="Arial" panose="020B0604020202020204" pitchFamily="34" charset="0"/>
                  </a:rPr>
                  <a:t>:</a:t>
                </a:r>
              </a:p>
              <a:p>
                <a:pPr lvl="0"/>
                <a:r>
                  <a:rPr lang="vi-VN" sz="1400" dirty="0">
                    <a:latin typeface="Arial" panose="020B0604020202020204" pitchFamily="34" charset="0"/>
                    <a:cs typeface="Arial" panose="020B0604020202020204" pitchFamily="34" charset="0"/>
                  </a:rPr>
                  <a:t>Sập </a:t>
                </a:r>
                <a:r>
                  <a:rPr lang="vi-VN" sz="1400" dirty="0">
                    <a:cs typeface="Arial" panose="020B0604020202020204" pitchFamily="34" charset="0"/>
                  </a:rPr>
                  <a:t>(không thể vẽ) </a:t>
                </a:r>
                <a:r>
                  <a:rPr lang="vi-VN" sz="1400" dirty="0">
                    <a:latin typeface="Arial" panose="020B0604020202020204" pitchFamily="34" charset="0"/>
                    <a:cs typeface="Arial" panose="020B0604020202020204" pitchFamily="34" charset="0"/>
                  </a:rPr>
                  <a:t>mô hình GMM vì 2 lý do:</a:t>
                </a:r>
              </a:p>
              <a:p>
                <a:pPr lvl="0"/>
                <a:r>
                  <a:rPr lang="vi-VN" sz="1400" dirty="0">
                    <a:latin typeface="Arial" panose="020B0604020202020204" pitchFamily="34" charset="0"/>
                    <a:cs typeface="Arial" panose="020B0604020202020204" pitchFamily="34" charset="0"/>
                  </a:rPr>
                  <a:t>- Mẫu số bằng 0</a:t>
                </a:r>
                <a:br>
                  <a:rPr lang="vi-VN" sz="1400" dirty="0">
                    <a:latin typeface="Arial" panose="020B0604020202020204" pitchFamily="34" charset="0"/>
                    <a:cs typeface="Arial" panose="020B0604020202020204" pitchFamily="34" charset="0"/>
                  </a:rPr>
                </a:br>
                <a:r>
                  <a:rPr lang="vi-VN" sz="1400" dirty="0">
                    <a:latin typeface="Arial" panose="020B0604020202020204" pitchFamily="34" charset="0"/>
                    <a:cs typeface="Arial" panose="020B0604020202020204" pitchFamily="34" charset="0"/>
                  </a:rPr>
                  <a:t>- Không thể nghịch đảo ma trận </a:t>
                </a:r>
                <a14:m>
                  <m:oMath xmlns:m="http://schemas.openxmlformats.org/officeDocument/2006/math">
                    <m:r>
                      <a:rPr lang="en-US" sz="1400" i="1">
                        <a:latin typeface="Cambria Math" panose="02040503050406030204" pitchFamily="18" charset="0"/>
                      </a:rPr>
                      <m:t>𝛴</m:t>
                    </m:r>
                  </m:oMath>
                </a14:m>
                <a:endParaRPr lang="vi-VN" sz="1400" dirty="0">
                  <a:latin typeface="Arial" panose="020B0604020202020204" pitchFamily="34" charset="0"/>
                  <a:cs typeface="Arial" panose="020B0604020202020204" pitchFamily="34" charset="0"/>
                </a:endParaRPr>
              </a:p>
            </p:txBody>
          </p:sp>
        </mc:Choice>
        <mc:Fallback>
          <p:sp>
            <p:nvSpPr>
              <p:cNvPr id="6" name="TextBox 5">
                <a:extLst>
                  <a:ext uri="{FF2B5EF4-FFF2-40B4-BE49-F238E27FC236}">
                    <a16:creationId xmlns:a16="http://schemas.microsoft.com/office/drawing/2014/main" id="{6FE89A71-B030-026F-D8D4-BF17337475BD}"/>
                  </a:ext>
                </a:extLst>
              </p:cNvPr>
              <p:cNvSpPr txBox="1">
                <a:spLocks noRot="1" noChangeAspect="1" noMove="1" noResize="1" noEditPoints="1" noAdjustHandles="1" noChangeArrowheads="1" noChangeShapeType="1" noTextEdit="1"/>
              </p:cNvSpPr>
              <p:nvPr/>
            </p:nvSpPr>
            <p:spPr>
              <a:xfrm>
                <a:off x="609602" y="1798226"/>
                <a:ext cx="4478865" cy="954107"/>
              </a:xfrm>
              <a:prstGeom prst="rect">
                <a:avLst/>
              </a:prstGeom>
              <a:blipFill>
                <a:blip r:embed="rId6"/>
                <a:stretch>
                  <a:fillRect l="-567" t="-1316" b="-5263"/>
                </a:stretch>
              </a:blipFill>
            </p:spPr>
            <p:txBody>
              <a:bodyPr/>
              <a:lstStyle/>
              <a:p>
                <a:r>
                  <a:rPr lang="en-VN">
                    <a:noFill/>
                  </a:rPr>
                  <a:t> </a:t>
                </a:r>
              </a:p>
            </p:txBody>
          </p:sp>
        </mc:Fallback>
      </mc:AlternateContent>
    </p:spTree>
    <p:extLst>
      <p:ext uri="{BB962C8B-B14F-4D97-AF65-F5344CB8AC3E}">
        <p14:creationId xmlns:p14="http://schemas.microsoft.com/office/powerpoint/2010/main" val="248978148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778B30-168C-9236-4F2C-6E85F28A758E}"/>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6629CC7D-4E5D-671A-5B66-CB9460BA1A5D}"/>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9656531A-C30F-7B06-C26E-AA406DE0F69A}"/>
                  </a:ext>
                </a:extLst>
              </p:cNvPr>
              <p:cNvSpPr txBox="1"/>
              <p:nvPr/>
            </p:nvSpPr>
            <p:spPr>
              <a:xfrm>
                <a:off x="364066" y="1267772"/>
                <a:ext cx="10961159" cy="307777"/>
              </a:xfrm>
              <a:prstGeom prst="rect">
                <a:avLst/>
              </a:prstGeom>
              <a:noFill/>
            </p:spPr>
            <p:txBody>
              <a:bodyPr wrap="square">
                <a:spAutoFit/>
              </a:bodyPr>
              <a:lstStyle/>
              <a:p>
                <a:pPr>
                  <a:spcAft>
                    <a:spcPts val="600"/>
                  </a:spcAft>
                </a:pPr>
                <a:r>
                  <a:rPr lang="vi-VN" sz="1400" b="1" dirty="0">
                    <a:solidFill>
                      <a:srgbClr val="1B8A7A"/>
                    </a:solidFill>
                    <a:latin typeface="Arial"/>
                  </a:rPr>
                  <a:t>Vấn đề xung quanh GMM: Ma trận hiệp phương sai </a:t>
                </a:r>
                <a14:m>
                  <m:oMath xmlns:m="http://schemas.openxmlformats.org/officeDocument/2006/math">
                    <m:r>
                      <a:rPr lang="en-US" sz="1400" i="1">
                        <a:latin typeface="Cambria Math" panose="02040503050406030204" pitchFamily="18" charset="0"/>
                      </a:rPr>
                      <m:t>𝛴</m:t>
                    </m:r>
                  </m:oMath>
                </a14:m>
                <a:r>
                  <a:rPr lang="vi-VN" sz="1400" b="1" dirty="0">
                    <a:solidFill>
                      <a:srgbClr val="1B8A7A"/>
                    </a:solidFill>
                    <a:latin typeface="Arial"/>
                  </a:rPr>
                  <a:t> bị suy biến (định thức = 0)</a:t>
                </a:r>
              </a:p>
            </p:txBody>
          </p:sp>
        </mc:Choice>
        <mc:Fallback>
          <p:sp>
            <p:nvSpPr>
              <p:cNvPr id="4" name="TextBox 3">
                <a:extLst>
                  <a:ext uri="{FF2B5EF4-FFF2-40B4-BE49-F238E27FC236}">
                    <a16:creationId xmlns:a16="http://schemas.microsoft.com/office/drawing/2014/main" id="{9656531A-C30F-7B06-C26E-AA406DE0F69A}"/>
                  </a:ext>
                </a:extLst>
              </p:cNvPr>
              <p:cNvSpPr txBox="1">
                <a:spLocks noRot="1" noChangeAspect="1" noMove="1" noResize="1" noEditPoints="1" noAdjustHandles="1" noChangeArrowheads="1" noChangeShapeType="1" noTextEdit="1"/>
              </p:cNvSpPr>
              <p:nvPr/>
            </p:nvSpPr>
            <p:spPr>
              <a:xfrm>
                <a:off x="364066" y="1267772"/>
                <a:ext cx="10961159" cy="307777"/>
              </a:xfrm>
              <a:prstGeom prst="rect">
                <a:avLst/>
              </a:prstGeom>
              <a:blipFill>
                <a:blip r:embed="rId3"/>
                <a:stretch>
                  <a:fillRect l="-116" t="-4000" b="-2400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F4A3CFF6-3A1C-C4A9-C909-76C15B73D438}"/>
                  </a:ext>
                </a:extLst>
              </p:cNvPr>
              <p:cNvSpPr txBox="1"/>
              <p:nvPr/>
            </p:nvSpPr>
            <p:spPr>
              <a:xfrm>
                <a:off x="609601" y="3199281"/>
                <a:ext cx="10320865" cy="2893100"/>
              </a:xfrm>
              <a:prstGeom prst="rect">
                <a:avLst/>
              </a:prstGeom>
              <a:noFill/>
            </p:spPr>
            <p:txBody>
              <a:bodyPr wrap="square" rtlCol="0">
                <a:spAutoFit/>
              </a:bodyPr>
              <a:lstStyle/>
              <a:p>
                <a:pPr lvl="0"/>
                <a:r>
                  <a:rPr lang="vi-VN" sz="1400" dirty="0">
                    <a:latin typeface="Arial" panose="020B0604020202020204" pitchFamily="34" charset="0"/>
                    <a:cs typeface="Arial" panose="020B0604020202020204" pitchFamily="34" charset="0"/>
                  </a:rPr>
                  <a:t>Dữ liệu train có đặc điểm sau đây sẽ khiến ma trận </a:t>
                </a:r>
                <a14:m>
                  <m:oMath xmlns:m="http://schemas.openxmlformats.org/officeDocument/2006/math">
                    <m:r>
                      <a:rPr lang="en-US" sz="1400" i="1">
                        <a:latin typeface="Cambria Math" panose="02040503050406030204" pitchFamily="18" charset="0"/>
                      </a:rPr>
                      <m:t>𝛴</m:t>
                    </m:r>
                  </m:oMath>
                </a14:m>
                <a:r>
                  <a:rPr lang="vi-VN" sz="1400" dirty="0">
                    <a:latin typeface="Arial" panose="020B0604020202020204" pitchFamily="34" charset="0"/>
                    <a:cs typeface="Arial" panose="020B0604020202020204" pitchFamily="34" charset="0"/>
                  </a:rPr>
                  <a:t> bị suy biến:</a:t>
                </a:r>
                <a:endParaRPr lang="en-VN" sz="1400" dirty="0">
                  <a:latin typeface="Arial" panose="020B0604020202020204" pitchFamily="34" charset="0"/>
                  <a:cs typeface="Arial" panose="020B0604020202020204" pitchFamily="34" charset="0"/>
                </a:endParaRPr>
              </a:p>
              <a:p>
                <a:pPr lvl="0"/>
                <a:endParaRPr lang="en-VN" sz="1400" dirty="0">
                  <a:latin typeface="Arial" panose="020B0604020202020204" pitchFamily="34" charset="0"/>
                  <a:cs typeface="Arial" panose="020B0604020202020204" pitchFamily="34" charset="0"/>
                </a:endParaRPr>
              </a:p>
              <a:p>
                <a:pPr lvl="0"/>
                <a:r>
                  <a:rPr lang="en-VN" sz="1400" dirty="0">
                    <a:latin typeface="Arial" panose="020B0604020202020204" pitchFamily="34" charset="0"/>
                    <a:cs typeface="Arial" panose="020B0604020202020204" pitchFamily="34" charset="0"/>
                  </a:rPr>
                  <a:t>1 - Có các đặc trưng trùng lặp hoặc phụ thuộc tuyến tính (vấn đề cộng tuyến)</a:t>
                </a:r>
              </a:p>
              <a:p>
                <a:pPr lvl="0"/>
                <a:r>
                  <a:rPr lang="en-VN" sz="1400" dirty="0">
                    <a:latin typeface="Arial" panose="020B0604020202020204" pitchFamily="34" charset="0"/>
                    <a:cs typeface="Arial" panose="020B0604020202020204" pitchFamily="34" charset="0"/>
                  </a:rPr>
                  <a:t>	</a:t>
                </a:r>
                <a:r>
                  <a:rPr lang="en-VN" sz="1400" dirty="0">
                    <a:solidFill>
                      <a:schemeClr val="accent6">
                        <a:lumMod val="75000"/>
                      </a:schemeClr>
                    </a:solidFill>
                    <a:latin typeface="Arial" panose="020B0604020202020204" pitchFamily="34" charset="0"/>
                    <a:cs typeface="Arial" panose="020B0604020202020204" pitchFamily="34" charset="0"/>
                  </a:rPr>
                  <a:t>=&gt; Lọc đặc trưng thủ công hoặc PCA</a:t>
                </a:r>
              </a:p>
              <a:p>
                <a:pPr lvl="0"/>
                <a:endParaRPr lang="en-VN" sz="1400" dirty="0">
                  <a:latin typeface="Arial" panose="020B0604020202020204" pitchFamily="34" charset="0"/>
                  <a:cs typeface="Arial" panose="020B0604020202020204" pitchFamily="34" charset="0"/>
                </a:endParaRPr>
              </a:p>
              <a:p>
                <a:pPr lvl="0"/>
                <a:r>
                  <a:rPr lang="en-VN" sz="1400" dirty="0">
                    <a:latin typeface="Arial" panose="020B0604020202020204" pitchFamily="34" charset="0"/>
                    <a:cs typeface="Arial" panose="020B0604020202020204" pitchFamily="34" charset="0"/>
                  </a:rPr>
                  <a:t>2 - Một đặc trưng bất kỳ có giá trị không đổi (phương sai bằng 0) (khiến đường chéo chính ma trận hiệp phương sai chứa số 0)</a:t>
                </a:r>
              </a:p>
              <a:p>
                <a:pPr lvl="0"/>
                <a:r>
                  <a:rPr lang="en-VN" sz="1400" dirty="0">
                    <a:latin typeface="Arial" panose="020B0604020202020204" pitchFamily="34" charset="0"/>
                    <a:cs typeface="Arial" panose="020B0604020202020204" pitchFamily="34" charset="0"/>
                  </a:rPr>
                  <a:t>	</a:t>
                </a:r>
                <a:r>
                  <a:rPr lang="en-VN" sz="1400" dirty="0">
                    <a:solidFill>
                      <a:schemeClr val="accent6">
                        <a:lumMod val="75000"/>
                      </a:schemeClr>
                    </a:solidFill>
                    <a:latin typeface="Arial" panose="020B0604020202020204" pitchFamily="34" charset="0"/>
                    <a:cs typeface="Arial" panose="020B0604020202020204" pitchFamily="34" charset="0"/>
                  </a:rPr>
                  <a:t>=&gt; Bỏ hẳn đặc trưng này</a:t>
                </a:r>
              </a:p>
              <a:p>
                <a:pPr lvl="0"/>
                <a:endParaRPr lang="en-VN" sz="1400" dirty="0">
                  <a:latin typeface="Arial" panose="020B0604020202020204" pitchFamily="34" charset="0"/>
                  <a:cs typeface="Arial" panose="020B0604020202020204" pitchFamily="34" charset="0"/>
                </a:endParaRPr>
              </a:p>
              <a:p>
                <a:pPr lvl="0"/>
                <a:r>
                  <a:rPr lang="en-VN" sz="1400" dirty="0">
                    <a:latin typeface="Arial" panose="020B0604020202020204" pitchFamily="34" charset="0"/>
                    <a:cs typeface="Arial" panose="020B0604020202020204" pitchFamily="34" charset="0"/>
                  </a:rPr>
                  <a:t>3 - </a:t>
                </a:r>
                <a:r>
                  <a:rPr lang="vi-VN" sz="1400" dirty="0">
                    <a:latin typeface="Arial" panose="020B0604020202020204" pitchFamily="34" charset="0"/>
                    <a:cs typeface="Arial" panose="020B0604020202020204" pitchFamily="34" charset="0"/>
                  </a:rPr>
                  <a:t>Số lượng mẫu dữ liệu ít hơn số chiều (Số dòng &lt; Số cột)</a:t>
                </a:r>
              </a:p>
              <a:p>
                <a:pPr lvl="0"/>
                <a:r>
                  <a:rPr lang="vi-VN" sz="1400" dirty="0">
                    <a:latin typeface="Arial" panose="020B0604020202020204" pitchFamily="34" charset="0"/>
                    <a:cs typeface="Arial" panose="020B0604020202020204" pitchFamily="34" charset="0"/>
                  </a:rPr>
                  <a:t>	</a:t>
                </a:r>
                <a:r>
                  <a:rPr lang="vi-VN" sz="1400" dirty="0">
                    <a:solidFill>
                      <a:schemeClr val="accent6">
                        <a:lumMod val="75000"/>
                      </a:schemeClr>
                    </a:solidFill>
                    <a:latin typeface="Arial" panose="020B0604020202020204" pitchFamily="34" charset="0"/>
                    <a:cs typeface="Arial" panose="020B0604020202020204" pitchFamily="34" charset="0"/>
                  </a:rPr>
                  <a:t>=&gt; Dùng </a:t>
                </a:r>
                <a14:m>
                  <m:oMath xmlns:m="http://schemas.openxmlformats.org/officeDocument/2006/math">
                    <m:r>
                      <a:rPr lang="en-US" sz="1400" i="1">
                        <a:solidFill>
                          <a:schemeClr val="accent6">
                            <a:lumMod val="75000"/>
                          </a:schemeClr>
                        </a:solidFill>
                        <a:latin typeface="Cambria Math" panose="02040503050406030204" pitchFamily="18" charset="0"/>
                      </a:rPr>
                      <m:t>𝛴</m:t>
                    </m:r>
                  </m:oMath>
                </a14:m>
                <a:r>
                  <a:rPr lang="vi-VN" sz="1400" dirty="0">
                    <a:solidFill>
                      <a:schemeClr val="accent6">
                        <a:lumMod val="75000"/>
                      </a:schemeClr>
                    </a:solidFill>
                    <a:latin typeface="Arial" panose="020B0604020202020204" pitchFamily="34" charset="0"/>
                    <a:cs typeface="Arial" panose="020B0604020202020204" pitchFamily="34" charset="0"/>
                  </a:rPr>
                  <a:t> dạng đường chéo hoặc hình cầu thay vì dùng dạng full</a:t>
                </a:r>
                <a:endParaRPr lang="vi-VN" sz="1400" dirty="0">
                  <a:latin typeface="Arial" panose="020B0604020202020204" pitchFamily="34" charset="0"/>
                  <a:cs typeface="Arial" panose="020B0604020202020204" pitchFamily="34" charset="0"/>
                </a:endParaRPr>
              </a:p>
              <a:p>
                <a:pPr lvl="0"/>
                <a:endParaRPr lang="vi-VN" sz="1400" dirty="0">
                  <a:latin typeface="Arial" panose="020B0604020202020204" pitchFamily="34" charset="0"/>
                  <a:cs typeface="Arial" panose="020B0604020202020204" pitchFamily="34" charset="0"/>
                </a:endParaRPr>
              </a:p>
              <a:p>
                <a:pPr lvl="0"/>
                <a:r>
                  <a:rPr lang="vi-VN" sz="1400" dirty="0">
                    <a:latin typeface="Arial" panose="020B0604020202020204" pitchFamily="34" charset="0"/>
                    <a:cs typeface="Arial" panose="020B0604020202020204" pitchFamily="34" charset="0"/>
                  </a:rPr>
                  <a:t>4 - Nhiều điểm dữ liệu trùng lặp hoàn toàn</a:t>
                </a:r>
              </a:p>
              <a:p>
                <a:pPr lvl="0"/>
                <a:r>
                  <a:rPr lang="vi-VN" sz="1400" dirty="0">
                    <a:latin typeface="Arial" panose="020B0604020202020204" pitchFamily="34" charset="0"/>
                    <a:cs typeface="Arial" panose="020B0604020202020204" pitchFamily="34" charset="0"/>
                  </a:rPr>
                  <a:t>	</a:t>
                </a:r>
                <a:r>
                  <a:rPr lang="vi-VN" sz="1400" dirty="0">
                    <a:solidFill>
                      <a:schemeClr val="accent6">
                        <a:lumMod val="75000"/>
                      </a:schemeClr>
                    </a:solidFill>
                    <a:latin typeface="Arial" panose="020B0604020202020204" pitchFamily="34" charset="0"/>
                    <a:cs typeface="Arial" panose="020B0604020202020204" pitchFamily="34" charset="0"/>
                  </a:rPr>
                  <a:t>=&gt; Loại bỏ trùng lặp hoặc set siêu tham số reg_covar để cộng 1 lượng nhỏ vào đường chéo chính </a:t>
                </a:r>
                <a14:m>
                  <m:oMath xmlns:m="http://schemas.openxmlformats.org/officeDocument/2006/math">
                    <m:r>
                      <a:rPr lang="en-US" sz="1400" i="1">
                        <a:solidFill>
                          <a:schemeClr val="accent6">
                            <a:lumMod val="75000"/>
                          </a:schemeClr>
                        </a:solidFill>
                        <a:latin typeface="Cambria Math" panose="02040503050406030204" pitchFamily="18" charset="0"/>
                      </a:rPr>
                      <m:t>𝛴</m:t>
                    </m:r>
                  </m:oMath>
                </a14:m>
                <a:endParaRPr lang="vi-VN" sz="1400" dirty="0">
                  <a:latin typeface="Arial" panose="020B0604020202020204" pitchFamily="34" charset="0"/>
                  <a:cs typeface="Arial" panose="020B0604020202020204" pitchFamily="34" charset="0"/>
                </a:endParaRPr>
              </a:p>
            </p:txBody>
          </p:sp>
        </mc:Choice>
        <mc:Fallback>
          <p:sp>
            <p:nvSpPr>
              <p:cNvPr id="3" name="TextBox 2">
                <a:extLst>
                  <a:ext uri="{FF2B5EF4-FFF2-40B4-BE49-F238E27FC236}">
                    <a16:creationId xmlns:a16="http://schemas.microsoft.com/office/drawing/2014/main" id="{F4A3CFF6-3A1C-C4A9-C909-76C15B73D438}"/>
                  </a:ext>
                </a:extLst>
              </p:cNvPr>
              <p:cNvSpPr txBox="1">
                <a:spLocks noRot="1" noChangeAspect="1" noMove="1" noResize="1" noEditPoints="1" noAdjustHandles="1" noChangeArrowheads="1" noChangeShapeType="1" noTextEdit="1"/>
              </p:cNvSpPr>
              <p:nvPr/>
            </p:nvSpPr>
            <p:spPr>
              <a:xfrm>
                <a:off x="609601" y="3199281"/>
                <a:ext cx="10320865" cy="2893100"/>
              </a:xfrm>
              <a:prstGeom prst="rect">
                <a:avLst/>
              </a:prstGeom>
              <a:blipFill>
                <a:blip r:embed="rId4"/>
                <a:stretch>
                  <a:fillRect l="-246" t="-439" b="-1316"/>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6B1849B9-DEE8-6173-F0BC-C79CDC644FA9}"/>
                  </a:ext>
                </a:extLst>
              </p:cNvPr>
              <p:cNvSpPr txBox="1"/>
              <p:nvPr/>
            </p:nvSpPr>
            <p:spPr>
              <a:xfrm>
                <a:off x="6095847" y="2094574"/>
                <a:ext cx="5373202" cy="610039"/>
              </a:xfrm>
              <a:prstGeom prst="rect">
                <a:avLst/>
              </a:prstGeom>
              <a:noFill/>
            </p:spPr>
            <p:txBody>
              <a:bodyPr wrap="none" lIns="0" tIns="0" rIns="0" bIns="0" rtlCol="0">
                <a:spAutoFit/>
              </a:bodyPr>
              <a:lstStyle/>
              <a:p>
                <a14:m>
                  <m:oMathPara xmlns:m="http://schemas.openxmlformats.org/officeDocument/2006/math">
                    <m:oMath>
                      <m:r>
                        <m:rPr>
                          <m:nor/>
                        </m:rPr>
                        <a:rPr lang="en-US" sz="1400" i="0" smtClean="0">
                          <a:latin typeface="Cambria Math" panose="02040503050406030204" pitchFamily="18" charset="0"/>
                        </a:rPr>
                        <m:t>GMM</m:t>
                      </m:r>
                      <m:d>
                        <m:dPr>
                          <m:ctrlPr>
                            <a:rPr lang="en-US" sz="1400" b="0" i="1">
                              <a:latin typeface="Cambria Math" panose="02040503050406030204" pitchFamily="18" charset="0"/>
                            </a:rPr>
                          </m:ctrlPr>
                        </m:dPr>
                        <m:e>
                          <m:r>
                            <a:rPr lang="en-US" sz="1400" b="0" i="1">
                              <a:latin typeface="Cambria Math" panose="02040503050406030204" pitchFamily="18" charset="0"/>
                            </a:rPr>
                            <m:t>𝑥</m:t>
                          </m:r>
                          <m:r>
                            <a:rPr lang="en-US" sz="1400" b="0" i="1">
                              <a:latin typeface="Cambria Math" panose="02040503050406030204" pitchFamily="18" charset="0"/>
                            </a:rPr>
                            <m:t>∣</m:t>
                          </m:r>
                          <m:r>
                            <a:rPr lang="en-US" sz="1400" b="0" i="1">
                              <a:latin typeface="Cambria Math" panose="02040503050406030204" pitchFamily="18" charset="0"/>
                            </a:rPr>
                            <m:t>𝜋</m:t>
                          </m:r>
                          <m:r>
                            <a:rPr lang="en-US" sz="1400" b="0" i="1">
                              <a:latin typeface="Cambria Math" panose="02040503050406030204" pitchFamily="18" charset="0"/>
                            </a:rPr>
                            <m:t>,</m:t>
                          </m:r>
                          <m:r>
                            <a:rPr lang="en-US" sz="1400" b="0" i="1">
                              <a:latin typeface="Cambria Math" panose="02040503050406030204" pitchFamily="18" charset="0"/>
                            </a:rPr>
                            <m:t>𝜇</m:t>
                          </m:r>
                          <m:r>
                            <a:rPr lang="en-US" sz="1400" b="0" i="1">
                              <a:latin typeface="Cambria Math" panose="02040503050406030204" pitchFamily="18" charset="0"/>
                            </a:rPr>
                            <m:t>,</m:t>
                          </m:r>
                          <m:r>
                            <a:rPr lang="en-US" sz="1400" b="0" i="1">
                              <a:latin typeface="Cambria Math" panose="02040503050406030204" pitchFamily="18" charset="0"/>
                            </a:rPr>
                            <m:t>𝛴</m:t>
                          </m:r>
                        </m:e>
                      </m:d>
                      <m:r>
                        <a:rPr lang="en-US" sz="1400" b="0" i="1">
                          <a:latin typeface="Cambria Math" panose="02040503050406030204" pitchFamily="18" charset="0"/>
                        </a:rPr>
                        <m:t>=</m:t>
                      </m:r>
                      <m:nary>
                        <m:naryPr>
                          <m:chr m:val="∑"/>
                          <m:limLoc m:val="undOvr"/>
                          <m:ctrlPr>
                            <a:rPr lang="en-US" sz="1400" b="0" i="1">
                              <a:latin typeface="Cambria Math" panose="02040503050406030204" pitchFamily="18" charset="0"/>
                            </a:rPr>
                          </m:ctrlPr>
                        </m:naryPr>
                        <m:sub>
                          <m:r>
                            <a:rPr lang="en-US" sz="1400" b="0" i="1">
                              <a:latin typeface="Cambria Math" panose="02040503050406030204" pitchFamily="18" charset="0"/>
                            </a:rPr>
                            <m:t>𝑘</m:t>
                          </m:r>
                          <m:r>
                            <a:rPr lang="en-US" sz="1400" b="0" i="1">
                              <a:latin typeface="Cambria Math" panose="02040503050406030204" pitchFamily="18" charset="0"/>
                            </a:rPr>
                            <m:t>=1</m:t>
                          </m:r>
                        </m:sub>
                        <m:sup>
                          <m:r>
                            <a:rPr lang="en-US" sz="1400" b="0" i="1">
                              <a:latin typeface="Cambria Math" panose="02040503050406030204" pitchFamily="18" charset="0"/>
                            </a:rPr>
                            <m:t>𝐾</m:t>
                          </m:r>
                        </m:sup>
                        <m:e>
                          <m:f>
                            <m:fPr>
                              <m:ctrlPr>
                                <a:rPr lang="en-US" sz="1400" i="1">
                                  <a:latin typeface="Cambria Math" panose="02040503050406030204" pitchFamily="18" charset="0"/>
                                </a:rPr>
                              </m:ctrlPr>
                            </m:fPr>
                            <m:num>
                              <m:sSub>
                                <m:sSubPr>
                                  <m:ctrlPr>
                                    <a:rPr lang="en-US" sz="1400" b="0" i="1">
                                      <a:latin typeface="Cambria Math" panose="02040503050406030204" pitchFamily="18" charset="0"/>
                                    </a:rPr>
                                  </m:ctrlPr>
                                </m:sSubPr>
                                <m:e>
                                  <m:r>
                                    <a:rPr lang="en-US" sz="1400" b="0" i="1">
                                      <a:latin typeface="Cambria Math" panose="02040503050406030204" pitchFamily="18" charset="0"/>
                                    </a:rPr>
                                    <m:t>𝜋</m:t>
                                  </m:r>
                                </m:e>
                                <m:sub>
                                  <m:r>
                                    <a:rPr lang="en-US" sz="1400" b="0" i="1">
                                      <a:latin typeface="Cambria Math" panose="02040503050406030204" pitchFamily="18" charset="0"/>
                                    </a:rPr>
                                    <m:t>𝑘</m:t>
                                  </m:r>
                                </m:sub>
                              </m:sSub>
                            </m:num>
                            <m:den>
                              <m:rad>
                                <m:radPr>
                                  <m:degHide m:val="on"/>
                                  <m:ctrlPr>
                                    <a:rPr lang="en-US" sz="1400" i="1">
                                      <a:latin typeface="Cambria Math" panose="02040503050406030204" pitchFamily="18" charset="0"/>
                                    </a:rPr>
                                  </m:ctrlPr>
                                </m:radPr>
                                <m:deg/>
                                <m:e>
                                  <m:sSup>
                                    <m:sSupPr>
                                      <m:ctrlPr>
                                        <a:rPr lang="en-US" sz="1400" i="1">
                                          <a:latin typeface="Cambria Math" panose="02040503050406030204" pitchFamily="18" charset="0"/>
                                        </a:rPr>
                                      </m:ctrlPr>
                                    </m:sSupPr>
                                    <m:e>
                                      <m:d>
                                        <m:dPr>
                                          <m:ctrlPr>
                                            <a:rPr lang="en-US" sz="1400" b="0" i="1">
                                              <a:latin typeface="Cambria Math" panose="02040503050406030204" pitchFamily="18" charset="0"/>
                                            </a:rPr>
                                          </m:ctrlPr>
                                        </m:dPr>
                                        <m:e>
                                          <m:r>
                                            <a:rPr lang="en-US" sz="1400" b="0" i="1">
                                              <a:latin typeface="Cambria Math" panose="02040503050406030204" pitchFamily="18" charset="0"/>
                                            </a:rPr>
                                            <m:t>2</m:t>
                                          </m:r>
                                          <m:r>
                                            <a:rPr lang="en-US" sz="1400" b="0" i="1">
                                              <a:latin typeface="Cambria Math" panose="02040503050406030204" pitchFamily="18" charset="0"/>
                                            </a:rPr>
                                            <m:t>𝜋</m:t>
                                          </m:r>
                                        </m:e>
                                      </m:d>
                                    </m:e>
                                    <m:sup>
                                      <m:r>
                                        <a:rPr lang="en-US" sz="1400" b="0" i="1">
                                          <a:latin typeface="Cambria Math" panose="02040503050406030204" pitchFamily="18" charset="0"/>
                                        </a:rPr>
                                        <m:t>𝑑</m:t>
                                      </m:r>
                                    </m:sup>
                                  </m:sSup>
                                  <m:d>
                                    <m:dPr>
                                      <m:begChr m:val="|"/>
                                      <m:endChr m:val="|"/>
                                      <m:ctrlPr>
                                        <a:rPr lang="en-US" sz="1400" i="1">
                                          <a:solidFill>
                                            <a:srgbClr val="FF0000"/>
                                          </a:solidFill>
                                          <a:latin typeface="Cambria Math" panose="02040503050406030204" pitchFamily="18" charset="0"/>
                                        </a:rPr>
                                      </m:ctrlPr>
                                    </m:dPr>
                                    <m:e>
                                      <m:sSub>
                                        <m:sSubPr>
                                          <m:ctrlPr>
                                            <a:rPr lang="en-US" sz="1400" b="0" i="1">
                                              <a:solidFill>
                                                <a:srgbClr val="FF0000"/>
                                              </a:solidFill>
                                              <a:latin typeface="Cambria Math" panose="02040503050406030204" pitchFamily="18" charset="0"/>
                                            </a:rPr>
                                          </m:ctrlPr>
                                        </m:sSubPr>
                                        <m:e>
                                          <m:r>
                                            <a:rPr lang="en-US" sz="1400" b="0" i="1">
                                              <a:solidFill>
                                                <a:srgbClr val="FF0000"/>
                                              </a:solidFill>
                                              <a:latin typeface="Cambria Math" panose="02040503050406030204" pitchFamily="18" charset="0"/>
                                            </a:rPr>
                                            <m:t>𝛴</m:t>
                                          </m:r>
                                        </m:e>
                                        <m:sub>
                                          <m:r>
                                            <a:rPr lang="en-US" sz="1400" b="0" i="1">
                                              <a:solidFill>
                                                <a:srgbClr val="FF0000"/>
                                              </a:solidFill>
                                              <a:latin typeface="Cambria Math" panose="02040503050406030204" pitchFamily="18" charset="0"/>
                                            </a:rPr>
                                            <m:t>𝑘</m:t>
                                          </m:r>
                                        </m:sub>
                                      </m:sSub>
                                    </m:e>
                                  </m:d>
                                </m:e>
                              </m:rad>
                            </m:den>
                          </m:f>
                        </m:e>
                      </m:nary>
                      <m:func>
                        <m:funcPr>
                          <m:ctrlPr>
                            <a:rPr lang="en-US" sz="1400" b="0" i="1">
                              <a:latin typeface="Cambria Math" panose="02040503050406030204" pitchFamily="18" charset="0"/>
                            </a:rPr>
                          </m:ctrlPr>
                        </m:funcPr>
                        <m:fName>
                          <m:r>
                            <a:rPr lang="en-US" sz="1400" b="0" i="1">
                              <a:latin typeface="Cambria Math" panose="02040503050406030204" pitchFamily="18" charset="0"/>
                            </a:rPr>
                            <m:t>𝑒𝑥𝑝</m:t>
                          </m:r>
                        </m:fName>
                        <m:e>
                          <m:d>
                            <m:dPr>
                              <m:ctrlPr>
                                <a:rPr lang="en-US" sz="1400" b="0" i="1">
                                  <a:latin typeface="Cambria Math" panose="02040503050406030204" pitchFamily="18" charset="0"/>
                                </a:rPr>
                              </m:ctrlPr>
                            </m:dPr>
                            <m:e>
                              <m:r>
                                <a:rPr lang="en-US" sz="1400" b="0" i="1">
                                  <a:latin typeface="Cambria Math" panose="02040503050406030204" pitchFamily="18" charset="0"/>
                                </a:rPr>
                                <m:t>−</m:t>
                              </m:r>
                              <m:f>
                                <m:fPr>
                                  <m:ctrlPr>
                                    <a:rPr lang="en-US" sz="1400" b="0" i="1">
                                      <a:latin typeface="Cambria Math" panose="02040503050406030204" pitchFamily="18" charset="0"/>
                                    </a:rPr>
                                  </m:ctrlPr>
                                </m:fPr>
                                <m:num>
                                  <m:r>
                                    <a:rPr lang="en-US" sz="1400" b="0" i="1">
                                      <a:latin typeface="Cambria Math" panose="02040503050406030204" pitchFamily="18" charset="0"/>
                                    </a:rPr>
                                    <m:t>1</m:t>
                                  </m:r>
                                </m:num>
                                <m:den>
                                  <m:r>
                                    <a:rPr lang="en-US" sz="1400" b="0" i="1">
                                      <a:latin typeface="Cambria Math" panose="02040503050406030204" pitchFamily="18" charset="0"/>
                                    </a:rPr>
                                    <m:t>2</m:t>
                                  </m:r>
                                </m:den>
                              </m:f>
                              <m:sSup>
                                <m:sSupPr>
                                  <m:ctrlPr>
                                    <a:rPr lang="en-US" sz="1400" i="1">
                                      <a:latin typeface="Cambria Math" panose="02040503050406030204" pitchFamily="18" charset="0"/>
                                    </a:rPr>
                                  </m:ctrlPr>
                                </m:sSupPr>
                                <m:e>
                                  <m:d>
                                    <m:dPr>
                                      <m:ctrlPr>
                                        <a:rPr lang="en-US" sz="1400" b="0" i="1">
                                          <a:latin typeface="Cambria Math" panose="02040503050406030204" pitchFamily="18" charset="0"/>
                                        </a:rPr>
                                      </m:ctrlPr>
                                    </m:dPr>
                                    <m:e>
                                      <m:r>
                                        <a:rPr lang="en-US" sz="1400" b="0" i="1">
                                          <a:latin typeface="Cambria Math" panose="02040503050406030204" pitchFamily="18" charset="0"/>
                                        </a:rPr>
                                        <m:t>𝑥</m:t>
                                      </m:r>
                                      <m:r>
                                        <a:rPr lang="en-US" sz="1400" b="0" i="1">
                                          <a:latin typeface="Cambria Math" panose="02040503050406030204" pitchFamily="18" charset="0"/>
                                        </a:rPr>
                                        <m:t>−</m:t>
                                      </m:r>
                                      <m:sSub>
                                        <m:sSubPr>
                                          <m:ctrlPr>
                                            <a:rPr lang="en-US" sz="1400" b="0" i="1">
                                              <a:latin typeface="Cambria Math" panose="02040503050406030204" pitchFamily="18" charset="0"/>
                                            </a:rPr>
                                          </m:ctrlPr>
                                        </m:sSubPr>
                                        <m:e>
                                          <m:r>
                                            <a:rPr lang="en-US" sz="1400" b="0" i="1">
                                              <a:latin typeface="Cambria Math" panose="02040503050406030204" pitchFamily="18" charset="0"/>
                                            </a:rPr>
                                            <m:t>𝜇</m:t>
                                          </m:r>
                                        </m:e>
                                        <m:sub>
                                          <m:r>
                                            <a:rPr lang="en-US" sz="1400" b="0" i="1">
                                              <a:latin typeface="Cambria Math" panose="02040503050406030204" pitchFamily="18" charset="0"/>
                                            </a:rPr>
                                            <m:t>𝑘</m:t>
                                          </m:r>
                                        </m:sub>
                                      </m:sSub>
                                    </m:e>
                                  </m:d>
                                </m:e>
                                <m:sup>
                                  <m:r>
                                    <a:rPr lang="en-US" sz="1400" b="0" i="1">
                                      <a:latin typeface="Cambria Math" panose="02040503050406030204" pitchFamily="18" charset="0"/>
                                    </a:rPr>
                                    <m:t>𝑇</m:t>
                                  </m:r>
                                </m:sup>
                              </m:sSup>
                              <m:sSubSup>
                                <m:sSubSupPr>
                                  <m:ctrlPr>
                                    <a:rPr lang="en-US" sz="1400" b="0" i="1">
                                      <a:solidFill>
                                        <a:srgbClr val="FF0000"/>
                                      </a:solidFill>
                                      <a:latin typeface="Cambria Math" panose="02040503050406030204" pitchFamily="18" charset="0"/>
                                    </a:rPr>
                                  </m:ctrlPr>
                                </m:sSubSupPr>
                                <m:e>
                                  <m:r>
                                    <a:rPr lang="en-US" sz="1400" b="0" i="1">
                                      <a:solidFill>
                                        <a:srgbClr val="FF0000"/>
                                      </a:solidFill>
                                      <a:latin typeface="Cambria Math" panose="02040503050406030204" pitchFamily="18" charset="0"/>
                                    </a:rPr>
                                    <m:t>𝛴</m:t>
                                  </m:r>
                                </m:e>
                                <m:sub>
                                  <m:r>
                                    <a:rPr lang="en-US" sz="1400" b="0" i="1">
                                      <a:solidFill>
                                        <a:srgbClr val="FF0000"/>
                                      </a:solidFill>
                                      <a:latin typeface="Cambria Math" panose="02040503050406030204" pitchFamily="18" charset="0"/>
                                    </a:rPr>
                                    <m:t>𝑘</m:t>
                                  </m:r>
                                </m:sub>
                                <m:sup>
                                  <m:r>
                                    <a:rPr lang="en-US" sz="1400" b="0" i="1">
                                      <a:solidFill>
                                        <a:srgbClr val="FF0000"/>
                                      </a:solidFill>
                                      <a:latin typeface="Cambria Math" panose="02040503050406030204" pitchFamily="18" charset="0"/>
                                    </a:rPr>
                                    <m:t>−1</m:t>
                                  </m:r>
                                </m:sup>
                              </m:sSubSup>
                              <m:d>
                                <m:dPr>
                                  <m:ctrlPr>
                                    <a:rPr lang="en-US" sz="1400" b="0" i="1">
                                      <a:latin typeface="Cambria Math" panose="02040503050406030204" pitchFamily="18" charset="0"/>
                                    </a:rPr>
                                  </m:ctrlPr>
                                </m:dPr>
                                <m:e>
                                  <m:r>
                                    <a:rPr lang="en-US" sz="1400" b="0" i="1">
                                      <a:latin typeface="Cambria Math" panose="02040503050406030204" pitchFamily="18" charset="0"/>
                                    </a:rPr>
                                    <m:t>𝑥</m:t>
                                  </m:r>
                                  <m:r>
                                    <a:rPr lang="en-US" sz="1400" b="0" i="1">
                                      <a:latin typeface="Cambria Math" panose="02040503050406030204" pitchFamily="18" charset="0"/>
                                    </a:rPr>
                                    <m:t>−</m:t>
                                  </m:r>
                                  <m:sSub>
                                    <m:sSubPr>
                                      <m:ctrlPr>
                                        <a:rPr lang="en-US" sz="1400" b="0" i="1">
                                          <a:latin typeface="Cambria Math" panose="02040503050406030204" pitchFamily="18" charset="0"/>
                                        </a:rPr>
                                      </m:ctrlPr>
                                    </m:sSubPr>
                                    <m:e>
                                      <m:r>
                                        <a:rPr lang="en-US" sz="1400" b="0" i="1">
                                          <a:latin typeface="Cambria Math" panose="02040503050406030204" pitchFamily="18" charset="0"/>
                                        </a:rPr>
                                        <m:t>𝜇</m:t>
                                      </m:r>
                                    </m:e>
                                    <m:sub>
                                      <m:r>
                                        <a:rPr lang="en-US" sz="1400" b="0" i="1">
                                          <a:latin typeface="Cambria Math" panose="02040503050406030204" pitchFamily="18" charset="0"/>
                                        </a:rPr>
                                        <m:t>𝑘</m:t>
                                      </m:r>
                                    </m:sub>
                                  </m:sSub>
                                </m:e>
                              </m:d>
                            </m:e>
                          </m:d>
                        </m:e>
                      </m:func>
                    </m:oMath>
                  </m:oMathPara>
                </a14:m>
                <a:endParaRPr lang="en-VN" dirty="0"/>
              </a:p>
            </p:txBody>
          </p:sp>
        </mc:Choice>
        <mc:Fallback>
          <p:sp>
            <p:nvSpPr>
              <p:cNvPr id="12" name="TextBox 11">
                <a:extLst>
                  <a:ext uri="{FF2B5EF4-FFF2-40B4-BE49-F238E27FC236}">
                    <a16:creationId xmlns:a16="http://schemas.microsoft.com/office/drawing/2014/main" id="{6B1849B9-DEE8-6173-F0BC-C79CDC644FA9}"/>
                  </a:ext>
                </a:extLst>
              </p:cNvPr>
              <p:cNvSpPr txBox="1">
                <a:spLocks noRot="1" noChangeAspect="1" noMove="1" noResize="1" noEditPoints="1" noAdjustHandles="1" noChangeArrowheads="1" noChangeShapeType="1" noTextEdit="1"/>
              </p:cNvSpPr>
              <p:nvPr/>
            </p:nvSpPr>
            <p:spPr>
              <a:xfrm>
                <a:off x="6095847" y="2094574"/>
                <a:ext cx="5373202" cy="610039"/>
              </a:xfrm>
              <a:prstGeom prst="rect">
                <a:avLst/>
              </a:prstGeom>
              <a:blipFill>
                <a:blip r:embed="rId5"/>
                <a:stretch>
                  <a:fillRect t="-114286" b="-175510"/>
                </a:stretch>
              </a:blipFill>
            </p:spPr>
            <p:txBody>
              <a:bodyPr/>
              <a:lstStyle/>
              <a:p>
                <a:r>
                  <a:rPr lang="en-VN">
                    <a:noFill/>
                  </a:rPr>
                  <a:t> </a:t>
                </a:r>
              </a:p>
            </p:txBody>
          </p:sp>
        </mc:Fallback>
      </mc:AlternateContent>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4DAC56A7-AB88-72AB-F895-BC46F9D5F9F8}"/>
                  </a:ext>
                </a:extLst>
              </p:cNvPr>
              <p:cNvSpPr txBox="1"/>
              <p:nvPr/>
            </p:nvSpPr>
            <p:spPr>
              <a:xfrm>
                <a:off x="609602" y="1798226"/>
                <a:ext cx="4478865" cy="954107"/>
              </a:xfrm>
              <a:prstGeom prst="rect">
                <a:avLst/>
              </a:prstGeom>
              <a:noFill/>
            </p:spPr>
            <p:txBody>
              <a:bodyPr wrap="square" rtlCol="0">
                <a:spAutoFit/>
              </a:bodyPr>
              <a:lstStyle/>
              <a:p>
                <a:pPr lvl="0"/>
                <a:r>
                  <a:rPr lang="vi-VN" sz="1400" dirty="0">
                    <a:latin typeface="Arial" panose="020B0604020202020204" pitchFamily="34" charset="0"/>
                    <a:cs typeface="Arial" panose="020B0604020202020204" pitchFamily="34" charset="0"/>
                  </a:rPr>
                  <a:t>Hậu quả nếu </a:t>
                </a:r>
                <a:r>
                  <a:rPr lang="vi-VN" sz="1400" dirty="0">
                    <a:cs typeface="Arial" panose="020B0604020202020204" pitchFamily="34" charset="0"/>
                  </a:rPr>
                  <a:t>ma trận </a:t>
                </a:r>
                <a14:m>
                  <m:oMath xmlns:m="http://schemas.openxmlformats.org/officeDocument/2006/math">
                    <m:r>
                      <a:rPr lang="en-US" sz="1400" i="1">
                        <a:latin typeface="Cambria Math" panose="02040503050406030204" pitchFamily="18" charset="0"/>
                      </a:rPr>
                      <m:t>𝛴</m:t>
                    </m:r>
                  </m:oMath>
                </a14:m>
                <a:r>
                  <a:rPr lang="vi-VN" sz="1400" dirty="0">
                    <a:cs typeface="Arial" panose="020B0604020202020204" pitchFamily="34" charset="0"/>
                  </a:rPr>
                  <a:t> bị suy biến</a:t>
                </a:r>
                <a:r>
                  <a:rPr lang="vi-VN" sz="1400" dirty="0">
                    <a:latin typeface="Arial" panose="020B0604020202020204" pitchFamily="34" charset="0"/>
                    <a:cs typeface="Arial" panose="020B0604020202020204" pitchFamily="34" charset="0"/>
                  </a:rPr>
                  <a:t>:</a:t>
                </a:r>
              </a:p>
              <a:p>
                <a:pPr lvl="0"/>
                <a:r>
                  <a:rPr lang="vi-VN" sz="1400" dirty="0">
                    <a:latin typeface="Arial" panose="020B0604020202020204" pitchFamily="34" charset="0"/>
                    <a:cs typeface="Arial" panose="020B0604020202020204" pitchFamily="34" charset="0"/>
                  </a:rPr>
                  <a:t>Sập </a:t>
                </a:r>
                <a:r>
                  <a:rPr lang="vi-VN" sz="1400" dirty="0">
                    <a:cs typeface="Arial" panose="020B0604020202020204" pitchFamily="34" charset="0"/>
                  </a:rPr>
                  <a:t>(không thể vẽ) </a:t>
                </a:r>
                <a:r>
                  <a:rPr lang="vi-VN" sz="1400" dirty="0">
                    <a:latin typeface="Arial" panose="020B0604020202020204" pitchFamily="34" charset="0"/>
                    <a:cs typeface="Arial" panose="020B0604020202020204" pitchFamily="34" charset="0"/>
                  </a:rPr>
                  <a:t>mô hình GMM vì 2 lý do:</a:t>
                </a:r>
              </a:p>
              <a:p>
                <a:pPr lvl="0"/>
                <a:r>
                  <a:rPr lang="vi-VN" sz="1400" dirty="0">
                    <a:latin typeface="Arial" panose="020B0604020202020204" pitchFamily="34" charset="0"/>
                    <a:cs typeface="Arial" panose="020B0604020202020204" pitchFamily="34" charset="0"/>
                  </a:rPr>
                  <a:t>- Mẫu số bằng 0</a:t>
                </a:r>
                <a:br>
                  <a:rPr lang="vi-VN" sz="1400" dirty="0">
                    <a:latin typeface="Arial" panose="020B0604020202020204" pitchFamily="34" charset="0"/>
                    <a:cs typeface="Arial" panose="020B0604020202020204" pitchFamily="34" charset="0"/>
                  </a:rPr>
                </a:br>
                <a:r>
                  <a:rPr lang="vi-VN" sz="1400" dirty="0">
                    <a:latin typeface="Arial" panose="020B0604020202020204" pitchFamily="34" charset="0"/>
                    <a:cs typeface="Arial" panose="020B0604020202020204" pitchFamily="34" charset="0"/>
                  </a:rPr>
                  <a:t>- Không thể nghịch đảo ma trận </a:t>
                </a:r>
                <a14:m>
                  <m:oMath xmlns:m="http://schemas.openxmlformats.org/officeDocument/2006/math">
                    <m:r>
                      <a:rPr lang="en-US" sz="1400" i="1">
                        <a:latin typeface="Cambria Math" panose="02040503050406030204" pitchFamily="18" charset="0"/>
                      </a:rPr>
                      <m:t>𝛴</m:t>
                    </m:r>
                  </m:oMath>
                </a14:m>
                <a:endParaRPr lang="vi-VN" sz="1400" dirty="0">
                  <a:latin typeface="Arial" panose="020B0604020202020204" pitchFamily="34" charset="0"/>
                  <a:cs typeface="Arial" panose="020B0604020202020204" pitchFamily="34" charset="0"/>
                </a:endParaRPr>
              </a:p>
            </p:txBody>
          </p:sp>
        </mc:Choice>
        <mc:Fallback>
          <p:sp>
            <p:nvSpPr>
              <p:cNvPr id="6" name="TextBox 5">
                <a:extLst>
                  <a:ext uri="{FF2B5EF4-FFF2-40B4-BE49-F238E27FC236}">
                    <a16:creationId xmlns:a16="http://schemas.microsoft.com/office/drawing/2014/main" id="{4DAC56A7-AB88-72AB-F895-BC46F9D5F9F8}"/>
                  </a:ext>
                </a:extLst>
              </p:cNvPr>
              <p:cNvSpPr txBox="1">
                <a:spLocks noRot="1" noChangeAspect="1" noMove="1" noResize="1" noEditPoints="1" noAdjustHandles="1" noChangeArrowheads="1" noChangeShapeType="1" noTextEdit="1"/>
              </p:cNvSpPr>
              <p:nvPr/>
            </p:nvSpPr>
            <p:spPr>
              <a:xfrm>
                <a:off x="609602" y="1798226"/>
                <a:ext cx="4478865" cy="954107"/>
              </a:xfrm>
              <a:prstGeom prst="rect">
                <a:avLst/>
              </a:prstGeom>
              <a:blipFill>
                <a:blip r:embed="rId6"/>
                <a:stretch>
                  <a:fillRect l="-567" t="-1316" b="-5263"/>
                </a:stretch>
              </a:blipFill>
            </p:spPr>
            <p:txBody>
              <a:bodyPr/>
              <a:lstStyle/>
              <a:p>
                <a:r>
                  <a:rPr lang="en-VN">
                    <a:noFill/>
                  </a:rPr>
                  <a:t> </a:t>
                </a:r>
              </a:p>
            </p:txBody>
          </p:sp>
        </mc:Fallback>
      </mc:AlternateContent>
    </p:spTree>
    <p:extLst>
      <p:ext uri="{BB962C8B-B14F-4D97-AF65-F5344CB8AC3E}">
        <p14:creationId xmlns:p14="http://schemas.microsoft.com/office/powerpoint/2010/main" val="422379806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8D59E-9908-596A-4CE1-AA3C2C05FF1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ABDE782-27CE-9D4D-4B5B-00EB1737BD2B}"/>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p:sp>
        <p:nvSpPr>
          <p:cNvPr id="4" name="TextBox 3">
            <a:extLst>
              <a:ext uri="{FF2B5EF4-FFF2-40B4-BE49-F238E27FC236}">
                <a16:creationId xmlns:a16="http://schemas.microsoft.com/office/drawing/2014/main" id="{3EBA3003-0C0F-9A35-987D-B60715723BF4}"/>
              </a:ext>
            </a:extLst>
          </p:cNvPr>
          <p:cNvSpPr txBox="1"/>
          <p:nvPr/>
        </p:nvSpPr>
        <p:spPr>
          <a:xfrm>
            <a:off x="364066" y="1267772"/>
            <a:ext cx="10961159" cy="307777"/>
          </a:xfrm>
          <a:prstGeom prst="rect">
            <a:avLst/>
          </a:prstGeom>
          <a:noFill/>
        </p:spPr>
        <p:txBody>
          <a:bodyPr wrap="square">
            <a:spAutoFit/>
          </a:bodyPr>
          <a:lstStyle/>
          <a:p>
            <a:pPr>
              <a:spcAft>
                <a:spcPts val="600"/>
              </a:spcAft>
            </a:pPr>
            <a:r>
              <a:rPr lang="vi-VN" sz="1400" b="1" dirty="0">
                <a:solidFill>
                  <a:srgbClr val="1B8A7A"/>
                </a:solidFill>
                <a:latin typeface="Arial"/>
              </a:rPr>
              <a:t>Ưu điểm của GMM </a:t>
            </a:r>
          </a:p>
        </p:txBody>
      </p:sp>
      <p:sp>
        <p:nvSpPr>
          <p:cNvPr id="3" name="TextBox 2">
            <a:extLst>
              <a:ext uri="{FF2B5EF4-FFF2-40B4-BE49-F238E27FC236}">
                <a16:creationId xmlns:a16="http://schemas.microsoft.com/office/drawing/2014/main" id="{2A7406DB-4AD6-756B-7CDA-37CA78A4B9F8}"/>
              </a:ext>
            </a:extLst>
          </p:cNvPr>
          <p:cNvSpPr txBox="1"/>
          <p:nvPr/>
        </p:nvSpPr>
        <p:spPr>
          <a:xfrm>
            <a:off x="609602" y="1791761"/>
            <a:ext cx="9389532" cy="2031325"/>
          </a:xfrm>
          <a:prstGeom prst="rect">
            <a:avLst/>
          </a:prstGeom>
          <a:noFill/>
        </p:spPr>
        <p:txBody>
          <a:bodyPr wrap="square" rtlCol="0">
            <a:spAutoFit/>
          </a:bodyPr>
          <a:lstStyle/>
          <a:p>
            <a:pPr marL="342900" lvl="0" indent="-342900">
              <a:buAutoNum type="arabicPeriod"/>
            </a:pPr>
            <a:r>
              <a:rPr lang="en-VN" sz="1400" b="1" dirty="0">
                <a:latin typeface="Arial" panose="020B0604020202020204" pitchFamily="34" charset="0"/>
                <a:cs typeface="Arial" panose="020B0604020202020204" pitchFamily="34" charset="0"/>
              </a:rPr>
              <a:t>Phân cụm mềm (Soft Clustering):</a:t>
            </a:r>
            <a:r>
              <a:rPr lang="en-VN" sz="1400" dirty="0">
                <a:latin typeface="Arial" panose="020B0604020202020204" pitchFamily="34" charset="0"/>
                <a:cs typeface="Arial" panose="020B0604020202020204" pitchFamily="34" charset="0"/>
              </a:rPr>
              <a:t> GMM gán cho mỗi điểm dữ liệu một xác suất thuộc về các cụm khác nhau thay vì ép buộc nó vào một cụm cố định, giúp đo lường mức độ không chắc chắn</a:t>
            </a:r>
          </a:p>
          <a:p>
            <a:pPr marL="342900" lvl="0" indent="-342900">
              <a:buAutoNum type="arabicPeriod"/>
            </a:pPr>
            <a:endParaRPr lang="en-VN" sz="1400" dirty="0">
              <a:latin typeface="Arial" panose="020B0604020202020204" pitchFamily="34" charset="0"/>
              <a:cs typeface="Arial" panose="020B0604020202020204" pitchFamily="34" charset="0"/>
            </a:endParaRPr>
          </a:p>
          <a:p>
            <a:pPr marL="342900" lvl="0" indent="-342900">
              <a:buFont typeface="+mj-lt"/>
              <a:buAutoNum type="arabicPeriod"/>
            </a:pPr>
            <a:r>
              <a:rPr lang="vi-VN" sz="1400" b="1" dirty="0">
                <a:latin typeface="Arial" panose="020B0604020202020204" pitchFamily="34" charset="0"/>
                <a:cs typeface="Arial" panose="020B0604020202020204" pitchFamily="34" charset="0"/>
              </a:rPr>
              <a:t>Linh hoạt về hình dạng cụm</a:t>
            </a:r>
            <a:r>
              <a:rPr lang="vi-VN" sz="1400" dirty="0">
                <a:latin typeface="Arial" panose="020B0604020202020204" pitchFamily="34" charset="0"/>
                <a:cs typeface="Arial" panose="020B0604020202020204" pitchFamily="34" charset="0"/>
              </a:rPr>
              <a:t>: Nhờ sử dụng ma trận hiệp phương sai, GMM có thể mô hình hóa các cụm dữ liệu có kích thước và hình elip/thuôn khác nhau, chứ không giới hạn ở hình cầu như K-Means</a:t>
            </a:r>
          </a:p>
          <a:p>
            <a:pPr marL="342900" lvl="0" indent="-342900">
              <a:buAutoNum type="arabicPeriod"/>
            </a:pPr>
            <a:endParaRPr lang="vi-VN" sz="1400" dirty="0">
              <a:latin typeface="Arial" panose="020B0604020202020204" pitchFamily="34" charset="0"/>
              <a:cs typeface="Arial" panose="020B0604020202020204" pitchFamily="34" charset="0"/>
            </a:endParaRPr>
          </a:p>
          <a:p>
            <a:pPr marL="342900" lvl="0" indent="-342900">
              <a:buAutoNum type="arabicPeriod"/>
            </a:pPr>
            <a:r>
              <a:rPr lang="en-VN" sz="1400" b="1" dirty="0">
                <a:latin typeface="Arial" panose="020B0604020202020204" pitchFamily="34" charset="0"/>
                <a:cs typeface="Arial" panose="020B0604020202020204" pitchFamily="34" charset="0"/>
              </a:rPr>
              <a:t>Xử lý tốt cụm chồng chéo:</a:t>
            </a:r>
            <a:r>
              <a:rPr lang="en-VN" sz="1400" dirty="0">
                <a:latin typeface="Arial" panose="020B0604020202020204" pitchFamily="34" charset="0"/>
                <a:cs typeface="Arial" panose="020B0604020202020204" pitchFamily="34" charset="0"/>
              </a:rPr>
              <a:t> Mô hình biểu diễn rất hiệu quả các điểm nằm ở vùng giao thoa giữa các nhóm</a:t>
            </a:r>
          </a:p>
          <a:p>
            <a:pPr marL="342900" lvl="0" indent="-342900">
              <a:buAutoNum type="arabicPeriod"/>
            </a:pPr>
            <a:endParaRPr lang="en-VN" sz="1400" dirty="0">
              <a:latin typeface="Arial" panose="020B0604020202020204" pitchFamily="34" charset="0"/>
              <a:cs typeface="Arial" panose="020B0604020202020204" pitchFamily="34" charset="0"/>
            </a:endParaRPr>
          </a:p>
          <a:p>
            <a:pPr marL="342900" lvl="0" indent="-342900">
              <a:buAutoNum type="arabicPeriod"/>
            </a:pPr>
            <a:r>
              <a:rPr lang="en-VN" sz="1400" b="1" dirty="0">
                <a:latin typeface="Arial" panose="020B0604020202020204" pitchFamily="34" charset="0"/>
                <a:cs typeface="Arial" panose="020B0604020202020204" pitchFamily="34" charset="0"/>
              </a:rPr>
              <a:t>Ước lượng mật độ tốt:</a:t>
            </a:r>
            <a:r>
              <a:rPr lang="en-VN" sz="1400" dirty="0">
                <a:latin typeface="Arial" panose="020B0604020202020204" pitchFamily="34" charset="0"/>
                <a:cs typeface="Arial" panose="020B0604020202020204" pitchFamily="34" charset="0"/>
              </a:rPr>
              <a:t> Hữu ích trong việc nắm bắt toàn bộ phân phối xác suất cơ bản của tập dữ liệu</a:t>
            </a:r>
            <a:endParaRPr lang="vi-V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584816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67BD8-264A-F111-E8DA-3796C92148F7}"/>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2C36811-13B7-6FC4-7FDA-88CFE060C5D3}"/>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2</a:t>
            </a:r>
            <a:r>
              <a:rPr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thích</a:t>
            </a:r>
            <a:r>
              <a:rPr lang="en-US" sz="2600" b="1" dirty="0">
                <a:solidFill>
                  <a:srgbClr val="FFFFFF"/>
                </a:solidFill>
                <a:latin typeface="Arial"/>
              </a:rPr>
              <a:t> </a:t>
            </a:r>
            <a:r>
              <a:rPr lang="en-US" sz="2600" b="1" dirty="0" err="1">
                <a:solidFill>
                  <a:srgbClr val="FFFFFF"/>
                </a:solidFill>
                <a:latin typeface="Arial"/>
              </a:rPr>
              <a:t>giải</a:t>
            </a:r>
            <a:r>
              <a:rPr lang="en-US" sz="2600" b="1" dirty="0">
                <a:solidFill>
                  <a:srgbClr val="FFFFFF"/>
                </a:solidFill>
                <a:latin typeface="Arial"/>
              </a:rPr>
              <a:t> </a:t>
            </a:r>
            <a:r>
              <a:rPr lang="en-US" sz="2600" b="1" dirty="0" err="1">
                <a:solidFill>
                  <a:srgbClr val="FFFFFF"/>
                </a:solidFill>
                <a:latin typeface="Arial"/>
              </a:rPr>
              <a:t>pháp</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p:sp>
        <p:nvSpPr>
          <p:cNvPr id="4" name="TextBox 3">
            <a:extLst>
              <a:ext uri="{FF2B5EF4-FFF2-40B4-BE49-F238E27FC236}">
                <a16:creationId xmlns:a16="http://schemas.microsoft.com/office/drawing/2014/main" id="{2A83820E-D7A1-ECA8-E756-A7C4807A48BA}"/>
              </a:ext>
            </a:extLst>
          </p:cNvPr>
          <p:cNvSpPr txBox="1"/>
          <p:nvPr/>
        </p:nvSpPr>
        <p:spPr>
          <a:xfrm>
            <a:off x="364066" y="1267772"/>
            <a:ext cx="10961159" cy="307777"/>
          </a:xfrm>
          <a:prstGeom prst="rect">
            <a:avLst/>
          </a:prstGeom>
          <a:noFill/>
        </p:spPr>
        <p:txBody>
          <a:bodyPr wrap="square">
            <a:spAutoFit/>
          </a:bodyPr>
          <a:lstStyle/>
          <a:p>
            <a:pPr>
              <a:spcAft>
                <a:spcPts val="600"/>
              </a:spcAft>
            </a:pPr>
            <a:r>
              <a:rPr lang="vi-VN" sz="1400" b="1" dirty="0">
                <a:solidFill>
                  <a:srgbClr val="1B8A7A"/>
                </a:solidFill>
                <a:latin typeface="Arial"/>
              </a:rPr>
              <a:t>Nhược điểm của GMM </a:t>
            </a:r>
          </a:p>
        </p:txBody>
      </p:sp>
      <p:sp>
        <p:nvSpPr>
          <p:cNvPr id="3" name="TextBox 2">
            <a:extLst>
              <a:ext uri="{FF2B5EF4-FFF2-40B4-BE49-F238E27FC236}">
                <a16:creationId xmlns:a16="http://schemas.microsoft.com/office/drawing/2014/main" id="{229744EA-8EDB-C82C-F2E0-ADAB04D42FB5}"/>
              </a:ext>
            </a:extLst>
          </p:cNvPr>
          <p:cNvSpPr txBox="1"/>
          <p:nvPr/>
        </p:nvSpPr>
        <p:spPr>
          <a:xfrm>
            <a:off x="609602" y="1791761"/>
            <a:ext cx="9389532" cy="2462213"/>
          </a:xfrm>
          <a:prstGeom prst="rect">
            <a:avLst/>
          </a:prstGeom>
          <a:noFill/>
        </p:spPr>
        <p:txBody>
          <a:bodyPr wrap="square" rtlCol="0">
            <a:spAutoFit/>
          </a:bodyPr>
          <a:lstStyle/>
          <a:p>
            <a:pPr marL="342900" lvl="0" indent="-342900">
              <a:buAutoNum type="arabicPeriod"/>
            </a:pPr>
            <a:r>
              <a:rPr lang="en-VN" sz="1400" b="1" dirty="0">
                <a:latin typeface="Arial" panose="020B0604020202020204" pitchFamily="34" charset="0"/>
                <a:cs typeface="Arial" panose="020B0604020202020204" pitchFamily="34" charset="0"/>
              </a:rPr>
              <a:t>Dễ kẹt ở cực trị địa phương:</a:t>
            </a:r>
            <a:r>
              <a:rPr lang="en-VN" sz="1400" dirty="0">
                <a:latin typeface="Arial" panose="020B0604020202020204" pitchFamily="34" charset="0"/>
                <a:cs typeface="Arial" panose="020B0604020202020204" pitchFamily="34" charset="0"/>
              </a:rPr>
              <a:t> Thuật toán tối ưu hóa (Expectation-Maximization - EM) có thể hội tụ về nghiệm tối ưu cục bộ tùy thuộc vào cách khởi tạo giá trị ban đầu.</a:t>
            </a:r>
          </a:p>
          <a:p>
            <a:pPr marL="342900" lvl="0" indent="-342900">
              <a:buAutoNum type="arabicPeriod"/>
            </a:pPr>
            <a:endParaRPr lang="en-VN" sz="1400" dirty="0">
              <a:latin typeface="Arial" panose="020B0604020202020204" pitchFamily="34" charset="0"/>
              <a:cs typeface="Arial" panose="020B0604020202020204" pitchFamily="34" charset="0"/>
            </a:endParaRPr>
          </a:p>
          <a:p>
            <a:pPr marL="342900" lvl="0" indent="-342900">
              <a:buAutoNum type="arabicPeriod"/>
            </a:pPr>
            <a:r>
              <a:rPr lang="en-VN" sz="1400" b="1" dirty="0">
                <a:latin typeface="Arial" panose="020B0604020202020204" pitchFamily="34" charset="0"/>
                <a:cs typeface="Arial" panose="020B0604020202020204" pitchFamily="34" charset="0"/>
              </a:rPr>
              <a:t>Chi phí tính toán cao:</a:t>
            </a:r>
            <a:r>
              <a:rPr lang="en-VN" sz="1400" dirty="0">
                <a:latin typeface="Arial" panose="020B0604020202020204" pitchFamily="34" charset="0"/>
                <a:cs typeface="Arial" panose="020B0604020202020204" pitchFamily="34" charset="0"/>
              </a:rPr>
              <a:t> Việc tính toán qua lại các bước của thuật toán EM rất tốn thời gian, đặc biệt với dữ liệu lớn</a:t>
            </a:r>
          </a:p>
          <a:p>
            <a:pPr marL="342900" lvl="0" indent="-342900">
              <a:buAutoNum type="arabicPeriod"/>
            </a:pPr>
            <a:endParaRPr lang="en-VN" sz="1400" dirty="0">
              <a:latin typeface="Arial" panose="020B0604020202020204" pitchFamily="34" charset="0"/>
              <a:cs typeface="Arial" panose="020B0604020202020204" pitchFamily="34" charset="0"/>
            </a:endParaRPr>
          </a:p>
          <a:p>
            <a:pPr marL="342900" lvl="0" indent="-342900">
              <a:buAutoNum type="arabicPeriod"/>
            </a:pPr>
            <a:r>
              <a:rPr lang="en-VN" sz="1400" b="1" dirty="0">
                <a:latin typeface="Arial" panose="020B0604020202020204" pitchFamily="34" charset="0"/>
                <a:cs typeface="Arial" panose="020B0604020202020204" pitchFamily="34" charset="0"/>
              </a:rPr>
              <a:t>Nguy cơ Overfitting (Quá khớp):</a:t>
            </a:r>
            <a:r>
              <a:rPr lang="en-VN" sz="1400" dirty="0">
                <a:latin typeface="Arial" panose="020B0604020202020204" pitchFamily="34" charset="0"/>
                <a:cs typeface="Arial" panose="020B0604020202020204" pitchFamily="34" charset="0"/>
              </a:rPr>
              <a:t> Cần ước tính số lượng tham số lớn (đặc biệt là ma trận hiệp phương sai), dễ dẫn đến quá khớp nếu kích thước mẫu quá nhỏ</a:t>
            </a:r>
          </a:p>
          <a:p>
            <a:pPr marL="342900" lvl="0" indent="-342900">
              <a:buAutoNum type="arabicPeriod"/>
            </a:pPr>
            <a:endParaRPr lang="en-VN" sz="1400" dirty="0">
              <a:latin typeface="Arial" panose="020B0604020202020204" pitchFamily="34" charset="0"/>
              <a:cs typeface="Arial" panose="020B0604020202020204" pitchFamily="34" charset="0"/>
            </a:endParaRPr>
          </a:p>
          <a:p>
            <a:pPr marL="342900" lvl="0" indent="-342900">
              <a:buAutoNum type="arabicPeriod"/>
            </a:pPr>
            <a:r>
              <a:rPr lang="en-VN" sz="1400" b="1" dirty="0">
                <a:latin typeface="Arial" panose="020B0604020202020204" pitchFamily="34" charset="0"/>
                <a:cs typeface="Arial" panose="020B0604020202020204" pitchFamily="34" charset="0"/>
              </a:rPr>
              <a:t>Giả định phân phối chuẩn:</a:t>
            </a:r>
            <a:r>
              <a:rPr lang="en-VN" sz="1400" dirty="0">
                <a:latin typeface="Arial" panose="020B0604020202020204" pitchFamily="34" charset="0"/>
                <a:cs typeface="Arial" panose="020B0604020202020204" pitchFamily="34" charset="0"/>
              </a:rPr>
              <a:t> GMM giả định các đặc trưng tuân theo phân phối Gaussian; hiệu suất sẽ giảm nếu dữ liệu thực tế có hình dạng phi elip phức tạp</a:t>
            </a:r>
            <a:endParaRPr lang="vi-VN"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843222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C83B4D-EFD5-690B-DC48-699F287D4C4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77FD6C9-9264-5105-A856-F917CE00D2B9}"/>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3. Demo code</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p:sp>
        <p:nvSpPr>
          <p:cNvPr id="4" name="TextBox 3">
            <a:extLst>
              <a:ext uri="{FF2B5EF4-FFF2-40B4-BE49-F238E27FC236}">
                <a16:creationId xmlns:a16="http://schemas.microsoft.com/office/drawing/2014/main" id="{8E9D8D09-8199-76AD-251A-1ECEE29BD535}"/>
              </a:ext>
            </a:extLst>
          </p:cNvPr>
          <p:cNvSpPr txBox="1"/>
          <p:nvPr/>
        </p:nvSpPr>
        <p:spPr>
          <a:xfrm>
            <a:off x="1392614" y="3244334"/>
            <a:ext cx="9423400" cy="369332"/>
          </a:xfrm>
          <a:prstGeom prst="rect">
            <a:avLst/>
          </a:prstGeom>
          <a:noFill/>
        </p:spPr>
        <p:txBody>
          <a:bodyPr wrap="square">
            <a:spAutoFit/>
          </a:bodyPr>
          <a:lstStyle/>
          <a:p>
            <a:r>
              <a:rPr lang="en-VN" dirty="0">
                <a:hlinkClick r:id="rId3"/>
              </a:rPr>
              <a:t>https://colab.research.google.com/drive/1mdINSVY2X29GtQj1N6tcE2YFGUPZ7Wuc?usp=sharing</a:t>
            </a:r>
            <a:endParaRPr lang="en-VN" dirty="0"/>
          </a:p>
        </p:txBody>
      </p:sp>
    </p:spTree>
    <p:extLst>
      <p:ext uri="{BB962C8B-B14F-4D97-AF65-F5344CB8AC3E}">
        <p14:creationId xmlns:p14="http://schemas.microsoft.com/office/powerpoint/2010/main" val="105651727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D081D-638C-0277-4805-7B7571F7D18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7262F65B-1F29-97CE-708B-DEDEFD475062}"/>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4. Chủ đề liên quan</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p:sp>
        <p:nvSpPr>
          <p:cNvPr id="5" name="TextBox 4">
            <a:extLst>
              <a:ext uri="{FF2B5EF4-FFF2-40B4-BE49-F238E27FC236}">
                <a16:creationId xmlns:a16="http://schemas.microsoft.com/office/drawing/2014/main" id="{F3680C46-82C4-AF84-3003-F39F142BCD3E}"/>
              </a:ext>
            </a:extLst>
          </p:cNvPr>
          <p:cNvSpPr txBox="1"/>
          <p:nvPr/>
        </p:nvSpPr>
        <p:spPr>
          <a:xfrm>
            <a:off x="364068" y="1267772"/>
            <a:ext cx="8796865" cy="4985980"/>
          </a:xfrm>
          <a:prstGeom prst="rect">
            <a:avLst/>
          </a:prstGeom>
          <a:noFill/>
        </p:spPr>
        <p:txBody>
          <a:bodyPr wrap="square">
            <a:spAutoFit/>
          </a:bodyPr>
          <a:lstStyle/>
          <a:p>
            <a:pPr>
              <a:spcAft>
                <a:spcPts val="600"/>
              </a:spcAft>
            </a:pPr>
            <a:r>
              <a:rPr lang="en-US" sz="1400" b="1" dirty="0">
                <a:solidFill>
                  <a:srgbClr val="1B8A7A"/>
                </a:solidFill>
                <a:latin typeface="Arial"/>
              </a:rPr>
              <a:t>•  2 </a:t>
            </a:r>
            <a:r>
              <a:rPr lang="en-US" sz="1400" b="1" dirty="0" err="1">
                <a:solidFill>
                  <a:srgbClr val="1B8A7A"/>
                </a:solidFill>
                <a:latin typeface="Arial"/>
              </a:rPr>
              <a:t>cơ</a:t>
            </a:r>
            <a:r>
              <a:rPr lang="en-US" sz="1400" b="1" dirty="0">
                <a:solidFill>
                  <a:srgbClr val="1B8A7A"/>
                </a:solidFill>
                <a:latin typeface="Arial"/>
              </a:rPr>
              <a:t> </a:t>
            </a:r>
            <a:r>
              <a:rPr lang="en-US" sz="1400" b="1" dirty="0" err="1">
                <a:solidFill>
                  <a:srgbClr val="1B8A7A"/>
                </a:solidFill>
                <a:latin typeface="Arial"/>
              </a:rPr>
              <a:t>chế</a:t>
            </a:r>
            <a:r>
              <a:rPr lang="en-US" sz="1400" b="1" dirty="0">
                <a:solidFill>
                  <a:srgbClr val="1B8A7A"/>
                </a:solidFill>
                <a:latin typeface="Arial"/>
              </a:rPr>
              <a:t> </a:t>
            </a:r>
            <a:r>
              <a:rPr lang="en-US" sz="1400" b="1" dirty="0" err="1">
                <a:solidFill>
                  <a:srgbClr val="1B8A7A"/>
                </a:solidFill>
                <a:latin typeface="Arial"/>
              </a:rPr>
              <a:t>gán</a:t>
            </a:r>
            <a:r>
              <a:rPr lang="en-US" sz="1400" b="1" dirty="0">
                <a:solidFill>
                  <a:srgbClr val="1B8A7A"/>
                </a:solidFill>
                <a:latin typeface="Arial"/>
              </a:rPr>
              <a:t> </a:t>
            </a:r>
            <a:r>
              <a:rPr lang="en-US" sz="1400" b="1" dirty="0" err="1">
                <a:solidFill>
                  <a:srgbClr val="1B8A7A"/>
                </a:solidFill>
                <a:latin typeface="Arial"/>
              </a:rPr>
              <a:t>nhãn</a:t>
            </a:r>
            <a:r>
              <a:rPr lang="en-US" sz="1400" b="1" dirty="0">
                <a:solidFill>
                  <a:srgbClr val="1B8A7A"/>
                </a:solidFill>
                <a:latin typeface="Arial"/>
              </a:rPr>
              <a:t> </a:t>
            </a:r>
            <a:r>
              <a:rPr lang="en-US" sz="1400" b="1" dirty="0" err="1">
                <a:solidFill>
                  <a:srgbClr val="1B8A7A"/>
                </a:solidFill>
                <a:latin typeface="Arial"/>
              </a:rPr>
              <a:t>phân</a:t>
            </a:r>
            <a:r>
              <a:rPr lang="en-US" sz="1400" b="1" dirty="0">
                <a:solidFill>
                  <a:srgbClr val="1B8A7A"/>
                </a:solidFill>
                <a:latin typeface="Arial"/>
              </a:rPr>
              <a:t> </a:t>
            </a:r>
            <a:r>
              <a:rPr lang="en-US" sz="1400" b="1" dirty="0" err="1">
                <a:solidFill>
                  <a:srgbClr val="1B8A7A"/>
                </a:solidFill>
                <a:latin typeface="Arial"/>
              </a:rPr>
              <a:t>cụm</a:t>
            </a:r>
            <a:endParaRPr lang="en-US" sz="1400" b="1" dirty="0">
              <a:solidFill>
                <a:srgbClr val="1B8A7A"/>
              </a:solidFill>
              <a:latin typeface="Arial"/>
            </a:endParaRPr>
          </a:p>
          <a:p>
            <a:pPr marL="285750" indent="-285750">
              <a:spcAft>
                <a:spcPts val="600"/>
              </a:spcAft>
              <a:buFontTx/>
              <a:buChar char="-"/>
            </a:pPr>
            <a:r>
              <a:rPr lang="vi-VN" sz="1400" dirty="0">
                <a:solidFill>
                  <a:srgbClr val="444B52"/>
                </a:solidFill>
                <a:latin typeface="Arial"/>
              </a:rPr>
              <a:t>Phân cụm </a:t>
            </a:r>
            <a:r>
              <a:rPr lang="vi-VN" sz="1400" dirty="0">
                <a:solidFill>
                  <a:srgbClr val="444B52"/>
                </a:solidFill>
                <a:highlight>
                  <a:srgbClr val="FFFF00"/>
                </a:highlight>
                <a:latin typeface="Arial"/>
              </a:rPr>
              <a:t>cứng</a:t>
            </a:r>
            <a:r>
              <a:rPr lang="vi-VN" sz="1400" dirty="0">
                <a:solidFill>
                  <a:srgbClr val="444B52"/>
                </a:solidFill>
                <a:latin typeface="Arial"/>
              </a:rPr>
              <a:t> (một datapoint thuộc đúng 1 cụm)</a:t>
            </a:r>
          </a:p>
          <a:p>
            <a:pPr marL="285750" indent="-285750">
              <a:spcAft>
                <a:spcPts val="600"/>
              </a:spcAft>
              <a:buFontTx/>
              <a:buChar char="-"/>
            </a:pPr>
            <a:r>
              <a:rPr lang="vi-VN" sz="1400" dirty="0">
                <a:solidFill>
                  <a:srgbClr val="444B52"/>
                </a:solidFill>
                <a:latin typeface="Arial"/>
              </a:rPr>
              <a:t>Phân cụm </a:t>
            </a:r>
            <a:r>
              <a:rPr lang="vi-VN" sz="1400" dirty="0">
                <a:solidFill>
                  <a:srgbClr val="444B52"/>
                </a:solidFill>
                <a:highlight>
                  <a:srgbClr val="FFFF00"/>
                </a:highlight>
                <a:latin typeface="Arial"/>
              </a:rPr>
              <a:t>mềm</a:t>
            </a:r>
            <a:r>
              <a:rPr lang="vi-VN" sz="1400" dirty="0">
                <a:solidFill>
                  <a:srgbClr val="444B52"/>
                </a:solidFill>
                <a:latin typeface="Arial"/>
              </a:rPr>
              <a:t> (một datapoint thuộc 40% cụm này, 30% cụm kia, 30% cụm nọ)</a:t>
            </a:r>
          </a:p>
          <a:p>
            <a:pPr>
              <a:spcAft>
                <a:spcPts val="600"/>
              </a:spcAft>
            </a:pPr>
            <a:endParaRPr lang="en-US" sz="1400" b="1" dirty="0">
              <a:solidFill>
                <a:srgbClr val="1B8A7A"/>
              </a:solidFill>
              <a:latin typeface="Arial"/>
            </a:endParaRPr>
          </a:p>
          <a:p>
            <a:pPr>
              <a:spcAft>
                <a:spcPts val="600"/>
              </a:spcAft>
            </a:pPr>
            <a:r>
              <a:rPr lang="en-US" sz="1400" b="1" dirty="0">
                <a:solidFill>
                  <a:srgbClr val="1B8A7A"/>
                </a:solidFill>
                <a:latin typeface="Arial"/>
              </a:rPr>
              <a:t>•  5 </a:t>
            </a:r>
            <a:r>
              <a:rPr lang="en-US" sz="1400" b="1" dirty="0" err="1">
                <a:solidFill>
                  <a:srgbClr val="1B8A7A"/>
                </a:solidFill>
                <a:latin typeface="Arial"/>
              </a:rPr>
              <a:t>nhóm</a:t>
            </a:r>
            <a:r>
              <a:rPr lang="en-US" sz="1400" b="1" dirty="0">
                <a:solidFill>
                  <a:srgbClr val="1B8A7A"/>
                </a:solidFill>
                <a:latin typeface="Arial"/>
              </a:rPr>
              <a:t> </a:t>
            </a:r>
            <a:r>
              <a:rPr lang="en-US" sz="1400" b="1" dirty="0" err="1">
                <a:solidFill>
                  <a:srgbClr val="1B8A7A"/>
                </a:solidFill>
                <a:latin typeface="Arial"/>
              </a:rPr>
              <a:t>thuật</a:t>
            </a:r>
            <a:r>
              <a:rPr lang="en-US" sz="1400" b="1" dirty="0">
                <a:solidFill>
                  <a:srgbClr val="1B8A7A"/>
                </a:solidFill>
                <a:latin typeface="Arial"/>
              </a:rPr>
              <a:t> </a:t>
            </a:r>
            <a:r>
              <a:rPr lang="en-US" sz="1400" b="1" dirty="0" err="1">
                <a:solidFill>
                  <a:srgbClr val="1B8A7A"/>
                </a:solidFill>
                <a:latin typeface="Arial"/>
              </a:rPr>
              <a:t>toán</a:t>
            </a:r>
            <a:r>
              <a:rPr lang="en-US" sz="1400" b="1" dirty="0">
                <a:solidFill>
                  <a:srgbClr val="1B8A7A"/>
                </a:solidFill>
                <a:latin typeface="Arial"/>
              </a:rPr>
              <a:t> </a:t>
            </a:r>
            <a:r>
              <a:rPr lang="en-US" sz="1400" b="1" dirty="0" err="1">
                <a:solidFill>
                  <a:srgbClr val="1B8A7A"/>
                </a:solidFill>
                <a:latin typeface="Arial"/>
              </a:rPr>
              <a:t>phân</a:t>
            </a:r>
            <a:r>
              <a:rPr lang="en-US" sz="1400" b="1" dirty="0">
                <a:solidFill>
                  <a:srgbClr val="1B8A7A"/>
                </a:solidFill>
                <a:latin typeface="Arial"/>
              </a:rPr>
              <a:t> </a:t>
            </a:r>
            <a:r>
              <a:rPr lang="en-US" sz="1400" b="1" dirty="0" err="1">
                <a:solidFill>
                  <a:srgbClr val="1B8A7A"/>
                </a:solidFill>
                <a:latin typeface="Arial"/>
              </a:rPr>
              <a:t>cụm</a:t>
            </a:r>
            <a:endParaRPr lang="en-US" sz="1400" b="1" dirty="0">
              <a:solidFill>
                <a:srgbClr val="1B8A7A"/>
              </a:solidFill>
              <a:latin typeface="Arial"/>
            </a:endParaRPr>
          </a:p>
          <a:p>
            <a:pPr marL="285750" indent="-285750">
              <a:spcAft>
                <a:spcPts val="600"/>
              </a:spcAft>
              <a:buFontTx/>
              <a:buChar char="-"/>
            </a:pPr>
            <a:r>
              <a:rPr lang="vi-VN" sz="1400" b="1" dirty="0">
                <a:solidFill>
                  <a:srgbClr val="444B52"/>
                </a:solidFill>
                <a:latin typeface="Arial"/>
              </a:rPr>
              <a:t>Phân cụm </a:t>
            </a:r>
            <a:r>
              <a:rPr lang="vi-VN" sz="1400" b="1" dirty="0">
                <a:solidFill>
                  <a:srgbClr val="444B52"/>
                </a:solidFill>
                <a:highlight>
                  <a:srgbClr val="FFFF00"/>
                </a:highlight>
                <a:latin typeface="Arial"/>
              </a:rPr>
              <a:t>dựa trên phân phối</a:t>
            </a:r>
            <a:r>
              <a:rPr lang="vi-VN" sz="1400" b="1" dirty="0">
                <a:solidFill>
                  <a:srgbClr val="444B52"/>
                </a:solidFill>
                <a:latin typeface="Arial"/>
              </a:rPr>
              <a:t> (Distribution-based) =&gt; GMM thuộc loại này</a:t>
            </a:r>
          </a:p>
          <a:p>
            <a:pPr marL="285750" indent="-285750">
              <a:spcAft>
                <a:spcPts val="600"/>
              </a:spcAft>
              <a:buFontTx/>
              <a:buChar char="-"/>
            </a:pPr>
            <a:r>
              <a:rPr lang="vi-VN" sz="1400" dirty="0">
                <a:solidFill>
                  <a:srgbClr val="444B52"/>
                </a:solidFill>
                <a:latin typeface="Arial"/>
              </a:rPr>
              <a:t>Phân cụm </a:t>
            </a:r>
            <a:r>
              <a:rPr lang="vi-VN" sz="1400" dirty="0">
                <a:solidFill>
                  <a:srgbClr val="444B52"/>
                </a:solidFill>
                <a:highlight>
                  <a:srgbClr val="FFFF00"/>
                </a:highlight>
                <a:latin typeface="Arial"/>
              </a:rPr>
              <a:t>dựa trên mật độ</a:t>
            </a:r>
            <a:r>
              <a:rPr lang="vi-VN" sz="1400" dirty="0">
                <a:solidFill>
                  <a:srgbClr val="444B52"/>
                </a:solidFill>
                <a:latin typeface="Arial"/>
              </a:rPr>
              <a:t> (Density-based)</a:t>
            </a:r>
          </a:p>
          <a:p>
            <a:pPr marL="285750" indent="-285750">
              <a:spcAft>
                <a:spcPts val="600"/>
              </a:spcAft>
              <a:buFontTx/>
              <a:buChar char="-"/>
            </a:pPr>
            <a:r>
              <a:rPr lang="vi-VN" sz="1400" dirty="0">
                <a:solidFill>
                  <a:srgbClr val="444B52"/>
                </a:solidFill>
                <a:latin typeface="Arial"/>
              </a:rPr>
              <a:t>Phân cụm </a:t>
            </a:r>
            <a:r>
              <a:rPr lang="vi-VN" sz="1400" dirty="0">
                <a:solidFill>
                  <a:srgbClr val="444B52"/>
                </a:solidFill>
                <a:highlight>
                  <a:srgbClr val="FFFF00"/>
                </a:highlight>
                <a:latin typeface="Arial"/>
              </a:rPr>
              <a:t>phân hoạch</a:t>
            </a:r>
            <a:r>
              <a:rPr lang="vi-VN" sz="1400" dirty="0">
                <a:solidFill>
                  <a:srgbClr val="444B52"/>
                </a:solidFill>
                <a:latin typeface="Arial"/>
              </a:rPr>
              <a:t> (Partitioning / Centroid-based)</a:t>
            </a:r>
          </a:p>
          <a:p>
            <a:pPr marL="285750" indent="-285750">
              <a:spcAft>
                <a:spcPts val="600"/>
              </a:spcAft>
              <a:buFontTx/>
              <a:buChar char="-"/>
            </a:pPr>
            <a:r>
              <a:rPr lang="vi-VN" sz="1400" dirty="0">
                <a:solidFill>
                  <a:srgbClr val="444B52"/>
                </a:solidFill>
                <a:latin typeface="Arial"/>
              </a:rPr>
              <a:t>Phân cụm </a:t>
            </a:r>
            <a:r>
              <a:rPr lang="vi-VN" sz="1400" dirty="0">
                <a:solidFill>
                  <a:srgbClr val="444B52"/>
                </a:solidFill>
                <a:highlight>
                  <a:srgbClr val="FFFF00"/>
                </a:highlight>
                <a:latin typeface="Arial"/>
              </a:rPr>
              <a:t>phân cấp</a:t>
            </a:r>
            <a:r>
              <a:rPr lang="vi-VN" sz="1400" dirty="0">
                <a:solidFill>
                  <a:srgbClr val="444B52"/>
                </a:solidFill>
                <a:latin typeface="Arial"/>
              </a:rPr>
              <a:t> (Hierarchical / Connectivity-based)</a:t>
            </a:r>
          </a:p>
          <a:p>
            <a:pPr marL="285750" indent="-285750">
              <a:spcAft>
                <a:spcPts val="600"/>
              </a:spcAft>
              <a:buFontTx/>
              <a:buChar char="-"/>
            </a:pPr>
            <a:r>
              <a:rPr lang="vi-VN" sz="1400" dirty="0">
                <a:solidFill>
                  <a:srgbClr val="444B52"/>
                </a:solidFill>
                <a:latin typeface="Arial"/>
              </a:rPr>
              <a:t>Phân cụm </a:t>
            </a:r>
            <a:r>
              <a:rPr lang="vi-VN" sz="1400" dirty="0">
                <a:solidFill>
                  <a:srgbClr val="444B52"/>
                </a:solidFill>
                <a:highlight>
                  <a:srgbClr val="FFFF00"/>
                </a:highlight>
                <a:latin typeface="Arial"/>
              </a:rPr>
              <a:t>phổ</a:t>
            </a:r>
            <a:r>
              <a:rPr lang="vi-VN" sz="1400" dirty="0">
                <a:solidFill>
                  <a:srgbClr val="444B52"/>
                </a:solidFill>
                <a:latin typeface="Arial"/>
              </a:rPr>
              <a:t> (Spectral Clustering)</a:t>
            </a:r>
          </a:p>
          <a:p>
            <a:pPr marL="285750" indent="-285750">
              <a:spcAft>
                <a:spcPts val="600"/>
              </a:spcAft>
              <a:buFontTx/>
              <a:buChar char="-"/>
            </a:pPr>
            <a:endParaRPr lang="vi-VN" sz="1400" dirty="0">
              <a:solidFill>
                <a:srgbClr val="444B52"/>
              </a:solidFill>
              <a:latin typeface="Arial"/>
            </a:endParaRPr>
          </a:p>
          <a:p>
            <a:pPr>
              <a:spcAft>
                <a:spcPts val="600"/>
              </a:spcAft>
            </a:pPr>
            <a:r>
              <a:rPr lang="en-US" sz="1400" b="1" dirty="0">
                <a:solidFill>
                  <a:srgbClr val="1B8A7A"/>
                </a:solidFill>
                <a:latin typeface="Arial"/>
              </a:rPr>
              <a:t>•  Các </a:t>
            </a:r>
            <a:r>
              <a:rPr lang="en-US" sz="1400" b="1" dirty="0" err="1">
                <a:solidFill>
                  <a:srgbClr val="1B8A7A"/>
                </a:solidFill>
                <a:latin typeface="Arial"/>
              </a:rPr>
              <a:t>bài</a:t>
            </a:r>
            <a:r>
              <a:rPr lang="en-US" sz="1400" b="1" dirty="0">
                <a:solidFill>
                  <a:srgbClr val="1B8A7A"/>
                </a:solidFill>
                <a:latin typeface="Arial"/>
              </a:rPr>
              <a:t> </a:t>
            </a:r>
            <a:r>
              <a:rPr lang="en-US" sz="1400" b="1" dirty="0" err="1">
                <a:solidFill>
                  <a:srgbClr val="1B8A7A"/>
                </a:solidFill>
                <a:latin typeface="Arial"/>
              </a:rPr>
              <a:t>toán</a:t>
            </a:r>
            <a:r>
              <a:rPr lang="en-US" sz="1400" b="1" dirty="0">
                <a:solidFill>
                  <a:srgbClr val="1B8A7A"/>
                </a:solidFill>
                <a:latin typeface="Arial"/>
              </a:rPr>
              <a:t> GMM </a:t>
            </a:r>
            <a:r>
              <a:rPr lang="en-US" sz="1400" b="1" dirty="0" err="1">
                <a:solidFill>
                  <a:srgbClr val="1B8A7A"/>
                </a:solidFill>
                <a:latin typeface="Arial"/>
              </a:rPr>
              <a:t>sẽ</a:t>
            </a:r>
            <a:r>
              <a:rPr lang="en-US" sz="1400" b="1" dirty="0">
                <a:solidFill>
                  <a:srgbClr val="1B8A7A"/>
                </a:solidFill>
                <a:latin typeface="Arial"/>
              </a:rPr>
              <a:t> </a:t>
            </a:r>
            <a:r>
              <a:rPr lang="en-US" sz="1400" b="1" dirty="0" err="1">
                <a:solidFill>
                  <a:srgbClr val="1B8A7A"/>
                </a:solidFill>
                <a:latin typeface="Arial"/>
              </a:rPr>
              <a:t>giải</a:t>
            </a:r>
            <a:r>
              <a:rPr lang="en-US" sz="1400" b="1" dirty="0">
                <a:solidFill>
                  <a:srgbClr val="1B8A7A"/>
                </a:solidFill>
                <a:latin typeface="Arial"/>
              </a:rPr>
              <a:t> </a:t>
            </a:r>
            <a:r>
              <a:rPr lang="en-US" sz="1400" b="1" dirty="0" err="1">
                <a:solidFill>
                  <a:srgbClr val="1B8A7A"/>
                </a:solidFill>
                <a:latin typeface="Arial"/>
              </a:rPr>
              <a:t>quyết</a:t>
            </a:r>
            <a:endParaRPr lang="en-US" sz="1400" b="1" dirty="0">
              <a:solidFill>
                <a:srgbClr val="1B8A7A"/>
              </a:solidFill>
              <a:latin typeface="Arial"/>
            </a:endParaRPr>
          </a:p>
          <a:p>
            <a:pPr marL="285750" indent="-285750">
              <a:spcAft>
                <a:spcPts val="600"/>
              </a:spcAft>
              <a:buFontTx/>
              <a:buChar char="-"/>
            </a:pPr>
            <a:r>
              <a:rPr lang="vi-VN" sz="1400" dirty="0">
                <a:solidFill>
                  <a:srgbClr val="444B52"/>
                </a:solidFill>
                <a:latin typeface="Arial"/>
              </a:rPr>
              <a:t>Phát hiện bất thường</a:t>
            </a:r>
          </a:p>
          <a:p>
            <a:pPr marL="285750" indent="-285750">
              <a:spcAft>
                <a:spcPts val="600"/>
              </a:spcAft>
              <a:buFontTx/>
              <a:buChar char="-"/>
            </a:pPr>
            <a:r>
              <a:rPr lang="vi-VN" sz="1400" dirty="0">
                <a:solidFill>
                  <a:srgbClr val="444B52"/>
                </a:solidFill>
                <a:latin typeface="Arial"/>
              </a:rPr>
              <a:t>Hệ thống Recommendation</a:t>
            </a:r>
          </a:p>
          <a:p>
            <a:pPr marL="285750" indent="-285750">
              <a:spcAft>
                <a:spcPts val="600"/>
              </a:spcAft>
              <a:buFontTx/>
              <a:buChar char="-"/>
            </a:pPr>
            <a:r>
              <a:rPr lang="vi-VN" sz="1400" dirty="0">
                <a:solidFill>
                  <a:srgbClr val="444B52"/>
                </a:solidFill>
                <a:latin typeface="Arial"/>
              </a:rPr>
              <a:t>Phân đoạn hình ảnh</a:t>
            </a:r>
          </a:p>
          <a:p>
            <a:pPr marL="285750" indent="-285750">
              <a:spcAft>
                <a:spcPts val="600"/>
              </a:spcAft>
              <a:buFontTx/>
              <a:buChar char="-"/>
            </a:pPr>
            <a:r>
              <a:rPr lang="vi-VN" sz="1400" dirty="0">
                <a:solidFill>
                  <a:srgbClr val="444B52"/>
                </a:solidFill>
                <a:latin typeface="Arial"/>
              </a:rPr>
              <a:t>Tách nền video</a:t>
            </a:r>
          </a:p>
          <a:p>
            <a:pPr marL="285750" indent="-285750">
              <a:spcAft>
                <a:spcPts val="600"/>
              </a:spcAft>
              <a:buFontTx/>
              <a:buChar char="-"/>
            </a:pPr>
            <a:r>
              <a:rPr lang="vi-VN" sz="1400" dirty="0">
                <a:solidFill>
                  <a:srgbClr val="444B52"/>
                </a:solidFill>
                <a:latin typeface="Arial"/>
              </a:rPr>
              <a:t>Nhận diện giọng nói</a:t>
            </a:r>
            <a:endParaRPr lang="en-US" sz="1400" b="1" dirty="0">
              <a:solidFill>
                <a:srgbClr val="1B8A7A"/>
              </a:solidFill>
              <a:latin typeface="Arial"/>
            </a:endParaRPr>
          </a:p>
        </p:txBody>
      </p:sp>
    </p:spTree>
    <p:extLst>
      <p:ext uri="{BB962C8B-B14F-4D97-AF65-F5344CB8AC3E}">
        <p14:creationId xmlns:p14="http://schemas.microsoft.com/office/powerpoint/2010/main" val="187780586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15FC1-D232-DBE9-B81B-B607DB35921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29BB16F-9A61-7E20-FE02-34AC77C46E7C}"/>
              </a:ext>
            </a:extLst>
          </p:cNvPr>
          <p:cNvSpPr/>
          <p:nvPr/>
        </p:nvSpPr>
        <p:spPr>
          <a:xfrm>
            <a:off x="0" y="0"/>
            <a:ext cx="12191695" cy="105156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wrap="square" lIns="365760" tIns="109728" rtlCol="0" anchor="ctr"/>
          <a:lstStyle/>
          <a:p>
            <a:pPr algn="ctr"/>
            <a:r>
              <a:rPr lang="vi-VN" sz="2600" b="1" dirty="0">
                <a:solidFill>
                  <a:srgbClr val="FFFFFF"/>
                </a:solidFill>
                <a:latin typeface="Arial"/>
              </a:rPr>
              <a:t>4. Chủ đề liên quan</a:t>
            </a:r>
            <a:endParaRPr lang="en-US" sz="2600" b="1" dirty="0">
              <a:solidFill>
                <a:srgbClr val="FFFFFF"/>
              </a:solidFill>
              <a:latin typeface="Arial"/>
            </a:endParaRPr>
          </a:p>
          <a:p>
            <a:r>
              <a:rPr lang="en-US" sz="1300" i="1" dirty="0" err="1">
                <a:solidFill>
                  <a:srgbClr val="CFE3EC"/>
                </a:solidFill>
                <a:latin typeface="Arial"/>
              </a:rPr>
              <a:t>Trình</a:t>
            </a:r>
            <a:r>
              <a:rPr lang="en-US" sz="1300" i="1" dirty="0">
                <a:solidFill>
                  <a:srgbClr val="CFE3EC"/>
                </a:solidFill>
                <a:latin typeface="Arial"/>
              </a:rPr>
              <a:t> </a:t>
            </a:r>
            <a:r>
              <a:rPr lang="en-US" sz="1300" i="1" dirty="0" err="1">
                <a:solidFill>
                  <a:srgbClr val="CFE3EC"/>
                </a:solidFill>
                <a:latin typeface="Arial"/>
              </a:rPr>
              <a:t>bày</a:t>
            </a:r>
            <a:r>
              <a:rPr lang="en-US" sz="1300" i="1" dirty="0">
                <a:solidFill>
                  <a:srgbClr val="CFE3EC"/>
                </a:solidFill>
                <a:latin typeface="Arial"/>
              </a:rPr>
              <a:t>: Thông</a:t>
            </a:r>
          </a:p>
        </p:txBody>
      </p:sp>
      <p:sp>
        <p:nvSpPr>
          <p:cNvPr id="5" name="TextBox 4">
            <a:extLst>
              <a:ext uri="{FF2B5EF4-FFF2-40B4-BE49-F238E27FC236}">
                <a16:creationId xmlns:a16="http://schemas.microsoft.com/office/drawing/2014/main" id="{E4E2DF19-A51B-23CC-BAB1-0FE1F0C56C8D}"/>
              </a:ext>
            </a:extLst>
          </p:cNvPr>
          <p:cNvSpPr txBox="1"/>
          <p:nvPr/>
        </p:nvSpPr>
        <p:spPr>
          <a:xfrm>
            <a:off x="364068" y="1267772"/>
            <a:ext cx="8796865" cy="2062103"/>
          </a:xfrm>
          <a:prstGeom prst="rect">
            <a:avLst/>
          </a:prstGeom>
          <a:noFill/>
        </p:spPr>
        <p:txBody>
          <a:bodyPr wrap="square">
            <a:spAutoFit/>
          </a:bodyPr>
          <a:lstStyle/>
          <a:p>
            <a:pPr>
              <a:spcAft>
                <a:spcPts val="600"/>
              </a:spcAft>
            </a:pPr>
            <a:r>
              <a:rPr lang="en-US" sz="1400" b="1" dirty="0">
                <a:solidFill>
                  <a:srgbClr val="1B8A7A"/>
                </a:solidFill>
                <a:latin typeface="Arial"/>
              </a:rPr>
              <a:t>Tài </a:t>
            </a:r>
            <a:r>
              <a:rPr lang="en-US" sz="1400" b="1" dirty="0" err="1">
                <a:solidFill>
                  <a:srgbClr val="1B8A7A"/>
                </a:solidFill>
                <a:latin typeface="Arial"/>
              </a:rPr>
              <a:t>liệu</a:t>
            </a:r>
            <a:r>
              <a:rPr lang="en-US" sz="1400" b="1" dirty="0">
                <a:solidFill>
                  <a:srgbClr val="1B8A7A"/>
                </a:solidFill>
                <a:latin typeface="Arial"/>
              </a:rPr>
              <a:t> </a:t>
            </a:r>
            <a:r>
              <a:rPr lang="en-US" sz="1400" b="1" dirty="0" err="1">
                <a:solidFill>
                  <a:srgbClr val="1B8A7A"/>
                </a:solidFill>
                <a:latin typeface="Arial"/>
              </a:rPr>
              <a:t>tham</a:t>
            </a:r>
            <a:r>
              <a:rPr lang="en-US" sz="1400" b="1" dirty="0">
                <a:solidFill>
                  <a:srgbClr val="1B8A7A"/>
                </a:solidFill>
                <a:latin typeface="Arial"/>
              </a:rPr>
              <a:t> </a:t>
            </a:r>
            <a:r>
              <a:rPr lang="en-US" sz="1400" b="1" dirty="0" err="1">
                <a:solidFill>
                  <a:srgbClr val="1B8A7A"/>
                </a:solidFill>
                <a:latin typeface="Arial"/>
              </a:rPr>
              <a:t>khảo</a:t>
            </a:r>
            <a:endParaRPr lang="en-US" sz="1400" b="1" dirty="0">
              <a:solidFill>
                <a:srgbClr val="1B8A7A"/>
              </a:solidFill>
              <a:latin typeface="Arial"/>
            </a:endParaRPr>
          </a:p>
          <a:p>
            <a:pPr marL="285750" indent="-285750">
              <a:spcAft>
                <a:spcPts val="600"/>
              </a:spcAft>
              <a:buFontTx/>
              <a:buChar char="-"/>
            </a:pPr>
            <a:r>
              <a:rPr lang="vi-VN" sz="1400" dirty="0">
                <a:solidFill>
                  <a:srgbClr val="444B52"/>
                </a:solidFill>
                <a:latin typeface="Arial"/>
                <a:hlinkClick r:id="rId3"/>
              </a:rPr>
              <a:t>https://scikit-learn.org/stable/auto_examples/mixture/plot_gmm_init.html</a:t>
            </a:r>
            <a:r>
              <a:rPr lang="vi-VN" sz="1400" dirty="0">
                <a:solidFill>
                  <a:srgbClr val="444B52"/>
                </a:solidFill>
                <a:latin typeface="Arial"/>
              </a:rPr>
              <a:t> </a:t>
            </a:r>
          </a:p>
          <a:p>
            <a:pPr marL="285750" indent="-285750">
              <a:spcAft>
                <a:spcPts val="600"/>
              </a:spcAft>
              <a:buFontTx/>
              <a:buChar char="-"/>
            </a:pPr>
            <a:r>
              <a:rPr lang="vi-VN" sz="1400" dirty="0">
                <a:solidFill>
                  <a:srgbClr val="444B52"/>
                </a:solidFill>
                <a:latin typeface="Arial"/>
                <a:hlinkClick r:id="rId4"/>
              </a:rPr>
              <a:t>https://elearning.citd.edu.vn/pluginfile.php/108366/mod_resource/content/1/Unsupervised-learning.pdf</a:t>
            </a:r>
            <a:endParaRPr lang="vi-VN" sz="1400" dirty="0">
              <a:solidFill>
                <a:srgbClr val="444B52"/>
              </a:solidFill>
              <a:latin typeface="Arial"/>
            </a:endParaRPr>
          </a:p>
          <a:p>
            <a:pPr marL="285750" indent="-285750">
              <a:spcAft>
                <a:spcPts val="600"/>
              </a:spcAft>
              <a:buFontTx/>
              <a:buChar char="-"/>
            </a:pPr>
            <a:r>
              <a:rPr lang="vi-VN" sz="1400" dirty="0">
                <a:solidFill>
                  <a:srgbClr val="444B52"/>
                </a:solidFill>
                <a:latin typeface="Arial"/>
                <a:hlinkClick r:id="rId5"/>
              </a:rPr>
              <a:t>https://phamdinhkhanh.github.io/deepai-book/ch_ml/GMM.html</a:t>
            </a:r>
            <a:endParaRPr lang="vi-VN" sz="1400" dirty="0">
              <a:solidFill>
                <a:srgbClr val="444B52"/>
              </a:solidFill>
              <a:latin typeface="Arial"/>
            </a:endParaRPr>
          </a:p>
          <a:p>
            <a:pPr marL="285750" indent="-285750">
              <a:spcAft>
                <a:spcPts val="600"/>
              </a:spcAft>
              <a:buFontTx/>
              <a:buChar char="-"/>
            </a:pPr>
            <a:endParaRPr lang="vi-VN" sz="1400" dirty="0">
              <a:solidFill>
                <a:srgbClr val="444B52"/>
              </a:solidFill>
              <a:latin typeface="Arial"/>
            </a:endParaRPr>
          </a:p>
          <a:p>
            <a:pPr>
              <a:spcAft>
                <a:spcPts val="600"/>
              </a:spcAft>
            </a:pPr>
            <a:endParaRPr lang="en-US" sz="1400" b="1" dirty="0">
              <a:solidFill>
                <a:srgbClr val="1B8A7A"/>
              </a:solidFill>
              <a:latin typeface="Arial"/>
            </a:endParaRPr>
          </a:p>
          <a:p>
            <a:pPr marL="285750" indent="-285750">
              <a:spcAft>
                <a:spcPts val="600"/>
              </a:spcAft>
              <a:buFontTx/>
              <a:buChar char="-"/>
            </a:pPr>
            <a:endParaRPr lang="vi-VN" sz="1400" dirty="0">
              <a:solidFill>
                <a:srgbClr val="444B52"/>
              </a:solidFill>
              <a:latin typeface="Arial"/>
            </a:endParaRPr>
          </a:p>
        </p:txBody>
      </p:sp>
    </p:spTree>
    <p:extLst>
      <p:ext uri="{BB962C8B-B14F-4D97-AF65-F5344CB8AC3E}">
        <p14:creationId xmlns:p14="http://schemas.microsoft.com/office/powerpoint/2010/main" val="381059567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3D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822960" y="1280160"/>
            <a:ext cx="10545775" cy="1138773"/>
          </a:xfrm>
          <a:prstGeom prst="rect">
            <a:avLst/>
          </a:prstGeom>
          <a:noFill/>
        </p:spPr>
        <p:txBody>
          <a:bodyPr wrap="square">
            <a:spAutoFit/>
          </a:bodyPr>
          <a:lstStyle/>
          <a:p>
            <a:r>
              <a:rPr sz="3400" b="1" dirty="0" err="1">
                <a:solidFill>
                  <a:srgbClr val="FFFFFF"/>
                </a:solidFill>
                <a:latin typeface="Arial"/>
              </a:rPr>
              <a:t>Kết</a:t>
            </a:r>
            <a:r>
              <a:rPr sz="3400" b="1" dirty="0">
                <a:solidFill>
                  <a:srgbClr val="FFFFFF"/>
                </a:solidFill>
                <a:latin typeface="Arial"/>
              </a:rPr>
              <a:t> </a:t>
            </a:r>
            <a:r>
              <a:rPr sz="3400" b="1" dirty="0" err="1">
                <a:solidFill>
                  <a:srgbClr val="FFFFFF"/>
                </a:solidFill>
                <a:latin typeface="Arial"/>
              </a:rPr>
              <a:t>thúc</a:t>
            </a:r>
            <a:r>
              <a:rPr sz="3400" b="1" dirty="0">
                <a:solidFill>
                  <a:srgbClr val="FFFFFF"/>
                </a:solidFill>
                <a:latin typeface="Arial"/>
              </a:rPr>
              <a:t> &amp; </a:t>
            </a:r>
            <a:r>
              <a:rPr sz="3400" b="1" dirty="0" err="1">
                <a:solidFill>
                  <a:srgbClr val="FFFFFF"/>
                </a:solidFill>
                <a:latin typeface="Arial"/>
              </a:rPr>
              <a:t>Hỏi</a:t>
            </a:r>
            <a:r>
              <a:rPr sz="3400" b="1" dirty="0">
                <a:solidFill>
                  <a:srgbClr val="FFFFFF"/>
                </a:solidFill>
                <a:latin typeface="Arial"/>
              </a:rPr>
              <a:t> </a:t>
            </a:r>
            <a:r>
              <a:rPr sz="3400" b="1" dirty="0" err="1">
                <a:solidFill>
                  <a:srgbClr val="FFFFFF"/>
                </a:solidFill>
                <a:latin typeface="Arial"/>
              </a:rPr>
              <a:t>đáp</a:t>
            </a:r>
            <a:endParaRPr sz="3400" b="1" dirty="0">
              <a:solidFill>
                <a:srgbClr val="FFFFFF"/>
              </a:solidFill>
              <a:latin typeface="Arial"/>
            </a:endParaRPr>
          </a:p>
          <a:p>
            <a:endParaRPr sz="1600" b="0" dirty="0">
              <a:solidFill>
                <a:srgbClr val="CFE3EC"/>
              </a:solidFill>
              <a:latin typeface="Arial"/>
            </a:endParaRPr>
          </a:p>
          <a:p>
            <a:r>
              <a:rPr sz="1800" b="1" dirty="0" err="1">
                <a:solidFill>
                  <a:srgbClr val="FFFFFF"/>
                </a:solidFill>
                <a:latin typeface="Arial"/>
              </a:rPr>
              <a:t>Cảm</a:t>
            </a:r>
            <a:r>
              <a:rPr sz="1800" b="1" dirty="0">
                <a:solidFill>
                  <a:srgbClr val="FFFFFF"/>
                </a:solidFill>
                <a:latin typeface="Arial"/>
              </a:rPr>
              <a:t> </a:t>
            </a:r>
            <a:r>
              <a:rPr sz="1800" b="1" dirty="0" err="1">
                <a:solidFill>
                  <a:srgbClr val="FFFFFF"/>
                </a:solidFill>
                <a:latin typeface="Arial"/>
              </a:rPr>
              <a:t>ơn</a:t>
            </a:r>
            <a:r>
              <a:rPr lang="vi-VN" sz="1800" b="1" dirty="0">
                <a:solidFill>
                  <a:srgbClr val="FFFFFF"/>
                </a:solidFill>
                <a:latin typeface="Arial"/>
              </a:rPr>
              <a:t> mọi người </a:t>
            </a:r>
            <a:r>
              <a:rPr sz="1800" b="1" dirty="0" err="1">
                <a:solidFill>
                  <a:srgbClr val="FFFFFF"/>
                </a:solidFill>
                <a:latin typeface="Arial"/>
              </a:rPr>
              <a:t>đã</a:t>
            </a:r>
            <a:r>
              <a:rPr sz="1800" b="1" dirty="0">
                <a:solidFill>
                  <a:srgbClr val="FFFFFF"/>
                </a:solidFill>
                <a:latin typeface="Arial"/>
              </a:rPr>
              <a:t> </a:t>
            </a:r>
            <a:r>
              <a:rPr sz="1800" b="1" dirty="0" err="1">
                <a:solidFill>
                  <a:srgbClr val="FFFFFF"/>
                </a:solidFill>
                <a:latin typeface="Arial"/>
              </a:rPr>
              <a:t>lắng</a:t>
            </a:r>
            <a:r>
              <a:rPr sz="1800" b="1" dirty="0">
                <a:solidFill>
                  <a:srgbClr val="FFFFFF"/>
                </a:solidFill>
                <a:latin typeface="Arial"/>
              </a:rPr>
              <a:t> </a:t>
            </a:r>
            <a:r>
              <a:rPr sz="1800" b="1" dirty="0" err="1">
                <a:solidFill>
                  <a:srgbClr val="FFFFFF"/>
                </a:solidFill>
                <a:latin typeface="Arial"/>
              </a:rPr>
              <a:t>nghe</a:t>
            </a:r>
            <a:r>
              <a:rPr sz="1800" b="1" dirty="0">
                <a:solidFill>
                  <a:srgbClr val="FFFFFF"/>
                </a:solidFill>
                <a:latin typeface="Arial"/>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0cf7ac0a-4681-4823-ab0b-04ef02c5f873}" enabled="1" method="Standard" siteId="{42f7676c-f455-423c-82f6-dc2d99791af7}" contentBits="0" removed="0"/>
</clbl:labelList>
</file>

<file path=docProps/app.xml><?xml version="1.0" encoding="utf-8"?>
<Properties xmlns="http://schemas.openxmlformats.org/officeDocument/2006/extended-properties" xmlns:vt="http://schemas.openxmlformats.org/officeDocument/2006/docPropsVTypes">
  <TotalTime>18768</TotalTime>
  <Words>5832</Words>
  <Application>Microsoft Macintosh PowerPoint</Application>
  <PresentationFormat>Widescreen</PresentationFormat>
  <Paragraphs>621</Paragraphs>
  <Slides>53</Slides>
  <Notes>53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53</vt:i4>
      </vt:variant>
    </vt:vector>
  </HeadingPairs>
  <TitlesOfParts>
    <vt:vector size="57" baseType="lpstr">
      <vt:lpstr>Arial</vt:lpstr>
      <vt:lpstr>Calibri</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Dinh, Thong</cp:lastModifiedBy>
  <cp:revision>497</cp:revision>
  <cp:lastPrinted>2026-09-20T15:26:35Z</cp:lastPrinted>
  <dcterms:created xsi:type="dcterms:W3CDTF">2013-01-27T09:14:16Z</dcterms:created>
  <dcterms:modified xsi:type="dcterms:W3CDTF">2026-10-07T07:11:55Z</dcterms:modified>
  <cp:category/>
</cp:coreProperties>
</file>