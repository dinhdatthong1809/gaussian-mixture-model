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64" r:id="rId4"/>
    <p:sldId id="266" r:id="rId5"/>
    <p:sldId id="271" r:id="rId6"/>
    <p:sldId id="273" r:id="rId7"/>
    <p:sldId id="274" r:id="rId8"/>
    <p:sldId id="267" r:id="rId9"/>
    <p:sldId id="278" r:id="rId10"/>
    <p:sldId id="277" r:id="rId11"/>
    <p:sldId id="296" r:id="rId12"/>
    <p:sldId id="280" r:id="rId13"/>
    <p:sldId id="284" r:id="rId14"/>
    <p:sldId id="287" r:id="rId15"/>
    <p:sldId id="289" r:id="rId16"/>
    <p:sldId id="286" r:id="rId17"/>
    <p:sldId id="290" r:id="rId18"/>
    <p:sldId id="293" r:id="rId19"/>
    <p:sldId id="294" r:id="rId20"/>
    <p:sldId id="292" r:id="rId21"/>
    <p:sldId id="303" r:id="rId22"/>
    <p:sldId id="302" r:id="rId23"/>
    <p:sldId id="299" r:id="rId24"/>
    <p:sldId id="301" r:id="rId25"/>
    <p:sldId id="300" r:id="rId26"/>
    <p:sldId id="282" r:id="rId27"/>
    <p:sldId id="309" r:id="rId28"/>
    <p:sldId id="311" r:id="rId29"/>
    <p:sldId id="312" r:id="rId30"/>
    <p:sldId id="313" r:id="rId31"/>
    <p:sldId id="314" r:id="rId32"/>
    <p:sldId id="315" r:id="rId33"/>
    <p:sldId id="316" r:id="rId34"/>
    <p:sldId id="317" r:id="rId35"/>
    <p:sldId id="318" r:id="rId36"/>
    <p:sldId id="319" r:id="rId37"/>
    <p:sldId id="320" r:id="rId38"/>
    <p:sldId id="321" r:id="rId39"/>
    <p:sldId id="265" r:id="rId40"/>
    <p:sldId id="297" r:id="rId41"/>
    <p:sldId id="263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56"/>
    <p:restoredTop sz="94598"/>
  </p:normalViewPr>
  <p:slideViewPr>
    <p:cSldViewPr snapToGrid="0" snapToObjects="1">
      <p:cViewPr varScale="1">
        <p:scale>
          <a:sx n="151" d="100"/>
          <a:sy n="151" d="100"/>
        </p:scale>
        <p:origin x="52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198F-3080-83F6-A15E-AF08A8AD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B9447-10FE-9609-762A-8B054CD94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13767-219A-3043-0049-9DC2F4C03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763FE-23B3-E185-B875-D3C5EC24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2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9901A-180A-ACB4-09F7-08C090620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AE727-57FD-D210-21C9-5F524B9F56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90EDC-B0E2-B48C-8209-E02C688412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3BB7B-BD2D-EDA6-1DAA-7BA6BE526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822784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0A29F-E564-15F0-0597-AAE3F9895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0FA0F6-32C9-949B-1C1B-B102F725E0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FA00C4-5706-3584-E507-E994724AD6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140A2-6D9B-E76D-8A13-1ACA000F3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20496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D4854-91DA-7103-6903-C6AA82CBB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20C4C1-D077-F2FD-73AD-1B3A7B7892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6DF0B-954C-A586-1166-E843060052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F20AF-9001-F634-8FD4-541458E91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6434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64B2C-A9E9-F5C8-B012-A3C84412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8A4203-7EA9-F772-E71B-3D488F7AE1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2501B0-80BB-322A-894E-E5816029E5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319ED-1D95-C273-5809-549480CAF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38116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B2945-8416-606E-D094-18F4C06D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DC56A-04A8-7360-90D2-35F1AD4EE3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BA8D57-DBB9-34C6-25A8-011091D87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D2E0E-6652-8CA7-00A1-7BB08DBB0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63428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99594-2FEE-85CE-0D91-266E92722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F23C7F-7A95-61BB-BFEB-4C10F3D6C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0677E-8145-16BB-0CB0-88886CADD2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7081A-547F-02FE-6C78-8CBDDC5589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70414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A2134-7258-8DC0-D00E-92EFCDC5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DBA886-663F-D69F-B714-944C1CF47D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BBF00-A202-878E-6D7D-717B21447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CFFE0-3949-0944-C542-4530858DF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182964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321A-988F-DDB6-6DA0-48C564165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9B2D43-1D2D-85BD-E832-61471542B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47558-C082-6B9B-D911-5DECC8146F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8DFF2-6575-A8E4-B379-7DBFB5F81F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64587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ECB4B-62A1-BB9E-1640-E8D92CA1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8D38B1-3E6A-E9F9-0812-901AD8D284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2F735A-CF1F-EF44-3164-17FADE7F12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9B090-AF2A-48F0-6137-FE66E0B75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08886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0FCC-2EFB-F7D7-C201-92203A27E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68FA66-D36A-A82B-2B98-AB23AF70BC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0AD8A1-FCA6-43A2-B97A-08D281509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94D11-9EEE-8A45-DBB4-9A6E7391CD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348818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E795A-540B-3770-B1C9-22D9E7CCD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188FB-A4B6-6D63-504A-E8966CBE8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EEC134-CDEB-A955-FA89-467854EE1B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B99AD-99B9-9D10-2C3B-384DEE3F5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071000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AA1F-5258-FD6E-529F-FE9420C7A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D70BC-F8D8-5EFD-63B6-F27650890E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B7900-C46B-A23E-CAB4-519CD822A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F863B-147C-4F88-C549-8D952E5FC2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255750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37968-7E43-7241-E81C-6161A7EFC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E3277F-BE7C-D498-3DF0-0EA85C0CB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C4AED-7926-2D18-161B-DC7C301622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CD9F9-D12C-4C5C-6F05-E3B7F28C6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996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112E-A98A-0440-0DEB-7E5CBEF48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9982C4-6F04-A249-DBA4-61C03688EE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66153-4B7B-3184-FFE0-1416512661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919FA-83C4-9E03-39E3-31E614476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13677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A9A57-6AF2-7210-4A2F-C40A5A5A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2B2760-184D-4E38-7471-4D4884D37C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BC4C6-5FB7-C84B-EA1E-D26DF580E4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450AD-F162-0E99-87A8-906BFD1AA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28418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4C492-2C5A-8EBE-A7EE-0D49968EC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FBB51-1F89-6566-936F-925FB4232E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00188-B928-551C-C2BC-BE643A0E0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1C8C4-0146-B181-95C0-68BB66419E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513154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BB91F-402B-BC16-FCE6-E0D89132A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2C5C9E-0FD9-9287-6408-DD607BA0D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4153B-00FC-9CF8-1CA7-9C46C5D77C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D088C-0C90-73FC-DF55-20413B388D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76786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90466-C8BB-4A73-39E8-2F7E95FD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C2552-3188-7453-26B7-A752770D66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6FAC1-730A-6A52-F7E2-79CAC452F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C3AEA8-D86F-4139-897C-E6DE2E5A7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989184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1713D-4217-BA4F-20EB-4154F6CF0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EC2B8-AA75-A460-4768-C3A8FA50A7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AADEC-AF00-9079-07D5-53C8764BF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E154-1981-0000-B477-83FD20DA9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320014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C2C35-A368-628B-F812-D3D8A1D1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0D0BE0-FAC6-40EB-52F0-4BB01E7E26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9369E3-A2BA-3E7B-EA5C-9CA5181B7C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D1C41-CBD9-F764-EC32-5254E5B59C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14808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C2BF-F054-54A4-4047-FAB80CCE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7CE90-7FAB-A829-5BB3-BFB329164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9D885-1BA6-9EC2-38AA-DDE70346BE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1E117-C40C-8237-7C0D-537E60A93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9485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95F5-93FB-59A5-3F70-C014F3157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B5BD7-6D9B-FDBF-555D-EC994FA641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E2676-0B2D-1D99-E321-260D1F0EF6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7F923-D760-FC5E-8EDA-2DA5DB6DB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522734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BB8BD-EBFD-BDF0-D50A-392DA5B0C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4DF9CD-EF1E-096B-4417-5F5595FB1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21F-3328-9E63-7C13-D7249D66FA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7B8C4-C638-8818-A063-CB743E6D5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788542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A3783-D7D9-37B3-68C9-A7845C4FA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8E0A0-2A8A-E754-A0B2-575B47BD56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21395-3BDB-577A-3759-500F2D6CE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AB95A-30F0-3C2A-0E99-87F46F82F5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448430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1EFCD-71E4-EE8A-2E21-50719B874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7CBE7-DF67-01F1-07E3-592540157C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7204F-98D3-44ED-B757-C8D741D1B7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7A173-76CC-9991-4F12-9B13B2F1D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92752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C3C45-A0A1-0AB9-3C57-9C8AE16DB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A3A78F-C597-EBED-3C16-03977D062D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D56682-768B-FC3D-BFBE-353A5E8C28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E8540-4720-C515-8EDE-ED0766F4C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498983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74862-8DC8-86C4-B49A-8EAB93B4D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0AE774-7831-1624-80EA-95E7475304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5E671-8180-DE37-A19C-8B9548989D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88F27-7B67-F6A2-57F2-240E04C272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513727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FB02-5014-0B4A-1FA1-797EF6E67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4D8900-3F09-D838-FC9E-FEDB53A198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8B59EE-6C2C-A321-747C-805A747699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F881D-8FEA-563A-493E-45D243E54F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35480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9DA1C-B2E4-6478-1FFF-21E5BF0EF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02A2-3D56-0F4E-6518-68C21A0C1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11EE25-0748-8918-EF4A-ADF7F8838A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3CD7B-F8BE-54C5-82F3-DA0AF7CF0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84331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75303-10E8-5854-7ED9-C97004E9C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59F22-93E4-D4B2-C097-8394DA284F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3F8A5-F55C-6579-D4C0-A282B247F0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A148B-155C-7215-C851-BC2B0765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770384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77733-B0A4-07AE-6B5E-F803DD6CF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71FBE-E406-BEB2-2B0A-732EBBD27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86C83-1AB5-AAB0-44D8-95E224C41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C226F-8261-1DA5-8AE3-B5EB909BC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46887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2217-4135-1C86-5020-AA618560C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A05E2-01AE-CB95-3603-E43DE4CD67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050A68-2E00-DC7D-8BDF-7F27E046D5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35A0D-4C28-62DA-44EB-AD929589CE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3035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19F81-F6C1-79CC-A7FF-8F56F306B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10A78E-688B-F36F-BB6A-CC0C810200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4DCD72-FEC7-4EE4-92DA-2BAC1E693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5A0BB-2CA6-05D1-8BA8-B9DF40473A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011385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0A894-5E53-19DE-90AA-6C5C53E8E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658F4C-3F8B-BF67-C2D0-EF7FC68E96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A0F0C-03BA-FA93-3754-76D7A7EC11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F4631-C6F9-F594-A00A-21C49F1D5B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951772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8BDB-B717-B07B-9F30-F1B7F875B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EB172-D6AF-AE63-2B7A-7A4B3DB24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1436E6-9867-07F6-CCEA-36377AE9D2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72AD40-D807-006F-98FD-6A6F3EFEA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803186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225F-C976-576D-0EE6-1176D53D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D221-FD29-3B1A-87CE-D743152BF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18D41-857A-0BBD-DB7F-B24BD2132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1A58-3B46-A160-4410-BD16CA009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938563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8A7CC-6F9D-4BEA-5550-6E5B22427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FC4E7C-5BBA-500B-60C6-71C1BD23F6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E15DB-55E4-33CD-3095-3A342C9390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A85E7-61A4-B6A2-400D-8416988CC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5705945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gặp</a:t>
            </a:r>
            <a:r>
              <a:rPr dirty="0"/>
              <a:t>:</a:t>
            </a:r>
          </a:p>
          <a:p>
            <a:r>
              <a:rPr dirty="0"/>
              <a:t>- '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LLM </a:t>
            </a:r>
            <a:r>
              <a:rPr dirty="0" err="1"/>
              <a:t>không</a:t>
            </a:r>
            <a:r>
              <a:rPr dirty="0"/>
              <a:t>?' → </a:t>
            </a:r>
            <a:r>
              <a:rPr dirty="0" err="1"/>
              <a:t>Không</a:t>
            </a:r>
            <a:r>
              <a:rPr dirty="0"/>
              <a:t>;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rule-based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an </a:t>
            </a:r>
            <a:r>
              <a:rPr dirty="0" err="1"/>
              <a:t>toàn</a:t>
            </a:r>
            <a:r>
              <a:rPr dirty="0"/>
              <a:t>; LLM/RAG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.</a:t>
            </a:r>
          </a:p>
          <a:p>
            <a:r>
              <a:rPr dirty="0"/>
              <a:t>- '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?' → </a:t>
            </a:r>
            <a:r>
              <a:rPr dirty="0" err="1"/>
              <a:t>nêu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src</a:t>
            </a:r>
            <a:r>
              <a:rPr dirty="0"/>
              <a:t>/models/*_</a:t>
            </a:r>
            <a:r>
              <a:rPr dirty="0" err="1"/>
              <a:t>evaluation.py</a:t>
            </a:r>
            <a:r>
              <a:rPr dirty="0"/>
              <a:t> (</a:t>
            </a:r>
            <a:r>
              <a:rPr dirty="0" err="1"/>
              <a:t>điền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trước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bày</a:t>
            </a:r>
            <a:r>
              <a:rPr dirty="0"/>
              <a:t>).</a:t>
            </a:r>
          </a:p>
          <a:p>
            <a:r>
              <a:rPr dirty="0"/>
              <a:t>- '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</a:t>
            </a:r>
            <a:r>
              <a:rPr dirty="0" err="1"/>
              <a:t>RandomForest</a:t>
            </a:r>
            <a:r>
              <a:rPr dirty="0"/>
              <a:t>?' → </a:t>
            </a:r>
            <a:r>
              <a:rPr dirty="0" err="1"/>
              <a:t>mạnh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bảng</a:t>
            </a:r>
            <a:r>
              <a:rPr dirty="0"/>
              <a:t>, </a:t>
            </a:r>
            <a:r>
              <a:rPr dirty="0" err="1"/>
              <a:t>ít</a:t>
            </a:r>
            <a:r>
              <a:rPr dirty="0"/>
              <a:t> overfit </a:t>
            </a:r>
            <a:r>
              <a:rPr dirty="0" err="1"/>
              <a:t>hơn</a:t>
            </a:r>
            <a:r>
              <a:rPr dirty="0"/>
              <a:t> 1 </a:t>
            </a:r>
            <a:r>
              <a:rPr dirty="0" err="1"/>
              <a:t>cây</a:t>
            </a:r>
            <a:r>
              <a:rPr dirty="0"/>
              <a:t>,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feature importance/SHAP.</a:t>
            </a:r>
          </a:p>
          <a:p>
            <a:r>
              <a:rPr dirty="0"/>
              <a:t>- '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?' →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threshold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bệnh</a:t>
            </a:r>
            <a:r>
              <a:rPr dirty="0"/>
              <a:t> (0.40/0.35/0.35)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vì</a:t>
            </a:r>
            <a:r>
              <a:rPr dirty="0"/>
              <a:t> 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inhdatthong1809.github.io/gaussian-mixture-model-interactive-visualisation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8.png"/><Relationship Id="rId9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9.png"/><Relationship Id="rId4" Type="http://schemas.openxmlformats.org/officeDocument/2006/relationships/image" Target="../media/image26.png"/><Relationship Id="rId9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5.png"/><Relationship Id="rId4" Type="http://schemas.openxmlformats.org/officeDocument/2006/relationships/image" Target="../media/image26.png"/><Relationship Id="rId9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4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7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mdINSVY2X29GtQj1N6tcE2YFGUPZ7Wuc?usp=sharing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mixture/plot_gmm_init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phamdinhkhanh.github.io/deepai-book/ch_ml/GMM.html" TargetMode="External"/><Relationship Id="rId4" Type="http://schemas.openxmlformats.org/officeDocument/2006/relationships/hyperlink" Target="https://elearning.citd.edu.vn/pluginfile.php/108366/mod_resource/content/1/Unsupervised-learning.pdf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09728"/>
          </a:xfrm>
          <a:prstGeom prst="rect">
            <a:avLst/>
          </a:prstGeom>
          <a:solidFill>
            <a:srgbClr val="1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Gaussian Mixture Model (GMM)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và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Expectation-Maximization (EM) method</a:t>
            </a:r>
            <a:endParaRPr lang="en-VN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59" y="4702126"/>
            <a:ext cx="10545775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Môn học: Toán cho Khoa học máy tính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(</a:t>
            </a:r>
            <a:r>
              <a:rPr lang="en-US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CS115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)</a:t>
            </a:r>
          </a:p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Giảng viên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: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Cô Dương Việt Hằng</a:t>
            </a:r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Nhóm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14:</a:t>
            </a:r>
            <a:b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</a:b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Đinh Đạt Thông — 26410294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Đông Triều — 26410309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Phạm Thái </a:t>
            </a:r>
            <a:r>
              <a:rPr sz="1300" b="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Thuận</a:t>
            </a:r>
            <a:r>
              <a:rPr lang="en-VN"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— 26410297</a:t>
            </a:r>
            <a:endParaRPr lang="vi-VN"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</p:txBody>
      </p:sp>
      <p:pic>
        <p:nvPicPr>
          <p:cNvPr id="9" name="Picture 8" descr="Công bố ba công khai">
            <a:extLst>
              <a:ext uri="{FF2B5EF4-FFF2-40B4-BE49-F238E27FC236}">
                <a16:creationId xmlns:a16="http://schemas.microsoft.com/office/drawing/2014/main" id="{7A87B24D-ABB3-22F8-21DA-8274A507D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9180"/>
            <a:ext cx="1885046" cy="7048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Nội dung</a:t>
            </a:r>
            <a:endParaRPr sz="1300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19" y="1374479"/>
            <a:ext cx="11185855" cy="475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1. Ngữ cảnh, vấn đề, giải pháp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2. Giải thích giải pháp</a:t>
            </a:r>
            <a:endParaRPr lang="vi-VN" sz="16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2.1. Gaussian Mixture Model (GMM)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2.2. Expectation-Maximization (EM)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600" b="1" dirty="0">
              <a:solidFill>
                <a:schemeClr val="accent5">
                  <a:lumMod val="60000"/>
                  <a:lumOff val="4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3. Demo code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4. Chủ đề liên quan</a:t>
            </a:r>
            <a:endParaRPr sz="20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986E-2709-2B50-821D-B87068F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46530-300E-DBDD-7C6B-304B0B933D3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Ngữ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cảnh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vấn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đề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0ED03-DFCB-5AF3-DCB1-9F857B814DF3}"/>
              </a:ext>
            </a:extLst>
          </p:cNvPr>
          <p:cNvSpPr txBox="1"/>
          <p:nvPr/>
        </p:nvSpPr>
        <p:spPr>
          <a:xfrm>
            <a:off x="364068" y="1267772"/>
            <a:ext cx="8796865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Ngữ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cảnh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Em có Web nghe nhạc, user càng nghe, mình càng có tiền quảng cáo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Để có thêm tiền quảng cáo thì thêm phần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gợi ý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, dụ user nghe hoài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400" b="1" dirty="0">
                <a:solidFill>
                  <a:srgbClr val="1B8A7A"/>
                </a:solidFill>
                <a:latin typeface="Arial"/>
              </a:rPr>
              <a:t>Vấn đề</a:t>
            </a:r>
            <a:r>
              <a:rPr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Tìm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như nào ?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Giải pháp: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Phân cụm list bài hát, sử dụng Gaussian Mixture Model (GMM)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là mấy bài “chung” hoặc “gần chung” nhóm với bài user đang nghe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EA80EB-D313-7BCA-A7F1-8E9DCECB4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481" y="3776695"/>
            <a:ext cx="5020732" cy="2887407"/>
          </a:xfrm>
          <a:prstGeom prst="rect">
            <a:avLst/>
          </a:prstGeom>
          <a:ln>
            <a:solidFill>
              <a:schemeClr val="accent1">
                <a:alpha val="53644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685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9F567-3816-EEE3-0313-A2337AF5C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4F00BD-25CB-1F9E-A14A-B26DAABBE1BB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1. Ngữ cảnh, vấn đề, giải pháp</a:t>
            </a:r>
          </a:p>
          <a:p>
            <a:r>
              <a:rPr lang="vi-VN" sz="1300" i="1" dirty="0">
                <a:solidFill>
                  <a:srgbClr val="CFE3EC"/>
                </a:solidFill>
                <a:latin typeface="Arial"/>
              </a:rPr>
              <a:t>Trình bày: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F1073A-A67A-29A4-28BF-5EAB414D142D}"/>
              </a:ext>
            </a:extLst>
          </p:cNvPr>
          <p:cNvSpPr txBox="1"/>
          <p:nvPr/>
        </p:nvSpPr>
        <p:spPr>
          <a:xfrm>
            <a:off x="364067" y="1267772"/>
            <a:ext cx="9787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Dữ liệu có sẵn (list bài hát):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A35FE2-0858-0752-9084-F0A14BAD6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532013"/>
              </p:ext>
            </p:extLst>
          </p:nvPr>
        </p:nvGraphicFramePr>
        <p:xfrm>
          <a:off x="364067" y="1791761"/>
          <a:ext cx="3767666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833">
                  <a:extLst>
                    <a:ext uri="{9D8B030D-6E8A-4147-A177-3AD203B41FA5}">
                      <a16:colId xmlns:a16="http://schemas.microsoft.com/office/drawing/2014/main" val="4104114755"/>
                    </a:ext>
                  </a:extLst>
                </a:gridCol>
                <a:gridCol w="1883833">
                  <a:extLst>
                    <a:ext uri="{9D8B030D-6E8A-4147-A177-3AD203B41FA5}">
                      <a16:colId xmlns:a16="http://schemas.microsoft.com/office/drawing/2014/main" val="3351497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Tên bài 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Điểm sôi động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164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Kim Phút Kim </a:t>
                      </a:r>
                      <a:r>
                        <a:rPr lang="en-US" dirty="0" err="1"/>
                        <a:t>Giờ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3.8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038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Chân</a:t>
                      </a:r>
                      <a:r>
                        <a:rPr lang="en-US" dirty="0"/>
                        <a:t> Thành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5408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Secret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258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Die With A Smile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4.4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2658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3791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1539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7BDC6-EA3D-2E59-08F4-7D97AB063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0EAC26-A6A3-DD88-71CD-A6D4C5ACD4B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68A90-1324-C5AA-F206-0982A93764CE}"/>
              </a:ext>
            </a:extLst>
          </p:cNvPr>
          <p:cNvSpPr txBox="1"/>
          <p:nvPr/>
        </p:nvSpPr>
        <p:spPr>
          <a:xfrm>
            <a:off x="364066" y="1267772"/>
            <a:ext cx="103547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49AAD-3EDD-3874-51AE-D3EBF03390BA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Dữ liệu 2 chiều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92D4BC-D65C-3F2A-8634-D3A74DB3C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DBAF21-4B44-C9AE-123E-FE99F304FDF2}"/>
              </a:ext>
            </a:extLst>
          </p:cNvPr>
          <p:cNvSpPr txBox="1"/>
          <p:nvPr/>
        </p:nvSpPr>
        <p:spPr>
          <a:xfrm>
            <a:off x="5003801" y="3775436"/>
            <a:ext cx="81361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600" dirty="0">
                <a:hlinkClick r:id="rId4"/>
              </a:rPr>
              <a:t>https://dinhdatthong1809.github.io/gaussian-mixture-model-interactive-visualisation</a:t>
            </a:r>
            <a:endParaRPr lang="en-VN" sz="1600" dirty="0"/>
          </a:p>
        </p:txBody>
      </p:sp>
    </p:spTree>
    <p:extLst>
      <p:ext uri="{BB962C8B-B14F-4D97-AF65-F5344CB8AC3E}">
        <p14:creationId xmlns:p14="http://schemas.microsoft.com/office/powerpoint/2010/main" val="152616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D9EB9-B385-1786-9C54-F4B79E6E7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CAC7D0-FB91-EFAF-01C6-BC992DE1FF3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9F21F6-0914-9214-D344-D3A4B9BC21D9}"/>
              </a:ext>
            </a:extLst>
          </p:cNvPr>
          <p:cNvSpPr txBox="1"/>
          <p:nvPr/>
        </p:nvSpPr>
        <p:spPr>
          <a:xfrm>
            <a:off x="364066" y="1267772"/>
            <a:ext cx="1035473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53D564-1ACE-1327-E775-C5E6E71701BB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C0C1DC-4229-3D54-459A-1C79CA252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0BB806-C1CB-6B88-266B-4A89CFD46E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065" y="1800228"/>
            <a:ext cx="4732868" cy="46718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33A842F-6EEB-EEEE-BCB7-FEBD247F32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400" y="1946635"/>
            <a:ext cx="5554680" cy="464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60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B24D0-0889-A54D-4BDF-870530F72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A9894C-8BF4-4948-17A6-7417BDDF875D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45D776-7D98-7C1D-DD56-15D11665F94B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C47716-27D2-B873-DFD3-462BA8218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D412BE6-EFCB-C454-9DC4-960D634C5BD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3019750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A214B-49A8-E03E-AAA5-D66F1F8D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38429B-9051-8F94-1ED4-19880CB0ED4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blipFill>
                <a:blip r:embed="rId3"/>
                <a:stretch>
                  <a:fillRect l="-386" t="-71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CCEFD7D-5F45-70DE-C239-86E9EAB0C42D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C790A9-EAB8-5251-0330-7B14E1B2C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A2E98F-8E68-26C6-3D72-CB11E6F410F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1764016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C917E-00FF-7962-358D-4A5D2FFC8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F2320A-EC5D-05A3-8B8C-7934D1B0A24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4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5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1933893-AE83-FC00-E012-BED7625BCEDA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6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92AFD56-2B0A-6C14-A821-ECDE5001701D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7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19DBED-CA8B-34AE-69F5-45E7F837CF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09E358-DD7C-786D-705F-402E9237CFD5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194556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23CC9-4ECB-3F7B-677A-BA91E70DD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70C0BA-0538-44F4-E18B-05267506D4F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E8D11FF-B284-069B-5333-A9A4834A8F67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4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039329B-B3FE-D8D0-692D-977A2539E088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5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6A98D39-9CC9-5F18-5B74-119DE9D5A4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52CE4C-7BC3-D215-E82E-676A2DFE2A3F}"/>
              </a:ext>
            </a:extLst>
          </p:cNvPr>
          <p:cNvSpPr txBox="1"/>
          <p:nvPr/>
        </p:nvSpPr>
        <p:spPr>
          <a:xfrm>
            <a:off x="9327816" y="6341378"/>
            <a:ext cx="2124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Hàm số màu cam là gì?</a:t>
            </a:r>
            <a:endParaRPr lang="el-GR" sz="1400" dirty="0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7FAFBEEA-D89D-2AB5-C972-0BD1EA29B2C4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7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8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686C780-095D-2AD3-2D3C-EF0DFF62ECED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800526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F6AC5-9372-43A9-FED1-331DF3854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36041-E1B3-9271-CA2B-6CBB974243D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3FAD9F-76DC-523E-3999-8EBF5954F3EA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AF6EB6-E406-5A97-2F63-AEE209F0A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806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DE0C8-6160-D7C8-B98A-C8FA79792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701F6-5661-56E5-FFEA-250DBE3ED9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167874-8172-C86D-0C13-D532967F7FB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8F402C-5F72-0411-DF12-6E4CD8517358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6C639D-F046-39AF-8163-2F3ADBC02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4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626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9FEC-7E89-AB01-B5FF-3FF11DAB9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6C2476-3D69-8354-992B-780F3A6EA2D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FB9CC0-61BB-7CC9-013A-53639874168C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368C02-8FCC-1ED7-AEAD-FE7415963C26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2025C4-7621-BBF8-C381-0B9BFA7C8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4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D299981-9217-D6D8-097C-8D67DEF890E2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9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9852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41B5B-5E81-7270-DC0C-CF18EB5D6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E8DD33-DB30-8F39-1701-471338EFADA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BB86E2-F8DF-BC10-23EB-B1C3EC849880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162D1F9B-3D30-47DF-F4F9-4B5DB5319F2D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F829F4-CE56-33DF-7A53-8D6F83DF8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3A57E73-D02D-A335-3018-81628915E609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85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3D3E0-0F59-6538-6225-5145AF589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924FF2-63D1-BAB6-5E99-27D4803AE8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9980E3-C75F-CDD2-74D3-E38FD0A75F9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2ED49519-0756-871B-9290-FC75E8FB160C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6DF9DE-335F-2093-E35E-8D7851ADE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8D8FAB9-22B4-8118-6278-B65783B73297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BAD6A66-2968-810A-A839-DC311EB036D8}"/>
              </a:ext>
            </a:extLst>
          </p:cNvPr>
          <p:cNvSpPr txBox="1"/>
          <p:nvPr/>
        </p:nvSpPr>
        <p:spPr>
          <a:xfrm>
            <a:off x="10303497" y="6344208"/>
            <a:ext cx="13185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400" dirty="0"/>
              <a:t>Quay lại GMM</a:t>
            </a:r>
            <a:endParaRPr lang="el-GR" sz="1400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F08EFFB2-788A-0C68-9457-C5197A4C6FA1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83807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BB19-03BD-33C8-07F3-06EDE28C4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6065A-3063-A1D5-F33E-ACDF1193F35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46C090-C329-5AE6-6CB7-FF865F13CF03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0678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4EB70-62AB-3299-D9C3-E91D4F4C7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3F9245-AF6D-9957-8AE4-9EBF98EB94F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4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EA5C84-35CB-2043-F47A-F2D9641AF839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03BF20-9CE3-FA38-78AE-C6E31CCA1FEB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39B394-6E16-A77C-19F2-0F17CF6807BF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5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6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016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C17AB-29DB-5529-5C62-38990D31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90C18-0DE5-A4A2-CE8B-8D3D9AE8330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99B1E57-7511-91C9-E342-CCC4D7C531E0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A66726D-2D35-5EA7-41D1-2408C009395B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70F646-3585-D73E-E5FF-AD7FBEF87718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1DBD90-1072-395A-ED0E-85FDA674355D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7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9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10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4165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F900E-536C-252B-66E0-0E61CE105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A071BE-9CF4-F2FC-8F76-F5EA06BE481F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AA1F1E-626D-5696-4FDD-A3470B6705E7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BEF5ECB-F9C1-8970-013C-11407763F3A0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C4FD7E-1E7D-53AE-38A4-52534A9988DA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7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03B238A1-2A43-E433-B549-3761EBE1BE35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9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10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52ACDFB-C295-A84D-98F4-96FF126A2440}"/>
              </a:ext>
            </a:extLst>
          </p:cNvPr>
          <p:cNvSpPr txBox="1"/>
          <p:nvPr/>
        </p:nvSpPr>
        <p:spPr>
          <a:xfrm>
            <a:off x="9138662" y="6319626"/>
            <a:ext cx="24833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Đạo hàm tìm cực trị là xong?</a:t>
            </a:r>
            <a:endParaRPr lang="el-GR" sz="1400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90CF9D84-6759-46DA-E2C9-D8A0A505CE9B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300759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91E3A-E18A-9DC6-F290-33468EFA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66B9AB-5D03-D07A-8FCA-20863ECCEF8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463B6A-30C2-4FB3-6F68-44F88A188786}"/>
              </a:ext>
            </a:extLst>
          </p:cNvPr>
          <p:cNvSpPr txBox="1"/>
          <p:nvPr/>
        </p:nvSpPr>
        <p:spPr>
          <a:xfrm>
            <a:off x="364066" y="1267771"/>
            <a:ext cx="11283437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8837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59171-BE3B-E5FA-694D-AB29C76BF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E98B3B-3C94-2727-6EE7-6E151822E3A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6A1E2-2E59-5CF9-6571-0B8657C4229A}"/>
              </a:ext>
            </a:extLst>
          </p:cNvPr>
          <p:cNvSpPr txBox="1"/>
          <p:nvPr/>
        </p:nvSpPr>
        <p:spPr>
          <a:xfrm>
            <a:off x="364066" y="1267771"/>
            <a:ext cx="11283437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	+ Lấy logarit 2 vế (cho dễ đạo hàm và tránh tràn số underflow)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4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Arrow 3">
            <a:extLst>
              <a:ext uri="{FF2B5EF4-FFF2-40B4-BE49-F238E27FC236}">
                <a16:creationId xmlns:a16="http://schemas.microsoft.com/office/drawing/2014/main" id="{7F56EDA7-1EDA-B7C7-BFBF-0BD7081C84C6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5214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CE0F5-D5A8-3F1F-195B-8F26BAB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D1DE76-20DF-15DF-76B6-A0915D3FACC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5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Arrow 7">
            <a:extLst>
              <a:ext uri="{FF2B5EF4-FFF2-40B4-BE49-F238E27FC236}">
                <a16:creationId xmlns:a16="http://schemas.microsoft.com/office/drawing/2014/main" id="{844B3DCE-D1AA-2686-B659-6855BB51B3AE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85937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2A76-62AD-BAFF-2EAC-1497B50D0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F679FE-BF18-1CFA-988F-14FD369017E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7A4E4C0-D401-9A22-8E45-D221F65A8246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6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0AACCFDD-83D0-5B19-1468-F0D7C0569858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5380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32DC1-A8C6-543D-211C-9E37E9A3A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724B5B-5A0C-67B3-C111-0F2E31EFA0E7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5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69EBADD-6524-8194-2A86-D9DD670C6FD9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6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F20DACB8-E1D6-2037-1D0A-EA6239EEC5FC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3199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AFED-9652-00C4-BAE4-04E41551F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07F8CA-AF8B-5D1E-482D-2AF2D5EFB87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1ADFF8B-FBBB-304F-DE4A-81FF396C375D}"/>
              </a:ext>
            </a:extLst>
          </p:cNvPr>
          <p:cNvSpPr txBox="1"/>
          <p:nvPr/>
        </p:nvSpPr>
        <p:spPr>
          <a:xfrm>
            <a:off x="10015504" y="6358097"/>
            <a:ext cx="16065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Phương pháp EM</a:t>
            </a:r>
            <a:endParaRPr lang="el-GR" sz="1400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5EE693B1-ADB6-0737-4D5E-3540B72A32BC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6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2031957-3BA2-423E-AD58-32954355D8AC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Arrow 19">
            <a:extLst>
              <a:ext uri="{FF2B5EF4-FFF2-40B4-BE49-F238E27FC236}">
                <a16:creationId xmlns:a16="http://schemas.microsoft.com/office/drawing/2014/main" id="{8C049384-6DFC-613C-DC69-D6F245C92CB1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43998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4E671-5D4C-9F55-BE69-80B9B0083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9F6AE7-0D30-C450-3534-23D8D520C00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CEF9CD-25B2-534A-BAB7-6103B72EF176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Giữ nguyên mục tiêu là “cực đại hoá hàm hợp lý” (Maximize Log-likelihood),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Nhưng với hướng tiếp cận “xác suất thống kê”:</a:t>
            </a:r>
          </a:p>
        </p:txBody>
      </p:sp>
    </p:spTree>
    <p:extLst>
      <p:ext uri="{BB962C8B-B14F-4D97-AF65-F5344CB8AC3E}">
        <p14:creationId xmlns:p14="http://schemas.microsoft.com/office/powerpoint/2010/main" val="1401840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0404-E99B-51E1-47E6-DDCFDA951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9DB0C9-249C-392D-6F83-51BC9745C81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blipFill>
                <a:blip r:embed="rId3"/>
                <a:stretch>
                  <a:fillRect l="-116" t="-847" b="-339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46915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3E78D-DD12-86AB-270A-707665DFF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6B31B5-A84C-724D-54C8-B17C790CF384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blipFill>
                <a:blip r:embed="rId3"/>
                <a:stretch>
                  <a:fillRect l="-116" t="-610" b="-12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83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3C6BB-EB6D-77DC-7CF8-E73CF15A1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CBCD10-9CED-E17E-614E-F8706E90AB2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4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5972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17EAB-0697-FD60-EBEC-BBCAC383F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172289B-5AA9-B854-814C-EE89483F80B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/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a:rPr lang="en-US" sz="140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den>
                          </m:f>
                        </m:e>
                      </m:borderBox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blipFill>
                <a:blip r:embed="rId4"/>
                <a:stretch>
                  <a:fillRect t="-8000" b="-7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/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blipFill>
                <a:blip r:embed="rId5"/>
                <a:stretch>
                  <a:fillRect b="-1138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/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còn được gọi là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điểm trách nhiệm (Responsibility)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Nghĩa là Phân phối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chịu bao nhiêu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trách nhiệm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sinh ra điểm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blipFill>
                <a:blip r:embed="rId6"/>
                <a:stretch>
                  <a:fillRect l="-197" b="-1041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/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</m:sSub>
                      <m:r>
                        <a:rPr lang="en-VN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tất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cả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blipFill>
                <a:blip r:embed="rId7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8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69553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6B0D3-D1A7-B4F4-B62E-6FE519AF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6714CC-77D1-195B-6B2B-1159AC3395D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9CD9FB-E33F-BF28-12A5-35E58B536097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8FEBEA9-FA0F-779E-054E-EB67FEF01B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333" y="2084148"/>
            <a:ext cx="5003799" cy="392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7069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8ECB5-4183-3038-4ED8-E394CA003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6D4291-10BC-35B3-BEF6-B757D33D0A8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3602D4-0165-002A-4699-137E22F611F9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blipFill>
                <a:blip r:embed="rId3"/>
                <a:stretch>
                  <a:fillRect l="-203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/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Dùng K-means (hoặc K-means++)</a:t>
                </a:r>
              </a:p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ra được các cụm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VN" sz="1400" dirty="0"/>
                  <a:t> và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V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VN" sz="1400" dirty="0"/>
                  <a:t> số lượng phần tử của cụm</a:t>
                </a:r>
                <a:br>
                  <a:rPr lang="en-VN" sz="1400" dirty="0"/>
                </a:br>
                <a:br>
                  <a:rPr lang="en-VN" sz="1400" dirty="0"/>
                </a:br>
                <a:r>
                  <a:rPr lang="en-VN" sz="1400" dirty="0"/>
                  <a:t>Ta khởi tạo: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blipFill>
                <a:blip r:embed="rId4"/>
                <a:stretch>
                  <a:fillRect l="-275" t="-1316" b="-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/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blipFill>
                <a:blip r:embed="rId5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/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VN" i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VN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VN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VN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blipFill>
                <a:blip r:embed="rId6"/>
                <a:stretch>
                  <a:fillRect t="-95833" b="-136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/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d>
                            <m:dPr>
                              <m:ctrlP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blipFill>
                <a:blip r:embed="rId7"/>
                <a:stretch>
                  <a:fillRect t="-117188" b="-15625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92865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AA7CC-19D8-0362-753F-14E362253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9337FD-F39A-7AA9-BBFD-43637E61DF5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6AA284-DE32-5A19-349C-F9B7CB0A819B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blipFill>
                <a:blip r:embed="rId3"/>
                <a:stretch>
                  <a:fillRect l="-205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/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  <m:sup>
                          <m:d>
                            <m:dPr>
                              <m:ctrlP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p>
                      </m:sSubSup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blipFill>
                <a:blip r:embed="rId4"/>
                <a:stretch>
                  <a:fillRect b="-5789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/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vi-VN" dirty="0"/>
              </a:p>
              <a:p>
                <a:pPr/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blipFill>
                <a:blip r:embed="rId5"/>
                <a:stretch>
                  <a:fillRect b="-54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own Arrow 16">
            <a:extLst>
              <a:ext uri="{FF2B5EF4-FFF2-40B4-BE49-F238E27FC236}">
                <a16:creationId xmlns:a16="http://schemas.microsoft.com/office/drawing/2014/main" id="{35F20114-18AC-853D-4C4E-3F21F362F08D}"/>
              </a:ext>
            </a:extLst>
          </p:cNvPr>
          <p:cNvSpPr/>
          <p:nvPr/>
        </p:nvSpPr>
        <p:spPr>
          <a:xfrm>
            <a:off x="7823199" y="3556000"/>
            <a:ext cx="313266" cy="487372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895505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29A6C-61CC-D6A1-956A-A6FDAEFAA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F38A29-AA1E-32BD-3461-D5B81955810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58FFD-2F4E-C0FC-05DF-58B15838652E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/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  <m:sSub>
                                <m:sSubPr>
                                  <m:ctrlPr>
                                    <a:rPr lang="en-VN" i="1"/>
                                  </m:ctrlPr>
                                </m:sSubPr>
                                <m:e>
                                  <m:r>
                                    <a:rPr lang="en-VN" i="1"/>
                                    <m:t>𝑥</m:t>
                                  </m:r>
                                </m:e>
                                <m:sub>
                                  <m:r>
                                    <a:rPr lang="en-VN" i="1"/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blipFill>
                <a:blip r:embed="rId4"/>
                <a:stretch>
                  <a:fillRect t="-32895" b="-5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/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rgbClr val="00B050"/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rad>
                            <m:radPr>
                              <m:degHide m:val="on"/>
                              <m:ctrlPr>
                                <a:rPr lang="en-VN" i="1"/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VN" i="1"/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  <m:sSup>
                                    <m:sSupPr>
                                      <m:ctrlPr>
                                        <a:rPr lang="en-VN" i="1"/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VN" i="1"/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VN" i="1"/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i="1"/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/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VN" i="0"/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𝑡</m:t>
                                                  </m:r>
                                                  <m:r>
                                                    <a:rPr lang="en-VN" i="0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+1</m:t>
                                                  </m:r>
                                                </m:e>
                                              </m:d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VN" i="0"/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</m:den>
                              </m:f>
                            </m:e>
                          </m:ra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blipFill>
                <a:blip r:embed="rId5"/>
                <a:stretch>
                  <a:fillRect t="-8738" b="-3398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/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𝝅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num>
                            <m:den>
                              <m:r>
                                <a:rPr lang="en-VN" i="1"/>
                                <m:t>𝑁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blipFill>
                <a:blip r:embed="rId6"/>
                <a:stretch>
                  <a:fillRect t="-37879" b="-3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E2D7AC6C-99CF-5154-EFA4-0AF17152FAE7}"/>
              </a:ext>
            </a:extLst>
          </p:cNvPr>
          <p:cNvSpPr txBox="1"/>
          <p:nvPr/>
        </p:nvSpPr>
        <p:spPr>
          <a:xfrm>
            <a:off x="6824134" y="2368626"/>
            <a:ext cx="1895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Cập nhật bộ tham số: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4218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71803-DA8D-CD35-E2BF-361965FD1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3CCC8F-DCD0-370E-E68A-F24E2C57B3B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75FA47-33E1-14C7-14EE-B8332EB320F8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blipFill>
                <a:blip r:embed="rId3"/>
                <a:stretch>
                  <a:fillRect l="-22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/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=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VN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+mn-lt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  <m:r>
                                            <a:rPr lang="en-VN" i="0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+1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VN" i="0">
                                  <a:latin typeface="+mn-lt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/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≥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nor/>
                            </m:rPr>
                            <a:rPr lang="vi-VN" b="0" i="0" smtClean="0">
                              <a:latin typeface="+mn-lt"/>
                            </a:rPr>
                            <m:t>Q</m:t>
                          </m:r>
                          <m:r>
                            <m:rPr>
                              <m:nor/>
                            </m:rPr>
                            <a:rPr lang="en-VN" i="0">
                              <a:latin typeface="+mn-lt"/>
                            </a:rPr>
                            <m:t>uay lại 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ướ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 2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blipFill>
                <a:blip r:embed="rId5"/>
                <a:stretch>
                  <a:fillRect r="-12565" b="-270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/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vi-VN" b="0" i="0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D</m:t>
                          </m:r>
                          <m:r>
                            <a:rPr lang="vi-VN" b="0" i="1" smtClean="0">
                              <a:latin typeface="+mn-lt"/>
                            </a:rPr>
                            <m:t>ừ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ng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/>
              <p:nvPr/>
            </p:nvSpPr>
            <p:spPr>
              <a:xfrm>
                <a:off x="6841068" y="3082982"/>
                <a:ext cx="441819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Ngưỡng hội tụ là siêu tham số định trước: (tolerance)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vi-VN" sz="1400" b="1" i="1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vi-VN" sz="1400" b="1" i="0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−6</m:t>
                          </m:r>
                        </m:sup>
                      </m:sSup>
                    </m:oMath>
                  </m:oMathPara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3082982"/>
                <a:ext cx="4418197" cy="523220"/>
              </a:xfrm>
              <a:prstGeom prst="rect">
                <a:avLst/>
              </a:prstGeom>
              <a:blipFill>
                <a:blip r:embed="rId7"/>
                <a:stretch>
                  <a:fillRect l="-287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998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C1BF-E023-FBC4-3034-2C684E91A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CB140E-98DF-9B51-8588-821955C00D5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BAA30E-8767-B460-8C12-AC8FC7A299A4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14003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Vì sao việc tính xác suất hậu nghiệm và cập nhật lại 3 tham số lại giúp tăng log-likelihood qua từng vòng lặp?</a:t>
                </a:r>
              </a:p>
              <a:p>
                <a:pPr>
                  <a:spcAft>
                    <a:spcPts val="600"/>
                  </a:spcAft>
                </a:pPr>
                <a:br>
                  <a:rPr lang="vi-VN" sz="1400" b="1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Hàm mục tiêu log-likelihood được cấu thành từ 2 thành phần: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Log-likelihood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VN" sz="1400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ELBO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BAA30E-8767-B460-8C12-AC8FC7A29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1400383"/>
              </a:xfrm>
              <a:prstGeom prst="rect">
                <a:avLst/>
              </a:prstGeom>
              <a:blipFill>
                <a:blip r:embed="rId3"/>
                <a:stretch>
                  <a:fillRect l="-116" t="-893" b="-3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1FCA69-526D-B23D-FE13-82E609A1CD4A}"/>
                  </a:ext>
                </a:extLst>
              </p:cNvPr>
              <p:cNvSpPr txBox="1"/>
              <p:nvPr/>
            </p:nvSpPr>
            <p:spPr>
              <a:xfrm>
                <a:off x="430967" y="3179064"/>
                <a:ext cx="6901390" cy="9853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z="140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func>
                            <m:funcPr>
                              <m:ctrlP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func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VN" sz="14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en-VN" sz="140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i="0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𝑛𝑘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func>
                                    <m:funcPr>
                                      <m:ctrlP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𝜋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sz="1400" i="0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𝒩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∣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i="0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e>
                                              </m:d>
                                            </m:num>
                                            <m:den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𝑛𝑘</m:t>
                                                  </m:r>
                                                </m:sub>
                                              </m:sSub>
                                            </m:den>
                                          </m:f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/>
                          </m:limLow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en-VN" sz="140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en-VN" sz="140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i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𝑛𝑘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func>
                                    <m:funcPr>
                                      <m:ctrlP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𝑛𝑘</m:t>
                                                  </m:r>
                                                </m:sub>
                                              </m:sSub>
                                            </m:num>
                                            <m:den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𝑃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𝑧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=</m:t>
                                                  </m:r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∣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𝜃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/>
                          </m:limLow>
                        </m:e>
                      </m:borderBox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1FCA69-526D-B23D-FE13-82E609A1C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967" y="3179064"/>
                <a:ext cx="6901390" cy="985334"/>
              </a:xfrm>
              <a:prstGeom prst="rect">
                <a:avLst/>
              </a:prstGeom>
              <a:blipFill>
                <a:blip r:embed="rId4"/>
                <a:stretch>
                  <a:fillRect t="-61538" b="-8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4788EEA-B24C-FEC0-D0FA-17BDFFD737FE}"/>
                  </a:ext>
                </a:extLst>
              </p:cNvPr>
              <p:cNvSpPr txBox="1"/>
              <p:nvPr/>
            </p:nvSpPr>
            <p:spPr>
              <a:xfrm>
                <a:off x="406399" y="2725096"/>
                <a:ext cx="4518023" cy="3354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VN" sz="1400" i="0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VN" sz="1400" i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VN" sz="14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ctrlP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VN" sz="1400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∥</m:t>
                          </m:r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VN" sz="14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4788EEA-B24C-FEC0-D0FA-17BDFFD73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9" y="2725096"/>
                <a:ext cx="4518023" cy="335476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451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55EF-E117-C896-72AD-216D9EB5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09F76D-C086-5B5C-EA47-5088780846B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20DE5B-5622-6B8E-2959-B4A6F23DF1AF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Vì sao việc tính xác suất hậu nghiệm và cập nhật lại 3 tham số lại giúp tăng log-likelihood qua từng vòng lặp?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2E0D67B-9748-C6C3-8125-94495D293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047" y="1867936"/>
            <a:ext cx="9499600" cy="474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244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83B4D-EFD5-690B-DC48-699F287D4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FD6C9-9264-5105-A856-F917CE00D2B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3. Demo code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9D8D09-8199-76AD-251A-1ECEE29BD535}"/>
              </a:ext>
            </a:extLst>
          </p:cNvPr>
          <p:cNvSpPr txBox="1"/>
          <p:nvPr/>
        </p:nvSpPr>
        <p:spPr>
          <a:xfrm>
            <a:off x="1384147" y="3244334"/>
            <a:ext cx="942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dirty="0">
                <a:hlinkClick r:id="rId3"/>
              </a:rPr>
              <a:t>https://colab.research.google.com/drive/1mdINSVY2X29GtQj1N6tcE2YFGUPZ7Wuc?usp=sharing</a:t>
            </a:r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10565172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081D-638C-0277-4805-7B7571F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62F65B-1F29-97CE-708B-DEDEFD47506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80C46-82C4-AF84-3003-F39F142BCD3E}"/>
              </a:ext>
            </a:extLst>
          </p:cNvPr>
          <p:cNvSpPr txBox="1"/>
          <p:nvPr/>
        </p:nvSpPr>
        <p:spPr>
          <a:xfrm>
            <a:off x="364068" y="1267772"/>
            <a:ext cx="8796865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2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cơ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chế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gán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nhãn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cứng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đúng 1 cụm)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mềm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40% cụm này, 30% cụm kia, 30% cụm nọ)</a:t>
            </a: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5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nhóm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thuật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toán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b="1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phân phối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 (Distribution-based) =&gt; GMM thuộc loại này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mật độ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(Density-based)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hoạch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(Partitioning / Centroid-based)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cấp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(Hierarchical / Connectivity-based)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phổ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(Spectral Clustering)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Các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bài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toán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GMM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sẽ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giải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quyết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Phát hiện bất thường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Hệ thống Recommendation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đoạn hình ảnh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Tách nền video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Nhận diện giọng nói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78058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15FC1-D232-DBE9-B81B-B607DB359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9BB16F-9A61-7E20-FE02-34AC77C46E7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2DF19-A51B-23CC-BAB1-0FE1F0C56C8D}"/>
              </a:ext>
            </a:extLst>
          </p:cNvPr>
          <p:cNvSpPr txBox="1"/>
          <p:nvPr/>
        </p:nvSpPr>
        <p:spPr>
          <a:xfrm>
            <a:off x="364068" y="1267772"/>
            <a:ext cx="879686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Tài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liệu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tham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khảo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3"/>
              </a:rPr>
              <a:t>https://scikit-learn.org/stable/auto_examples/mixture/plot_gmm_init.html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4"/>
              </a:rPr>
              <a:t>https://elearning.citd.edu.vn/pluginfile.php/108366/mod_resource/content/1/Unsupervised-learning.pdf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5"/>
              </a:rPr>
              <a:t>https://phamdinhkhanh.github.io/deepai-book/ch_ml/GMM.html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0595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 err="1">
                <a:solidFill>
                  <a:srgbClr val="FFFFFF"/>
                </a:solidFill>
                <a:latin typeface="Arial"/>
              </a:rPr>
              <a:t>Kết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thúc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Hỏi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đáp</a:t>
            </a:r>
            <a:endParaRPr sz="3400" b="1" dirty="0">
              <a:solidFill>
                <a:srgbClr val="FFFFFF"/>
              </a:solidFill>
              <a:latin typeface="Arial"/>
            </a:endParaRPr>
          </a:p>
          <a:p>
            <a:endParaRPr sz="1600" b="0" dirty="0">
              <a:solidFill>
                <a:srgbClr val="CFE3EC"/>
              </a:solidFill>
              <a:latin typeface="Arial"/>
            </a:endParaRPr>
          </a:p>
          <a:p>
            <a:r>
              <a:rPr sz="1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lang="vi-VN" sz="1800" b="1" dirty="0">
                <a:solidFill>
                  <a:srgbClr val="FFFFFF"/>
                </a:solidFill>
                <a:latin typeface="Arial"/>
              </a:rPr>
              <a:t> mọi người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đã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lắng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nghe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16869</TotalTime>
  <Words>4348</Words>
  <Application>Microsoft Macintosh PowerPoint</Application>
  <PresentationFormat>Widescreen</PresentationFormat>
  <Paragraphs>486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Dinh, Thong</cp:lastModifiedBy>
  <cp:revision>449</cp:revision>
  <cp:lastPrinted>2026-09-20T15:26:35Z</cp:lastPrinted>
  <dcterms:created xsi:type="dcterms:W3CDTF">2013-01-27T09:14:16Z</dcterms:created>
  <dcterms:modified xsi:type="dcterms:W3CDTF">2026-10-05T12:14:02Z</dcterms:modified>
  <cp:category/>
</cp:coreProperties>
</file>