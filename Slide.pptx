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64" r:id="rId4"/>
    <p:sldId id="266" r:id="rId5"/>
    <p:sldId id="269" r:id="rId6"/>
    <p:sldId id="267" r:id="rId7"/>
    <p:sldId id="258" r:id="rId8"/>
    <p:sldId id="268" r:id="rId9"/>
    <p:sldId id="259" r:id="rId10"/>
    <p:sldId id="265" r:id="rId11"/>
    <p:sldId id="260" r:id="rId12"/>
    <p:sldId id="261" r:id="rId13"/>
    <p:sldId id="262"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505"/>
    <p:restoredTop sz="94598"/>
  </p:normalViewPr>
  <p:slideViewPr>
    <p:cSldViewPr snapToGrid="0" snapToObjects="1">
      <p:cViewPr varScale="1">
        <p:scale>
          <a:sx n="151" d="100"/>
          <a:sy n="151" d="100"/>
        </p:scale>
        <p:origin x="40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901A-180A-ACB4-09F7-08C090620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AE727-57FD-D210-21C9-5F524B9F56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E90EDC-B0E2-B48C-8209-E02C688412E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B23BB7B-BD2D-EDA6-1DAA-7BA6BE526E14}"/>
              </a:ext>
            </a:extLst>
          </p:cNvPr>
          <p:cNvSpPr>
            <a:spLocks noGrp="1"/>
          </p:cNvSpPr>
          <p:nvPr>
            <p:ph type="sldNum" sz="quarter" idx="5"/>
          </p:nvPr>
        </p:nvSpPr>
        <p:spPr/>
      </p:sp>
    </p:spTree>
    <p:extLst>
      <p:ext uri="{BB962C8B-B14F-4D97-AF65-F5344CB8AC3E}">
        <p14:creationId xmlns:p14="http://schemas.microsoft.com/office/powerpoint/2010/main" val="1182278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0BC9A-2915-5014-06BA-0DA50975B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3AFCE-866C-60FC-7430-3B01BFDD1D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B4C1421-5298-5327-7C20-AF373F8E1F0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55A63DD-F9B2-A90D-59A1-72C698E65692}"/>
              </a:ext>
            </a:extLst>
          </p:cNvPr>
          <p:cNvSpPr>
            <a:spLocks noGrp="1"/>
          </p:cNvSpPr>
          <p:nvPr>
            <p:ph type="sldNum" sz="quarter" idx="5"/>
          </p:nvPr>
        </p:nvSpPr>
        <p:spPr/>
      </p:sp>
    </p:spTree>
    <p:extLst>
      <p:ext uri="{BB962C8B-B14F-4D97-AF65-F5344CB8AC3E}">
        <p14:creationId xmlns:p14="http://schemas.microsoft.com/office/powerpoint/2010/main" val="55687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2945-8416-606E-D094-18F4C06DE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FDC56A-04A8-7360-90D2-35F1AD4EE3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FBA8D57-DBB9-34C6-25A8-011091D87CF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9D2E0E-6652-8CA7-00A1-7BB08DBB0B83}"/>
              </a:ext>
            </a:extLst>
          </p:cNvPr>
          <p:cNvSpPr>
            <a:spLocks noGrp="1"/>
          </p:cNvSpPr>
          <p:nvPr>
            <p:ph type="sldNum" sz="quarter" idx="5"/>
          </p:nvPr>
        </p:nvSpPr>
        <p:spPr/>
      </p:sp>
    </p:spTree>
    <p:extLst>
      <p:ext uri="{BB962C8B-B14F-4D97-AF65-F5344CB8AC3E}">
        <p14:creationId xmlns:p14="http://schemas.microsoft.com/office/powerpoint/2010/main" val="3563428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E2D78-1968-9A7B-A8F5-4D4393B14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B6C42-1EA0-5274-530E-60121D02C8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83E90D2-CAA4-BAF1-C75A-AD2C6930F18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1ECE568-3D2B-03DC-5203-04F7A5420BA9}"/>
              </a:ext>
            </a:extLst>
          </p:cNvPr>
          <p:cNvSpPr>
            <a:spLocks noGrp="1"/>
          </p:cNvSpPr>
          <p:nvPr>
            <p:ph type="sldNum" sz="quarter" idx="5"/>
          </p:nvPr>
        </p:nvSpPr>
        <p:spPr/>
      </p:sp>
    </p:spTree>
    <p:extLst>
      <p:ext uri="{BB962C8B-B14F-4D97-AF65-F5344CB8AC3E}">
        <p14:creationId xmlns:p14="http://schemas.microsoft.com/office/powerpoint/2010/main" val="206566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Nêu</a:t>
            </a:r>
            <a:r>
              <a:rPr dirty="0"/>
              <a:t> </a:t>
            </a:r>
            <a:r>
              <a:rPr dirty="0" err="1"/>
              <a:t>rõ</a:t>
            </a:r>
            <a:r>
              <a:rPr dirty="0"/>
              <a:t> 4 </a:t>
            </a:r>
            <a:r>
              <a:rPr dirty="0" err="1"/>
              <a:t>tầng</a:t>
            </a:r>
            <a:r>
              <a:rPr dirty="0"/>
              <a:t>: Prediction → Decision → Recommendation → UI. </a:t>
            </a:r>
            <a:r>
              <a:rPr dirty="0" err="1"/>
              <a:t>src</a:t>
            </a:r>
            <a:r>
              <a:rPr dirty="0"/>
              <a:t>/application/</a:t>
            </a:r>
            <a:r>
              <a:rPr dirty="0" err="1"/>
              <a:t>healthcare_assistant.py</a:t>
            </a:r>
            <a:r>
              <a:rPr dirty="0"/>
              <a:t> </a:t>
            </a:r>
            <a:r>
              <a:rPr dirty="0" err="1"/>
              <a:t>là</a:t>
            </a:r>
            <a:r>
              <a:rPr dirty="0"/>
              <a:t> </a:t>
            </a:r>
            <a:r>
              <a:rPr dirty="0" err="1"/>
              <a:t>lớp</a:t>
            </a:r>
            <a:r>
              <a:rPr dirty="0"/>
              <a:t> </a:t>
            </a:r>
            <a:r>
              <a:rPr dirty="0" err="1"/>
              <a:t>điều</a:t>
            </a:r>
            <a:r>
              <a:rPr dirty="0"/>
              <a:t> </a:t>
            </a:r>
            <a:r>
              <a:rPr dirty="0" err="1"/>
              <a:t>phối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Khi demo '</a:t>
            </a:r>
            <a:r>
              <a:rPr dirty="0" err="1"/>
              <a:t>Hỏi</a:t>
            </a:r>
            <a:r>
              <a:rPr dirty="0"/>
              <a:t> AI', </a:t>
            </a:r>
            <a:r>
              <a:rPr dirty="0" err="1"/>
              <a:t>mô</a:t>
            </a:r>
            <a:r>
              <a:rPr dirty="0"/>
              <a:t> </a:t>
            </a:r>
            <a:r>
              <a:rPr dirty="0" err="1"/>
              <a:t>tả</a:t>
            </a:r>
            <a:r>
              <a:rPr dirty="0"/>
              <a:t> </a:t>
            </a:r>
            <a:r>
              <a:rPr dirty="0" err="1"/>
              <a:t>đúng</a:t>
            </a:r>
            <a:r>
              <a:rPr dirty="0"/>
              <a:t> </a:t>
            </a:r>
            <a:r>
              <a:rPr dirty="0" err="1"/>
              <a:t>là</a:t>
            </a:r>
            <a:r>
              <a:rPr dirty="0"/>
              <a:t> </a:t>
            </a:r>
            <a:r>
              <a:rPr dirty="0" err="1"/>
              <a:t>trợ</a:t>
            </a:r>
            <a:r>
              <a:rPr dirty="0"/>
              <a:t> </a:t>
            </a:r>
            <a:r>
              <a:rPr dirty="0" err="1"/>
              <a:t>lý</a:t>
            </a:r>
            <a:r>
              <a:rPr dirty="0"/>
              <a:t> </a:t>
            </a:r>
            <a:r>
              <a:rPr dirty="0" err="1"/>
              <a:t>dựa</a:t>
            </a:r>
            <a:r>
              <a:rPr dirty="0"/>
              <a:t> </a:t>
            </a:r>
            <a:r>
              <a:rPr dirty="0" err="1"/>
              <a:t>trên</a:t>
            </a:r>
            <a:r>
              <a:rPr dirty="0"/>
              <a:t> </a:t>
            </a:r>
            <a:r>
              <a:rPr dirty="0" err="1"/>
              <a:t>luật</a:t>
            </a:r>
            <a:r>
              <a:rPr dirty="0"/>
              <a:t> </a:t>
            </a:r>
            <a:r>
              <a:rPr dirty="0" err="1"/>
              <a:t>có</a:t>
            </a:r>
            <a:r>
              <a:rPr dirty="0"/>
              <a:t> </a:t>
            </a:r>
            <a:r>
              <a:rPr dirty="0" err="1"/>
              <a:t>ràng</a:t>
            </a:r>
            <a:r>
              <a:rPr dirty="0"/>
              <a:t> </a:t>
            </a:r>
            <a:r>
              <a:rPr dirty="0" err="1"/>
              <a:t>buộc</a:t>
            </a:r>
            <a:r>
              <a:rPr dirty="0"/>
              <a:t> an </a:t>
            </a:r>
            <a:r>
              <a:rPr dirty="0" err="1"/>
              <a:t>toàn</a:t>
            </a:r>
            <a:r>
              <a:rPr dirty="0"/>
              <a:t> — KHÔNG </a:t>
            </a:r>
            <a:r>
              <a:rPr dirty="0" err="1"/>
              <a:t>gọi</a:t>
            </a:r>
            <a:r>
              <a:rPr dirty="0"/>
              <a:t> </a:t>
            </a:r>
            <a:r>
              <a:rPr dirty="0" err="1"/>
              <a:t>là</a:t>
            </a:r>
            <a:r>
              <a:rPr dirty="0"/>
              <a:t> LLM. RAG+LLM </a:t>
            </a:r>
            <a:r>
              <a:rPr dirty="0" err="1"/>
              <a:t>là</a:t>
            </a:r>
            <a:r>
              <a:rPr dirty="0"/>
              <a:t> </a:t>
            </a:r>
            <a:r>
              <a:rPr dirty="0" err="1"/>
              <a:t>hướng</a:t>
            </a:r>
            <a:r>
              <a:rPr dirty="0"/>
              <a:t> </a:t>
            </a:r>
            <a:r>
              <a:rPr dirty="0" err="1"/>
              <a:t>phát</a:t>
            </a:r>
            <a:r>
              <a:rPr dirty="0"/>
              <a:t> </a:t>
            </a:r>
            <a:r>
              <a:rPr dirty="0" err="1"/>
              <a:t>triển</a:t>
            </a:r>
            <a:r>
              <a:rPr dirty="0"/>
              <a:t> (Slide 7). </a:t>
            </a:r>
            <a:r>
              <a:rPr dirty="0" err="1"/>
              <a:t>Đã</a:t>
            </a:r>
            <a:r>
              <a:rPr dirty="0"/>
              <a:t> </a:t>
            </a:r>
            <a:r>
              <a:rPr dirty="0" err="1"/>
              <a:t>chốt</a:t>
            </a:r>
            <a:r>
              <a:rPr dirty="0"/>
              <a:t>: </a:t>
            </a:r>
            <a:r>
              <a:rPr dirty="0" err="1"/>
              <a:t>ẩn</a:t>
            </a:r>
            <a:r>
              <a:rPr dirty="0"/>
              <a:t> </a:t>
            </a:r>
            <a:r>
              <a:rPr dirty="0" err="1"/>
              <a:t>phần</a:t>
            </a:r>
            <a:r>
              <a:rPr dirty="0"/>
              <a:t> '</a:t>
            </a:r>
            <a:r>
              <a:rPr dirty="0" err="1"/>
              <a:t>Hỏi</a:t>
            </a:r>
            <a:r>
              <a:rPr dirty="0"/>
              <a:t> </a:t>
            </a:r>
            <a:r>
              <a:rPr dirty="0" err="1"/>
              <a:t>đáp</a:t>
            </a:r>
            <a:r>
              <a:rPr dirty="0"/>
              <a:t> Quốc </a:t>
            </a:r>
            <a:r>
              <a:rPr dirty="0" err="1"/>
              <a:t>phòng</a:t>
            </a:r>
            <a:r>
              <a:rPr dirty="0"/>
              <a:t>' </a:t>
            </a:r>
            <a:r>
              <a:rPr dirty="0" err="1"/>
              <a:t>trước</a:t>
            </a:r>
            <a:r>
              <a:rPr dirty="0"/>
              <a:t> </a:t>
            </a:r>
            <a:r>
              <a:rPr dirty="0" err="1"/>
              <a:t>khi</a:t>
            </a:r>
            <a:r>
              <a:rPr dirty="0"/>
              <a:t> demo; GIỮ dashboard Trustworthy 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Đóng</a:t>
            </a:r>
            <a:r>
              <a:rPr dirty="0"/>
              <a:t> </a:t>
            </a:r>
            <a:r>
              <a:rPr dirty="0" err="1"/>
              <a:t>khung</a:t>
            </a:r>
            <a:r>
              <a:rPr dirty="0"/>
              <a:t> '</a:t>
            </a:r>
            <a:r>
              <a:rPr dirty="0" err="1"/>
              <a:t>cái</a:t>
            </a:r>
            <a:r>
              <a:rPr dirty="0"/>
              <a:t> </a:t>
            </a:r>
            <a:r>
              <a:rPr dirty="0" err="1"/>
              <a:t>đã</a:t>
            </a:r>
            <a:r>
              <a:rPr dirty="0"/>
              <a:t> </a:t>
            </a:r>
            <a:r>
              <a:rPr dirty="0" err="1"/>
              <a:t>có</a:t>
            </a:r>
            <a:r>
              <a:rPr dirty="0"/>
              <a:t>' vs '</a:t>
            </a:r>
            <a:r>
              <a:rPr dirty="0" err="1"/>
              <a:t>cái</a:t>
            </a:r>
            <a:r>
              <a:rPr dirty="0"/>
              <a:t> </a:t>
            </a:r>
            <a:r>
              <a:rPr dirty="0" err="1"/>
              <a:t>sẽ</a:t>
            </a:r>
            <a:r>
              <a:rPr dirty="0"/>
              <a:t> </a:t>
            </a:r>
            <a:r>
              <a:rPr dirty="0" err="1"/>
              <a:t>làm</a:t>
            </a:r>
            <a:r>
              <a:rPr dirty="0"/>
              <a:t>' </a:t>
            </a:r>
            <a:r>
              <a:rPr dirty="0" err="1"/>
              <a:t>một</a:t>
            </a:r>
            <a:r>
              <a:rPr dirty="0"/>
              <a:t> </a:t>
            </a:r>
            <a:r>
              <a:rPr dirty="0" err="1"/>
              <a:t>cách</a:t>
            </a:r>
            <a:r>
              <a:rPr dirty="0"/>
              <a:t> </a:t>
            </a:r>
            <a:r>
              <a:rPr dirty="0" err="1"/>
              <a:t>trung</a:t>
            </a:r>
            <a:r>
              <a:rPr dirty="0"/>
              <a:t> </a:t>
            </a:r>
            <a:r>
              <a:rPr dirty="0" err="1"/>
              <a:t>thực</a:t>
            </a:r>
            <a:r>
              <a:rPr dirty="0"/>
              <a:t> — </a:t>
            </a:r>
            <a:r>
              <a:rPr dirty="0" err="1"/>
              <a:t>điểm</a:t>
            </a:r>
            <a:r>
              <a:rPr dirty="0"/>
              <a:t> </a:t>
            </a:r>
            <a:r>
              <a:rPr dirty="0" err="1"/>
              <a:t>cộng</a:t>
            </a:r>
            <a:r>
              <a:rPr dirty="0"/>
              <a:t> </a:t>
            </a:r>
            <a:r>
              <a:rPr dirty="0" err="1"/>
              <a:t>về</a:t>
            </a:r>
            <a:r>
              <a:rPr dirty="0"/>
              <a:t> </a:t>
            </a:r>
            <a:r>
              <a:rPr dirty="0" err="1"/>
              <a:t>tư</a:t>
            </a:r>
            <a:r>
              <a:rPr dirty="0"/>
              <a:t> </a:t>
            </a:r>
            <a:r>
              <a:rPr dirty="0" err="1"/>
              <a:t>duy</a:t>
            </a:r>
            <a:r>
              <a:rPr dirty="0"/>
              <a:t> </a:t>
            </a:r>
            <a:r>
              <a:rPr dirty="0" err="1"/>
              <a:t>phản</a:t>
            </a:r>
            <a:r>
              <a:rPr dirty="0"/>
              <a:t> </a:t>
            </a:r>
            <a:r>
              <a:rPr dirty="0" err="1"/>
              <a:t>biện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0.png"/></Relationships>
</file>

<file path=ppt/slides/_rels/slide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7.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kaggle.com/datasets/jamaltariqcheema/pima-indians-diabetes-dataset"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hyperlink" Target="https://www.kaggle.com/datasets/khan1803115/hypertension-risk-model-main" TargetMode="External"/><Relationship Id="rId4" Type="http://schemas.openxmlformats.org/officeDocument/2006/relationships/hyperlink" Target="https://www.kaggle.com/datasets/sulianova/cardiovascular-disease-datase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1938992"/>
          </a:xfrm>
          <a:prstGeom prst="rect">
            <a:avLst/>
          </a:prstGeom>
          <a:noFill/>
        </p:spPr>
        <p:txBody>
          <a:bodyPr wrap="square">
            <a:spAutoFit/>
          </a:bodyPr>
          <a:lstStyle/>
          <a:p>
            <a:r>
              <a:rPr lang="vi-VN" sz="4000" b="1" dirty="0">
                <a:solidFill>
                  <a:srgbClr val="CFE3EC"/>
                </a:solidFill>
                <a:latin typeface="Arial"/>
              </a:rPr>
              <a:t>Gaussian Mixture Model (GMM)</a:t>
            </a:r>
          </a:p>
          <a:p>
            <a:r>
              <a:rPr lang="vi-VN" sz="4000" b="1" dirty="0">
                <a:solidFill>
                  <a:srgbClr val="CFE3EC"/>
                </a:solidFill>
                <a:latin typeface="Arial"/>
              </a:rPr>
              <a:t>và</a:t>
            </a:r>
          </a:p>
          <a:p>
            <a:r>
              <a:rPr lang="vi-VN" sz="4000" b="1" dirty="0">
                <a:solidFill>
                  <a:srgbClr val="CFE3EC"/>
                </a:solidFill>
                <a:latin typeface="Arial"/>
              </a:rPr>
              <a:t>Expectation-Maximization (EM) method</a:t>
            </a:r>
            <a:endParaRPr lang="en-VN" dirty="0">
              <a:solidFill>
                <a:srgbClr val="CFE3EC"/>
              </a:solidFill>
              <a:latin typeface="Arial"/>
            </a:endParaRPr>
          </a:p>
        </p:txBody>
      </p:sp>
      <p:sp>
        <p:nvSpPr>
          <p:cNvPr id="5" name="TextBox 4"/>
          <p:cNvSpPr txBox="1"/>
          <p:nvPr/>
        </p:nvSpPr>
        <p:spPr>
          <a:xfrm>
            <a:off x="822959" y="4702126"/>
            <a:ext cx="10545775" cy="1754326"/>
          </a:xfrm>
          <a:prstGeom prst="rect">
            <a:avLst/>
          </a:prstGeom>
          <a:noFill/>
        </p:spPr>
        <p:txBody>
          <a:bodyPr wrap="square">
            <a:spAutoFit/>
          </a:bodyPr>
          <a:lstStyle/>
          <a:p>
            <a:r>
              <a:rPr lang="vi-VN" sz="1400" b="1" dirty="0">
                <a:solidFill>
                  <a:schemeClr val="accent1">
                    <a:lumMod val="20000"/>
                    <a:lumOff val="80000"/>
                  </a:schemeClr>
                </a:solidFill>
                <a:latin typeface="Arial"/>
              </a:rPr>
              <a:t>Môn học: Toán cho Khoa học máy tính</a:t>
            </a:r>
            <a:r>
              <a:rPr sz="1400" b="1" dirty="0">
                <a:solidFill>
                  <a:schemeClr val="accent1">
                    <a:lumMod val="20000"/>
                    <a:lumOff val="80000"/>
                  </a:schemeClr>
                </a:solidFill>
                <a:latin typeface="Arial"/>
              </a:rPr>
              <a:t> (</a:t>
            </a:r>
            <a:r>
              <a:rPr lang="en-US" sz="1400" b="1" dirty="0">
                <a:solidFill>
                  <a:schemeClr val="accent1">
                    <a:lumMod val="20000"/>
                    <a:lumOff val="80000"/>
                  </a:schemeClr>
                </a:solidFill>
                <a:latin typeface="Arial"/>
              </a:rPr>
              <a:t>CS115</a:t>
            </a:r>
            <a:r>
              <a:rPr sz="1400" b="1" dirty="0">
                <a:solidFill>
                  <a:schemeClr val="accent1">
                    <a:lumMod val="20000"/>
                    <a:lumOff val="80000"/>
                  </a:schemeClr>
                </a:solidFill>
                <a:latin typeface="Arial"/>
              </a:rPr>
              <a:t>)</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Cô Dương Việt Hằng</a:t>
            </a:r>
            <a:endParaRPr sz="1400" b="1" dirty="0">
              <a:solidFill>
                <a:schemeClr val="accent1">
                  <a:lumMod val="20000"/>
                  <a:lumOff val="80000"/>
                </a:schemeClr>
              </a:solidFill>
              <a:latin typeface="Arial"/>
            </a:endParaRP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14:</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lang="en-VN" sz="1300" b="0" dirty="0">
                <a:solidFill>
                  <a:schemeClr val="accent1">
                    <a:lumMod val="20000"/>
                    <a:lumOff val="80000"/>
                  </a:schemeClr>
                </a:solidFill>
                <a:latin typeface="Arial"/>
              </a:rPr>
              <a:t> </a:t>
            </a:r>
            <a:r>
              <a:rPr sz="1300" b="0" dirty="0">
                <a:solidFill>
                  <a:schemeClr val="accent1">
                    <a:lumMod val="20000"/>
                    <a:lumOff val="80000"/>
                  </a:schemeClr>
                </a:solidFill>
                <a:latin typeface="Arial"/>
              </a:rPr>
              <a:t>— 26410297</a:t>
            </a:r>
            <a:endParaRPr lang="vi-VN" sz="1300" b="0" dirty="0">
              <a:solidFill>
                <a:schemeClr val="accent1">
                  <a:lumMod val="20000"/>
                  <a:lumOff val="80000"/>
                </a:schemeClr>
              </a:solidFill>
              <a:latin typeface="Arial"/>
            </a:endParaRPr>
          </a:p>
          <a:p>
            <a:r>
              <a:rPr lang="vi-VN" sz="1300" b="0" dirty="0">
                <a:solidFill>
                  <a:schemeClr val="accent1">
                    <a:lumMod val="20000"/>
                    <a:lumOff val="80000"/>
                  </a:schemeClr>
                </a:solidFill>
                <a:latin typeface="Arial"/>
              </a:rPr>
              <a:t>Trần Ngọc Khánh </a:t>
            </a:r>
            <a:r>
              <a:rPr lang="en-VN" sz="1300" dirty="0">
                <a:solidFill>
                  <a:schemeClr val="accent1">
                    <a:lumMod val="20000"/>
                    <a:lumOff val="80000"/>
                  </a:schemeClr>
                </a:solidFill>
                <a:latin typeface="Arial"/>
              </a:rPr>
              <a:t>— 26410222</a:t>
            </a:r>
            <a:endParaRPr sz="1300" b="0" dirty="0">
              <a:solidFill>
                <a:schemeClr val="accent1">
                  <a:lumMod val="20000"/>
                  <a:lumOff val="80000"/>
                </a:schemeClr>
              </a:solidFill>
              <a:latin typeface="Arial"/>
            </a:endParaRPr>
          </a:p>
        </p:txBody>
      </p:sp>
      <p:pic>
        <p:nvPicPr>
          <p:cNvPr id="9" name="Picture 8" descr="Công bố ba công khai">
            <a:extLst>
              <a:ext uri="{FF2B5EF4-FFF2-40B4-BE49-F238E27FC236}">
                <a16:creationId xmlns:a16="http://schemas.microsoft.com/office/drawing/2014/main" id="{7A87B24D-ABB3-22F8-21DA-8274A507D971}"/>
              </a:ext>
            </a:extLst>
          </p:cNvPr>
          <p:cNvPicPr>
            <a:picLocks noChangeAspect="1"/>
          </p:cNvPicPr>
          <p:nvPr/>
        </p:nvPicPr>
        <p:blipFill>
          <a:blip r:embed="rId3"/>
          <a:stretch>
            <a:fillRect/>
          </a:stretch>
        </p:blipFill>
        <p:spPr>
          <a:xfrm>
            <a:off x="0" y="249180"/>
            <a:ext cx="1885046" cy="7048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2919" y="1374479"/>
            <a:ext cx="11185855" cy="5155257"/>
          </a:xfrm>
          <a:prstGeom prst="rect">
            <a:avLst/>
          </a:prstGeom>
          <a:noFill/>
        </p:spPr>
        <p:txBody>
          <a:bodyPr wrap="square">
            <a:spAutoFit/>
          </a:bodyPr>
          <a:lstStyle/>
          <a:p>
            <a:pPr marL="514350" indent="-514350">
              <a:spcAft>
                <a:spcPts val="600"/>
              </a:spcAft>
              <a:buAutoNum type="arabicPeriod"/>
            </a:pPr>
            <a:r>
              <a:rPr lang="vi-VN" sz="3200" b="1" dirty="0">
                <a:solidFill>
                  <a:srgbClr val="1B8A7A"/>
                </a:solidFill>
                <a:latin typeface="Arial"/>
              </a:rPr>
              <a:t>Ngữ cảnh, vấn đề, giải pháp</a:t>
            </a: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2. Giải thích giải pháp</a:t>
            </a:r>
            <a:endParaRPr lang="vi-VN" sz="2000" b="1" dirty="0">
              <a:solidFill>
                <a:srgbClr val="1B8A7A"/>
              </a:solidFill>
              <a:latin typeface="Arial"/>
            </a:endParaRPr>
          </a:p>
          <a:p>
            <a:pPr>
              <a:spcAft>
                <a:spcPts val="600"/>
              </a:spcAft>
            </a:pPr>
            <a:r>
              <a:rPr lang="vi-VN" sz="2000" b="1" dirty="0">
                <a:solidFill>
                  <a:srgbClr val="1B8A7A"/>
                </a:solidFill>
                <a:latin typeface="Arial"/>
              </a:rPr>
              <a:t>	2.1. Gaussian Mixture Model (GMM) - </a:t>
            </a:r>
            <a:r>
              <a:rPr lang="vi-VN" sz="1200" b="1" dirty="0">
                <a:solidFill>
                  <a:schemeClr val="accent5">
                    <a:lumMod val="60000"/>
                    <a:lumOff val="40000"/>
                  </a:schemeClr>
                </a:solidFill>
                <a:latin typeface="Arial"/>
              </a:rPr>
              <a:t>Mô hình hỗn hợp phân phối chuẩn</a:t>
            </a:r>
          </a:p>
          <a:p>
            <a:pPr>
              <a:spcAft>
                <a:spcPts val="600"/>
              </a:spcAft>
            </a:pPr>
            <a:r>
              <a:rPr lang="vi-VN" sz="2000" b="1" dirty="0">
                <a:solidFill>
                  <a:srgbClr val="1B8A7A"/>
                </a:solidFill>
                <a:latin typeface="Arial"/>
              </a:rPr>
              <a:t>	2.2. Kiến thức nền</a:t>
            </a:r>
            <a:endParaRPr lang="vi-VN" sz="2000" b="1" dirty="0">
              <a:solidFill>
                <a:schemeClr val="accent5">
                  <a:lumMod val="60000"/>
                  <a:lumOff val="40000"/>
                </a:schemeClr>
              </a:solidFill>
              <a:latin typeface="Arial"/>
            </a:endParaRPr>
          </a:p>
          <a:p>
            <a:pPr>
              <a:spcAft>
                <a:spcPts val="600"/>
              </a:spcAft>
            </a:pPr>
            <a:r>
              <a:rPr lang="vi-VN" sz="2000" b="1" dirty="0">
                <a:solidFill>
                  <a:srgbClr val="1B8A7A"/>
                </a:solidFill>
                <a:latin typeface="Arial"/>
              </a:rPr>
              <a:t>	2.3. Expectation-Maximization (EM) - </a:t>
            </a:r>
            <a:r>
              <a:rPr lang="vi-VN" sz="1200" b="1" dirty="0">
                <a:solidFill>
                  <a:schemeClr val="accent5">
                    <a:lumMod val="60000"/>
                    <a:lumOff val="40000"/>
                  </a:schemeClr>
                </a:solidFill>
                <a:latin typeface="Arial"/>
              </a:rPr>
              <a:t>Phương pháp cực đại hoá kỳ vọng</a:t>
            </a:r>
            <a:endParaRPr lang="vi-VN" sz="2000" b="1" dirty="0">
              <a:solidFill>
                <a:schemeClr val="accent5">
                  <a:lumMod val="60000"/>
                  <a:lumOff val="40000"/>
                </a:schemeClr>
              </a:solidFill>
              <a:latin typeface="Arial"/>
            </a:endParaRP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3. Demo code</a:t>
            </a: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4. Chủ đề liên quan</a:t>
            </a:r>
            <a:endParaRPr sz="28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err="1">
                <a:solidFill>
                  <a:srgbClr val="FFFFFF"/>
                </a:solidFill>
                <a:latin typeface="Arial"/>
              </a:rPr>
              <a:t>Ngữ</a:t>
            </a:r>
            <a:r>
              <a:rPr lang="en-US" sz="2600" b="1" dirty="0">
                <a:solidFill>
                  <a:srgbClr val="FFFFFF"/>
                </a:solidFill>
                <a:latin typeface="Arial"/>
              </a:rPr>
              <a:t> </a:t>
            </a:r>
            <a:r>
              <a:rPr lang="en-US" sz="2600" b="1" dirty="0" err="1">
                <a:solidFill>
                  <a:srgbClr val="FFFFFF"/>
                </a:solidFill>
                <a:latin typeface="Arial"/>
              </a:rPr>
              <a:t>cảnh</a:t>
            </a:r>
            <a:r>
              <a:rPr lang="en-US" sz="2600" b="1" dirty="0">
                <a:solidFill>
                  <a:srgbClr val="FFFFFF"/>
                </a:solidFill>
                <a:latin typeface="Arial"/>
              </a:rPr>
              <a:t>, </a:t>
            </a:r>
            <a:r>
              <a:rPr lang="en-US" sz="2600" b="1" dirty="0" err="1">
                <a:solidFill>
                  <a:srgbClr val="FFFFFF"/>
                </a:solidFill>
                <a:latin typeface="Arial"/>
              </a:rPr>
              <a:t>vấn</a:t>
            </a:r>
            <a:r>
              <a:rPr lang="en-US" sz="2600" b="1" dirty="0">
                <a:solidFill>
                  <a:srgbClr val="FFFFFF"/>
                </a:solidFill>
                <a:latin typeface="Arial"/>
              </a:rPr>
              <a:t> </a:t>
            </a:r>
            <a:r>
              <a:rPr lang="en-US" sz="2600" b="1" dirty="0" err="1">
                <a:solidFill>
                  <a:srgbClr val="FFFFFF"/>
                </a:solidFill>
                <a:latin typeface="Arial"/>
              </a:rPr>
              <a:t>đề</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a:extLst>
              <a:ext uri="{FF2B5EF4-FFF2-40B4-BE49-F238E27FC236}">
                <a16:creationId xmlns:a16="http://schemas.microsoft.com/office/drawing/2014/main" id="{3870ED03-DFCB-5AF3-DCB1-9F857B814DF3}"/>
              </a:ext>
            </a:extLst>
          </p:cNvPr>
          <p:cNvSpPr txBox="1"/>
          <p:nvPr/>
        </p:nvSpPr>
        <p:spPr>
          <a:xfrm>
            <a:off x="364068" y="1267772"/>
            <a:ext cx="8796865" cy="2354491"/>
          </a:xfrm>
          <a:prstGeom prst="rect">
            <a:avLst/>
          </a:prstGeom>
          <a:noFill/>
        </p:spPr>
        <p:txBody>
          <a:bodyPr wrap="square">
            <a:spAutoFit/>
          </a:bodyPr>
          <a:lstStyle/>
          <a:p>
            <a:pPr>
              <a:spcAft>
                <a:spcPts val="600"/>
              </a:spcAft>
            </a:pPr>
            <a:r>
              <a:rPr lang="en-US" sz="1400" b="1" dirty="0">
                <a:solidFill>
                  <a:srgbClr val="1B8A7A"/>
                </a:solidFill>
                <a:latin typeface="Arial"/>
              </a:rPr>
              <a:t>•  </a:t>
            </a:r>
            <a:r>
              <a:rPr lang="en-US" sz="1400" b="1" dirty="0" err="1">
                <a:solidFill>
                  <a:srgbClr val="1B8A7A"/>
                </a:solidFill>
                <a:latin typeface="Arial"/>
              </a:rPr>
              <a:t>Ngữ</a:t>
            </a:r>
            <a:r>
              <a:rPr lang="en-US" sz="1400" b="1" dirty="0">
                <a:solidFill>
                  <a:srgbClr val="1B8A7A"/>
                </a:solidFill>
                <a:latin typeface="Arial"/>
              </a:rPr>
              <a:t> </a:t>
            </a:r>
            <a:r>
              <a:rPr lang="en-US" sz="1400" b="1" dirty="0" err="1">
                <a:solidFill>
                  <a:srgbClr val="1B8A7A"/>
                </a:solidFill>
                <a:latin typeface="Arial"/>
              </a:rPr>
              <a:t>cảnh</a:t>
            </a:r>
            <a:r>
              <a:rPr lang="en-US" sz="1400" b="1" dirty="0">
                <a:solidFill>
                  <a:srgbClr val="1B8A7A"/>
                </a:solidFill>
                <a:latin typeface="Arial"/>
              </a:rPr>
              <a:t>:</a:t>
            </a:r>
          </a:p>
          <a:p>
            <a:pPr>
              <a:spcAft>
                <a:spcPts val="600"/>
              </a:spcAft>
            </a:pPr>
            <a:r>
              <a:rPr lang="vi-VN" sz="1400" dirty="0">
                <a:solidFill>
                  <a:srgbClr val="444B52"/>
                </a:solidFill>
                <a:latin typeface="Arial"/>
              </a:rPr>
              <a:t>	- Em có Web nghe nhạc, user càng nghe, mình càng có tiền quảng cáo</a:t>
            </a:r>
          </a:p>
          <a:p>
            <a:pPr>
              <a:spcAft>
                <a:spcPts val="600"/>
              </a:spcAft>
            </a:pPr>
            <a:r>
              <a:rPr lang="vi-VN" sz="1400" dirty="0">
                <a:solidFill>
                  <a:srgbClr val="444B52"/>
                </a:solidFill>
                <a:latin typeface="Arial"/>
              </a:rPr>
              <a:t>	- Để có thêm tiền quảng cáo thì thêm phần </a:t>
            </a:r>
            <a:r>
              <a:rPr lang="vi-VN" sz="1400" b="1" dirty="0">
                <a:solidFill>
                  <a:srgbClr val="444B52"/>
                </a:solidFill>
                <a:latin typeface="Arial"/>
              </a:rPr>
              <a:t>gợi ý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dụ user nghe hoài</a:t>
            </a:r>
          </a:p>
          <a:p>
            <a:pPr>
              <a:spcAft>
                <a:spcPts val="600"/>
              </a:spcAft>
            </a:pPr>
            <a:r>
              <a:rPr sz="1400" b="1" dirty="0">
                <a:solidFill>
                  <a:srgbClr val="1B8A7A"/>
                </a:solidFill>
                <a:latin typeface="Arial"/>
              </a:rPr>
              <a:t>•  </a:t>
            </a:r>
            <a:r>
              <a:rPr lang="vi-VN" sz="1400" b="1" dirty="0">
                <a:solidFill>
                  <a:srgbClr val="1B8A7A"/>
                </a:solidFill>
                <a:latin typeface="Arial"/>
              </a:rPr>
              <a:t>Vấn đề</a:t>
            </a:r>
            <a:r>
              <a:rPr sz="1400" b="1" dirty="0">
                <a:solidFill>
                  <a:srgbClr val="1B8A7A"/>
                </a:solidFill>
                <a:latin typeface="Arial"/>
              </a:rPr>
              <a:t>:</a:t>
            </a:r>
          </a:p>
          <a:p>
            <a:pPr>
              <a:spcAft>
                <a:spcPts val="600"/>
              </a:spcAft>
            </a:pPr>
            <a:r>
              <a:rPr lang="vi-VN" sz="1400" dirty="0">
                <a:solidFill>
                  <a:srgbClr val="444B52"/>
                </a:solidFill>
                <a:latin typeface="Arial"/>
              </a:rPr>
              <a:t>	- Tìm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như nào ?</a:t>
            </a:r>
          </a:p>
          <a:p>
            <a:pPr>
              <a:spcAft>
                <a:spcPts val="600"/>
              </a:spcAft>
            </a:pPr>
            <a:r>
              <a:rPr lang="vi-VN" sz="1400" b="1" dirty="0">
                <a:solidFill>
                  <a:srgbClr val="1B8A7A"/>
                </a:solidFill>
                <a:latin typeface="Arial"/>
              </a:rPr>
              <a:t>•  Giải pháp:</a:t>
            </a:r>
          </a:p>
          <a:p>
            <a:pPr>
              <a:spcAft>
                <a:spcPts val="600"/>
              </a:spcAft>
            </a:pPr>
            <a:r>
              <a:rPr lang="vi-VN" sz="1400" dirty="0">
                <a:solidFill>
                  <a:srgbClr val="444B52"/>
                </a:solidFill>
                <a:latin typeface="Arial"/>
              </a:rPr>
              <a:t>	- Phân cụm list bài hát, sử dụng Gaussian Mixture Model (GMM)</a:t>
            </a:r>
          </a:p>
          <a:p>
            <a:pPr>
              <a:spcAft>
                <a:spcPts val="600"/>
              </a:spcAft>
            </a:pPr>
            <a:r>
              <a:rPr lang="vi-VN" sz="1400" dirty="0">
                <a:solidFill>
                  <a:srgbClr val="444B52"/>
                </a:solidFill>
                <a:latin typeface="Arial"/>
              </a:rPr>
              <a:t>	-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là mấy bài “chung” hoặc “gần chung” nhóm với bài user đang nghe</a:t>
            </a:r>
          </a:p>
        </p:txBody>
      </p:sp>
      <p:pic>
        <p:nvPicPr>
          <p:cNvPr id="4" name="Picture 3">
            <a:extLst>
              <a:ext uri="{FF2B5EF4-FFF2-40B4-BE49-F238E27FC236}">
                <a16:creationId xmlns:a16="http://schemas.microsoft.com/office/drawing/2014/main" id="{71EA80EB-D313-7BCA-A7F1-8E9DCECB480F}"/>
              </a:ext>
            </a:extLst>
          </p:cNvPr>
          <p:cNvPicPr>
            <a:picLocks noChangeAspect="1"/>
          </p:cNvPicPr>
          <p:nvPr/>
        </p:nvPicPr>
        <p:blipFill>
          <a:blip r:embed="rId3"/>
          <a:stretch>
            <a:fillRect/>
          </a:stretch>
        </p:blipFill>
        <p:spPr>
          <a:xfrm>
            <a:off x="3585481" y="3776695"/>
            <a:ext cx="5020732" cy="2887407"/>
          </a:xfrm>
          <a:prstGeom prst="rect">
            <a:avLst/>
          </a:prstGeom>
          <a:ln>
            <a:solidFill>
              <a:schemeClr val="accent1">
                <a:alpha val="53644"/>
              </a:schemeClr>
            </a:solidFill>
          </a:ln>
        </p:spPr>
      </p:pic>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9F567-3816-EEE3-0313-A2337AF5CA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A4F00BD-25CB-1F9E-A14A-B26DAABBE1B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 Ngữ cảnh, vấn đề, giải pháp</a:t>
            </a:r>
          </a:p>
          <a:p>
            <a:r>
              <a:rPr lang="vi-VN" sz="1300" i="1" dirty="0">
                <a:solidFill>
                  <a:srgbClr val="CFE3EC"/>
                </a:solidFill>
                <a:latin typeface="Arial"/>
              </a:rPr>
              <a:t>Trình bày: Thông</a:t>
            </a:r>
          </a:p>
        </p:txBody>
      </p:sp>
      <p:sp>
        <p:nvSpPr>
          <p:cNvPr id="4" name="TextBox 3">
            <a:extLst>
              <a:ext uri="{FF2B5EF4-FFF2-40B4-BE49-F238E27FC236}">
                <a16:creationId xmlns:a16="http://schemas.microsoft.com/office/drawing/2014/main" id="{3CF1073A-A67A-29A4-28BF-5EAB414D142D}"/>
              </a:ext>
            </a:extLst>
          </p:cNvPr>
          <p:cNvSpPr txBox="1"/>
          <p:nvPr/>
        </p:nvSpPr>
        <p:spPr>
          <a:xfrm>
            <a:off x="364067" y="1267772"/>
            <a:ext cx="9787466" cy="307777"/>
          </a:xfrm>
          <a:prstGeom prst="rect">
            <a:avLst/>
          </a:prstGeom>
          <a:noFill/>
        </p:spPr>
        <p:txBody>
          <a:bodyPr wrap="square">
            <a:spAutoFit/>
          </a:bodyPr>
          <a:lstStyle/>
          <a:p>
            <a:pPr>
              <a:spcAft>
                <a:spcPts val="600"/>
              </a:spcAft>
            </a:pPr>
            <a:r>
              <a:rPr lang="vi-VN" sz="1400" b="1" dirty="0">
                <a:solidFill>
                  <a:srgbClr val="1B8A7A"/>
                </a:solidFill>
                <a:latin typeface="Arial"/>
              </a:rPr>
              <a:t>•  Dữ liệu có sẵn (list bài hát):</a:t>
            </a:r>
          </a:p>
        </p:txBody>
      </p:sp>
      <p:graphicFrame>
        <p:nvGraphicFramePr>
          <p:cNvPr id="5" name="Table 4">
            <a:extLst>
              <a:ext uri="{FF2B5EF4-FFF2-40B4-BE49-F238E27FC236}">
                <a16:creationId xmlns:a16="http://schemas.microsoft.com/office/drawing/2014/main" id="{65A35FE2-0858-0752-9084-F0A14BAD603C}"/>
              </a:ext>
            </a:extLst>
          </p:cNvPr>
          <p:cNvGraphicFramePr>
            <a:graphicFrameLocks noGrp="1"/>
          </p:cNvGraphicFramePr>
          <p:nvPr>
            <p:extLst>
              <p:ext uri="{D42A27DB-BD31-4B8C-83A1-F6EECF244321}">
                <p14:modId xmlns:p14="http://schemas.microsoft.com/office/powerpoint/2010/main" val="3215755903"/>
              </p:ext>
            </p:extLst>
          </p:nvPr>
        </p:nvGraphicFramePr>
        <p:xfrm>
          <a:off x="364067" y="1791761"/>
          <a:ext cx="8128000" cy="22250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104114755"/>
                    </a:ext>
                  </a:extLst>
                </a:gridCol>
                <a:gridCol w="4064000">
                  <a:extLst>
                    <a:ext uri="{9D8B030D-6E8A-4147-A177-3AD203B41FA5}">
                      <a16:colId xmlns:a16="http://schemas.microsoft.com/office/drawing/2014/main" val="3351497249"/>
                    </a:ext>
                  </a:extLst>
                </a:gridCol>
              </a:tblGrid>
              <a:tr h="370840">
                <a:tc>
                  <a:txBody>
                    <a:bodyPr/>
                    <a:lstStyle/>
                    <a:p>
                      <a:r>
                        <a:rPr lang="en-VN" dirty="0"/>
                        <a:t>Tên bài hát</a:t>
                      </a:r>
                    </a:p>
                  </a:txBody>
                  <a:tcPr/>
                </a:tc>
                <a:tc>
                  <a:txBody>
                    <a:bodyPr/>
                    <a:lstStyle/>
                    <a:p>
                      <a:r>
                        <a:rPr lang="en-VN" dirty="0"/>
                        <a:t>Điểm sôi động</a:t>
                      </a:r>
                    </a:p>
                  </a:txBody>
                  <a:tcPr/>
                </a:tc>
                <a:extLst>
                  <a:ext uri="{0D108BD9-81ED-4DB2-BD59-A6C34878D82A}">
                    <a16:rowId xmlns:a16="http://schemas.microsoft.com/office/drawing/2014/main" val="2744164486"/>
                  </a:ext>
                </a:extLst>
              </a:tr>
              <a:tr h="370840">
                <a:tc>
                  <a:txBody>
                    <a:bodyPr/>
                    <a:lstStyle/>
                    <a:p>
                      <a:r>
                        <a:rPr lang="en-US" dirty="0"/>
                        <a:t>Kim Phút Kim </a:t>
                      </a:r>
                      <a:r>
                        <a:rPr lang="en-US" dirty="0" err="1"/>
                        <a:t>Giờ</a:t>
                      </a:r>
                      <a:endParaRPr lang="en-US" dirty="0"/>
                    </a:p>
                  </a:txBody>
                  <a:tcPr/>
                </a:tc>
                <a:tc>
                  <a:txBody>
                    <a:bodyPr/>
                    <a:lstStyle/>
                    <a:p>
                      <a:r>
                        <a:rPr lang="en-VN" dirty="0"/>
                        <a:t>3.8</a:t>
                      </a:r>
                    </a:p>
                  </a:txBody>
                  <a:tcPr/>
                </a:tc>
                <a:extLst>
                  <a:ext uri="{0D108BD9-81ED-4DB2-BD59-A6C34878D82A}">
                    <a16:rowId xmlns:a16="http://schemas.microsoft.com/office/drawing/2014/main" val="1550038607"/>
                  </a:ext>
                </a:extLst>
              </a:tr>
              <a:tr h="370840">
                <a:tc>
                  <a:txBody>
                    <a:bodyPr/>
                    <a:lstStyle/>
                    <a:p>
                      <a:r>
                        <a:rPr lang="en-US" dirty="0" err="1"/>
                        <a:t>Chân</a:t>
                      </a:r>
                      <a:r>
                        <a:rPr lang="en-US" dirty="0"/>
                        <a:t> Thành</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3.4</a:t>
                      </a:r>
                    </a:p>
                  </a:txBody>
                  <a:tcPr/>
                </a:tc>
                <a:extLst>
                  <a:ext uri="{0D108BD9-81ED-4DB2-BD59-A6C34878D82A}">
                    <a16:rowId xmlns:a16="http://schemas.microsoft.com/office/drawing/2014/main" val="1495408458"/>
                  </a:ext>
                </a:extLst>
              </a:tr>
              <a:tr h="370840">
                <a:tc>
                  <a:txBody>
                    <a:bodyPr/>
                    <a:lstStyle/>
                    <a:p>
                      <a:r>
                        <a:rPr lang="en-US" dirty="0"/>
                        <a:t>Secret</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4.1</a:t>
                      </a:r>
                    </a:p>
                  </a:txBody>
                  <a:tcPr/>
                </a:tc>
                <a:extLst>
                  <a:ext uri="{0D108BD9-81ED-4DB2-BD59-A6C34878D82A}">
                    <a16:rowId xmlns:a16="http://schemas.microsoft.com/office/drawing/2014/main" val="2493258380"/>
                  </a:ext>
                </a:extLst>
              </a:tr>
              <a:tr h="370840">
                <a:tc>
                  <a:txBody>
                    <a:bodyPr/>
                    <a:lstStyle/>
                    <a:p>
                      <a:r>
                        <a:rPr lang="en-US" dirty="0"/>
                        <a:t>Die With A Smile</a:t>
                      </a:r>
                      <a:endParaRPr lang="en-VN" dirty="0"/>
                    </a:p>
                  </a:txBody>
                  <a:tcPr/>
                </a:tc>
                <a:tc>
                  <a:txBody>
                    <a:bodyPr/>
                    <a:lstStyle/>
                    <a:p>
                      <a:r>
                        <a:rPr lang="en-VN" dirty="0"/>
                        <a:t>4.4</a:t>
                      </a:r>
                    </a:p>
                  </a:txBody>
                  <a:tcPr/>
                </a:tc>
                <a:extLst>
                  <a:ext uri="{0D108BD9-81ED-4DB2-BD59-A6C34878D82A}">
                    <a16:rowId xmlns:a16="http://schemas.microsoft.com/office/drawing/2014/main" val="3682658580"/>
                  </a:ext>
                </a:extLst>
              </a:tr>
              <a:tr h="370840">
                <a:tc>
                  <a:txBody>
                    <a:bodyPr/>
                    <a:lstStyle/>
                    <a:p>
                      <a:r>
                        <a:rPr lang="en-VN" dirty="0"/>
                        <a:t>…</a:t>
                      </a:r>
                    </a:p>
                  </a:txBody>
                  <a:tcPr/>
                </a:tc>
                <a:tc>
                  <a:txBody>
                    <a:bodyPr/>
                    <a:lstStyle/>
                    <a:p>
                      <a:r>
                        <a:rPr lang="en-VN" dirty="0"/>
                        <a:t>…</a:t>
                      </a:r>
                    </a:p>
                  </a:txBody>
                  <a:tcPr/>
                </a:tc>
                <a:extLst>
                  <a:ext uri="{0D108BD9-81ED-4DB2-BD59-A6C34878D82A}">
                    <a16:rowId xmlns:a16="http://schemas.microsoft.com/office/drawing/2014/main" val="1183791201"/>
                  </a:ext>
                </a:extLst>
              </a:tr>
            </a:tbl>
          </a:graphicData>
        </a:graphic>
      </p:graphicFrame>
    </p:spTree>
    <p:extLst>
      <p:ext uri="{BB962C8B-B14F-4D97-AF65-F5344CB8AC3E}">
        <p14:creationId xmlns:p14="http://schemas.microsoft.com/office/powerpoint/2010/main" val="3651539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60DBB-969E-D7C4-621D-CCC7F09A457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16AF160-DE27-BD13-FCFF-EA13076D7C4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B195E4ED-661B-F11A-6232-A17E4BAEBDE4}"/>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cái chuông (hàn lâm là mô hình hỗn hợp phân phối chuẩn)</a:t>
            </a:r>
          </a:p>
          <a:p>
            <a:pPr>
              <a:spcAft>
                <a:spcPts val="600"/>
              </a:spcAft>
            </a:pPr>
            <a:r>
              <a:rPr lang="vi-VN" sz="1400" dirty="0">
                <a:solidFill>
                  <a:srgbClr val="444B52"/>
                </a:solidFill>
                <a:latin typeface="Arial"/>
              </a:rPr>
              <a:t>	</a:t>
            </a:r>
          </a:p>
        </p:txBody>
      </p:sp>
      <p:pic>
        <p:nvPicPr>
          <p:cNvPr id="6" name="Picture 5">
            <a:extLst>
              <a:ext uri="{FF2B5EF4-FFF2-40B4-BE49-F238E27FC236}">
                <a16:creationId xmlns:a16="http://schemas.microsoft.com/office/drawing/2014/main" id="{23953FE8-82E8-B3E8-6547-673EF15DA267}"/>
              </a:ext>
            </a:extLst>
          </p:cNvPr>
          <p:cNvPicPr>
            <a:picLocks noChangeAspect="1"/>
          </p:cNvPicPr>
          <p:nvPr/>
        </p:nvPicPr>
        <p:blipFill>
          <a:blip r:embed="rId3"/>
          <a:stretch>
            <a:fillRect/>
          </a:stretch>
        </p:blipFill>
        <p:spPr>
          <a:xfrm>
            <a:off x="364066" y="2211148"/>
            <a:ext cx="5443643" cy="4019058"/>
          </a:xfrm>
          <a:prstGeom prst="rect">
            <a:avLst/>
          </a:prstGeom>
        </p:spPr>
      </p:pic>
      <p:sp>
        <p:nvSpPr>
          <p:cNvPr id="8" name="TextBox 7">
            <a:extLst>
              <a:ext uri="{FF2B5EF4-FFF2-40B4-BE49-F238E27FC236}">
                <a16:creationId xmlns:a16="http://schemas.microsoft.com/office/drawing/2014/main" id="{44281A2E-DC4F-EB71-AC28-35EF28648231}"/>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Một ví dụ mô hình GMM với dữ liệu 2 chiều</a:t>
            </a:r>
          </a:p>
          <a:p>
            <a:pPr algn="ctr">
              <a:spcAft>
                <a:spcPts val="600"/>
              </a:spcAft>
            </a:pPr>
            <a:r>
              <a:rPr lang="vi-VN" sz="700" b="1" dirty="0">
                <a:latin typeface="Arial"/>
              </a:rPr>
              <a:t>Các điểm dữ liệu nằm trải trên mặt phẳng ngang màu tím</a:t>
            </a:r>
            <a:endParaRPr lang="vi-VN" sz="700" dirty="0">
              <a:latin typeface="Arial"/>
            </a:endParaRPr>
          </a:p>
        </p:txBody>
      </p:sp>
    </p:spTree>
    <p:extLst>
      <p:ext uri="{BB962C8B-B14F-4D97-AF65-F5344CB8AC3E}">
        <p14:creationId xmlns:p14="http://schemas.microsoft.com/office/powerpoint/2010/main" val="12828310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214B-49A8-E03E-AAA5-D66F1F8D078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38429B-9051-8F94-1ED4-19880CB0ED4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BF5AB7B-F671-E55F-DEAD-A89E2EA567DB}"/>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cái chuông (hàn lâm là mô hình hỗn hợp phân phối chuẩn)</a:t>
            </a:r>
          </a:p>
          <a:p>
            <a:pPr>
              <a:spcAft>
                <a:spcPts val="600"/>
              </a:spcAft>
            </a:pPr>
            <a:r>
              <a:rPr lang="vi-VN" sz="1400" dirty="0">
                <a:solidFill>
                  <a:srgbClr val="444B52"/>
                </a:solidFill>
                <a:latin typeface="Arial"/>
              </a:rPr>
              <a:t>	- Là một mô hình đèo núi (đường màu tím), được vẽ từ nhiều mô hình cái chuông gộp lại (chuông đỏ/xanh)</a:t>
            </a:r>
          </a:p>
        </p:txBody>
      </p:sp>
      <p:sp>
        <p:nvSpPr>
          <p:cNvPr id="9" name="TextBox 8">
            <a:extLst>
              <a:ext uri="{FF2B5EF4-FFF2-40B4-BE49-F238E27FC236}">
                <a16:creationId xmlns:a16="http://schemas.microsoft.com/office/drawing/2014/main" id="{065D64D1-1500-7C7E-A773-2D5714F949F8}"/>
              </a:ext>
            </a:extLst>
          </p:cNvPr>
          <p:cNvSpPr txBox="1"/>
          <p:nvPr/>
        </p:nvSpPr>
        <p:spPr>
          <a:xfrm>
            <a:off x="8212184" y="6334780"/>
            <a:ext cx="3979816" cy="523220"/>
          </a:xfrm>
          <a:prstGeom prst="rect">
            <a:avLst/>
          </a:prstGeom>
          <a:noFill/>
        </p:spPr>
        <p:txBody>
          <a:bodyPr wrap="square">
            <a:spAutoFit/>
          </a:bodyPr>
          <a:lstStyle/>
          <a:p>
            <a:pPr>
              <a:spcAft>
                <a:spcPts val="600"/>
              </a:spcAft>
            </a:pPr>
            <a:r>
              <a:rPr lang="vi-VN" sz="1400" dirty="0">
                <a:solidFill>
                  <a:srgbClr val="444B52"/>
                </a:solidFill>
                <a:latin typeface="Arial"/>
              </a:rPr>
              <a:t>+ Cái chuông là gì? Công thức màu cam là gì?</a:t>
            </a:r>
            <a:br>
              <a:rPr lang="vi-VN" sz="1400" dirty="0">
                <a:solidFill>
                  <a:srgbClr val="444B52"/>
                </a:solidFill>
                <a:latin typeface="Arial"/>
              </a:rPr>
            </a:br>
            <a:r>
              <a:rPr lang="vi-VN" sz="1400" dirty="0">
                <a:solidFill>
                  <a:srgbClr val="444B52"/>
                </a:solidFill>
                <a:latin typeface="Arial"/>
              </a:rPr>
              <a:t>+ Làm sao vẽ được một cái chuông?</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955DE7C0-0BB5-333F-1D64-7BEA7B6FC960}"/>
                  </a:ext>
                </a:extLst>
              </p:cNvPr>
              <p:cNvSpPr txBox="1"/>
              <p:nvPr/>
            </p:nvSpPr>
            <p:spPr>
              <a:xfrm>
                <a:off x="5625737" y="2263665"/>
                <a:ext cx="6565958" cy="3852593"/>
              </a:xfrm>
              <a:prstGeom prst="rect">
                <a:avLst/>
              </a:prstGeom>
              <a:noFill/>
            </p:spPr>
            <p:txBody>
              <a:bodyPr wrap="square">
                <a:spAutoFit/>
              </a:bodyPr>
              <a:lstStyle/>
              <a:p>
                <a:pPr>
                  <a:spcAft>
                    <a:spcPts val="600"/>
                  </a:spcAft>
                </a:pPr>
                <a:r>
                  <a:rPr lang="vi-VN" sz="1400" b="1" dirty="0">
                    <a:solidFill>
                      <a:srgbClr val="1B8A7A"/>
                    </a:solidFill>
                    <a:latin typeface="Arial"/>
                  </a:rPr>
                  <a:t>Công thức suy ra từ ý tưởng:</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vi-VN" sz="1200" i="1">
                                <a:solidFill>
                                  <a:schemeClr val="accent6">
                                    <a:lumMod val="75000"/>
                                  </a:schemeClr>
                                </a:solidFill>
                                <a:latin typeface="Cambria Math" panose="02040503050406030204" pitchFamily="18" charset="0"/>
                              </a:rPr>
                            </m:ctrlPr>
                          </m:sSubPr>
                          <m:e>
                            <m:r>
                              <a:rPr lang="vi-VN" sz="1200" i="1">
                                <a:solidFill>
                                  <a:schemeClr val="accent6">
                                    <a:lumMod val="75000"/>
                                  </a:schemeClr>
                                </a:solidFill>
                                <a:latin typeface="Cambria Math" panose="02040503050406030204" pitchFamily="18" charset="0"/>
                              </a:rPr>
                              <m:t>(</m:t>
                            </m:r>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r>
                          <a:rPr lang="vi-VN" sz="1200" i="1">
                            <a:solidFill>
                              <a:schemeClr val="accent6">
                                <a:lumMod val="75000"/>
                              </a:schemeClr>
                            </a:solidFill>
                            <a:latin typeface="Cambria Math" panose="02040503050406030204" pitchFamily="18" charset="0"/>
                          </a:rPr>
                          <m:t>)</m:t>
                        </m:r>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(chỉ đổi kí hiệu từ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p:sp>
            <p:nvSpPr>
              <p:cNvPr id="11" name="TextBox 10">
                <a:extLst>
                  <a:ext uri="{FF2B5EF4-FFF2-40B4-BE49-F238E27FC236}">
                    <a16:creationId xmlns:a16="http://schemas.microsoft.com/office/drawing/2014/main" id="{955DE7C0-0BB5-333F-1D64-7BEA7B6FC960}"/>
                  </a:ext>
                </a:extLst>
              </p:cNvPr>
              <p:cNvSpPr txBox="1">
                <a:spLocks noRot="1" noChangeAspect="1" noMove="1" noResize="1" noEditPoints="1" noAdjustHandles="1" noChangeArrowheads="1" noChangeShapeType="1" noTextEdit="1"/>
              </p:cNvSpPr>
              <p:nvPr/>
            </p:nvSpPr>
            <p:spPr>
              <a:xfrm>
                <a:off x="5625737" y="2263665"/>
                <a:ext cx="6565958" cy="3852593"/>
              </a:xfrm>
              <a:prstGeom prst="rect">
                <a:avLst/>
              </a:prstGeom>
              <a:blipFill>
                <a:blip r:embed="rId3"/>
                <a:stretch>
                  <a:fillRect l="-386" t="-32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9C28F3B-757B-9FF5-7A25-67DF1948AF18}"/>
                  </a:ext>
                </a:extLst>
              </p:cNvPr>
              <p:cNvSpPr txBox="1"/>
              <p:nvPr/>
            </p:nvSpPr>
            <p:spPr>
              <a:xfrm>
                <a:off x="6096000" y="5226364"/>
                <a:ext cx="2331279"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3" name="TextBox 2">
                <a:extLst>
                  <a:ext uri="{FF2B5EF4-FFF2-40B4-BE49-F238E27FC236}">
                    <a16:creationId xmlns:a16="http://schemas.microsoft.com/office/drawing/2014/main" id="{F9C28F3B-757B-9FF5-7A25-67DF1948AF18}"/>
                  </a:ext>
                </a:extLst>
              </p:cNvPr>
              <p:cNvSpPr txBox="1">
                <a:spLocks noRot="1" noChangeAspect="1" noMove="1" noResize="1" noEditPoints="1" noAdjustHandles="1" noChangeArrowheads="1" noChangeShapeType="1" noTextEdit="1"/>
              </p:cNvSpPr>
              <p:nvPr/>
            </p:nvSpPr>
            <p:spPr>
              <a:xfrm>
                <a:off x="6096000" y="5226364"/>
                <a:ext cx="2331279" cy="605807"/>
              </a:xfrm>
              <a:prstGeom prst="rect">
                <a:avLst/>
              </a:prstGeom>
              <a:blipFill>
                <a:blip r:embed="rId4"/>
                <a:stretch>
                  <a:fillRect l="-1622"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C3C9D7-4295-1003-C459-58C3A7D08925}"/>
                  </a:ext>
                </a:extLst>
              </p:cNvPr>
              <p:cNvSpPr txBox="1"/>
              <p:nvPr/>
            </p:nvSpPr>
            <p:spPr>
              <a:xfrm>
                <a:off x="6096000" y="4061029"/>
                <a:ext cx="2331279" cy="605807"/>
              </a:xfrm>
              <a:prstGeom prst="rect">
                <a:avLst/>
              </a:prstGeom>
              <a:noFill/>
              <a:ln w="12700">
                <a:solidFill>
                  <a:schemeClr val="tx2"/>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12" name="TextBox 11">
                <a:extLst>
                  <a:ext uri="{FF2B5EF4-FFF2-40B4-BE49-F238E27FC236}">
                    <a16:creationId xmlns:a16="http://schemas.microsoft.com/office/drawing/2014/main" id="{E7C3C9D7-4295-1003-C459-58C3A7D08925}"/>
                  </a:ext>
                </a:extLst>
              </p:cNvPr>
              <p:cNvSpPr txBox="1">
                <a:spLocks noRot="1" noChangeAspect="1" noMove="1" noResize="1" noEditPoints="1" noAdjustHandles="1" noChangeArrowheads="1" noChangeShapeType="1" noTextEdit="1"/>
              </p:cNvSpPr>
              <p:nvPr/>
            </p:nvSpPr>
            <p:spPr>
              <a:xfrm>
                <a:off x="6096000" y="4061029"/>
                <a:ext cx="2331279" cy="605807"/>
              </a:xfrm>
              <a:prstGeom prst="rect">
                <a:avLst/>
              </a:prstGeom>
              <a:blipFill>
                <a:blip r:embed="rId5"/>
                <a:stretch>
                  <a:fillRect l="-2703" t="-110000" b="-172000"/>
                </a:stretch>
              </a:blipFill>
              <a:ln w="12700">
                <a:solidFill>
                  <a:schemeClr val="tx2"/>
                </a:solidFill>
              </a:ln>
            </p:spPr>
            <p:txBody>
              <a:bodyPr/>
              <a:lstStyle/>
              <a:p>
                <a:r>
                  <a:rPr lang="en-VN">
                    <a:noFill/>
                  </a:rPr>
                  <a:t> </a:t>
                </a:r>
              </a:p>
            </p:txBody>
          </p:sp>
        </mc:Fallback>
      </mc:AlternateContent>
      <p:pic>
        <p:nvPicPr>
          <p:cNvPr id="13" name="Picture 12">
            <a:extLst>
              <a:ext uri="{FF2B5EF4-FFF2-40B4-BE49-F238E27FC236}">
                <a16:creationId xmlns:a16="http://schemas.microsoft.com/office/drawing/2014/main" id="{70CF681D-EF9E-F4F5-E94E-87E0D11FACD7}"/>
              </a:ext>
            </a:extLst>
          </p:cNvPr>
          <p:cNvPicPr>
            <a:picLocks noChangeAspect="1"/>
          </p:cNvPicPr>
          <p:nvPr/>
        </p:nvPicPr>
        <p:blipFill>
          <a:blip r:embed="rId6"/>
          <a:stretch>
            <a:fillRect/>
          </a:stretch>
        </p:blipFill>
        <p:spPr>
          <a:xfrm>
            <a:off x="-1" y="2263665"/>
            <a:ext cx="5625738" cy="4181165"/>
          </a:xfrm>
          <a:prstGeom prst="rect">
            <a:avLst/>
          </a:prstGeom>
        </p:spPr>
      </p:pic>
      <p:sp>
        <p:nvSpPr>
          <p:cNvPr id="6" name="TextBox 5">
            <a:extLst>
              <a:ext uri="{FF2B5EF4-FFF2-40B4-BE49-F238E27FC236}">
                <a16:creationId xmlns:a16="http://schemas.microsoft.com/office/drawing/2014/main" id="{FCCEFD7D-5F45-70DE-C239-86E9EAB0C42D}"/>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Một ví dụ 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spTree>
    <p:extLst>
      <p:ext uri="{BB962C8B-B14F-4D97-AF65-F5344CB8AC3E}">
        <p14:creationId xmlns:p14="http://schemas.microsoft.com/office/powerpoint/2010/main" val="1764016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2152B45B-401E-ACB8-8993-42F3294618F9}"/>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a:solidFill>
                  <a:srgbClr val="1B8A7A"/>
                </a:solidFill>
                <a:latin typeface="Arial"/>
              </a:rPr>
              <a:t>2.2. </a:t>
            </a: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Cái chuông chuẩn</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A28554CF-311F-6584-B619-5BA25E3C24EA}"/>
                  </a:ext>
                </a:extLst>
              </p:cNvPr>
              <p:cNvSpPr txBox="1"/>
              <p:nvPr/>
            </p:nvSpPr>
            <p:spPr>
              <a:xfrm>
                <a:off x="6298899" y="2307342"/>
                <a:ext cx="3352953" cy="628208"/>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VN" i="1" smtClean="0">
                          <a:latin typeface="Cambria Math" panose="02040503050406030204" pitchFamily="18" charset="0"/>
                        </a:rPr>
                        <m:t>𝑓</m:t>
                      </m:r>
                      <m:d>
                        <m:dPr>
                          <m:ctrlPr>
                            <a:rPr lang="en-VN" b="1" i="1" smtClean="0">
                              <a:solidFill>
                                <a:schemeClr val="accent6">
                                  <a:lumMod val="75000"/>
                                </a:schemeClr>
                              </a:solidFill>
                              <a:latin typeface="Cambria Math" panose="02040503050406030204" pitchFamily="18" charset="0"/>
                            </a:rPr>
                          </m:ctrlPr>
                        </m:dPr>
                        <m:e>
                          <m:r>
                            <a:rPr lang="en-VN" b="1" i="1" smtClean="0">
                              <a:solidFill>
                                <a:schemeClr val="accent6">
                                  <a:lumMod val="75000"/>
                                </a:schemeClr>
                              </a:solidFill>
                              <a:latin typeface="Cambria Math" panose="02040503050406030204" pitchFamily="18" charset="0"/>
                            </a:rPr>
                            <m:t>𝒙</m:t>
                          </m:r>
                          <m:r>
                            <a:rPr lang="vi-VN" b="0" i="0" smtClean="0">
                              <a:solidFill>
                                <a:schemeClr val="tx1"/>
                              </a:solidFill>
                              <a:latin typeface="Cambria Math" panose="02040503050406030204" pitchFamily="18" charset="0"/>
                            </a:rPr>
                            <m:t> </m:t>
                          </m:r>
                          <m:r>
                            <a:rPr lang="en-VN" i="0">
                              <a:solidFill>
                                <a:schemeClr val="tx1"/>
                              </a:solidFill>
                              <a:latin typeface="Cambria Math" panose="02040503050406030204" pitchFamily="18" charset="0"/>
                            </a:rPr>
                            <m:t>|</m:t>
                          </m:r>
                          <m:r>
                            <a:rPr lang="vi-VN" b="0" i="0" smtClean="0">
                              <a:solidFill>
                                <a:schemeClr val="tx1"/>
                              </a:solidFill>
                              <a:latin typeface="Cambria Math" panose="02040503050406030204" pitchFamily="18" charset="0"/>
                            </a:rPr>
                            <m:t> </m:t>
                          </m:r>
                          <m:r>
                            <a:rPr lang="vi-VN" b="0" i="1" smtClean="0">
                              <a:solidFill>
                                <a:schemeClr val="tx1"/>
                              </a:solidFill>
                              <a:latin typeface="Cambria Math" panose="02040503050406030204" pitchFamily="18" charset="0"/>
                            </a:rPr>
                            <m:t>(</m:t>
                          </m:r>
                          <m:r>
                            <a:rPr lang="en-VN" i="1" smtClean="0">
                              <a:solidFill>
                                <a:schemeClr val="tx2">
                                  <a:lumMod val="60000"/>
                                  <a:lumOff val="40000"/>
                                </a:schemeClr>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rgbClr val="00B050"/>
                                  </a:solidFill>
                                  <a:latin typeface="Cambria Math" panose="02040503050406030204" pitchFamily="18" charset="0"/>
                                </a:rPr>
                              </m:ctrlPr>
                            </m:sSupPr>
                            <m:e>
                              <m:r>
                                <a:rPr lang="en-VN" i="1" smtClean="0">
                                  <a:solidFill>
                                    <a:srgbClr val="00B050"/>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vi-VN" b="0" i="1" smtClean="0">
                              <a:solidFill>
                                <a:schemeClr val="tx1"/>
                              </a:solidFill>
                              <a:latin typeface="Cambria Math" panose="02040503050406030204" pitchFamily="18" charset="0"/>
                            </a:rPr>
                            <m:t>)</m:t>
                          </m:r>
                        </m:e>
                      </m:d>
                      <m:r>
                        <a:rPr lang="en-VN" i="0">
                          <a:latin typeface="Cambria Math" panose="02040503050406030204" pitchFamily="18" charset="0"/>
                        </a:rPr>
                        <m:t>=</m:t>
                      </m:r>
                      <m:f>
                        <m:fPr>
                          <m:ctrlPr>
                            <a:rPr lang="en-VN" i="0">
                              <a:latin typeface="Cambria Math" panose="02040503050406030204" pitchFamily="18" charset="0"/>
                            </a:rPr>
                          </m:ctrlPr>
                        </m:fPr>
                        <m:num>
                          <m:r>
                            <a:rPr lang="en-VN" i="0">
                              <a:latin typeface="Cambria Math" panose="02040503050406030204" pitchFamily="18" charset="0"/>
                            </a:rPr>
                            <m:t>1</m:t>
                          </m:r>
                        </m:num>
                        <m:den>
                          <m:r>
                            <a:rPr lang="en-VN"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i="0">
                                  <a:latin typeface="Cambria Math" panose="02040503050406030204" pitchFamily="18" charset="0"/>
                                </a:rPr>
                                <m:t>2</m:t>
                              </m:r>
                              <m:r>
                                <a:rPr lang="en-VN" i="1">
                                  <a:latin typeface="Cambria Math" panose="02040503050406030204" pitchFamily="18" charset="0"/>
                                </a:rPr>
                                <m:t>𝜋</m:t>
                              </m:r>
                            </m:e>
                          </m:rad>
                        </m:den>
                      </m:f>
                      <m:sSup>
                        <m:sSupPr>
                          <m:ctrlPr>
                            <a:rPr lang="en-VN" i="1">
                              <a:latin typeface="Cambria Math" panose="02040503050406030204" pitchFamily="18" charset="0"/>
                            </a:rPr>
                          </m:ctrlPr>
                        </m:sSupPr>
                        <m:e>
                          <m:r>
                            <a:rPr lang="en-VN" i="1">
                              <a:latin typeface="Cambria Math" panose="02040503050406030204" pitchFamily="18" charset="0"/>
                            </a:rPr>
                            <m:t>𝑒</m:t>
                          </m:r>
                        </m:e>
                        <m:sup>
                          <m:r>
                            <a:rPr lang="en-VN" i="0">
                              <a:latin typeface="Cambria Math" panose="02040503050406030204" pitchFamily="18" charset="0"/>
                            </a:rPr>
                            <m:t>−</m:t>
                          </m:r>
                          <m:f>
                            <m:fPr>
                              <m:ctrlPr>
                                <a:rPr lang="en-VN" i="1">
                                  <a:latin typeface="Cambria Math" panose="02040503050406030204" pitchFamily="18" charset="0"/>
                                </a:rPr>
                              </m:ctrlPr>
                            </m:fPr>
                            <m:num>
                              <m:sSup>
                                <m:sSupPr>
                                  <m:ctrlPr>
                                    <a:rPr lang="en-VN" b="1" i="1" smtClean="0">
                                      <a:solidFill>
                                        <a:schemeClr val="tx1"/>
                                      </a:solidFill>
                                      <a:latin typeface="Cambria Math" panose="02040503050406030204" pitchFamily="18" charset="0"/>
                                    </a:rPr>
                                  </m:ctrlPr>
                                </m:sSupPr>
                                <m:e>
                                  <m:d>
                                    <m:dPr>
                                      <m:ctrlPr>
                                        <a:rPr lang="en-VN" b="1" i="1" smtClean="0">
                                          <a:solidFill>
                                            <a:schemeClr val="accent6">
                                              <a:lumMod val="75000"/>
                                            </a:schemeClr>
                                          </a:solidFill>
                                          <a:latin typeface="Cambria Math" panose="02040503050406030204" pitchFamily="18" charset="0"/>
                                        </a:rPr>
                                      </m:ctrlPr>
                                    </m:dPr>
                                    <m:e>
                                      <m:r>
                                        <a:rPr lang="en-VN" b="1" i="1" smtClean="0">
                                          <a:solidFill>
                                            <a:schemeClr val="accent6">
                                              <a:lumMod val="75000"/>
                                            </a:schemeClr>
                                          </a:solidFill>
                                          <a:latin typeface="Cambria Math" panose="02040503050406030204" pitchFamily="18" charset="0"/>
                                        </a:rPr>
                                        <m:t>𝒙</m:t>
                                      </m:r>
                                      <m:r>
                                        <a:rPr lang="en-VN" i="0">
                                          <a:solidFill>
                                            <a:schemeClr val="tx1"/>
                                          </a:solidFill>
                                          <a:latin typeface="Cambria Math" panose="02040503050406030204" pitchFamily="18" charset="0"/>
                                        </a:rPr>
                                        <m:t>−</m:t>
                                      </m:r>
                                      <m:r>
                                        <a:rPr lang="en-VN" i="1" smtClean="0">
                                          <a:solidFill>
                                            <a:schemeClr val="tx2">
                                              <a:lumMod val="60000"/>
                                              <a:lumOff val="40000"/>
                                            </a:schemeClr>
                                          </a:solidFill>
                                          <a:latin typeface="Cambria Math" panose="02040503050406030204" pitchFamily="18" charset="0"/>
                                        </a:rPr>
                                        <m:t>𝜇</m:t>
                                      </m:r>
                                    </m:e>
                                  </m:d>
                                </m:e>
                                <m:sup>
                                  <m:r>
                                    <a:rPr lang="en-VN" i="0">
                                      <a:latin typeface="Cambria Math" panose="02040503050406030204" pitchFamily="18" charset="0"/>
                                    </a:rPr>
                                    <m:t>2</m:t>
                                  </m:r>
                                </m:sup>
                              </m:sSup>
                            </m:num>
                            <m:den>
                              <m:r>
                                <a:rPr lang="en-VN" i="0">
                                  <a:latin typeface="Cambria Math" panose="02040503050406030204" pitchFamily="18" charset="0"/>
                                </a:rPr>
                                <m:t>2</m:t>
                              </m:r>
                              <m:sSup>
                                <m:sSupPr>
                                  <m:ctrlPr>
                                    <a:rPr lang="en-VN" i="1" smtClean="0">
                                      <a:solidFill>
                                        <a:srgbClr val="00B050"/>
                                      </a:solidFill>
                                      <a:latin typeface="Cambria Math" panose="02040503050406030204" pitchFamily="18" charset="0"/>
                                    </a:rPr>
                                  </m:ctrlPr>
                                </m:sSupPr>
                                <m:e>
                                  <m:r>
                                    <a:rPr lang="en-VN" i="1" smtClean="0">
                                      <a:solidFill>
                                        <a:srgbClr val="00B050"/>
                                      </a:solidFill>
                                      <a:latin typeface="Cambria Math" panose="02040503050406030204" pitchFamily="18" charset="0"/>
                                    </a:rPr>
                                    <m:t>𝜎</m:t>
                                  </m:r>
                                </m:e>
                                <m:sup>
                                  <m:r>
                                    <a:rPr lang="en-VN" i="0">
                                      <a:solidFill>
                                        <a:schemeClr val="tx1"/>
                                      </a:solidFill>
                                      <a:latin typeface="Cambria Math" panose="02040503050406030204" pitchFamily="18" charset="0"/>
                                    </a:rPr>
                                    <m:t>2</m:t>
                                  </m:r>
                                </m:sup>
                              </m:sSup>
                            </m:den>
                          </m:f>
                        </m:sup>
                      </m:sSup>
                    </m:oMath>
                  </m:oMathPara>
                </a14:m>
                <a:endParaRPr lang="en-VN" dirty="0"/>
              </a:p>
            </p:txBody>
          </p:sp>
        </mc:Choice>
        <mc:Fallback>
          <p:sp>
            <p:nvSpPr>
              <p:cNvPr id="14" name="TextBox 13">
                <a:extLst>
                  <a:ext uri="{FF2B5EF4-FFF2-40B4-BE49-F238E27FC236}">
                    <a16:creationId xmlns:a16="http://schemas.microsoft.com/office/drawing/2014/main" id="{A28554CF-311F-6584-B619-5BA25E3C24EA}"/>
                  </a:ext>
                </a:extLst>
              </p:cNvPr>
              <p:cNvSpPr txBox="1">
                <a:spLocks noRot="1" noChangeAspect="1" noMove="1" noResize="1" noEditPoints="1" noAdjustHandles="1" noChangeArrowheads="1" noChangeShapeType="1" noTextEdit="1"/>
              </p:cNvSpPr>
              <p:nvPr/>
            </p:nvSpPr>
            <p:spPr>
              <a:xfrm>
                <a:off x="6298899" y="2307342"/>
                <a:ext cx="3352953" cy="628208"/>
              </a:xfrm>
              <a:prstGeom prst="rect">
                <a:avLst/>
              </a:prstGeom>
              <a:blipFill>
                <a:blip r:embed="rId3"/>
                <a:stretch>
                  <a:fillRect b="-5882"/>
                </a:stretch>
              </a:blipFill>
              <a:ln w="12700">
                <a:solidFill>
                  <a:schemeClr val="tx2"/>
                </a:solidFill>
              </a:ln>
            </p:spPr>
            <p:txBody>
              <a:bodyPr/>
              <a:lstStyle/>
              <a:p>
                <a:r>
                  <a:rPr lang="en-VN">
                    <a:noFill/>
                  </a:rPr>
                  <a:t> </a:t>
                </a:r>
              </a:p>
            </p:txBody>
          </p:sp>
        </mc:Fallback>
      </mc:AlternateContent>
      <p:sp>
        <p:nvSpPr>
          <p:cNvPr id="17" name="TextBox 16">
            <a:extLst>
              <a:ext uri="{FF2B5EF4-FFF2-40B4-BE49-F238E27FC236}">
                <a16:creationId xmlns:a16="http://schemas.microsoft.com/office/drawing/2014/main" id="{1A3E8C25-E68D-28CC-EC82-1A6754126D8B}"/>
              </a:ext>
            </a:extLst>
          </p:cNvPr>
          <p:cNvSpPr txBox="1"/>
          <p:nvPr/>
        </p:nvSpPr>
        <p:spPr>
          <a:xfrm>
            <a:off x="6169990" y="3181043"/>
            <a:ext cx="4011814" cy="2569934"/>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tập </a:t>
            </a:r>
            <a:br>
              <a:rPr lang="vi-VN" sz="1400" dirty="0">
                <a:solidFill>
                  <a:srgbClr val="444B52"/>
                </a:solidFill>
                <a:latin typeface="Arial"/>
              </a:rPr>
            </a:br>
            <a:r>
              <a:rPr lang="vi-VN" sz="1400" dirty="0">
                <a:solidFill>
                  <a:srgbClr val="444B52"/>
                </a:solidFill>
                <a:latin typeface="Arial"/>
              </a:rPr>
              <a:t>Làm sao vẽ cái chuông khớp với tập trên ?</a:t>
            </a:r>
          </a:p>
          <a:p>
            <a:pPr>
              <a:spcAft>
                <a:spcPts val="600"/>
              </a:spcAft>
            </a:pPr>
            <a:r>
              <a:rPr lang="vi-VN" sz="1400" b="1" dirty="0">
                <a:solidFill>
                  <a:srgbClr val="444B52"/>
                </a:solidFill>
                <a:latin typeface="Arial"/>
              </a:rPr>
              <a:t>=&gt; Chỉ cần tính 2 thứ:</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 Tâm chuông: </a:t>
            </a: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 Độ mập chuông: </a:t>
            </a:r>
          </a:p>
        </p:txBody>
      </p:sp>
      <p:sp>
        <p:nvSpPr>
          <p:cNvPr id="22" name="TextBox 21">
            <a:extLst>
              <a:ext uri="{FF2B5EF4-FFF2-40B4-BE49-F238E27FC236}">
                <a16:creationId xmlns:a16="http://schemas.microsoft.com/office/drawing/2014/main" id="{D03E0A65-3621-FC67-1A74-C8C1B83DE6D5}"/>
              </a:ext>
            </a:extLst>
          </p:cNvPr>
          <p:cNvSpPr txBox="1"/>
          <p:nvPr/>
        </p:nvSpPr>
        <p:spPr>
          <a:xfrm>
            <a:off x="6095847" y="5950059"/>
            <a:ext cx="6158653" cy="907941"/>
          </a:xfrm>
          <a:prstGeom prst="rect">
            <a:avLst/>
          </a:prstGeom>
          <a:noFill/>
        </p:spPr>
        <p:txBody>
          <a:bodyPr wrap="square">
            <a:spAutoFit/>
          </a:bodyPr>
          <a:lstStyle/>
          <a:p>
            <a:pPr>
              <a:spcAft>
                <a:spcPts val="600"/>
              </a:spcAft>
            </a:pPr>
            <a:r>
              <a:rPr lang="vi-VN" sz="800" b="1" dirty="0">
                <a:solidFill>
                  <a:srgbClr val="444B52"/>
                </a:solidFill>
                <a:latin typeface="Arial"/>
              </a:rPr>
              <a:t>Tâm chuông</a:t>
            </a:r>
            <a:r>
              <a:rPr lang="vi-VN" sz="800" dirty="0">
                <a:solidFill>
                  <a:srgbClr val="444B52"/>
                </a:solidFill>
                <a:latin typeface="Arial"/>
              </a:rPr>
              <a:t> là 1 điểm trên trục x, còn gọi được là:</a:t>
            </a:r>
            <a:br>
              <a:rPr lang="vi-VN" sz="800" dirty="0">
                <a:solidFill>
                  <a:srgbClr val="444B52"/>
                </a:solidFill>
                <a:latin typeface="Arial"/>
              </a:rPr>
            </a:br>
            <a:r>
              <a:rPr lang="vi-VN" sz="800" dirty="0">
                <a:solidFill>
                  <a:srgbClr val="444B52"/>
                </a:solidFill>
                <a:latin typeface="Arial"/>
              </a:rPr>
              <a:t>+ Trung bình cộng các điểm dữ liệu trục x</a:t>
            </a:r>
            <a:br>
              <a:rPr lang="vi-VN" sz="800" dirty="0">
                <a:solidFill>
                  <a:srgbClr val="444B52"/>
                </a:solidFill>
                <a:latin typeface="Arial"/>
              </a:rPr>
            </a:br>
            <a:r>
              <a:rPr lang="vi-VN" sz="800" dirty="0">
                <a:solidFill>
                  <a:srgbClr val="444B52"/>
                </a:solidFill>
                <a:latin typeface="Arial"/>
              </a:rPr>
              <a:t>+ Kỳ vọng</a:t>
            </a:r>
          </a:p>
          <a:p>
            <a:pPr>
              <a:spcAft>
                <a:spcPts val="600"/>
              </a:spcAft>
            </a:pPr>
            <a:r>
              <a:rPr lang="vi-VN" sz="800" b="1" dirty="0">
                <a:solidFill>
                  <a:srgbClr val="444B52"/>
                </a:solidFill>
                <a:latin typeface="Arial"/>
              </a:rPr>
              <a:t>Độ mập chuông</a:t>
            </a:r>
            <a:r>
              <a:rPr lang="vi-VN" sz="800" dirty="0">
                <a:solidFill>
                  <a:srgbClr val="444B52"/>
                </a:solidFill>
                <a:latin typeface="Arial"/>
              </a:rPr>
              <a:t> còn được gọi là:</a:t>
            </a:r>
            <a:br>
              <a:rPr lang="vi-VN" sz="800" dirty="0">
                <a:solidFill>
                  <a:srgbClr val="444B52"/>
                </a:solidFill>
                <a:latin typeface="Arial"/>
              </a:rPr>
            </a:br>
            <a:r>
              <a:rPr lang="vi-VN" sz="800" dirty="0">
                <a:solidFill>
                  <a:srgbClr val="444B52"/>
                </a:solidFill>
                <a:latin typeface="Arial"/>
              </a:rPr>
              <a:t>+ Độ lệch chuẩn (bằng căn bậc hai của phương sai)</a:t>
            </a:r>
            <a:br>
              <a:rPr lang="vi-VN" sz="800" dirty="0">
                <a:solidFill>
                  <a:srgbClr val="444B52"/>
                </a:solidFill>
                <a:latin typeface="Arial"/>
              </a:rPr>
            </a:br>
            <a:r>
              <a:rPr lang="vi-VN" sz="800" dirty="0">
                <a:solidFill>
                  <a:srgbClr val="444B52"/>
                </a:solidFill>
                <a:latin typeface="Arial"/>
              </a:rPr>
              <a:t>+ Phương sai là gì? Là trung bình cộng của tổng bình phương khoảng cách giữa mọi x đến điểm trung bình cộng</a:t>
            </a:r>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521EA87B-1AA5-D5E0-45FC-0887B8560A91}"/>
                  </a:ext>
                </a:extLst>
              </p:cNvPr>
              <p:cNvSpPr txBox="1"/>
              <p:nvPr/>
            </p:nvSpPr>
            <p:spPr>
              <a:xfrm>
                <a:off x="7975376" y="4430625"/>
                <a:ext cx="908004" cy="438133"/>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solidFill>
                            <a:schemeClr val="tx2">
                              <a:lumMod val="60000"/>
                              <a:lumOff val="40000"/>
                            </a:schemeClr>
                          </a:solidFill>
                          <a:latin typeface="Cambria Math" panose="02040503050406030204" pitchFamily="18" charset="0"/>
                        </a:rPr>
                        <m:t>𝜇</m:t>
                      </m:r>
                      <m:r>
                        <a:rPr lang="en-US" sz="1400" i="1" smtClean="0">
                          <a:latin typeface="Cambria Math" panose="02040503050406030204" pitchFamily="18" charset="0"/>
                        </a:rPr>
                        <m:t>=</m:t>
                      </m:r>
                      <m:f>
                        <m:fPr>
                          <m:ctrlPr>
                            <a:rPr lang="en-US" sz="1400" i="1">
                              <a:latin typeface="Cambria Math" panose="02040503050406030204" pitchFamily="18" charset="0"/>
                            </a:rPr>
                          </m:ctrlPr>
                        </m:fPr>
                        <m:num>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𝑁</m:t>
                              </m:r>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e>
                          </m:nary>
                        </m:num>
                        <m:den>
                          <m:r>
                            <a:rPr lang="en-US" sz="1400" i="1">
                              <a:latin typeface="Cambria Math" panose="02040503050406030204" pitchFamily="18" charset="0"/>
                            </a:rPr>
                            <m:t>𝑁</m:t>
                          </m:r>
                        </m:den>
                      </m:f>
                    </m:oMath>
                  </m:oMathPara>
                </a14:m>
                <a:endParaRPr dirty="0"/>
              </a:p>
            </p:txBody>
          </p:sp>
        </mc:Choice>
        <mc:Fallback>
          <p:sp>
            <p:nvSpPr>
              <p:cNvPr id="25" name="TextBox 24">
                <a:extLst>
                  <a:ext uri="{FF2B5EF4-FFF2-40B4-BE49-F238E27FC236}">
                    <a16:creationId xmlns:a16="http://schemas.microsoft.com/office/drawing/2014/main" id="{521EA87B-1AA5-D5E0-45FC-0887B8560A91}"/>
                  </a:ext>
                </a:extLst>
              </p:cNvPr>
              <p:cNvSpPr txBox="1">
                <a:spLocks noRot="1" noChangeAspect="1" noMove="1" noResize="1" noEditPoints="1" noAdjustHandles="1" noChangeArrowheads="1" noChangeShapeType="1" noTextEdit="1"/>
              </p:cNvSpPr>
              <p:nvPr/>
            </p:nvSpPr>
            <p:spPr>
              <a:xfrm>
                <a:off x="7975376" y="4430625"/>
                <a:ext cx="908004" cy="438133"/>
              </a:xfrm>
              <a:prstGeom prst="rect">
                <a:avLst/>
              </a:prstGeom>
              <a:blipFill>
                <a:blip r:embed="rId4"/>
                <a:stretch>
                  <a:fillRect l="-4110" t="-77778" r="-1370" b="-77778"/>
                </a:stretch>
              </a:blipFill>
              <a:ln w="12700">
                <a:solidFill>
                  <a:schemeClr val="accent1"/>
                </a:solidFill>
              </a:ln>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AAA4AD6-5171-E1A4-CBD2-427D2E34EBA7}"/>
                  </a:ext>
                </a:extLst>
              </p:cNvPr>
              <p:cNvSpPr txBox="1"/>
              <p:nvPr/>
            </p:nvSpPr>
            <p:spPr>
              <a:xfrm>
                <a:off x="8221527" y="5185053"/>
                <a:ext cx="1571712" cy="636521"/>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dirty="0" smtClean="0">
                          <a:solidFill>
                            <a:srgbClr val="00B050"/>
                          </a:solidFill>
                          <a:latin typeface="Cambria Math" panose="02040503050406030204" pitchFamily="18" charset="0"/>
                        </a:rPr>
                        <m:t>𝜎</m:t>
                      </m:r>
                      <m:r>
                        <a:rPr lang="en-US" sz="1400" i="1" dirty="0" smtClean="0">
                          <a:latin typeface="Cambria Math" panose="02040503050406030204" pitchFamily="18" charset="0"/>
                        </a:rPr>
                        <m:t>=</m:t>
                      </m:r>
                      <m:rad>
                        <m:radPr>
                          <m:degHide m:val="on"/>
                          <m:ctrlPr>
                            <a:rPr lang="en-US" sz="1400" i="1" dirty="0">
                              <a:latin typeface="Cambria Math" panose="02040503050406030204" pitchFamily="18" charset="0"/>
                            </a:rPr>
                          </m:ctrlPr>
                        </m:radPr>
                        <m:deg/>
                        <m:e>
                          <m:f>
                            <m:fPr>
                              <m:ctrlPr>
                                <a:rPr lang="en-US" sz="1400" i="1" dirty="0">
                                  <a:latin typeface="Cambria Math" panose="02040503050406030204" pitchFamily="18" charset="0"/>
                                </a:rPr>
                              </m:ctrlPr>
                            </m:fPr>
                            <m:num>
                              <m:nary>
                                <m:naryPr>
                                  <m:chr m:val="∑"/>
                                  <m:limLoc m:val="undOvr"/>
                                  <m:ctrlPr>
                                    <a:rPr lang="en-US" sz="1400" i="1" dirty="0">
                                      <a:latin typeface="Cambria Math" panose="02040503050406030204" pitchFamily="18" charset="0"/>
                                    </a:rPr>
                                  </m:ctrlPr>
                                </m:naryPr>
                                <m:sub>
                                  <m:r>
                                    <a:rPr lang="en-US" sz="1400" i="1" dirty="0">
                                      <a:latin typeface="Cambria Math" panose="02040503050406030204" pitchFamily="18" charset="0"/>
                                    </a:rPr>
                                    <m:t>𝑖</m:t>
                                  </m:r>
                                  <m:r>
                                    <a:rPr lang="en-US" sz="1400" i="1" dirty="0">
                                      <a:latin typeface="Cambria Math" panose="02040503050406030204" pitchFamily="18" charset="0"/>
                                    </a:rPr>
                                    <m:t>=1</m:t>
                                  </m:r>
                                </m:sub>
                                <m:sup>
                                  <m:r>
                                    <a:rPr lang="en-US" sz="1400" i="1" dirty="0">
                                      <a:latin typeface="Cambria Math" panose="02040503050406030204" pitchFamily="18" charset="0"/>
                                    </a:rPr>
                                    <m:t>𝑁</m:t>
                                  </m:r>
                                </m:sup>
                                <m:e>
                                  <m:sSup>
                                    <m:sSupPr>
                                      <m:ctrlPr>
                                        <a:rPr lang="en-US" sz="1400" i="1" dirty="0">
                                          <a:latin typeface="Cambria Math" panose="02040503050406030204" pitchFamily="18" charset="0"/>
                                        </a:rPr>
                                      </m:ctrlPr>
                                    </m:sSupPr>
                                    <m:e>
                                      <m:d>
                                        <m:dPr>
                                          <m:ctrlPr>
                                            <a:rPr lang="en-US" sz="1400" i="1" dirty="0">
                                              <a:latin typeface="Cambria Math" panose="02040503050406030204" pitchFamily="18" charset="0"/>
                                            </a:rPr>
                                          </m:ctrlPr>
                                        </m:dPr>
                                        <m:e>
                                          <m:sSub>
                                            <m:sSubPr>
                                              <m:ctrlPr>
                                                <a:rPr lang="en-US" sz="1400" i="1" dirty="0">
                                                  <a:latin typeface="Cambria Math" panose="02040503050406030204" pitchFamily="18" charset="0"/>
                                                </a:rPr>
                                              </m:ctrlPr>
                                            </m:sSubPr>
                                            <m:e>
                                              <m:r>
                                                <a:rPr lang="en-US" sz="1400" i="1" dirty="0">
                                                  <a:latin typeface="Cambria Math" panose="02040503050406030204" pitchFamily="18" charset="0"/>
                                                </a:rPr>
                                                <m:t>𝑥</m:t>
                                              </m:r>
                                            </m:e>
                                            <m:sub>
                                              <m:r>
                                                <a:rPr lang="en-US" sz="1400" i="1" dirty="0">
                                                  <a:latin typeface="Cambria Math" panose="02040503050406030204" pitchFamily="18" charset="0"/>
                                                </a:rPr>
                                                <m:t>𝑖</m:t>
                                              </m:r>
                                            </m:sub>
                                          </m:sSub>
                                          <m:r>
                                            <a:rPr lang="en-US" sz="1400" i="1" dirty="0">
                                              <a:latin typeface="Cambria Math" panose="02040503050406030204" pitchFamily="18" charset="0"/>
                                            </a:rPr>
                                            <m:t>−</m:t>
                                          </m:r>
                                          <m:r>
                                            <a:rPr lang="en-US" sz="1400" i="1" dirty="0" smtClean="0">
                                              <a:solidFill>
                                                <a:schemeClr val="tx2">
                                                  <a:lumMod val="60000"/>
                                                  <a:lumOff val="40000"/>
                                                </a:schemeClr>
                                              </a:solidFill>
                                              <a:latin typeface="Cambria Math" panose="02040503050406030204" pitchFamily="18" charset="0"/>
                                            </a:rPr>
                                            <m:t>𝜇</m:t>
                                          </m:r>
                                        </m:e>
                                      </m:d>
                                    </m:e>
                                    <m:sup>
                                      <m:r>
                                        <a:rPr lang="en-US" sz="1400" i="1" dirty="0">
                                          <a:latin typeface="Cambria Math" panose="02040503050406030204" pitchFamily="18" charset="0"/>
                                        </a:rPr>
                                        <m:t>2</m:t>
                                      </m:r>
                                    </m:sup>
                                  </m:sSup>
                                </m:e>
                              </m:nary>
                            </m:num>
                            <m:den>
                              <m:r>
                                <a:rPr lang="en-US" sz="1400" i="1" dirty="0">
                                  <a:latin typeface="Cambria Math" panose="02040503050406030204" pitchFamily="18" charset="0"/>
                                </a:rPr>
                                <m:t>𝑁</m:t>
                              </m:r>
                            </m:den>
                          </m:f>
                        </m:e>
                      </m:rad>
                    </m:oMath>
                  </m:oMathPara>
                </a14:m>
                <a:endParaRPr/>
              </a:p>
            </p:txBody>
          </p:sp>
        </mc:Choice>
        <mc:Fallback>
          <p:sp>
            <p:nvSpPr>
              <p:cNvPr id="30" name="TextBox 29">
                <a:extLst>
                  <a:ext uri="{FF2B5EF4-FFF2-40B4-BE49-F238E27FC236}">
                    <a16:creationId xmlns:a16="http://schemas.microsoft.com/office/drawing/2014/main" id="{AAAA4AD6-5171-E1A4-CBD2-427D2E34EBA7}"/>
                  </a:ext>
                </a:extLst>
              </p:cNvPr>
              <p:cNvSpPr txBox="1">
                <a:spLocks noRot="1" noChangeAspect="1" noMove="1" noResize="1" noEditPoints="1" noAdjustHandles="1" noChangeArrowheads="1" noChangeShapeType="1" noTextEdit="1"/>
              </p:cNvSpPr>
              <p:nvPr/>
            </p:nvSpPr>
            <p:spPr>
              <a:xfrm>
                <a:off x="8221527" y="5185053"/>
                <a:ext cx="1571712" cy="636521"/>
              </a:xfrm>
              <a:prstGeom prst="rect">
                <a:avLst/>
              </a:prstGeom>
              <a:blipFill>
                <a:blip r:embed="rId5"/>
                <a:stretch>
                  <a:fillRect l="-1600" t="-39216" r="-800" b="-43137"/>
                </a:stretch>
              </a:blipFill>
              <a:ln w="12700">
                <a:solidFill>
                  <a:schemeClr val="accent1"/>
                </a:solid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4E13F544-6BE9-E8CF-1705-F64976CC9E5F}"/>
              </a:ext>
            </a:extLst>
          </p:cNvPr>
          <p:cNvSpPr txBox="1"/>
          <p:nvPr/>
        </p:nvSpPr>
        <p:spPr>
          <a:xfrm>
            <a:off x="6169990" y="1991047"/>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endParaRPr lang="en-US" sz="1400" b="1" dirty="0">
              <a:solidFill>
                <a:srgbClr val="1B8A7A"/>
              </a:solidFill>
              <a:latin typeface="Arial"/>
            </a:endParaRP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2E9CD65B-A872-3922-255A-1A8982278E16}"/>
                  </a:ext>
                </a:extLst>
              </p:cNvPr>
              <p:cNvSpPr txBox="1"/>
              <p:nvPr/>
            </p:nvSpPr>
            <p:spPr>
              <a:xfrm>
                <a:off x="6913961" y="3521654"/>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𝑥</m:t>
                      </m:r>
                      <m:r>
                        <a:rPr lang="en-US" sz="1400" i="1" smtClean="0">
                          <a:latin typeface="Cambria Math" panose="02040503050406030204" pitchFamily="18" charset="0"/>
                        </a:rPr>
                        <m:t>=</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32" name="TextBox 31">
                <a:extLst>
                  <a:ext uri="{FF2B5EF4-FFF2-40B4-BE49-F238E27FC236}">
                    <a16:creationId xmlns:a16="http://schemas.microsoft.com/office/drawing/2014/main" id="{2E9CD65B-A872-3922-255A-1A8982278E16}"/>
                  </a:ext>
                </a:extLst>
              </p:cNvPr>
              <p:cNvSpPr txBox="1">
                <a:spLocks noRot="1" noChangeAspect="1" noMove="1" noResize="1" noEditPoints="1" noAdjustHandles="1" noChangeArrowheads="1" noChangeShapeType="1" noTextEdit="1"/>
              </p:cNvSpPr>
              <p:nvPr/>
            </p:nvSpPr>
            <p:spPr>
              <a:xfrm>
                <a:off x="6913961" y="3521654"/>
                <a:ext cx="1899751" cy="215444"/>
              </a:xfrm>
              <a:prstGeom prst="rect">
                <a:avLst/>
              </a:prstGeom>
              <a:blipFill>
                <a:blip r:embed="rId7"/>
                <a:stretch>
                  <a:fillRect l="-1325" t="-27778" r="-5960" b="-44444"/>
                </a:stretch>
              </a:blipFill>
            </p:spPr>
            <p:txBody>
              <a:bodyPr/>
              <a:lstStyle/>
              <a:p>
                <a:r>
                  <a:rPr lang="en-VN">
                    <a:noFill/>
                  </a:rPr>
                  <a:t> </a:t>
                </a:r>
              </a:p>
            </p:txBody>
          </p:sp>
        </mc:Fallback>
      </mc:AlternateContent>
      <p:pic>
        <p:nvPicPr>
          <p:cNvPr id="8" name="Picture 7">
            <a:extLst>
              <a:ext uri="{FF2B5EF4-FFF2-40B4-BE49-F238E27FC236}">
                <a16:creationId xmlns:a16="http://schemas.microsoft.com/office/drawing/2014/main" id="{172684AB-392C-2F5F-4B62-B306A7BC8AC9}"/>
              </a:ext>
            </a:extLst>
          </p:cNvPr>
          <p:cNvPicPr>
            <a:picLocks noChangeAspect="1"/>
          </p:cNvPicPr>
          <p:nvPr/>
        </p:nvPicPr>
        <p:blipFill>
          <a:blip r:embed="rId8"/>
          <a:stretch>
            <a:fillRect/>
          </a:stretch>
        </p:blipFill>
        <p:spPr>
          <a:xfrm>
            <a:off x="187781" y="2207259"/>
            <a:ext cx="5593644" cy="432403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9C804-1A0C-1BD1-5BCD-EAB66596183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0E0ABE0-BDBC-820B-ADDF-1F475555D5A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32D9951B-93CD-2C59-DF44-05D9463FE03C}"/>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cái chuông (hàn lâm là mô hình hỗn hợp phân phối chuẩn)</a:t>
            </a:r>
          </a:p>
          <a:p>
            <a:pPr>
              <a:spcAft>
                <a:spcPts val="600"/>
              </a:spcAft>
            </a:pPr>
            <a:r>
              <a:rPr lang="vi-VN" sz="1400" dirty="0">
                <a:solidFill>
                  <a:srgbClr val="444B52"/>
                </a:solidFill>
                <a:latin typeface="Arial"/>
              </a:rPr>
              <a:t>	- Mô hình được train bằng cách kết hợp K-Means và phương pháp Expectation-Maximization(cực đại hoá kỳ vọng)</a:t>
            </a:r>
          </a:p>
        </p:txBody>
      </p:sp>
      <p:sp>
        <p:nvSpPr>
          <p:cNvPr id="9" name="TextBox 8">
            <a:extLst>
              <a:ext uri="{FF2B5EF4-FFF2-40B4-BE49-F238E27FC236}">
                <a16:creationId xmlns:a16="http://schemas.microsoft.com/office/drawing/2014/main" id="{71AD1DCA-246C-0D3A-F33C-4051D0050E09}"/>
              </a:ext>
            </a:extLst>
          </p:cNvPr>
          <p:cNvSpPr txBox="1"/>
          <p:nvPr/>
        </p:nvSpPr>
        <p:spPr>
          <a:xfrm>
            <a:off x="8987246" y="6075498"/>
            <a:ext cx="3204449" cy="738664"/>
          </a:xfrm>
          <a:prstGeom prst="rect">
            <a:avLst/>
          </a:prstGeom>
          <a:noFill/>
        </p:spPr>
        <p:txBody>
          <a:bodyPr wrap="square">
            <a:spAutoFit/>
          </a:bodyPr>
          <a:lstStyle/>
          <a:p>
            <a:pPr>
              <a:spcAft>
                <a:spcPts val="600"/>
              </a:spcAft>
            </a:pPr>
            <a:br>
              <a:rPr lang="vi-VN" sz="1400" dirty="0">
                <a:solidFill>
                  <a:srgbClr val="444B52"/>
                </a:solidFill>
                <a:latin typeface="Arial"/>
              </a:rPr>
            </a:br>
            <a:r>
              <a:rPr lang="vi-VN" sz="1400" dirty="0">
                <a:solidFill>
                  <a:srgbClr val="444B52"/>
                </a:solidFill>
                <a:latin typeface="Arial"/>
              </a:rPr>
              <a:t>	+ Cái chuông là gì?</a:t>
            </a:r>
            <a:br>
              <a:rPr lang="vi-VN" sz="1400" dirty="0">
                <a:solidFill>
                  <a:srgbClr val="444B52"/>
                </a:solidFill>
                <a:latin typeface="Arial"/>
              </a:rPr>
            </a:br>
            <a:r>
              <a:rPr lang="vi-VN" sz="1400" dirty="0">
                <a:solidFill>
                  <a:srgbClr val="444B52"/>
                </a:solidFill>
                <a:latin typeface="Arial"/>
              </a:rPr>
              <a:t>	+ Làm sao vẽ từng cái chuông?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64800CF-676B-75BA-EA1C-4A3452002424}"/>
                  </a:ext>
                </a:extLst>
              </p:cNvPr>
              <p:cNvSpPr txBox="1"/>
              <p:nvPr/>
            </p:nvSpPr>
            <p:spPr>
              <a:xfrm>
                <a:off x="5625737" y="2263665"/>
                <a:ext cx="6565958" cy="3844129"/>
              </a:xfrm>
              <a:prstGeom prst="rect">
                <a:avLst/>
              </a:prstGeom>
              <a:noFill/>
            </p:spPr>
            <p:txBody>
              <a:bodyPr wrap="square">
                <a:spAutoFit/>
              </a:bodyPr>
              <a:lstStyle/>
              <a:p>
                <a:pPr>
                  <a:spcAft>
                    <a:spcPts val="600"/>
                  </a:spcAft>
                </a:pPr>
                <a:r>
                  <a:rPr lang="vi-VN" sz="1400" b="1" dirty="0">
                    <a:solidFill>
                      <a:srgbClr val="1B8A7A"/>
                    </a:solidFill>
                    <a:latin typeface="Arial"/>
                  </a:rPr>
                  <a:t>Công thức suy ra từ ý tưởng:</a:t>
                </a:r>
              </a:p>
              <a:p>
                <a:pPr>
                  <a:spcAft>
                    <a:spcPts val="600"/>
                  </a:spcAft>
                </a:pPr>
                <a:r>
                  <a:rPr lang="vi-VN" sz="1400" dirty="0">
                    <a:solidFill>
                      <a:srgbClr val="444B52"/>
                    </a:solidFill>
                    <a:latin typeface="Arial"/>
                  </a:rPr>
                  <a:t>	GMM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trọngSố</a:t>
                </a:r>
                <a:r>
                  <a:rPr lang="vi-VN" sz="1400" baseline="-25000" dirty="0">
                    <a:solidFill>
                      <a:schemeClr val="tx2">
                        <a:lumMod val="60000"/>
                        <a:lumOff val="40000"/>
                      </a:schemeClr>
                    </a:solidFill>
                    <a:latin typeface="Arial"/>
                  </a:rPr>
                  <a:t>k</a:t>
                </a:r>
                <a:r>
                  <a:rPr lang="vi-VN" sz="1400" dirty="0">
                    <a:solidFill>
                      <a:schemeClr val="tx2">
                        <a:lumMod val="60000"/>
                        <a:lumOff val="40000"/>
                      </a:schemeClr>
                    </a:solidFill>
                    <a:latin typeface="Arial"/>
                  </a:rPr>
                  <a:t> </a:t>
                </a:r>
                <a:r>
                  <a:rPr lang="vi-VN" sz="1400" dirty="0">
                    <a:latin typeface="Arial"/>
                  </a:rPr>
                  <a:t>kí hiệu là Pi:</a:t>
                </a:r>
                <a:r>
                  <a:rPr lang="vi-VN" sz="1400" dirty="0">
                    <a:solidFill>
                      <a:schemeClr val="tx2">
                        <a:lumMod val="60000"/>
                        <a:lumOff val="40000"/>
                      </a:schemeClr>
                    </a:solidFill>
                    <a:latin typeface="Arial"/>
                  </a:rPr>
                  <a:t> </a:t>
                </a:r>
                <a14:m>
                  <m:oMath xmlns:m="http://schemas.openxmlformats.org/officeDocument/2006/math">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oMath>
                </a14:m>
                <a:r>
                  <a:rPr lang="vi-VN" sz="1400" b="1" dirty="0">
                    <a:solidFill>
                      <a:schemeClr val="accent6">
                        <a:lumMod val="75000"/>
                      </a:schemeClr>
                    </a:solidFill>
                    <a:latin typeface="Arial"/>
                  </a:rPr>
                  <a:t> </a:t>
                </a:r>
                <a:r>
                  <a:rPr lang="vi-VN" sz="1400" dirty="0">
                    <a:latin typeface="Arial"/>
                  </a:rPr>
                  <a:t>(</a:t>
                </a:r>
                <a:r>
                  <a:rPr lang="vi-VN" sz="1400" b="1" dirty="0">
                    <a:latin typeface="Arial"/>
                  </a:rPr>
                  <a:t>P</a:t>
                </a:r>
                <a:r>
                  <a:rPr lang="vi-VN" sz="1400" dirty="0">
                    <a:latin typeface="Arial"/>
                  </a:rPr>
                  <a:t>robability), </a:t>
                </a:r>
                <a:endParaRPr lang="vi-VN" sz="1400" b="1" dirty="0">
                  <a:solidFill>
                    <a:schemeClr val="accent6">
                      <a:lumMod val="75000"/>
                    </a:schemeClr>
                  </a:solidFill>
                  <a:latin typeface="Arial"/>
                </a:endParaRPr>
              </a:p>
              <a:p>
                <a:pPr>
                  <a:spcAft>
                    <a:spcPts val="600"/>
                  </a:spcAft>
                </a:pPr>
                <a:r>
                  <a:rPr lang="vi-VN" sz="1400" dirty="0">
                    <a:solidFill>
                      <a:schemeClr val="accent6">
                        <a:lumMod val="75000"/>
                      </a:schemeClr>
                    </a:solidFill>
                    <a:latin typeface="Arial"/>
                  </a:rPr>
                  <a:t>	chuông</a:t>
                </a:r>
                <a:r>
                  <a:rPr lang="vi-VN" sz="1400" baseline="-25000" dirty="0">
                    <a:solidFill>
                      <a:schemeClr val="accent6">
                        <a:lumMod val="75000"/>
                      </a:schemeClr>
                    </a:solidFill>
                    <a:latin typeface="Arial"/>
                  </a:rPr>
                  <a:t>k</a:t>
                </a:r>
                <a:r>
                  <a:rPr lang="vi-VN" sz="1400" dirty="0">
                    <a:solidFill>
                      <a:schemeClr val="accent6">
                        <a:lumMod val="75000"/>
                      </a:schemeClr>
                    </a:solidFill>
                    <a:latin typeface="Arial"/>
                  </a:rPr>
                  <a:t> </a:t>
                </a:r>
                <a:r>
                  <a:rPr lang="vi-VN" sz="1400" dirty="0">
                    <a:latin typeface="Arial"/>
                  </a:rPr>
                  <a:t>kí hiệu là N: </a:t>
                </a:r>
                <a14:m>
                  <m:oMath xmlns:m="http://schemas.openxmlformats.org/officeDocument/2006/math">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i="1">
                                <a:solidFill>
                                  <a:schemeClr val="accent6">
                                    <a:lumMod val="75000"/>
                                  </a:schemeClr>
                                </a:solidFill>
                                <a:latin typeface="Cambria Math" panose="02040503050406030204" pitchFamily="18" charset="0"/>
                              </a:rPr>
                            </m:ctrlPr>
                          </m:sSubPr>
                          <m:e>
                            <m:r>
                              <a:rPr lang="vi-VN"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i="1">
                            <a:solidFill>
                              <a:schemeClr val="accent6">
                                <a:lumMod val="75000"/>
                              </a:schemeClr>
                            </a:solidFill>
                            <a:latin typeface="Cambria Math" panose="02040503050406030204" pitchFamily="18" charset="0"/>
                          </a:rPr>
                          <m:t>)</m:t>
                        </m:r>
                      </m:e>
                    </m:d>
                  </m:oMath>
                </a14:m>
                <a:r>
                  <a:rPr lang="vi-VN" sz="1400" b="1" dirty="0">
                    <a:solidFill>
                      <a:schemeClr val="accent6">
                        <a:lumMod val="75000"/>
                      </a:schemeClr>
                    </a:solidFill>
                    <a:latin typeface="Arial"/>
                  </a:rPr>
                  <a:t> </a:t>
                </a:r>
                <a:r>
                  <a:rPr lang="vi-VN" sz="1400" dirty="0">
                    <a:latin typeface="Arial"/>
                  </a:rPr>
                  <a:t>(</a:t>
                </a:r>
                <a:r>
                  <a:rPr lang="vi-VN" sz="1400" b="1" dirty="0">
                    <a:latin typeface="Arial"/>
                  </a:rPr>
                  <a:t>N</a:t>
                </a:r>
                <a:r>
                  <a:rPr lang="vi-VN" sz="1400" dirty="0">
                    <a:latin typeface="Arial"/>
                  </a:rPr>
                  <a:t>ormal Distribution), </a:t>
                </a:r>
                <a:endParaRPr lang="vi-VN" sz="1400" b="1" dirty="0">
                  <a:solidFill>
                    <a:schemeClr val="accent6">
                      <a:lumMod val="75000"/>
                    </a:schemeClr>
                  </a:solidFill>
                  <a:latin typeface="Arial"/>
                </a:endParaRPr>
              </a:p>
              <a:p>
                <a:pPr>
                  <a:spcAft>
                    <a:spcPts val="600"/>
                  </a:spcAft>
                </a:pPr>
                <a:r>
                  <a:rPr lang="vi-VN" sz="1400" b="1" dirty="0">
                    <a:solidFill>
                      <a:srgbClr val="1B8A7A"/>
                    </a:solidFill>
                    <a:latin typeface="Arial"/>
                  </a:rPr>
                  <a:t>	</a:t>
                </a: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064800CF-676B-75BA-EA1C-4A3452002424}"/>
                  </a:ext>
                </a:extLst>
              </p:cNvPr>
              <p:cNvSpPr txBox="1">
                <a:spLocks noRot="1" noChangeAspect="1" noMove="1" noResize="1" noEditPoints="1" noAdjustHandles="1" noChangeArrowheads="1" noChangeShapeType="1" noTextEdit="1"/>
              </p:cNvSpPr>
              <p:nvPr/>
            </p:nvSpPr>
            <p:spPr>
              <a:xfrm>
                <a:off x="5625737" y="2263665"/>
                <a:ext cx="6565958" cy="3844129"/>
              </a:xfrm>
              <a:prstGeom prst="rect">
                <a:avLst/>
              </a:prstGeom>
              <a:blipFill>
                <a:blip r:embed="rId3"/>
                <a:stretch>
                  <a:fillRect l="-386" t="-33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B099B4-5D12-05E9-0464-90F5158D4D9A}"/>
                  </a:ext>
                </a:extLst>
              </p:cNvPr>
              <p:cNvSpPr txBox="1"/>
              <p:nvPr/>
            </p:nvSpPr>
            <p:spPr>
              <a:xfrm>
                <a:off x="6096000" y="5226364"/>
                <a:ext cx="2331279"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3" name="TextBox 2">
                <a:extLst>
                  <a:ext uri="{FF2B5EF4-FFF2-40B4-BE49-F238E27FC236}">
                    <a16:creationId xmlns:a16="http://schemas.microsoft.com/office/drawing/2014/main" id="{82B099B4-5D12-05E9-0464-90F5158D4D9A}"/>
                  </a:ext>
                </a:extLst>
              </p:cNvPr>
              <p:cNvSpPr txBox="1">
                <a:spLocks noRot="1" noChangeAspect="1" noMove="1" noResize="1" noEditPoints="1" noAdjustHandles="1" noChangeArrowheads="1" noChangeShapeType="1" noTextEdit="1"/>
              </p:cNvSpPr>
              <p:nvPr/>
            </p:nvSpPr>
            <p:spPr>
              <a:xfrm>
                <a:off x="6096000" y="5226364"/>
                <a:ext cx="2331279" cy="605807"/>
              </a:xfrm>
              <a:prstGeom prst="rect">
                <a:avLst/>
              </a:prstGeom>
              <a:blipFill>
                <a:blip r:embed="rId4"/>
                <a:stretch>
                  <a:fillRect l="-1622"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8C2BA3B-CB84-E41A-8361-47B85EED801F}"/>
                  </a:ext>
                </a:extLst>
              </p:cNvPr>
              <p:cNvSpPr txBox="1"/>
              <p:nvPr/>
            </p:nvSpPr>
            <p:spPr>
              <a:xfrm>
                <a:off x="6096000" y="4061029"/>
                <a:ext cx="2331279" cy="605807"/>
              </a:xfrm>
              <a:prstGeom prst="rect">
                <a:avLst/>
              </a:prstGeom>
              <a:noFill/>
              <a:ln w="12700">
                <a:solidFill>
                  <a:schemeClr val="tx2"/>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12" name="TextBox 11">
                <a:extLst>
                  <a:ext uri="{FF2B5EF4-FFF2-40B4-BE49-F238E27FC236}">
                    <a16:creationId xmlns:a16="http://schemas.microsoft.com/office/drawing/2014/main" id="{28C2BA3B-CB84-E41A-8361-47B85EED801F}"/>
                  </a:ext>
                </a:extLst>
              </p:cNvPr>
              <p:cNvSpPr txBox="1">
                <a:spLocks noRot="1" noChangeAspect="1" noMove="1" noResize="1" noEditPoints="1" noAdjustHandles="1" noChangeArrowheads="1" noChangeShapeType="1" noTextEdit="1"/>
              </p:cNvSpPr>
              <p:nvPr/>
            </p:nvSpPr>
            <p:spPr>
              <a:xfrm>
                <a:off x="6096000" y="4061029"/>
                <a:ext cx="2331279" cy="605807"/>
              </a:xfrm>
              <a:prstGeom prst="rect">
                <a:avLst/>
              </a:prstGeom>
              <a:blipFill>
                <a:blip r:embed="rId5"/>
                <a:stretch>
                  <a:fillRect l="-2703" t="-110000" b="-172000"/>
                </a:stretch>
              </a:blipFill>
              <a:ln w="12700">
                <a:solidFill>
                  <a:schemeClr val="tx2"/>
                </a:solidFill>
              </a:ln>
            </p:spPr>
            <p:txBody>
              <a:bodyPr/>
              <a:lstStyle/>
              <a:p>
                <a:r>
                  <a:rPr lang="en-VN">
                    <a:noFill/>
                  </a:rPr>
                  <a:t> </a:t>
                </a:r>
              </a:p>
            </p:txBody>
          </p:sp>
        </mc:Fallback>
      </mc:AlternateContent>
      <p:pic>
        <p:nvPicPr>
          <p:cNvPr id="13" name="Picture 12">
            <a:extLst>
              <a:ext uri="{FF2B5EF4-FFF2-40B4-BE49-F238E27FC236}">
                <a16:creationId xmlns:a16="http://schemas.microsoft.com/office/drawing/2014/main" id="{C80044FC-AE13-3B80-9746-05D4883A7765}"/>
              </a:ext>
            </a:extLst>
          </p:cNvPr>
          <p:cNvPicPr>
            <a:picLocks noChangeAspect="1"/>
          </p:cNvPicPr>
          <p:nvPr/>
        </p:nvPicPr>
        <p:blipFill>
          <a:blip r:embed="rId6"/>
          <a:stretch>
            <a:fillRect/>
          </a:stretch>
        </p:blipFill>
        <p:spPr>
          <a:xfrm>
            <a:off x="-1" y="2263665"/>
            <a:ext cx="5625738" cy="4181165"/>
          </a:xfrm>
          <a:prstGeom prst="rect">
            <a:avLst/>
          </a:prstGeom>
        </p:spPr>
      </p:pic>
    </p:spTree>
    <p:extLst>
      <p:ext uri="{BB962C8B-B14F-4D97-AF65-F5344CB8AC3E}">
        <p14:creationId xmlns:p14="http://schemas.microsoft.com/office/powerpoint/2010/main" val="3105675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4" name="TextBox 3"/>
          <p:cNvSpPr txBox="1"/>
          <p:nvPr/>
        </p:nvSpPr>
        <p:spPr>
          <a:xfrm>
            <a:off x="503072" y="126904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Train model:</a:t>
            </a:r>
            <a:endParaRPr lang="vi-VN" sz="1500" b="1" dirty="0">
              <a:solidFill>
                <a:srgbClr val="444B52"/>
              </a:solidFill>
              <a:latin typeface="Arial"/>
            </a:endParaRPr>
          </a:p>
        </p:txBody>
      </p:sp>
      <p:pic>
        <p:nvPicPr>
          <p:cNvPr id="5" name="Picture 4">
            <a:extLst>
              <a:ext uri="{FF2B5EF4-FFF2-40B4-BE49-F238E27FC236}">
                <a16:creationId xmlns:a16="http://schemas.microsoft.com/office/drawing/2014/main" id="{5FF91F1E-71BE-8A83-9973-9680D05967EF}"/>
              </a:ext>
            </a:extLst>
          </p:cNvPr>
          <p:cNvPicPr>
            <a:picLocks noChangeAspect="1"/>
          </p:cNvPicPr>
          <p:nvPr/>
        </p:nvPicPr>
        <p:blipFill>
          <a:blip r:embed="rId3"/>
          <a:stretch>
            <a:fillRect/>
          </a:stretch>
        </p:blipFill>
        <p:spPr>
          <a:xfrm>
            <a:off x="1528054" y="1702276"/>
            <a:ext cx="9135585" cy="381830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F3680C46-82C4-AF84-3003-F39F142BCD3E}"/>
              </a:ext>
            </a:extLst>
          </p:cNvPr>
          <p:cNvSpPr txBox="1"/>
          <p:nvPr/>
        </p:nvSpPr>
        <p:spPr>
          <a:xfrm>
            <a:off x="364068" y="1267772"/>
            <a:ext cx="8796865" cy="2939266"/>
          </a:xfrm>
          <a:prstGeom prst="rect">
            <a:avLst/>
          </a:prstGeom>
          <a:noFill/>
        </p:spPr>
        <p:txBody>
          <a:bodyPr wrap="square">
            <a:spAutoFit/>
          </a:bodyPr>
          <a:lstStyle/>
          <a:p>
            <a:pPr>
              <a:spcAft>
                <a:spcPts val="600"/>
              </a:spcAft>
            </a:pPr>
            <a:r>
              <a:rPr lang="en-US" sz="1400" b="1" dirty="0">
                <a:solidFill>
                  <a:srgbClr val="1B8A7A"/>
                </a:solidFill>
                <a:latin typeface="Arial"/>
              </a:rPr>
              <a:t>•  2 </a:t>
            </a:r>
            <a:r>
              <a:rPr lang="en-US" sz="1400" b="1" dirty="0" err="1">
                <a:solidFill>
                  <a:srgbClr val="1B8A7A"/>
                </a:solidFill>
                <a:latin typeface="Arial"/>
              </a:rPr>
              <a:t>cơ</a:t>
            </a:r>
            <a:r>
              <a:rPr lang="en-US" sz="1400" b="1" dirty="0">
                <a:solidFill>
                  <a:srgbClr val="1B8A7A"/>
                </a:solidFill>
                <a:latin typeface="Arial"/>
              </a:rPr>
              <a:t> </a:t>
            </a:r>
            <a:r>
              <a:rPr lang="en-US" sz="1400" b="1" dirty="0" err="1">
                <a:solidFill>
                  <a:srgbClr val="1B8A7A"/>
                </a:solidFill>
                <a:latin typeface="Arial"/>
              </a:rPr>
              <a:t>chế</a:t>
            </a:r>
            <a:r>
              <a:rPr lang="en-US" sz="1400" b="1" dirty="0">
                <a:solidFill>
                  <a:srgbClr val="1B8A7A"/>
                </a:solidFill>
                <a:latin typeface="Arial"/>
              </a:rPr>
              <a:t> </a:t>
            </a:r>
            <a:r>
              <a:rPr lang="en-US" sz="1400" b="1" dirty="0" err="1">
                <a:solidFill>
                  <a:srgbClr val="1B8A7A"/>
                </a:solidFill>
                <a:latin typeface="Arial"/>
              </a:rPr>
              <a:t>gán</a:t>
            </a:r>
            <a:r>
              <a:rPr lang="en-US" sz="1400" b="1" dirty="0">
                <a:solidFill>
                  <a:srgbClr val="1B8A7A"/>
                </a:solidFill>
                <a:latin typeface="Arial"/>
              </a:rPr>
              <a:t> </a:t>
            </a:r>
            <a:r>
              <a:rPr lang="en-US" sz="1400" b="1" dirty="0" err="1">
                <a:solidFill>
                  <a:srgbClr val="1B8A7A"/>
                </a:solidFill>
                <a:latin typeface="Arial"/>
              </a:rPr>
              <a:t>nhãn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cứng</a:t>
            </a:r>
            <a:r>
              <a:rPr lang="vi-VN" sz="1400" dirty="0">
                <a:solidFill>
                  <a:srgbClr val="444B52"/>
                </a:solidFill>
                <a:latin typeface="Arial"/>
              </a:rPr>
              <a:t> (một datapoint thuộc đúng 1 cụm)</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mềm</a:t>
            </a:r>
            <a:r>
              <a:rPr lang="vi-VN" sz="1400" dirty="0">
                <a:solidFill>
                  <a:srgbClr val="444B52"/>
                </a:solidFill>
                <a:latin typeface="Arial"/>
              </a:rPr>
              <a:t> (một datapoint thuộc 40% cụm này, 30% cụm kia, 30% cụm nọ)</a:t>
            </a:r>
          </a:p>
          <a:p>
            <a:pPr>
              <a:spcAft>
                <a:spcPts val="600"/>
              </a:spcAft>
            </a:pPr>
            <a:endParaRPr lang="en-US" sz="1400" b="1" dirty="0">
              <a:solidFill>
                <a:srgbClr val="1B8A7A"/>
              </a:solidFill>
              <a:latin typeface="Arial"/>
            </a:endParaRPr>
          </a:p>
          <a:p>
            <a:pPr>
              <a:spcAft>
                <a:spcPts val="600"/>
              </a:spcAft>
            </a:pPr>
            <a:r>
              <a:rPr lang="en-US" sz="1400" b="1" dirty="0">
                <a:solidFill>
                  <a:srgbClr val="1B8A7A"/>
                </a:solidFill>
                <a:latin typeface="Arial"/>
              </a:rPr>
              <a:t>•  5 </a:t>
            </a:r>
            <a:r>
              <a:rPr lang="en-US" sz="1400" b="1" dirty="0" err="1">
                <a:solidFill>
                  <a:srgbClr val="1B8A7A"/>
                </a:solidFill>
                <a:latin typeface="Arial"/>
              </a:rPr>
              <a:t>nhóm</a:t>
            </a:r>
            <a:r>
              <a:rPr lang="en-US" sz="1400" b="1" dirty="0">
                <a:solidFill>
                  <a:srgbClr val="1B8A7A"/>
                </a:solidFill>
                <a:latin typeface="Arial"/>
              </a:rPr>
              <a:t> </a:t>
            </a:r>
            <a:r>
              <a:rPr lang="en-US" sz="1400" b="1" dirty="0" err="1">
                <a:solidFill>
                  <a:srgbClr val="1B8A7A"/>
                </a:solidFill>
                <a:latin typeface="Arial"/>
              </a:rPr>
              <a:t>thuật</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b="1" dirty="0">
                <a:solidFill>
                  <a:srgbClr val="444B52"/>
                </a:solidFill>
                <a:latin typeface="Arial"/>
              </a:rPr>
              <a:t>Phân cụm </a:t>
            </a:r>
            <a:r>
              <a:rPr lang="vi-VN" sz="1400" b="1" dirty="0">
                <a:solidFill>
                  <a:srgbClr val="444B52"/>
                </a:solidFill>
                <a:highlight>
                  <a:srgbClr val="FFFF00"/>
                </a:highlight>
                <a:latin typeface="Arial"/>
              </a:rPr>
              <a:t>dựa trên phân phối</a:t>
            </a:r>
            <a:r>
              <a:rPr lang="vi-VN" sz="1400" b="1" dirty="0">
                <a:solidFill>
                  <a:srgbClr val="444B52"/>
                </a:solidFill>
                <a:latin typeface="Arial"/>
              </a:rPr>
              <a:t> (Distribution-based) =&gt; GMM thuộc loại này</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dựa trên mật độ</a:t>
            </a:r>
            <a:r>
              <a:rPr lang="vi-VN" sz="1400" dirty="0">
                <a:solidFill>
                  <a:srgbClr val="444B52"/>
                </a:solidFill>
                <a:latin typeface="Arial"/>
              </a:rPr>
              <a:t> (Density-based)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hoạch</a:t>
            </a:r>
            <a:r>
              <a:rPr lang="vi-VN" sz="1400" dirty="0">
                <a:solidFill>
                  <a:srgbClr val="444B52"/>
                </a:solidFill>
                <a:latin typeface="Arial"/>
              </a:rPr>
              <a:t> (Partitioning / Centroid-based)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cấp</a:t>
            </a:r>
            <a:r>
              <a:rPr lang="vi-VN" sz="1400" dirty="0">
                <a:solidFill>
                  <a:srgbClr val="444B52"/>
                </a:solidFill>
                <a:latin typeface="Arial"/>
              </a:rPr>
              <a:t> (Hierarchical / Connectivity-based)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phổ</a:t>
            </a:r>
            <a:r>
              <a:rPr lang="vi-VN" sz="1400" dirty="0">
                <a:solidFill>
                  <a:srgbClr val="444B52"/>
                </a:solidFill>
                <a:latin typeface="Arial"/>
              </a:rPr>
              <a:t> (Spectral Clustering)</a:t>
            </a:r>
          </a:p>
        </p:txBody>
      </p:sp>
    </p:spTree>
    <p:extLst>
      <p:ext uri="{BB962C8B-B14F-4D97-AF65-F5344CB8AC3E}">
        <p14:creationId xmlns:p14="http://schemas.microsoft.com/office/powerpoint/2010/main" val="1877805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a:t>
            </a:r>
            <a:r>
              <a:rPr sz="2600" b="1" dirty="0">
                <a:solidFill>
                  <a:srgbClr val="FFFFFF"/>
                </a:solidFill>
                <a:latin typeface="Arial"/>
              </a:rPr>
              <a:t>. </a:t>
            </a:r>
            <a:r>
              <a:rPr sz="2600" b="1" dirty="0" err="1">
                <a:solidFill>
                  <a:srgbClr val="FFFFFF"/>
                </a:solidFill>
                <a:latin typeface="Arial"/>
              </a:rPr>
              <a:t>Dữ</a:t>
            </a:r>
            <a:r>
              <a:rPr sz="2600" b="1" dirty="0">
                <a:solidFill>
                  <a:srgbClr val="FFFFFF"/>
                </a:solidFill>
                <a:latin typeface="Arial"/>
              </a:rPr>
              <a:t> </a:t>
            </a:r>
            <a:r>
              <a:rPr sz="2600" b="1" dirty="0" err="1">
                <a:solidFill>
                  <a:srgbClr val="FFFFFF"/>
                </a:solidFill>
                <a:latin typeface="Arial"/>
              </a:rPr>
              <a:t>liệ</a:t>
            </a:r>
            <a:r>
              <a:rPr lang="en-US" sz="2600" b="1" dirty="0" err="1">
                <a:solidFill>
                  <a:srgbClr val="FFFFFF"/>
                </a:solidFill>
                <a:latin typeface="Arial"/>
              </a:rPr>
              <a:t>u</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3" name="TextBox 2"/>
          <p:cNvSpPr txBox="1"/>
          <p:nvPr/>
        </p:nvSpPr>
        <p:spPr>
          <a:xfrm>
            <a:off x="502920" y="1289780"/>
            <a:ext cx="3647152" cy="323165"/>
          </a:xfrm>
          <a:prstGeom prst="rect">
            <a:avLst/>
          </a:prstGeom>
          <a:noFill/>
        </p:spPr>
        <p:txBody>
          <a:bodyPr wrap="none">
            <a:spAutoFit/>
          </a:bodyPr>
          <a:lstStyle/>
          <a:p>
            <a:r>
              <a:rPr sz="1500" b="1" dirty="0" err="1">
                <a:solidFill>
                  <a:srgbClr val="1B8A7A"/>
                </a:solidFill>
                <a:latin typeface="Arial"/>
              </a:rPr>
              <a:t>Dữ</a:t>
            </a:r>
            <a:r>
              <a:rPr sz="1500" b="1" dirty="0">
                <a:solidFill>
                  <a:srgbClr val="1B8A7A"/>
                </a:solidFill>
                <a:latin typeface="Arial"/>
              </a:rPr>
              <a:t> </a:t>
            </a:r>
            <a:r>
              <a:rPr sz="1500" b="1" dirty="0" err="1">
                <a:solidFill>
                  <a:srgbClr val="1B8A7A"/>
                </a:solidFill>
                <a:latin typeface="Arial"/>
              </a:rPr>
              <a:t>liệu</a:t>
            </a:r>
            <a:r>
              <a:rPr sz="1500" b="1" dirty="0">
                <a:solidFill>
                  <a:srgbClr val="1B8A7A"/>
                </a:solidFill>
                <a:latin typeface="Arial"/>
              </a:rPr>
              <a:t> &amp;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chất</a:t>
            </a:r>
            <a:r>
              <a:rPr sz="1500" b="1" dirty="0">
                <a:solidFill>
                  <a:srgbClr val="1B8A7A"/>
                </a:solidFill>
                <a:latin typeface="Arial"/>
              </a:rPr>
              <a:t> </a:t>
            </a:r>
            <a:r>
              <a:rPr sz="1500" b="1" dirty="0" err="1">
                <a:solidFill>
                  <a:srgbClr val="1B8A7A"/>
                </a:solidFill>
                <a:latin typeface="Arial"/>
              </a:rPr>
              <a:t>lượng</a:t>
            </a:r>
            <a:r>
              <a:rPr sz="1500" b="1" dirty="0">
                <a:solidFill>
                  <a:srgbClr val="1B8A7A"/>
                </a:solidFill>
                <a:latin typeface="Arial"/>
              </a:rPr>
              <a:t> </a:t>
            </a:r>
            <a:r>
              <a:rPr sz="1500" b="1" dirty="0" err="1">
                <a:solidFill>
                  <a:srgbClr val="1B8A7A"/>
                </a:solidFill>
                <a:latin typeface="Arial"/>
              </a:rPr>
              <a:t>nguồn</a:t>
            </a:r>
            <a:r>
              <a:rPr lang="vi-VN" sz="1500" b="1" dirty="0">
                <a:solidFill>
                  <a:srgbClr val="1B8A7A"/>
                </a:solidFill>
                <a:latin typeface="Arial"/>
              </a:rPr>
              <a:t>:</a:t>
            </a:r>
            <a:endParaRPr sz="1500" b="1" dirty="0">
              <a:solidFill>
                <a:srgbClr val="1B8A7A"/>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116995682"/>
              </p:ext>
            </p:extLst>
          </p:nvPr>
        </p:nvGraphicFramePr>
        <p:xfrm>
          <a:off x="518007" y="2234995"/>
          <a:ext cx="11155680" cy="128016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20040">
                <a:tc>
                  <a:txBody>
                    <a:bodyPr/>
                    <a:lstStyle/>
                    <a:p>
                      <a:r>
                        <a:rPr sz="1200" b="1">
                          <a:solidFill>
                            <a:srgbClr val="FFFFFF"/>
                          </a:solidFill>
                          <a:latin typeface="Arial"/>
                        </a:rPr>
                        <a:t>Bệnh</a:t>
                      </a:r>
                    </a:p>
                  </a:txBody>
                  <a:tcPr marL="73152" marR="73152" marT="27432" marB="27432" anchor="ctr">
                    <a:solidFill>
                      <a:srgbClr val="0F3D5E"/>
                    </a:solidFill>
                  </a:tcPr>
                </a:tc>
                <a:tc>
                  <a:txBody>
                    <a:bodyPr/>
                    <a:lstStyle/>
                    <a:p>
                      <a:r>
                        <a:rPr sz="1200" b="1" dirty="0" err="1">
                          <a:solidFill>
                            <a:srgbClr val="FFFFFF"/>
                          </a:solidFill>
                          <a:latin typeface="Arial"/>
                        </a:rPr>
                        <a:t>Bộ</a:t>
                      </a:r>
                      <a:r>
                        <a:rPr sz="1200" b="1" dirty="0">
                          <a:solidFill>
                            <a:srgbClr val="FFFFFF"/>
                          </a:solidFill>
                          <a:latin typeface="Arial"/>
                        </a:rPr>
                        <a:t> </a:t>
                      </a:r>
                      <a:r>
                        <a:rPr sz="1200" b="1" dirty="0" err="1">
                          <a:solidFill>
                            <a:srgbClr val="FFFFFF"/>
                          </a:solidFill>
                          <a:latin typeface="Arial"/>
                        </a:rPr>
                        <a:t>dữ</a:t>
                      </a:r>
                      <a:r>
                        <a:rPr sz="1200" b="1" dirty="0">
                          <a:solidFill>
                            <a:srgbClr val="FFFFFF"/>
                          </a:solidFill>
                          <a:latin typeface="Arial"/>
                        </a:rPr>
                        <a:t> </a:t>
                      </a:r>
                      <a:r>
                        <a:rPr sz="1200" b="1" dirty="0" err="1">
                          <a:solidFill>
                            <a:srgbClr val="FFFFFF"/>
                          </a:solidFill>
                          <a:latin typeface="Arial"/>
                        </a:rPr>
                        <a:t>liệu</a:t>
                      </a:r>
                      <a:endParaRPr sz="1200" b="1" dirty="0">
                        <a:solidFill>
                          <a:srgbClr val="FFFFFF"/>
                        </a:solidFill>
                        <a:latin typeface="Arial"/>
                      </a:endParaRPr>
                    </a:p>
                  </a:txBody>
                  <a:tcPr marL="73152" marR="73152" marT="27432" marB="27432" anchor="ctr">
                    <a:solidFill>
                      <a:srgbClr val="0F3D5E"/>
                    </a:solidFill>
                  </a:tcPr>
                </a:tc>
                <a:tc>
                  <a:txBody>
                    <a:bodyPr/>
                    <a:lstStyle/>
                    <a:p>
                      <a:r>
                        <a:rPr sz="1200" b="1">
                          <a:solidFill>
                            <a:srgbClr val="FFFFFF"/>
                          </a:solidFill>
                          <a:latin typeface="Arial"/>
                        </a:rPr>
                        <a:t>Số dòng</a:t>
                      </a:r>
                    </a:p>
                  </a:txBody>
                  <a:tcPr marL="73152" marR="73152" marT="27432" marB="27432" anchor="ctr">
                    <a:solidFill>
                      <a:srgbClr val="0F3D5E"/>
                    </a:solidFill>
                  </a:tcPr>
                </a:tc>
                <a:tc>
                  <a:txBody>
                    <a:bodyPr/>
                    <a:lstStyle/>
                    <a:p>
                      <a:r>
                        <a:rPr sz="1200" b="1">
                          <a:solidFill>
                            <a:srgbClr val="FFFFFF"/>
                          </a:solidFill>
                          <a:latin typeface="Arial"/>
                        </a:rPr>
                        <a:t>Đặc trưng</a:t>
                      </a:r>
                    </a:p>
                  </a:txBody>
                  <a:tcPr marL="73152" marR="73152" marT="27432" marB="27432" anchor="ctr">
                    <a:solidFill>
                      <a:srgbClr val="0F3D5E"/>
                    </a:solidFill>
                  </a:tcPr>
                </a:tc>
                <a:tc>
                  <a:txBody>
                    <a:bodyPr/>
                    <a:lstStyle/>
                    <a:p>
                      <a:r>
                        <a:rPr sz="1200" b="1">
                          <a:solidFill>
                            <a:srgbClr val="FFFFFF"/>
                          </a:solidFill>
                          <a:latin typeface="Arial"/>
                        </a:rPr>
                        <a:t>Nhãn</a:t>
                      </a:r>
                    </a:p>
                  </a:txBody>
                  <a:tcPr marL="73152" marR="73152" marT="27432" marB="27432" anchor="ctr">
                    <a:solidFill>
                      <a:srgbClr val="0F3D5E"/>
                    </a:solidFill>
                  </a:tcPr>
                </a:tc>
                <a:extLst>
                  <a:ext uri="{0D108BD9-81ED-4DB2-BD59-A6C34878D82A}">
                    <a16:rowId xmlns:a16="http://schemas.microsoft.com/office/drawing/2014/main" val="10000"/>
                  </a:ext>
                </a:extLst>
              </a:tr>
              <a:tr h="320040">
                <a:tc>
                  <a:txBody>
                    <a:bodyPr/>
                    <a:lstStyle/>
                    <a:p>
                      <a:r>
                        <a:rPr sz="1200">
                          <a:solidFill>
                            <a:srgbClr val="444B52"/>
                          </a:solidFill>
                          <a:latin typeface="Arial"/>
                        </a:rPr>
                        <a:t>Tim mạch</a:t>
                      </a:r>
                    </a:p>
                  </a:txBody>
                  <a:tcPr marL="73152" marR="73152" marT="27432" marB="27432" anchor="ctr">
                    <a:solidFill>
                      <a:srgbClr val="FFFFFF"/>
                    </a:solidFill>
                  </a:tcPr>
                </a:tc>
                <a:tc>
                  <a:txBody>
                    <a:bodyPr/>
                    <a:lstStyle/>
                    <a:p>
                      <a:r>
                        <a:rPr sz="1200" dirty="0">
                          <a:solidFill>
                            <a:srgbClr val="444B52"/>
                          </a:solidFill>
                          <a:latin typeface="Arial"/>
                        </a:rPr>
                        <a:t>Cardiovascular Disease (Kaggle)</a:t>
                      </a:r>
                    </a:p>
                  </a:txBody>
                  <a:tcPr marL="73152" marR="73152" marT="27432" marB="27432" anchor="ctr">
                    <a:solidFill>
                      <a:srgbClr val="FFFFFF"/>
                    </a:solidFill>
                  </a:tcPr>
                </a:tc>
                <a:tc>
                  <a:txBody>
                    <a:bodyPr/>
                    <a:lstStyle/>
                    <a:p>
                      <a:r>
                        <a:rPr sz="1200">
                          <a:solidFill>
                            <a:srgbClr val="444B52"/>
                          </a:solidFill>
                          <a:latin typeface="Arial"/>
                        </a:rPr>
                        <a:t>70.000</a:t>
                      </a:r>
                    </a:p>
                  </a:txBody>
                  <a:tcPr marL="73152" marR="73152" marT="27432" marB="27432" anchor="ctr">
                    <a:solidFill>
                      <a:srgbClr val="FFFFFF"/>
                    </a:solidFill>
                  </a:tcPr>
                </a:tc>
                <a:tc>
                  <a:txBody>
                    <a:bodyPr/>
                    <a:lstStyle/>
                    <a:p>
                      <a:r>
                        <a:rPr sz="1200">
                          <a:solidFill>
                            <a:srgbClr val="444B52"/>
                          </a:solidFill>
                          <a:latin typeface="Arial"/>
                        </a:rPr>
                        <a:t>11</a:t>
                      </a:r>
                    </a:p>
                  </a:txBody>
                  <a:tcPr marL="73152" marR="73152" marT="27432" marB="27432" anchor="ctr">
                    <a:solidFill>
                      <a:srgbClr val="FFFFFF"/>
                    </a:solidFill>
                  </a:tcPr>
                </a:tc>
                <a:tc>
                  <a:txBody>
                    <a:bodyPr/>
                    <a:lstStyle/>
                    <a:p>
                      <a:r>
                        <a:rPr sz="1200">
                          <a:solidFill>
                            <a:srgbClr val="444B52"/>
                          </a:solidFill>
                          <a:latin typeface="Arial"/>
                        </a:rPr>
                        <a:t>cardio</a:t>
                      </a:r>
                    </a:p>
                  </a:txBody>
                  <a:tcPr marL="73152" marR="73152" marT="27432" marB="27432" anchor="ctr">
                    <a:solidFill>
                      <a:srgbClr val="FFFFFF"/>
                    </a:solidFill>
                  </a:tcPr>
                </a:tc>
                <a:extLst>
                  <a:ext uri="{0D108BD9-81ED-4DB2-BD59-A6C34878D82A}">
                    <a16:rowId xmlns:a16="http://schemas.microsoft.com/office/drawing/2014/main" val="10001"/>
                  </a:ext>
                </a:extLst>
              </a:tr>
              <a:tr h="320040">
                <a:tc>
                  <a:txBody>
                    <a:bodyPr/>
                    <a:lstStyle/>
                    <a:p>
                      <a:r>
                        <a:rPr sz="1200">
                          <a:solidFill>
                            <a:srgbClr val="444B52"/>
                          </a:solidFill>
                          <a:latin typeface="Arial"/>
                        </a:rPr>
                        <a:t>Tiểu đường</a:t>
                      </a:r>
                    </a:p>
                  </a:txBody>
                  <a:tcPr marL="73152" marR="73152" marT="27432" marB="27432" anchor="ctr">
                    <a:solidFill>
                      <a:srgbClr val="EAF2F6"/>
                    </a:solidFill>
                  </a:tcPr>
                </a:tc>
                <a:tc>
                  <a:txBody>
                    <a:bodyPr/>
                    <a:lstStyle/>
                    <a:p>
                      <a:r>
                        <a:rPr sz="1200" dirty="0">
                          <a:solidFill>
                            <a:srgbClr val="444B52"/>
                          </a:solidFill>
                          <a:latin typeface="Arial"/>
                        </a:rPr>
                        <a:t>Pima Indians Diabetes</a:t>
                      </a:r>
                    </a:p>
                  </a:txBody>
                  <a:tcPr marL="73152" marR="73152" marT="27432" marB="27432" anchor="ctr">
                    <a:solidFill>
                      <a:srgbClr val="EAF2F6"/>
                    </a:solidFill>
                  </a:tcPr>
                </a:tc>
                <a:tc>
                  <a:txBody>
                    <a:bodyPr/>
                    <a:lstStyle/>
                    <a:p>
                      <a:r>
                        <a:rPr sz="1200">
                          <a:solidFill>
                            <a:srgbClr val="444B52"/>
                          </a:solidFill>
                          <a:latin typeface="Arial"/>
                        </a:rPr>
                        <a:t>768</a:t>
                      </a:r>
                    </a:p>
                  </a:txBody>
                  <a:tcPr marL="73152" marR="73152" marT="27432" marB="27432" anchor="ctr">
                    <a:solidFill>
                      <a:srgbClr val="EAF2F6"/>
                    </a:solidFill>
                  </a:tcPr>
                </a:tc>
                <a:tc>
                  <a:txBody>
                    <a:bodyPr/>
                    <a:lstStyle/>
                    <a:p>
                      <a:r>
                        <a:rPr sz="1200">
                          <a:solidFill>
                            <a:srgbClr val="444B52"/>
                          </a:solidFill>
                          <a:latin typeface="Arial"/>
                        </a:rPr>
                        <a:t>8</a:t>
                      </a:r>
                    </a:p>
                  </a:txBody>
                  <a:tcPr marL="73152" marR="73152" marT="27432" marB="27432" anchor="ctr">
                    <a:solidFill>
                      <a:srgbClr val="EAF2F6"/>
                    </a:solidFill>
                  </a:tcPr>
                </a:tc>
                <a:tc>
                  <a:txBody>
                    <a:bodyPr/>
                    <a:lstStyle/>
                    <a:p>
                      <a:r>
                        <a:rPr sz="1200" dirty="0">
                          <a:solidFill>
                            <a:srgbClr val="444B52"/>
                          </a:solidFill>
                          <a:latin typeface="Arial"/>
                        </a:rPr>
                        <a:t>Outcome</a:t>
                      </a:r>
                    </a:p>
                  </a:txBody>
                  <a:tcPr marL="73152" marR="73152" marT="27432" marB="27432" anchor="ctr">
                    <a:solidFill>
                      <a:srgbClr val="EAF2F6"/>
                    </a:solidFill>
                  </a:tcPr>
                </a:tc>
                <a:extLst>
                  <a:ext uri="{0D108BD9-81ED-4DB2-BD59-A6C34878D82A}">
                    <a16:rowId xmlns:a16="http://schemas.microsoft.com/office/drawing/2014/main" val="10002"/>
                  </a:ext>
                </a:extLst>
              </a:tr>
              <a:tr h="320040">
                <a:tc>
                  <a:txBody>
                    <a:bodyPr/>
                    <a:lstStyle/>
                    <a:p>
                      <a:r>
                        <a:rPr sz="1200">
                          <a:solidFill>
                            <a:srgbClr val="444B52"/>
                          </a:solidFill>
                          <a:latin typeface="Arial"/>
                        </a:rPr>
                        <a:t>Tăng huyết áp</a:t>
                      </a:r>
                    </a:p>
                  </a:txBody>
                  <a:tcPr marL="73152" marR="73152" marT="27432" marB="27432" anchor="ctr">
                    <a:solidFill>
                      <a:srgbClr val="FFFFFF"/>
                    </a:solidFill>
                  </a:tcPr>
                </a:tc>
                <a:tc>
                  <a:txBody>
                    <a:bodyPr/>
                    <a:lstStyle/>
                    <a:p>
                      <a:r>
                        <a:rPr sz="1200" dirty="0">
                          <a:solidFill>
                            <a:srgbClr val="444B52"/>
                          </a:solidFill>
                          <a:latin typeface="Arial"/>
                        </a:rPr>
                        <a:t>Framingham Heart Study</a:t>
                      </a:r>
                    </a:p>
                  </a:txBody>
                  <a:tcPr marL="73152" marR="73152" marT="27432" marB="27432" anchor="ctr">
                    <a:solidFill>
                      <a:srgbClr val="FFFFFF"/>
                    </a:solidFill>
                  </a:tcPr>
                </a:tc>
                <a:tc>
                  <a:txBody>
                    <a:bodyPr/>
                    <a:lstStyle/>
                    <a:p>
                      <a:r>
                        <a:rPr sz="1200">
                          <a:solidFill>
                            <a:srgbClr val="444B52"/>
                          </a:solidFill>
                          <a:latin typeface="Arial"/>
                        </a:rPr>
                        <a:t>4.240</a:t>
                      </a:r>
                    </a:p>
                  </a:txBody>
                  <a:tcPr marL="73152" marR="73152" marT="27432" marB="27432" anchor="ctr">
                    <a:solidFill>
                      <a:srgbClr val="FFFFFF"/>
                    </a:solidFill>
                  </a:tcPr>
                </a:tc>
                <a:tc>
                  <a:txBody>
                    <a:bodyPr/>
                    <a:lstStyle/>
                    <a:p>
                      <a:r>
                        <a:rPr sz="1200">
                          <a:solidFill>
                            <a:srgbClr val="444B52"/>
                          </a:solidFill>
                          <a:latin typeface="Arial"/>
                        </a:rPr>
                        <a:t>12</a:t>
                      </a:r>
                    </a:p>
                  </a:txBody>
                  <a:tcPr marL="73152" marR="73152" marT="27432" marB="27432" anchor="ctr">
                    <a:solidFill>
                      <a:srgbClr val="FFFFFF"/>
                    </a:solidFill>
                  </a:tcPr>
                </a:tc>
                <a:tc>
                  <a:txBody>
                    <a:bodyPr/>
                    <a:lstStyle/>
                    <a:p>
                      <a:r>
                        <a:rPr sz="1200" dirty="0">
                          <a:solidFill>
                            <a:srgbClr val="444B52"/>
                          </a:solidFill>
                          <a:latin typeface="Arial"/>
                        </a:rPr>
                        <a:t>Risk</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02920" y="3976208"/>
            <a:ext cx="11185855" cy="1690206"/>
          </a:xfrm>
          <a:prstGeom prst="rect">
            <a:avLst/>
          </a:prstGeom>
          <a:noFill/>
        </p:spPr>
        <p:txBody>
          <a:bodyPr wrap="square">
            <a:spAutoFit/>
          </a:bodyPr>
          <a:lstStyle/>
          <a:p>
            <a:pPr>
              <a:spcAft>
                <a:spcPts val="400"/>
              </a:spcAft>
            </a:pPr>
            <a:r>
              <a:rPr lang="en-VN" sz="1400" dirty="0"/>
              <a:t>Nguồn dữ liệu là các dataset công khai trên Kaggle. Nhóm thực hiện kiểm tra chất lượng, tính phù hợp và đặc điểm của từng bộ dữ liệu trước khi sử dụng cho huấn luyện mô hình</a:t>
            </a:r>
            <a:br>
              <a:rPr lang="en-VN" sz="1400" dirty="0"/>
            </a:br>
            <a:endParaRPr lang="vi-VN" sz="1250" dirty="0">
              <a:solidFill>
                <a:srgbClr val="444B52"/>
              </a:solidFill>
              <a:latin typeface="Arial"/>
            </a:endParaRPr>
          </a:p>
          <a:p>
            <a:pPr>
              <a:spcAft>
                <a:spcPts val="400"/>
              </a:spcAft>
            </a:pPr>
            <a:r>
              <a:rPr lang="vi-VN" sz="1250" dirty="0">
                <a:solidFill>
                  <a:srgbClr val="444B52"/>
                </a:solidFill>
                <a:latin typeface="Arial"/>
              </a:rPr>
              <a:t>Nguồn:</a:t>
            </a:r>
          </a:p>
          <a:p>
            <a:pPr>
              <a:spcAft>
                <a:spcPts val="400"/>
              </a:spcAft>
            </a:pPr>
            <a:r>
              <a:rPr lang="vi-VN" sz="1250" dirty="0">
                <a:solidFill>
                  <a:srgbClr val="444B52"/>
                </a:solidFill>
                <a:latin typeface="Arial"/>
                <a:hlinkClick r:id="rId3"/>
              </a:rPr>
              <a:t>http://kaggle.com/datasets/jamaltariqcheema/pima-indians-diabetes-dataset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4"/>
              </a:rPr>
              <a:t>https://www.kaggle.com/datasets/sulianova/cardiovascular-disease-dataset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5"/>
              </a:rPr>
              <a:t>https://www.kaggle.com/datasets/khan1803115/hypertension-risk-model-main</a:t>
            </a:r>
            <a:endParaRPr lang="vi-VN" sz="1250" dirty="0">
              <a:solidFill>
                <a:srgbClr val="444B5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5</a:t>
            </a:r>
            <a:r>
              <a:rPr sz="2600" b="1" dirty="0">
                <a:solidFill>
                  <a:srgbClr val="FFFFFF"/>
                </a:solidFill>
                <a:latin typeface="Arial"/>
              </a:rPr>
              <a:t>. Dem</a:t>
            </a:r>
            <a:r>
              <a:rPr lang="vi-VN" sz="2600" b="1" dirty="0">
                <a:solidFill>
                  <a:srgbClr val="FFFFFF"/>
                </a:solidFill>
                <a:latin typeface="Arial"/>
              </a:rPr>
              <a:t>o</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20" y="1325880"/>
            <a:ext cx="11185855" cy="1192634"/>
          </a:xfrm>
          <a:prstGeom prst="rect">
            <a:avLst/>
          </a:prstGeom>
          <a:noFill/>
        </p:spPr>
        <p:txBody>
          <a:bodyPr wrap="square">
            <a:spAutoFit/>
          </a:bodyPr>
          <a:lstStyle/>
          <a:p>
            <a:pPr>
              <a:spcAft>
                <a:spcPts val="500"/>
              </a:spcAft>
            </a:pPr>
            <a:r>
              <a:rPr lang="vi-VN" sz="1500" b="1" dirty="0">
                <a:solidFill>
                  <a:srgbClr val="1B8A7A"/>
                </a:solidFill>
                <a:latin typeface="Arial"/>
              </a:rPr>
              <a:t>1 -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3 </a:t>
            </a:r>
            <a:r>
              <a:rPr sz="1500" b="1" dirty="0" err="1">
                <a:solidFill>
                  <a:srgbClr val="1B8A7A"/>
                </a:solidFill>
                <a:latin typeface="Arial"/>
              </a:rPr>
              <a:t>bệnh</a:t>
            </a:r>
            <a:r>
              <a:rPr sz="1500" b="1" dirty="0">
                <a:solidFill>
                  <a:srgbClr val="1B8A7A"/>
                </a:solidFill>
                <a:latin typeface="Arial"/>
              </a:rPr>
              <a:t> </a:t>
            </a:r>
            <a:r>
              <a:rPr sz="1500" b="1" dirty="0" err="1">
                <a:solidFill>
                  <a:srgbClr val="1B8A7A"/>
                </a:solidFill>
                <a:latin typeface="Arial"/>
              </a:rPr>
              <a:t>mãn</a:t>
            </a:r>
            <a:r>
              <a:rPr sz="1500" b="1" dirty="0">
                <a:solidFill>
                  <a:srgbClr val="1B8A7A"/>
                </a:solidFill>
                <a:latin typeface="Arial"/>
              </a:rPr>
              <a:t> </a:t>
            </a:r>
            <a:r>
              <a:rPr sz="1500" b="1" dirty="0" err="1">
                <a:solidFill>
                  <a:srgbClr val="1B8A7A"/>
                </a:solidFill>
                <a:latin typeface="Arial"/>
              </a:rPr>
              <a:t>tính</a:t>
            </a:r>
            <a:endParaRPr lang="en-US" sz="1500" b="1" dirty="0">
              <a:solidFill>
                <a:srgbClr val="1B8A7A"/>
              </a:solidFill>
              <a:latin typeface="Arial"/>
            </a:endParaRPr>
          </a:p>
          <a:p>
            <a:pPr>
              <a:spcAft>
                <a:spcPts val="500"/>
              </a:spcAft>
            </a:pPr>
            <a:r>
              <a:rPr lang="en-US" sz="1500" b="1" dirty="0">
                <a:solidFill>
                  <a:srgbClr val="1B8A7A"/>
                </a:solidFill>
                <a:latin typeface="Arial"/>
              </a:rPr>
              <a:t>2 - </a:t>
            </a:r>
            <a:r>
              <a:rPr lang="en-US" sz="1500" b="1" dirty="0" err="1">
                <a:solidFill>
                  <a:srgbClr val="1B8A7A"/>
                </a:solidFill>
                <a:latin typeface="Arial"/>
              </a:rPr>
              <a:t>Khuyến</a:t>
            </a:r>
            <a:r>
              <a:rPr lang="en-US" sz="1500" b="1" dirty="0">
                <a:solidFill>
                  <a:srgbClr val="1B8A7A"/>
                </a:solidFill>
                <a:latin typeface="Arial"/>
              </a:rPr>
              <a:t> </a:t>
            </a:r>
            <a:r>
              <a:rPr lang="en-US" sz="1500" b="1" dirty="0" err="1">
                <a:solidFill>
                  <a:srgbClr val="1B8A7A"/>
                </a:solidFill>
                <a:latin typeface="Arial"/>
              </a:rPr>
              <a:t>nghị</a:t>
            </a:r>
            <a:endParaRPr lang="en-US" sz="1500" b="1" dirty="0">
              <a:solidFill>
                <a:srgbClr val="1B8A7A"/>
              </a:solidFill>
              <a:latin typeface="Arial"/>
            </a:endParaRPr>
          </a:p>
          <a:p>
            <a:pPr>
              <a:spcAft>
                <a:spcPts val="500"/>
              </a:spcAft>
            </a:pPr>
            <a:r>
              <a:rPr lang="en-US" sz="1500" b="1" dirty="0">
                <a:solidFill>
                  <a:srgbClr val="1B8A7A"/>
                </a:solidFill>
                <a:latin typeface="Arial"/>
              </a:rPr>
              <a:t>3 - CRUD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bệnh</a:t>
            </a:r>
            <a:r>
              <a:rPr lang="en-US" sz="1500" b="1" dirty="0">
                <a:solidFill>
                  <a:srgbClr val="1B8A7A"/>
                </a:solidFill>
                <a:latin typeface="Arial"/>
              </a:rPr>
              <a:t> </a:t>
            </a:r>
            <a:r>
              <a:rPr lang="en-US" sz="1500" b="1" dirty="0" err="1">
                <a:solidFill>
                  <a:srgbClr val="1B8A7A"/>
                </a:solidFill>
                <a:latin typeface="Arial"/>
              </a:rPr>
              <a:t>nhân</a:t>
            </a:r>
            <a:r>
              <a:rPr lang="en-US" sz="1500" b="1" dirty="0">
                <a:solidFill>
                  <a:srgbClr val="1B8A7A"/>
                </a:solidFill>
                <a:latin typeface="Arial"/>
              </a:rPr>
              <a:t> </a:t>
            </a:r>
            <a:r>
              <a:rPr lang="en-US" sz="1500" b="1" dirty="0" err="1">
                <a:solidFill>
                  <a:srgbClr val="1B8A7A"/>
                </a:solidFill>
                <a:latin typeface="Arial"/>
              </a:rPr>
              <a:t>và</a:t>
            </a:r>
            <a:r>
              <a:rPr lang="en-US" sz="1500" b="1" dirty="0">
                <a:solidFill>
                  <a:srgbClr val="1B8A7A"/>
                </a:solidFill>
                <a:latin typeface="Arial"/>
              </a:rPr>
              <a:t>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đo</a:t>
            </a:r>
            <a:r>
              <a:rPr lang="en-US" sz="1500" b="1" dirty="0">
                <a:solidFill>
                  <a:srgbClr val="1B8A7A"/>
                </a:solidFill>
                <a:latin typeface="Arial"/>
              </a:rPr>
              <a:t> </a:t>
            </a:r>
            <a:r>
              <a:rPr lang="en-US" sz="1500" b="1" dirty="0" err="1">
                <a:solidFill>
                  <a:srgbClr val="1B8A7A"/>
                </a:solidFill>
                <a:latin typeface="Arial"/>
              </a:rPr>
              <a:t>sức</a:t>
            </a:r>
            <a:r>
              <a:rPr lang="en-US" sz="1500" b="1" dirty="0">
                <a:solidFill>
                  <a:srgbClr val="1B8A7A"/>
                </a:solidFill>
                <a:latin typeface="Arial"/>
              </a:rPr>
              <a:t> </a:t>
            </a:r>
            <a:r>
              <a:rPr lang="en-US" sz="1500" b="1" dirty="0" err="1">
                <a:solidFill>
                  <a:srgbClr val="1B8A7A"/>
                </a:solidFill>
                <a:latin typeface="Arial"/>
              </a:rPr>
              <a:t>khoẻ</a:t>
            </a:r>
            <a:endParaRPr lang="en-US" sz="1500" b="1" dirty="0">
              <a:solidFill>
                <a:srgbClr val="1B8A7A"/>
              </a:solidFill>
              <a:latin typeface="Arial"/>
            </a:endParaRPr>
          </a:p>
          <a:p>
            <a:pPr lvl="1">
              <a:spcAft>
                <a:spcPts val="500"/>
              </a:spcAft>
            </a:pPr>
            <a:endParaRPr lang="vi-VN" sz="1400" dirty="0">
              <a:solidFill>
                <a:srgbClr val="444B52"/>
              </a:solidFill>
              <a:latin typeface="Arial"/>
            </a:endParaRPr>
          </a:p>
        </p:txBody>
      </p:sp>
      <p:pic>
        <p:nvPicPr>
          <p:cNvPr id="5" name="Picture 4">
            <a:extLst>
              <a:ext uri="{FF2B5EF4-FFF2-40B4-BE49-F238E27FC236}">
                <a16:creationId xmlns:a16="http://schemas.microsoft.com/office/drawing/2014/main" id="{03E4DB9C-CCBF-6763-FF37-4C651DDB31E8}"/>
              </a:ext>
            </a:extLst>
          </p:cNvPr>
          <p:cNvPicPr>
            <a:picLocks noChangeAspect="1"/>
          </p:cNvPicPr>
          <p:nvPr/>
        </p:nvPicPr>
        <p:blipFill>
          <a:blip r:embed="rId3"/>
          <a:stretch>
            <a:fillRect/>
          </a:stretch>
        </p:blipFill>
        <p:spPr>
          <a:xfrm>
            <a:off x="2467880" y="2438271"/>
            <a:ext cx="7255934" cy="42116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6</a:t>
            </a:r>
            <a:r>
              <a:rPr sz="2600" b="1" dirty="0">
                <a:solidFill>
                  <a:srgbClr val="FFFFFF"/>
                </a:solidFill>
                <a:latin typeface="Arial"/>
              </a:rPr>
              <a:t>. </a:t>
            </a:r>
            <a:r>
              <a:rPr sz="2600" b="1" dirty="0" err="1">
                <a:solidFill>
                  <a:srgbClr val="FFFFFF"/>
                </a:solidFill>
                <a:latin typeface="Arial"/>
              </a:rPr>
              <a:t>Hạn</a:t>
            </a:r>
            <a:r>
              <a:rPr sz="2600" b="1" dirty="0">
                <a:solidFill>
                  <a:srgbClr val="FFFFFF"/>
                </a:solidFill>
                <a:latin typeface="Arial"/>
              </a:rPr>
              <a:t> </a:t>
            </a:r>
            <a:r>
              <a:rPr sz="2600" b="1" dirty="0" err="1">
                <a:solidFill>
                  <a:srgbClr val="FFFFFF"/>
                </a:solidFill>
                <a:latin typeface="Arial"/>
              </a:rPr>
              <a:t>chế</a:t>
            </a:r>
            <a:r>
              <a:rPr sz="2600" b="1" dirty="0">
                <a:solidFill>
                  <a:srgbClr val="FFFFFF"/>
                </a:solidFill>
                <a:latin typeface="Arial"/>
              </a:rPr>
              <a:t> &amp; </a:t>
            </a:r>
            <a:r>
              <a:rPr sz="2600" b="1" dirty="0" err="1">
                <a:solidFill>
                  <a:srgbClr val="FFFFFF"/>
                </a:solidFill>
                <a:latin typeface="Arial"/>
              </a:rPr>
              <a:t>Hướng</a:t>
            </a:r>
            <a:r>
              <a:rPr sz="2600" b="1" dirty="0">
                <a:solidFill>
                  <a:srgbClr val="FFFFFF"/>
                </a:solidFill>
                <a:latin typeface="Arial"/>
              </a:rPr>
              <a:t> </a:t>
            </a:r>
            <a:r>
              <a:rPr sz="2600" b="1" dirty="0" err="1">
                <a:solidFill>
                  <a:srgbClr val="FFFFFF"/>
                </a:solidFill>
                <a:latin typeface="Arial"/>
              </a:rPr>
              <a:t>cải</a:t>
            </a:r>
            <a:r>
              <a:rPr sz="2600" b="1" dirty="0">
                <a:solidFill>
                  <a:srgbClr val="FFFFFF"/>
                </a:solidFill>
                <a:latin typeface="Arial"/>
              </a:rPr>
              <a:t> </a:t>
            </a:r>
            <a:r>
              <a:rPr sz="2600" b="1" dirty="0" err="1">
                <a:solidFill>
                  <a:srgbClr val="FFFFFF"/>
                </a:solidFill>
                <a:latin typeface="Arial"/>
              </a:rPr>
              <a:t>thiện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19" y="1656080"/>
            <a:ext cx="11185855" cy="2662267"/>
          </a:xfrm>
          <a:prstGeom prst="rect">
            <a:avLst/>
          </a:prstGeom>
          <a:noFill/>
        </p:spPr>
        <p:txBody>
          <a:bodyPr wrap="square">
            <a:spAutoFit/>
          </a:bodyPr>
          <a:lstStyle/>
          <a:p>
            <a:pPr>
              <a:spcAft>
                <a:spcPts val="500"/>
              </a:spcAft>
            </a:pPr>
            <a:r>
              <a:rPr sz="1500" b="1" dirty="0">
                <a:solidFill>
                  <a:srgbClr val="1B8A7A"/>
                </a:solidFill>
                <a:latin typeface="Arial"/>
              </a:rPr>
              <a:t>•  </a:t>
            </a:r>
            <a:r>
              <a:rPr sz="1500" b="1" dirty="0" err="1">
                <a:solidFill>
                  <a:srgbClr val="1B8A7A"/>
                </a:solidFill>
                <a:latin typeface="Arial"/>
              </a:rPr>
              <a:t>Hạn</a:t>
            </a:r>
            <a:r>
              <a:rPr sz="1500" b="1" dirty="0">
                <a:solidFill>
                  <a:srgbClr val="1B8A7A"/>
                </a:solidFill>
                <a:latin typeface="Arial"/>
              </a:rPr>
              <a:t> </a:t>
            </a:r>
            <a:r>
              <a:rPr sz="1500" b="1" dirty="0" err="1">
                <a:solidFill>
                  <a:srgbClr val="1B8A7A"/>
                </a:solidFill>
                <a:latin typeface="Arial"/>
              </a:rPr>
              <a:t>chế</a:t>
            </a:r>
            <a:r>
              <a:rPr sz="1500" b="1" dirty="0">
                <a:solidFill>
                  <a:srgbClr val="1B8A7A"/>
                </a:solidFill>
                <a:latin typeface="Arial"/>
              </a:rPr>
              <a:t> </a:t>
            </a:r>
            <a:r>
              <a:rPr sz="1500" b="1" dirty="0" err="1">
                <a:solidFill>
                  <a:srgbClr val="1B8A7A"/>
                </a:solidFill>
                <a:latin typeface="Arial"/>
              </a:rPr>
              <a:t>hiện</a:t>
            </a:r>
            <a:r>
              <a:rPr sz="1500" b="1" dirty="0">
                <a:solidFill>
                  <a:srgbClr val="1B8A7A"/>
                </a:solidFill>
                <a:latin typeface="Arial"/>
              </a:rPr>
              <a:t> </a:t>
            </a:r>
            <a:r>
              <a:rPr sz="1500" b="1" dirty="0" err="1">
                <a:solidFill>
                  <a:srgbClr val="1B8A7A"/>
                </a:solidFill>
                <a:latin typeface="Arial"/>
              </a:rPr>
              <a:t>tại</a:t>
            </a:r>
            <a:r>
              <a:rPr sz="1500" b="1" dirty="0">
                <a:solidFill>
                  <a:srgbClr val="1B8A7A"/>
                </a:solidFill>
                <a:latin typeface="Arial"/>
              </a:rPr>
              <a:t>:</a:t>
            </a:r>
          </a:p>
          <a:p>
            <a:pPr lvl="1">
              <a:spcAft>
                <a:spcPts val="500"/>
              </a:spcAft>
            </a:pPr>
            <a:r>
              <a:rPr sz="1400" dirty="0">
                <a:solidFill>
                  <a:srgbClr val="444B52"/>
                </a:solidFill>
                <a:latin typeface="Arial"/>
              </a:rPr>
              <a:t>–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là</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 </a:t>
            </a:r>
            <a:r>
              <a:rPr sz="1400" dirty="0" err="1">
                <a:solidFill>
                  <a:srgbClr val="444B52"/>
                </a:solidFill>
                <a:latin typeface="Arial"/>
              </a:rPr>
              <a:t>ngoại</a:t>
            </a:r>
            <a:r>
              <a:rPr sz="1400" dirty="0">
                <a:solidFill>
                  <a:srgbClr val="444B52"/>
                </a:solidFill>
                <a:latin typeface="Arial"/>
              </a:rPr>
              <a:t>, </a:t>
            </a:r>
            <a:r>
              <a:rPr sz="1400" dirty="0" err="1">
                <a:solidFill>
                  <a:srgbClr val="444B52"/>
                </a:solidFill>
                <a:latin typeface="Arial"/>
              </a:rPr>
              <a:t>nguy</a:t>
            </a:r>
            <a:r>
              <a:rPr sz="1400" dirty="0">
                <a:solidFill>
                  <a:srgbClr val="444B52"/>
                </a:solidFill>
                <a:latin typeface="Arial"/>
              </a:rPr>
              <a:t> </a:t>
            </a:r>
            <a:r>
              <a:rPr sz="1400" dirty="0" err="1">
                <a:solidFill>
                  <a:srgbClr val="444B52"/>
                </a:solidFill>
                <a:latin typeface="Arial"/>
              </a:rPr>
              <a:t>cơ</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phân</a:t>
            </a:r>
            <a:r>
              <a:rPr sz="1400" dirty="0">
                <a:solidFill>
                  <a:srgbClr val="444B52"/>
                </a:solidFill>
                <a:latin typeface="Arial"/>
              </a:rPr>
              <a:t> </a:t>
            </a:r>
            <a:r>
              <a:rPr sz="1400" dirty="0" err="1">
                <a:solidFill>
                  <a:srgbClr val="444B52"/>
                </a:solidFill>
                <a:latin typeface="Arial"/>
              </a:rPr>
              <a:t>phối</a:t>
            </a:r>
            <a:r>
              <a:rPr sz="1400" dirty="0">
                <a:solidFill>
                  <a:srgbClr val="444B52"/>
                </a:solidFill>
                <a:latin typeface="Arial"/>
              </a:rPr>
              <a:t> </a:t>
            </a:r>
            <a:r>
              <a:rPr sz="1400" dirty="0" err="1">
                <a:solidFill>
                  <a:srgbClr val="444B52"/>
                </a:solidFill>
                <a:latin typeface="Arial"/>
              </a:rPr>
              <a:t>với</a:t>
            </a:r>
            <a:r>
              <a:rPr sz="1400" dirty="0">
                <a:solidFill>
                  <a:srgbClr val="444B52"/>
                </a:solidFill>
                <a:latin typeface="Arial"/>
              </a:rPr>
              <a:t> </a:t>
            </a:r>
            <a:r>
              <a:rPr sz="1400" dirty="0" err="1">
                <a:solidFill>
                  <a:srgbClr val="444B52"/>
                </a:solidFill>
                <a:latin typeface="Arial"/>
              </a:rPr>
              <a:t>dân</a:t>
            </a:r>
            <a:r>
              <a:rPr sz="1400" dirty="0">
                <a:solidFill>
                  <a:srgbClr val="444B52"/>
                </a:solidFill>
                <a:latin typeface="Arial"/>
              </a:rPr>
              <a:t> </a:t>
            </a:r>
            <a:r>
              <a:rPr sz="1400" dirty="0" err="1">
                <a:solidFill>
                  <a:srgbClr val="444B52"/>
                </a:solidFill>
                <a:latin typeface="Arial"/>
              </a:rPr>
              <a:t>số</a:t>
            </a:r>
            <a:r>
              <a:rPr sz="1400" dirty="0">
                <a:solidFill>
                  <a:srgbClr val="444B52"/>
                </a:solidFill>
                <a:latin typeface="Arial"/>
              </a:rPr>
              <a:t> VN</a:t>
            </a:r>
            <a:endParaRPr lang="vi-VN" sz="1400" dirty="0">
              <a:solidFill>
                <a:srgbClr val="444B52"/>
              </a:solidFill>
              <a:latin typeface="Arial"/>
            </a:endParaRPr>
          </a:p>
          <a:p>
            <a:pPr lvl="1">
              <a:spcAft>
                <a:spcPts val="500"/>
              </a:spcAft>
            </a:pPr>
            <a:r>
              <a:rPr lang="vi-VN" sz="1400" dirty="0">
                <a:solidFill>
                  <a:srgbClr val="444B52"/>
                </a:solidFill>
                <a:latin typeface="Arial"/>
              </a:rPr>
              <a:t>–  Chưa có chatbox</a:t>
            </a:r>
          </a:p>
          <a:p>
            <a:pPr lvl="1">
              <a:spcAft>
                <a:spcPts val="500"/>
              </a:spcAft>
            </a:pPr>
            <a:endParaRPr lang="vi-VN" sz="1400" dirty="0">
              <a:solidFill>
                <a:srgbClr val="444B52"/>
              </a:solidFill>
              <a:latin typeface="Arial"/>
            </a:endParaRPr>
          </a:p>
          <a:p>
            <a:pPr>
              <a:spcAft>
                <a:spcPts val="500"/>
              </a:spcAft>
            </a:pPr>
            <a:r>
              <a:rPr lang="vi-VN" sz="1500" b="1" dirty="0">
                <a:solidFill>
                  <a:srgbClr val="1B8A7A"/>
                </a:solidFill>
                <a:latin typeface="Arial"/>
              </a:rPr>
              <a:t>•  Hướng cải thiện:</a:t>
            </a:r>
          </a:p>
          <a:p>
            <a:pPr lvl="1">
              <a:spcAft>
                <a:spcPts val="500"/>
              </a:spcAft>
            </a:pPr>
            <a:r>
              <a:rPr sz="1400" dirty="0">
                <a:solidFill>
                  <a:srgbClr val="444B52"/>
                </a:solidFill>
                <a:latin typeface="Arial"/>
              </a:rPr>
              <a:t>–  </a:t>
            </a:r>
            <a:r>
              <a:rPr lang="vi-VN" sz="1400" dirty="0">
                <a:solidFill>
                  <a:srgbClr val="444B52"/>
                </a:solidFill>
                <a:latin typeface="Arial"/>
              </a:rPr>
              <a:t>Tích hợp chatbox </a:t>
            </a:r>
            <a:r>
              <a:rPr sz="1400" dirty="0">
                <a:solidFill>
                  <a:srgbClr val="444B52"/>
                </a:solidFill>
                <a:latin typeface="Arial"/>
              </a:rPr>
              <a:t>agent </a:t>
            </a:r>
            <a:r>
              <a:rPr lang="vi-VN" sz="1400" dirty="0">
                <a:solidFill>
                  <a:srgbClr val="444B52"/>
                </a:solidFill>
                <a:latin typeface="Arial"/>
              </a:rPr>
              <a:t>theo mô hình </a:t>
            </a:r>
            <a:r>
              <a:rPr sz="1400" dirty="0">
                <a:solidFill>
                  <a:srgbClr val="444B52"/>
                </a:solidFill>
                <a:latin typeface="Arial"/>
              </a:rPr>
              <a:t>RAG + LLM (</a:t>
            </a:r>
            <a:r>
              <a:rPr sz="1400" dirty="0" err="1">
                <a:solidFill>
                  <a:srgbClr val="444B52"/>
                </a:solidFill>
                <a:latin typeface="Arial"/>
              </a:rPr>
              <a:t>đọc</a:t>
            </a:r>
            <a:r>
              <a:rPr sz="1400" dirty="0">
                <a:solidFill>
                  <a:srgbClr val="444B52"/>
                </a:solidFill>
                <a:latin typeface="Arial"/>
              </a:rPr>
              <a:t> </a:t>
            </a:r>
            <a:r>
              <a:rPr sz="1400" dirty="0" err="1">
                <a:solidFill>
                  <a:srgbClr val="444B52"/>
                </a:solidFill>
                <a:latin typeface="Arial"/>
              </a:rPr>
              <a:t>tài</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y khoa tin </a:t>
            </a:r>
            <a:r>
              <a:rPr sz="1400" dirty="0" err="1">
                <a:solidFill>
                  <a:srgbClr val="444B52"/>
                </a:solidFill>
                <a:latin typeface="Arial"/>
              </a:rPr>
              <a:t>cậy</a:t>
            </a:r>
            <a:r>
              <a:rPr sz="1400" dirty="0">
                <a:solidFill>
                  <a:srgbClr val="444B52"/>
                </a:solidFill>
                <a:latin typeface="Arial"/>
              </a:rPr>
              <a:t>, </a:t>
            </a:r>
            <a:r>
              <a:rPr sz="1400" dirty="0" err="1">
                <a:solidFill>
                  <a:srgbClr val="444B52"/>
                </a:solidFill>
                <a:latin typeface="Arial"/>
              </a:rPr>
              <a:t>có</a:t>
            </a:r>
            <a:r>
              <a:rPr sz="1400" dirty="0">
                <a:solidFill>
                  <a:srgbClr val="444B52"/>
                </a:solidFill>
                <a:latin typeface="Arial"/>
              </a:rPr>
              <a:t> </a:t>
            </a:r>
            <a:r>
              <a:rPr sz="1400" dirty="0" err="1">
                <a:solidFill>
                  <a:srgbClr val="444B52"/>
                </a:solidFill>
                <a:latin typeface="Arial"/>
              </a:rPr>
              <a:t>trích</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a:t>
            </a:r>
            <a:br>
              <a:rPr lang="vi-VN" sz="1400" dirty="0">
                <a:solidFill>
                  <a:srgbClr val="444B52"/>
                </a:solidFill>
                <a:latin typeface="Arial"/>
              </a:rPr>
            </a:br>
            <a:r>
              <a:rPr sz="1400" dirty="0">
                <a:solidFill>
                  <a:srgbClr val="444B52"/>
                </a:solidFill>
                <a:latin typeface="Arial"/>
              </a:rPr>
              <a:t>–  </a:t>
            </a:r>
            <a:r>
              <a:rPr sz="1400" dirty="0" err="1">
                <a:solidFill>
                  <a:srgbClr val="444B52"/>
                </a:solidFill>
                <a:latin typeface="Arial"/>
              </a:rPr>
              <a:t>Bổ</a:t>
            </a:r>
            <a:r>
              <a:rPr sz="1400" dirty="0">
                <a:solidFill>
                  <a:srgbClr val="444B52"/>
                </a:solidFill>
                <a:latin typeface="Arial"/>
              </a:rPr>
              <a:t> sung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bản</a:t>
            </a:r>
            <a:r>
              <a:rPr sz="1400" dirty="0">
                <a:solidFill>
                  <a:srgbClr val="444B52"/>
                </a:solidFill>
                <a:latin typeface="Arial"/>
              </a:rPr>
              <a:t> </a:t>
            </a:r>
            <a:r>
              <a:rPr sz="1400" dirty="0" err="1">
                <a:solidFill>
                  <a:srgbClr val="444B52"/>
                </a:solidFill>
                <a:latin typeface="Arial"/>
              </a:rPr>
              <a:t>địa</a:t>
            </a:r>
            <a:r>
              <a:rPr sz="1400" dirty="0">
                <a:solidFill>
                  <a:srgbClr val="444B52"/>
                </a:solidFill>
                <a:latin typeface="Arial"/>
              </a:rPr>
              <a:t> </a:t>
            </a:r>
            <a:r>
              <a:rPr sz="1400" dirty="0" err="1">
                <a:solidFill>
                  <a:srgbClr val="444B52"/>
                </a:solidFill>
                <a:latin typeface="Arial"/>
              </a:rPr>
              <a:t>hóa</a:t>
            </a:r>
            <a:r>
              <a:rPr sz="1400" dirty="0">
                <a:solidFill>
                  <a:srgbClr val="444B52"/>
                </a:solidFill>
                <a:latin typeface="Arial"/>
              </a:rPr>
              <a:t> </a:t>
            </a:r>
            <a:r>
              <a:rPr sz="1400" dirty="0" err="1">
                <a:solidFill>
                  <a:srgbClr val="444B52"/>
                </a:solidFill>
                <a:latin typeface="Arial"/>
              </a:rPr>
              <a:t>để</a:t>
            </a:r>
            <a:r>
              <a:rPr sz="1400" dirty="0">
                <a:solidFill>
                  <a:srgbClr val="444B52"/>
                </a:solidFill>
                <a:latin typeface="Arial"/>
              </a:rPr>
              <a:t> </a:t>
            </a:r>
            <a:r>
              <a:rPr sz="1400" dirty="0" err="1">
                <a:solidFill>
                  <a:srgbClr val="444B52"/>
                </a:solidFill>
                <a:latin typeface="Arial"/>
              </a:rPr>
              <a:t>giảm</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hoàn</a:t>
            </a:r>
            <a:r>
              <a:rPr sz="1400" dirty="0">
                <a:solidFill>
                  <a:srgbClr val="444B52"/>
                </a:solidFill>
                <a:latin typeface="Arial"/>
              </a:rPr>
              <a:t> </a:t>
            </a:r>
            <a:r>
              <a:rPr sz="1400" dirty="0" err="1">
                <a:solidFill>
                  <a:srgbClr val="444B52"/>
                </a:solidFill>
                <a:latin typeface="Arial"/>
              </a:rPr>
              <a:t>thiện</a:t>
            </a:r>
            <a:r>
              <a:rPr sz="1400" dirty="0">
                <a:solidFill>
                  <a:srgbClr val="444B52"/>
                </a:solidFill>
                <a:latin typeface="Arial"/>
              </a:rPr>
              <a:t> </a:t>
            </a:r>
            <a:r>
              <a:rPr sz="1400" dirty="0" err="1">
                <a:solidFill>
                  <a:srgbClr val="444B52"/>
                </a:solidFill>
                <a:latin typeface="Arial"/>
              </a:rPr>
              <a:t>requirements.txt</a:t>
            </a:r>
            <a:r>
              <a:rPr sz="1400" dirty="0">
                <a:solidFill>
                  <a:srgbClr val="444B52"/>
                </a:solidFill>
                <a:latin typeface="Arial"/>
              </a:rPr>
              <a:t> &amp; </a:t>
            </a:r>
            <a:r>
              <a:rPr sz="1400" dirty="0" err="1">
                <a:solidFill>
                  <a:srgbClr val="444B52"/>
                </a:solidFill>
                <a:latin typeface="Arial"/>
              </a:rPr>
              <a:t>đóng</a:t>
            </a:r>
            <a:r>
              <a:rPr sz="1400" dirty="0">
                <a:solidFill>
                  <a:srgbClr val="444B52"/>
                </a:solidFill>
                <a:latin typeface="Arial"/>
              </a:rPr>
              <a:t> </a:t>
            </a:r>
            <a:r>
              <a:rPr sz="1400" dirty="0" err="1">
                <a:solidFill>
                  <a:srgbClr val="444B52"/>
                </a:solidFill>
                <a:latin typeface="Arial"/>
              </a:rPr>
              <a:t>gói</a:t>
            </a:r>
            <a:r>
              <a:rPr sz="1400" dirty="0">
                <a:solidFill>
                  <a:srgbClr val="444B52"/>
                </a:solidFill>
                <a:latin typeface="Arial"/>
              </a:rPr>
              <a:t> </a:t>
            </a:r>
            <a:r>
              <a:rPr sz="1400" dirty="0" err="1">
                <a:solidFill>
                  <a:srgbClr val="444B52"/>
                </a:solidFill>
                <a:latin typeface="Arial"/>
              </a:rPr>
              <a:t>triển</a:t>
            </a:r>
            <a:r>
              <a:rPr sz="1400" dirty="0">
                <a:solidFill>
                  <a:srgbClr val="444B52"/>
                </a:solidFill>
                <a:latin typeface="Arial"/>
              </a:rPr>
              <a:t> </a:t>
            </a:r>
            <a:r>
              <a:rPr sz="1400" dirty="0" err="1">
                <a:solidFill>
                  <a:srgbClr val="444B52"/>
                </a:solidFill>
                <a:latin typeface="Arial"/>
              </a:rPr>
              <a:t>khai</a:t>
            </a:r>
            <a:br>
              <a:rPr lang="vi-VN"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Triển</a:t>
            </a:r>
            <a:r>
              <a:rPr lang="en-US" sz="1400" dirty="0">
                <a:solidFill>
                  <a:srgbClr val="444B52"/>
                </a:solidFill>
                <a:latin typeface="Arial"/>
              </a:rPr>
              <a:t> </a:t>
            </a:r>
            <a:r>
              <a:rPr lang="en-US" sz="1400" dirty="0" err="1">
                <a:solidFill>
                  <a:srgbClr val="444B52"/>
                </a:solidFill>
                <a:latin typeface="Arial"/>
              </a:rPr>
              <a:t>khai</a:t>
            </a:r>
            <a:r>
              <a:rPr lang="en-US" sz="1400" dirty="0">
                <a:solidFill>
                  <a:srgbClr val="444B52"/>
                </a:solidFill>
                <a:latin typeface="Arial"/>
              </a:rPr>
              <a:t> </a:t>
            </a:r>
            <a:r>
              <a:rPr lang="en-US" sz="1400" dirty="0" err="1">
                <a:solidFill>
                  <a:srgbClr val="444B52"/>
                </a:solidFill>
                <a:latin typeface="Arial"/>
              </a:rPr>
              <a:t>quy</a:t>
            </a:r>
            <a:r>
              <a:rPr lang="en-US" sz="1400" dirty="0">
                <a:solidFill>
                  <a:srgbClr val="444B52"/>
                </a:solidFill>
                <a:latin typeface="Arial"/>
              </a:rPr>
              <a:t> </a:t>
            </a:r>
            <a:r>
              <a:rPr lang="en-US" sz="1400" dirty="0" err="1">
                <a:solidFill>
                  <a:srgbClr val="444B52"/>
                </a:solidFill>
                <a:latin typeface="Arial"/>
              </a:rPr>
              <a:t>trình</a:t>
            </a:r>
            <a:r>
              <a:rPr lang="en-US" sz="1400" dirty="0">
                <a:solidFill>
                  <a:srgbClr val="444B52"/>
                </a:solidFill>
                <a:latin typeface="Arial"/>
              </a:rPr>
              <a:t> </a:t>
            </a:r>
            <a:r>
              <a:rPr lang="en-US" sz="1400" dirty="0" err="1">
                <a:solidFill>
                  <a:srgbClr val="444B52"/>
                </a:solidFill>
                <a:latin typeface="Arial"/>
              </a:rPr>
              <a:t>MLOps</a:t>
            </a:r>
            <a:r>
              <a:rPr lang="en-US" sz="1400" dirty="0">
                <a:solidFill>
                  <a:srgbClr val="444B52"/>
                </a:solidFill>
                <a:latin typeface="Arial"/>
              </a:rPr>
              <a:t> </a:t>
            </a:r>
            <a:r>
              <a:rPr lang="en-US" sz="1400" dirty="0" err="1">
                <a:solidFill>
                  <a:srgbClr val="444B52"/>
                </a:solidFill>
                <a:latin typeface="Arial"/>
              </a:rPr>
              <a:t>dùng</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a:t>
            </a:r>
            <a:r>
              <a:rPr lang="en-US" sz="1400" dirty="0" err="1">
                <a:solidFill>
                  <a:srgbClr val="444B52"/>
                </a:solidFill>
                <a:latin typeface="Arial"/>
              </a:rPr>
              <a:t>thực</a:t>
            </a:r>
            <a:r>
              <a:rPr lang="en-US" sz="1400" dirty="0">
                <a:solidFill>
                  <a:srgbClr val="444B52"/>
                </a:solidFill>
                <a:latin typeface="Arial"/>
              </a:rPr>
              <a:t> </a:t>
            </a:r>
            <a:r>
              <a:rPr lang="en-US" sz="1400" dirty="0" err="1">
                <a:solidFill>
                  <a:srgbClr val="444B52"/>
                </a:solidFill>
                <a:latin typeface="Arial"/>
              </a:rPr>
              <a:t>tế</a:t>
            </a:r>
            <a:r>
              <a:rPr lang="en-US" sz="1400" dirty="0">
                <a:solidFill>
                  <a:srgbClr val="444B52"/>
                </a:solidFill>
                <a:latin typeface="Arial"/>
              </a:rPr>
              <a:t> </a:t>
            </a:r>
            <a:r>
              <a:rPr lang="en-US" sz="1400" dirty="0" err="1">
                <a:solidFill>
                  <a:srgbClr val="444B52"/>
                </a:solidFill>
                <a:latin typeface="Arial"/>
              </a:rPr>
              <a:t>ở</a:t>
            </a:r>
            <a:r>
              <a:rPr lang="en-US" sz="1400" dirty="0">
                <a:solidFill>
                  <a:srgbClr val="444B52"/>
                </a:solidFill>
                <a:latin typeface="Arial"/>
              </a:rPr>
              <a:t> tram </a:t>
            </a:r>
            <a:r>
              <a:rPr lang="en-US" sz="1400" dirty="0" err="1">
                <a:solidFill>
                  <a:srgbClr val="444B52"/>
                </a:solidFill>
                <a:latin typeface="Arial"/>
              </a:rPr>
              <a:t>xá</a:t>
            </a:r>
            <a:r>
              <a:rPr lang="en-US" sz="1400" dirty="0">
                <a:solidFill>
                  <a:srgbClr val="444B52"/>
                </a:solidFill>
                <a:latin typeface="Arial"/>
              </a:rPr>
              <a:t> </a:t>
            </a:r>
            <a:r>
              <a:rPr lang="en-US" sz="1400" dirty="0" err="1">
                <a:solidFill>
                  <a:srgbClr val="444B52"/>
                </a:solidFill>
                <a:latin typeface="Arial"/>
              </a:rPr>
              <a:t>để</a:t>
            </a:r>
            <a:r>
              <a:rPr lang="en-US" sz="1400" dirty="0">
                <a:solidFill>
                  <a:srgbClr val="444B52"/>
                </a:solidFill>
                <a:latin typeface="Arial"/>
              </a:rPr>
              <a:t> train </a:t>
            </a:r>
            <a:r>
              <a:rPr lang="en-US" sz="1400" dirty="0" err="1">
                <a:solidFill>
                  <a:srgbClr val="444B52"/>
                </a:solidFill>
                <a:latin typeface="Arial"/>
              </a:rPr>
              <a:t>và</a:t>
            </a:r>
            <a:r>
              <a:rPr lang="en-US" sz="1400" dirty="0">
                <a:solidFill>
                  <a:srgbClr val="444B52"/>
                </a:solidFill>
                <a:latin typeface="Arial"/>
              </a:rPr>
              <a:t> </a:t>
            </a:r>
            <a:r>
              <a:rPr lang="en-US" sz="1400" dirty="0" err="1">
                <a:solidFill>
                  <a:srgbClr val="444B52"/>
                </a:solidFill>
                <a:latin typeface="Arial"/>
              </a:rPr>
              <a:t>nâng</a:t>
            </a:r>
            <a:r>
              <a:rPr lang="en-US" sz="1400" dirty="0">
                <a:solidFill>
                  <a:srgbClr val="444B52"/>
                </a:solidFill>
                <a:latin typeface="Arial"/>
              </a:rPr>
              <a:t> </a:t>
            </a:r>
            <a:r>
              <a:rPr lang="en-US" sz="1400" dirty="0" err="1">
                <a:solidFill>
                  <a:srgbClr val="444B52"/>
                </a:solidFill>
                <a:latin typeface="Arial"/>
              </a:rPr>
              <a:t>cấp</a:t>
            </a:r>
            <a:r>
              <a:rPr lang="en-US" sz="1400" dirty="0">
                <a:solidFill>
                  <a:srgbClr val="444B52"/>
                </a:solidFill>
                <a:latin typeface="Arial"/>
              </a:rPr>
              <a:t> model</a:t>
            </a:r>
            <a:br>
              <a:rPr lang="en-US"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Tích</a:t>
            </a:r>
            <a:r>
              <a:rPr lang="en-US" sz="1400" dirty="0">
                <a:solidFill>
                  <a:srgbClr val="444B52"/>
                </a:solidFill>
                <a:latin typeface="Arial"/>
              </a:rPr>
              <a:t> </a:t>
            </a:r>
            <a:r>
              <a:rPr lang="en-US" sz="1400" dirty="0" err="1">
                <a:solidFill>
                  <a:srgbClr val="444B52"/>
                </a:solidFill>
                <a:latin typeface="Arial"/>
              </a:rPr>
              <a:t>hợp</a:t>
            </a:r>
            <a:r>
              <a:rPr lang="en-US" sz="1400" dirty="0">
                <a:solidFill>
                  <a:srgbClr val="444B52"/>
                </a:solidFill>
                <a:latin typeface="Arial"/>
              </a:rPr>
              <a:t> </a:t>
            </a:r>
            <a:r>
              <a:rPr lang="en-US" sz="1400" dirty="0" err="1">
                <a:solidFill>
                  <a:srgbClr val="444B52"/>
                </a:solidFill>
                <a:latin typeface="Arial"/>
              </a:rPr>
              <a:t>với</a:t>
            </a:r>
            <a:r>
              <a:rPr lang="en-US" sz="1400" dirty="0">
                <a:solidFill>
                  <a:srgbClr val="444B52"/>
                </a:solidFill>
                <a:latin typeface="Arial"/>
              </a:rPr>
              <a:t> </a:t>
            </a:r>
            <a:r>
              <a:rPr lang="en-US" sz="1400" dirty="0" err="1">
                <a:solidFill>
                  <a:srgbClr val="444B52"/>
                </a:solidFill>
                <a:latin typeface="Arial"/>
              </a:rPr>
              <a:t>các</a:t>
            </a:r>
            <a:r>
              <a:rPr lang="en-US" sz="1400" dirty="0">
                <a:solidFill>
                  <a:srgbClr val="444B52"/>
                </a:solidFill>
                <a:latin typeface="Arial"/>
              </a:rPr>
              <a:t> </a:t>
            </a:r>
            <a:r>
              <a:rPr lang="en-US" sz="1400" dirty="0" err="1">
                <a:solidFill>
                  <a:srgbClr val="444B52"/>
                </a:solidFill>
                <a:latin typeface="Arial"/>
              </a:rPr>
              <a:t>thiết</a:t>
            </a:r>
            <a:r>
              <a:rPr lang="en-US" sz="1400" dirty="0">
                <a:solidFill>
                  <a:srgbClr val="444B52"/>
                </a:solidFill>
                <a:latin typeface="Arial"/>
              </a:rPr>
              <a:t> </a:t>
            </a:r>
            <a:r>
              <a:rPr lang="en-US" sz="1400" dirty="0" err="1">
                <a:solidFill>
                  <a:srgbClr val="444B52"/>
                </a:solidFill>
                <a:latin typeface="Arial"/>
              </a:rPr>
              <a:t>bị</a:t>
            </a:r>
            <a:r>
              <a:rPr lang="en-US" sz="1400" dirty="0">
                <a:solidFill>
                  <a:srgbClr val="444B52"/>
                </a:solidFill>
                <a:latin typeface="Arial"/>
              </a:rPr>
              <a:t> y khoa </a:t>
            </a:r>
            <a:r>
              <a:rPr lang="en-US" sz="1400" dirty="0" err="1">
                <a:solidFill>
                  <a:srgbClr val="444B52"/>
                </a:solidFill>
                <a:latin typeface="Arial"/>
              </a:rPr>
              <a:t>để</a:t>
            </a:r>
            <a:r>
              <a:rPr lang="en-US" sz="1400" dirty="0">
                <a:solidFill>
                  <a:srgbClr val="444B52"/>
                </a:solidFill>
                <a:latin typeface="Arial"/>
              </a:rPr>
              <a:t> </a:t>
            </a:r>
            <a:r>
              <a:rPr lang="en-US" sz="1400" dirty="0" err="1">
                <a:solidFill>
                  <a:srgbClr val="444B52"/>
                </a:solidFill>
                <a:latin typeface="Arial"/>
              </a:rPr>
              <a:t>thu</a:t>
            </a:r>
            <a:r>
              <a:rPr lang="en-US" sz="1400" dirty="0">
                <a:solidFill>
                  <a:srgbClr val="444B52"/>
                </a:solidFill>
                <a:latin typeface="Arial"/>
              </a:rPr>
              <a:t> </a:t>
            </a:r>
            <a:r>
              <a:rPr lang="en-US" sz="1400" dirty="0" err="1">
                <a:solidFill>
                  <a:srgbClr val="444B52"/>
                </a:solidFill>
                <a:latin typeface="Arial"/>
              </a:rPr>
              <a:t>thập</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live </a:t>
            </a:r>
            <a:r>
              <a:rPr lang="en-US" sz="1400" dirty="0" err="1">
                <a:solidFill>
                  <a:srgbClr val="444B52"/>
                </a:solidFill>
                <a:latin typeface="Arial"/>
              </a:rPr>
              <a:t>như</a:t>
            </a:r>
            <a:r>
              <a:rPr lang="en-US" sz="1400" dirty="0">
                <a:solidFill>
                  <a:srgbClr val="444B52"/>
                </a:solidFill>
                <a:latin typeface="Arial"/>
              </a:rPr>
              <a:t> </a:t>
            </a:r>
            <a:r>
              <a:rPr lang="en-US" sz="1400" dirty="0" err="1">
                <a:solidFill>
                  <a:srgbClr val="444B52"/>
                </a:solidFill>
                <a:latin typeface="Arial"/>
              </a:rPr>
              <a:t>đồng</a:t>
            </a:r>
            <a:r>
              <a:rPr lang="en-US" sz="1400" dirty="0">
                <a:solidFill>
                  <a:srgbClr val="444B52"/>
                </a:solidFill>
                <a:latin typeface="Arial"/>
              </a:rPr>
              <a:t> </a:t>
            </a:r>
            <a:r>
              <a:rPr lang="en-US" sz="1400" dirty="0" err="1">
                <a:solidFill>
                  <a:srgbClr val="444B52"/>
                </a:solidFill>
                <a:latin typeface="Arial"/>
              </a:rPr>
              <a:t>hồ</a:t>
            </a:r>
            <a:r>
              <a:rPr lang="en-US" sz="1400" dirty="0">
                <a:solidFill>
                  <a:srgbClr val="444B52"/>
                </a:solidFill>
                <a:latin typeface="Arial"/>
              </a:rPr>
              <a:t> </a:t>
            </a:r>
            <a:r>
              <a:rPr lang="en-US" sz="1400" dirty="0" err="1">
                <a:solidFill>
                  <a:srgbClr val="444B52"/>
                </a:solidFill>
                <a:latin typeface="Arial"/>
              </a:rPr>
              <a:t>thông</a:t>
            </a:r>
            <a:r>
              <a:rPr lang="en-US" sz="1400" dirty="0">
                <a:solidFill>
                  <a:srgbClr val="444B52"/>
                </a:solidFill>
                <a:latin typeface="Arial"/>
              </a:rPr>
              <a:t> </a:t>
            </a:r>
            <a:r>
              <a:rPr lang="en-US" sz="1400" dirty="0" err="1">
                <a:solidFill>
                  <a:srgbClr val="444B52"/>
                </a:solidFill>
                <a:latin typeface="Arial"/>
              </a:rPr>
              <a:t>minh</a:t>
            </a:r>
            <a:r>
              <a:rPr lang="en-US" sz="1400" dirty="0">
                <a:solidFill>
                  <a:srgbClr val="444B52"/>
                </a:solidFill>
                <a:latin typeface="Arial"/>
              </a:rPr>
              <a:t> </a:t>
            </a:r>
            <a:r>
              <a:rPr lang="en-US" sz="1400" dirty="0" err="1">
                <a:solidFill>
                  <a:srgbClr val="444B52"/>
                </a:solidFill>
                <a:latin typeface="Arial"/>
              </a:rPr>
              <a:t>đeo</a:t>
            </a:r>
            <a:r>
              <a:rPr lang="en-US" sz="1400" dirty="0">
                <a:solidFill>
                  <a:srgbClr val="444B52"/>
                </a:solidFill>
                <a:latin typeface="Arial"/>
              </a:rPr>
              <a:t> </a:t>
            </a:r>
            <a:r>
              <a:rPr lang="en-US" sz="1400" dirty="0" err="1">
                <a:solidFill>
                  <a:srgbClr val="444B52"/>
                </a:solidFill>
                <a:latin typeface="Arial"/>
              </a:rPr>
              <a:t>tay</a:t>
            </a:r>
            <a:endParaRPr lang="en-US" sz="1400" dirty="0">
              <a:solidFill>
                <a:srgbClr val="444B52"/>
              </a:solidFill>
              <a:latin typeface="Arial"/>
            </a:endParaRPr>
          </a:p>
          <a:p>
            <a:pPr lvl="1">
              <a:spcAft>
                <a:spcPts val="500"/>
              </a:spcAft>
            </a:pPr>
            <a:endParaRPr sz="1400" dirty="0">
              <a:solidFill>
                <a:srgbClr val="444B52"/>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sz="1800" b="1" dirty="0">
                <a:solidFill>
                  <a:srgbClr val="FFFFFF"/>
                </a:solidFill>
                <a:latin typeface="Arial"/>
              </a:rPr>
              <a:t> </a:t>
            </a:r>
            <a:r>
              <a:rPr lang="vi-VN" sz="1800" b="1" dirty="0">
                <a:solidFill>
                  <a:srgbClr val="FFFFFF"/>
                </a:solidFill>
                <a:latin typeface="Arial"/>
              </a:rPr>
              <a:t>thầy và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8360</TotalTime>
  <Words>1524</Words>
  <Application>Microsoft Macintosh PowerPoint</Application>
  <PresentationFormat>Widescreen</PresentationFormat>
  <Paragraphs>177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108</cp:revision>
  <cp:lastPrinted>2026-09-20T15:26:35Z</cp:lastPrinted>
  <dcterms:created xsi:type="dcterms:W3CDTF">2013-01-27T09:14:16Z</dcterms:created>
  <dcterms:modified xsi:type="dcterms:W3CDTF">2026-09-25T08:22:04Z</dcterms:modified>
  <cp:category/>
</cp:coreProperties>
</file>