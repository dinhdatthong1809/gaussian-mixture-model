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264" r:id="rId4"/>
    <p:sldId id="266" r:id="rId5"/>
    <p:sldId id="271" r:id="rId6"/>
    <p:sldId id="273" r:id="rId7"/>
    <p:sldId id="274" r:id="rId8"/>
    <p:sldId id="267" r:id="rId9"/>
    <p:sldId id="278" r:id="rId10"/>
    <p:sldId id="277" r:id="rId11"/>
    <p:sldId id="296" r:id="rId12"/>
    <p:sldId id="331" r:id="rId13"/>
    <p:sldId id="332" r:id="rId14"/>
    <p:sldId id="333" r:id="rId15"/>
    <p:sldId id="286" r:id="rId16"/>
    <p:sldId id="290" r:id="rId17"/>
    <p:sldId id="293" r:id="rId18"/>
    <p:sldId id="294" r:id="rId19"/>
    <p:sldId id="292" r:id="rId20"/>
    <p:sldId id="303" r:id="rId21"/>
    <p:sldId id="302" r:id="rId22"/>
    <p:sldId id="299" r:id="rId23"/>
    <p:sldId id="301" r:id="rId24"/>
    <p:sldId id="300" r:id="rId25"/>
    <p:sldId id="282" r:id="rId26"/>
    <p:sldId id="309" r:id="rId27"/>
    <p:sldId id="311" r:id="rId28"/>
    <p:sldId id="312" r:id="rId29"/>
    <p:sldId id="313" r:id="rId30"/>
    <p:sldId id="314" r:id="rId31"/>
    <p:sldId id="327" r:id="rId32"/>
    <p:sldId id="315" r:id="rId33"/>
    <p:sldId id="316" r:id="rId34"/>
    <p:sldId id="317" r:id="rId35"/>
    <p:sldId id="318" r:id="rId36"/>
    <p:sldId id="319" r:id="rId37"/>
    <p:sldId id="320" r:id="rId38"/>
    <p:sldId id="325" r:id="rId39"/>
    <p:sldId id="326" r:id="rId40"/>
    <p:sldId id="322" r:id="rId41"/>
    <p:sldId id="323" r:id="rId42"/>
    <p:sldId id="324" r:id="rId43"/>
    <p:sldId id="337" r:id="rId44"/>
    <p:sldId id="328" r:id="rId45"/>
    <p:sldId id="338" r:id="rId46"/>
    <p:sldId id="334" r:id="rId47"/>
    <p:sldId id="339" r:id="rId48"/>
    <p:sldId id="330" r:id="rId49"/>
    <p:sldId id="329" r:id="rId50"/>
    <p:sldId id="321" r:id="rId51"/>
    <p:sldId id="265" r:id="rId52"/>
    <p:sldId id="297" r:id="rId53"/>
    <p:sldId id="263" r:id="rId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603"/>
    <p:restoredTop sz="94597"/>
  </p:normalViewPr>
  <p:slideViewPr>
    <p:cSldViewPr snapToGrid="0" snapToObjects="1">
      <p:cViewPr varScale="1">
        <p:scale>
          <a:sx n="161" d="100"/>
          <a:sy n="161" d="100"/>
        </p:scale>
        <p:origin x="240" y="264"/>
      </p:cViewPr>
      <p:guideLst>
        <p:guide orient="horz" pos="2160"/>
        <p:guide pos="288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0A29F-E564-15F0-0597-AAE3F9895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A0F6-32C9-949B-1C1B-B102F725E00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DFA00C4-5706-3584-E507-E994724AD6F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4E140A2-6D9B-E76D-8A13-1ACA000F3695}"/>
              </a:ext>
            </a:extLst>
          </p:cNvPr>
          <p:cNvSpPr>
            <a:spLocks noGrp="1"/>
          </p:cNvSpPr>
          <p:nvPr>
            <p:ph type="sldNum" sz="quarter" idx="5"/>
          </p:nvPr>
        </p:nvSpPr>
        <p:spPr/>
      </p:sp>
    </p:spTree>
    <p:extLst>
      <p:ext uri="{BB962C8B-B14F-4D97-AF65-F5344CB8AC3E}">
        <p14:creationId xmlns:p14="http://schemas.microsoft.com/office/powerpoint/2010/main" val="1020496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D4854-91DA-7103-6903-C6AA82CBB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0C4C1-D077-F2FD-73AD-1B3A7B7892C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666DF0B-954C-A586-1166-E843060052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AEF20AF-9001-F634-8FD4-541458E91AED}"/>
              </a:ext>
            </a:extLst>
          </p:cNvPr>
          <p:cNvSpPr>
            <a:spLocks noGrp="1"/>
          </p:cNvSpPr>
          <p:nvPr>
            <p:ph type="sldNum" sz="quarter" idx="5"/>
          </p:nvPr>
        </p:nvSpPr>
        <p:spPr/>
      </p:sp>
    </p:spTree>
    <p:extLst>
      <p:ext uri="{BB962C8B-B14F-4D97-AF65-F5344CB8AC3E}">
        <p14:creationId xmlns:p14="http://schemas.microsoft.com/office/powerpoint/2010/main" val="28596434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64B2C-A9E9-F5C8-B012-A3C844128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8A4203-7EA9-F772-E71B-3D488F7AE1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2501B0-80BB-322A-894E-E5816029E5D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95319ED-1D95-C273-5809-549480CAF1C1}"/>
              </a:ext>
            </a:extLst>
          </p:cNvPr>
          <p:cNvSpPr>
            <a:spLocks noGrp="1"/>
          </p:cNvSpPr>
          <p:nvPr>
            <p:ph type="sldNum" sz="quarter" idx="5"/>
          </p:nvPr>
        </p:nvSpPr>
        <p:spPr/>
      </p:sp>
    </p:spTree>
    <p:extLst>
      <p:ext uri="{BB962C8B-B14F-4D97-AF65-F5344CB8AC3E}">
        <p14:creationId xmlns:p14="http://schemas.microsoft.com/office/powerpoint/2010/main" val="3538116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99594-2FEE-85CE-0D91-266E92722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23C7F-7A95-61BB-BFEB-4C10F3D6C0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040677E-8145-16BB-0CB0-88886CADD29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0A7081A-547F-02FE-6C78-8CBDDC5589E8}"/>
              </a:ext>
            </a:extLst>
          </p:cNvPr>
          <p:cNvSpPr>
            <a:spLocks noGrp="1"/>
          </p:cNvSpPr>
          <p:nvPr>
            <p:ph type="sldNum" sz="quarter" idx="5"/>
          </p:nvPr>
        </p:nvSpPr>
        <p:spPr/>
      </p:sp>
    </p:spTree>
    <p:extLst>
      <p:ext uri="{BB962C8B-B14F-4D97-AF65-F5344CB8AC3E}">
        <p14:creationId xmlns:p14="http://schemas.microsoft.com/office/powerpoint/2010/main" val="22704141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A2134-7258-8DC0-D00E-92EFCDC54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BA886-663F-D69F-B714-944C1CF47D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B6BBF00-A202-878E-6D7D-717B21447AB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F5CFFE0-3949-0944-C542-4530858DF3CF}"/>
              </a:ext>
            </a:extLst>
          </p:cNvPr>
          <p:cNvSpPr>
            <a:spLocks noGrp="1"/>
          </p:cNvSpPr>
          <p:nvPr>
            <p:ph type="sldNum" sz="quarter" idx="5"/>
          </p:nvPr>
        </p:nvSpPr>
        <p:spPr/>
      </p:sp>
    </p:spTree>
    <p:extLst>
      <p:ext uri="{BB962C8B-B14F-4D97-AF65-F5344CB8AC3E}">
        <p14:creationId xmlns:p14="http://schemas.microsoft.com/office/powerpoint/2010/main" val="27182964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1321A-988F-DDB6-6DA0-48C564165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B2D43-1D2D-85BD-E832-61471542B8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647558-C082-6B9B-D911-5DECC8146F8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F58DFF2-6575-A8E4-B379-7DBFB5F81F3C}"/>
              </a:ext>
            </a:extLst>
          </p:cNvPr>
          <p:cNvSpPr>
            <a:spLocks noGrp="1"/>
          </p:cNvSpPr>
          <p:nvPr>
            <p:ph type="sldNum" sz="quarter" idx="5"/>
          </p:nvPr>
        </p:nvSpPr>
        <p:spPr/>
      </p:sp>
    </p:spTree>
    <p:extLst>
      <p:ext uri="{BB962C8B-B14F-4D97-AF65-F5344CB8AC3E}">
        <p14:creationId xmlns:p14="http://schemas.microsoft.com/office/powerpoint/2010/main" val="18964587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D503D-D736-D381-E135-3DA8517E2B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389F0-ACC2-79F2-C231-60153C9ADBD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942DDCC-66F3-ED88-3B12-5C1FC1468D4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BF8BB51-7104-978E-336A-77FF94F4B144}"/>
              </a:ext>
            </a:extLst>
          </p:cNvPr>
          <p:cNvSpPr>
            <a:spLocks noGrp="1"/>
          </p:cNvSpPr>
          <p:nvPr>
            <p:ph type="sldNum" sz="quarter" idx="5"/>
          </p:nvPr>
        </p:nvSpPr>
        <p:spPr/>
      </p:sp>
    </p:spTree>
    <p:extLst>
      <p:ext uri="{BB962C8B-B14F-4D97-AF65-F5344CB8AC3E}">
        <p14:creationId xmlns:p14="http://schemas.microsoft.com/office/powerpoint/2010/main" val="3445699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6D269-E33C-FE9D-EA21-553B87B1B7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B1629-82F6-82FB-7236-E5443F38F9D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BC740D8-2304-4DA1-2E18-97D5971563F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AC808B8-3FEA-A02E-FD6F-9ACD6DC7843C}"/>
              </a:ext>
            </a:extLst>
          </p:cNvPr>
          <p:cNvSpPr>
            <a:spLocks noGrp="1"/>
          </p:cNvSpPr>
          <p:nvPr>
            <p:ph type="sldNum" sz="quarter" idx="5"/>
          </p:nvPr>
        </p:nvSpPr>
        <p:spPr/>
      </p:sp>
    </p:spTree>
    <p:extLst>
      <p:ext uri="{BB962C8B-B14F-4D97-AF65-F5344CB8AC3E}">
        <p14:creationId xmlns:p14="http://schemas.microsoft.com/office/powerpoint/2010/main" val="2681318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619EA-8B9C-7C4C-2662-BB7E43733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296868-D53D-DE9B-0A32-D8595A956F1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642DD6C-3765-0622-3542-4EF463FCD0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4BC7AAA-8029-61DA-491D-3CFDBD317EED}"/>
              </a:ext>
            </a:extLst>
          </p:cNvPr>
          <p:cNvSpPr>
            <a:spLocks noGrp="1"/>
          </p:cNvSpPr>
          <p:nvPr>
            <p:ph type="sldNum" sz="quarter" idx="5"/>
          </p:nvPr>
        </p:nvSpPr>
        <p:spPr/>
      </p:sp>
    </p:spTree>
    <p:extLst>
      <p:ext uri="{BB962C8B-B14F-4D97-AF65-F5344CB8AC3E}">
        <p14:creationId xmlns:p14="http://schemas.microsoft.com/office/powerpoint/2010/main" val="19636744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37968-7E43-7241-E81C-6161A7EFC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E3277F-BE7C-D498-3DF0-0EA85C0CBC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4C4AED-7926-2D18-161B-DC7C3016225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2CCD9F9-D12C-4C5C-6F05-E3B7F28C6E79}"/>
              </a:ext>
            </a:extLst>
          </p:cNvPr>
          <p:cNvSpPr>
            <a:spLocks noGrp="1"/>
          </p:cNvSpPr>
          <p:nvPr>
            <p:ph type="sldNum" sz="quarter" idx="5"/>
          </p:nvPr>
        </p:nvSpPr>
        <p:spPr/>
      </p:sp>
    </p:spTree>
    <p:extLst>
      <p:ext uri="{BB962C8B-B14F-4D97-AF65-F5344CB8AC3E}">
        <p14:creationId xmlns:p14="http://schemas.microsoft.com/office/powerpoint/2010/main" val="28599966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3112E-A98A-0440-0DEB-7E5CBEF482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9982C4-6F04-A249-DBA4-61C03688EEC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A966153-4B7B-3184-FFE0-14165126610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82919FA-83C4-9E03-39E3-31E614476960}"/>
              </a:ext>
            </a:extLst>
          </p:cNvPr>
          <p:cNvSpPr>
            <a:spLocks noGrp="1"/>
          </p:cNvSpPr>
          <p:nvPr>
            <p:ph type="sldNum" sz="quarter" idx="5"/>
          </p:nvPr>
        </p:nvSpPr>
        <p:spPr/>
      </p:sp>
    </p:spTree>
    <p:extLst>
      <p:ext uri="{BB962C8B-B14F-4D97-AF65-F5344CB8AC3E}">
        <p14:creationId xmlns:p14="http://schemas.microsoft.com/office/powerpoint/2010/main" val="15613677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A9A57-6AF2-7210-4A2F-C40A5A5AB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2B2760-184D-4E38-7471-4D4884D37C2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9BC4C6-5FB7-C84B-EA1E-D26DF580E49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7E450AD-F162-0E99-87A8-906BFD1AA598}"/>
              </a:ext>
            </a:extLst>
          </p:cNvPr>
          <p:cNvSpPr>
            <a:spLocks noGrp="1"/>
          </p:cNvSpPr>
          <p:nvPr>
            <p:ph type="sldNum" sz="quarter" idx="5"/>
          </p:nvPr>
        </p:nvSpPr>
        <p:spPr/>
      </p:sp>
    </p:spTree>
    <p:extLst>
      <p:ext uri="{BB962C8B-B14F-4D97-AF65-F5344CB8AC3E}">
        <p14:creationId xmlns:p14="http://schemas.microsoft.com/office/powerpoint/2010/main" val="11128418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4C492-2C5A-8EBE-A7EE-0D49968EC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FBB51-1F89-6566-936F-925FB4232E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200188-B928-551C-C2BC-BE643A0E036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E81C8C4-0146-B181-95C0-68BB66419EA5}"/>
              </a:ext>
            </a:extLst>
          </p:cNvPr>
          <p:cNvSpPr>
            <a:spLocks noGrp="1"/>
          </p:cNvSpPr>
          <p:nvPr>
            <p:ph type="sldNum" sz="quarter" idx="5"/>
          </p:nvPr>
        </p:nvSpPr>
        <p:spPr/>
      </p:sp>
    </p:spTree>
    <p:extLst>
      <p:ext uri="{BB962C8B-B14F-4D97-AF65-F5344CB8AC3E}">
        <p14:creationId xmlns:p14="http://schemas.microsoft.com/office/powerpoint/2010/main" val="27513154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BB91F-402B-BC16-FCE6-E0D89132A0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C5C9E-0FD9-9287-6408-DD607BA0D6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C94153B-00FC-9CF8-1CA7-9C46C5D77C4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4AD088C-0C90-73FC-DF55-20413B388DC7}"/>
              </a:ext>
            </a:extLst>
          </p:cNvPr>
          <p:cNvSpPr>
            <a:spLocks noGrp="1"/>
          </p:cNvSpPr>
          <p:nvPr>
            <p:ph type="sldNum" sz="quarter" idx="5"/>
          </p:nvPr>
        </p:nvSpPr>
        <p:spPr/>
      </p:sp>
    </p:spTree>
    <p:extLst>
      <p:ext uri="{BB962C8B-B14F-4D97-AF65-F5344CB8AC3E}">
        <p14:creationId xmlns:p14="http://schemas.microsoft.com/office/powerpoint/2010/main" val="33876786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90466-C8BB-4A73-39E8-2F7E95FDDC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C2552-3188-7453-26B7-A752770D668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596FAC1-730A-6A52-F7E2-79CAC452F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9C3AEA8-D86F-4139-897C-E6DE2E5A778D}"/>
              </a:ext>
            </a:extLst>
          </p:cNvPr>
          <p:cNvSpPr>
            <a:spLocks noGrp="1"/>
          </p:cNvSpPr>
          <p:nvPr>
            <p:ph type="sldNum" sz="quarter" idx="5"/>
          </p:nvPr>
        </p:nvSpPr>
        <p:spPr/>
      </p:sp>
    </p:spTree>
    <p:extLst>
      <p:ext uri="{BB962C8B-B14F-4D97-AF65-F5344CB8AC3E}">
        <p14:creationId xmlns:p14="http://schemas.microsoft.com/office/powerpoint/2010/main" val="3198918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1713D-4217-BA4F-20EB-4154F6CF0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EC2B8-AA75-A460-4768-C3A8FA50A7D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8AADEC-AF00-9079-07D5-53C8764BFA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66E154-1981-0000-B477-83FD20DA9C67}"/>
              </a:ext>
            </a:extLst>
          </p:cNvPr>
          <p:cNvSpPr>
            <a:spLocks noGrp="1"/>
          </p:cNvSpPr>
          <p:nvPr>
            <p:ph type="sldNum" sz="quarter" idx="5"/>
          </p:nvPr>
        </p:nvSpPr>
        <p:spPr/>
      </p:sp>
    </p:spTree>
    <p:extLst>
      <p:ext uri="{BB962C8B-B14F-4D97-AF65-F5344CB8AC3E}">
        <p14:creationId xmlns:p14="http://schemas.microsoft.com/office/powerpoint/2010/main" val="29320014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2C35-A368-628B-F812-D3D8A1D1CA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D0BE0-FAC6-40EB-52F0-4BB01E7E26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9369E3-A2BA-3E7B-EA5C-9CA5181B7C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0D1C41-CBD9-F764-EC32-5254E5B59C13}"/>
              </a:ext>
            </a:extLst>
          </p:cNvPr>
          <p:cNvSpPr>
            <a:spLocks noGrp="1"/>
          </p:cNvSpPr>
          <p:nvPr>
            <p:ph type="sldNum" sz="quarter" idx="5"/>
          </p:nvPr>
        </p:nvSpPr>
        <p:spPr/>
      </p:sp>
    </p:spTree>
    <p:extLst>
      <p:ext uri="{BB962C8B-B14F-4D97-AF65-F5344CB8AC3E}">
        <p14:creationId xmlns:p14="http://schemas.microsoft.com/office/powerpoint/2010/main" val="28514808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EC2BF-F054-54A4-4047-FAB80CCE4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7CE90-7FAB-A829-5BB3-BFB3291644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909D885-1BA6-9EC2-38AA-DDE70346BE6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0C1E117-C40C-8237-7C0D-537E60A93A77}"/>
              </a:ext>
            </a:extLst>
          </p:cNvPr>
          <p:cNvSpPr>
            <a:spLocks noGrp="1"/>
          </p:cNvSpPr>
          <p:nvPr>
            <p:ph type="sldNum" sz="quarter" idx="5"/>
          </p:nvPr>
        </p:nvSpPr>
        <p:spPr/>
      </p:sp>
    </p:spTree>
    <p:extLst>
      <p:ext uri="{BB962C8B-B14F-4D97-AF65-F5344CB8AC3E}">
        <p14:creationId xmlns:p14="http://schemas.microsoft.com/office/powerpoint/2010/main" val="1119485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F95F5-93FB-59A5-3F70-C014F3157A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5BD7-6D9B-FDBF-555D-EC994FA6412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DFE2676-0B2D-1D99-E321-260D1F0EF6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A7F923-D760-FC5E-8EDA-2DA5DB6DB4BD}"/>
              </a:ext>
            </a:extLst>
          </p:cNvPr>
          <p:cNvSpPr>
            <a:spLocks noGrp="1"/>
          </p:cNvSpPr>
          <p:nvPr>
            <p:ph type="sldNum" sz="quarter" idx="5"/>
          </p:nvPr>
        </p:nvSpPr>
        <p:spPr/>
      </p:sp>
    </p:spTree>
    <p:extLst>
      <p:ext uri="{BB962C8B-B14F-4D97-AF65-F5344CB8AC3E}">
        <p14:creationId xmlns:p14="http://schemas.microsoft.com/office/powerpoint/2010/main" val="16522734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BB8BD-EBFD-BDF0-D50A-392DA5B0C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4DF9CD-EF1E-096B-4417-5F5595FB180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D8F21F-3328-9E63-7C13-D7249D66FA1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757B8C4-C638-8818-A063-CB743E6D50A1}"/>
              </a:ext>
            </a:extLst>
          </p:cNvPr>
          <p:cNvSpPr>
            <a:spLocks noGrp="1"/>
          </p:cNvSpPr>
          <p:nvPr>
            <p:ph type="sldNum" sz="quarter" idx="5"/>
          </p:nvPr>
        </p:nvSpPr>
        <p:spPr/>
      </p:sp>
    </p:spTree>
    <p:extLst>
      <p:ext uri="{BB962C8B-B14F-4D97-AF65-F5344CB8AC3E}">
        <p14:creationId xmlns:p14="http://schemas.microsoft.com/office/powerpoint/2010/main" val="39788542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A3783-D7D9-37B3-68C9-A7845C4FA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8E0A0-2A8A-E754-A0B2-575B47BD56A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BE21395-3BDB-577A-3759-500F2D6CED7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3AAB95A-30F0-3C2A-0E99-87F46F82F51D}"/>
              </a:ext>
            </a:extLst>
          </p:cNvPr>
          <p:cNvSpPr>
            <a:spLocks noGrp="1"/>
          </p:cNvSpPr>
          <p:nvPr>
            <p:ph type="sldNum" sz="quarter" idx="5"/>
          </p:nvPr>
        </p:nvSpPr>
        <p:spPr/>
      </p:sp>
    </p:spTree>
    <p:extLst>
      <p:ext uri="{BB962C8B-B14F-4D97-AF65-F5344CB8AC3E}">
        <p14:creationId xmlns:p14="http://schemas.microsoft.com/office/powerpoint/2010/main" val="34448430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1EFCD-71E4-EE8A-2E21-50719B8747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7CBE7-DF67-01F1-07E3-592540157C5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967204F-98D3-44ED-B757-C8D741D1B76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A87A173-76CC-9991-4F12-9B13B2F1DFE2}"/>
              </a:ext>
            </a:extLst>
          </p:cNvPr>
          <p:cNvSpPr>
            <a:spLocks noGrp="1"/>
          </p:cNvSpPr>
          <p:nvPr>
            <p:ph type="sldNum" sz="quarter" idx="5"/>
          </p:nvPr>
        </p:nvSpPr>
        <p:spPr/>
      </p:sp>
    </p:spTree>
    <p:extLst>
      <p:ext uri="{BB962C8B-B14F-4D97-AF65-F5344CB8AC3E}">
        <p14:creationId xmlns:p14="http://schemas.microsoft.com/office/powerpoint/2010/main" val="25892752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C3C45-A0A1-0AB9-3C57-9C8AE16DB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3A78F-C597-EBED-3C16-03977D062D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6D56682-768B-FC3D-BFBE-353A5E8C28B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B5E8540-4720-C515-8EDE-ED0766F4C269}"/>
              </a:ext>
            </a:extLst>
          </p:cNvPr>
          <p:cNvSpPr>
            <a:spLocks noGrp="1"/>
          </p:cNvSpPr>
          <p:nvPr>
            <p:ph type="sldNum" sz="quarter" idx="5"/>
          </p:nvPr>
        </p:nvSpPr>
        <p:spPr/>
      </p:sp>
    </p:spTree>
    <p:extLst>
      <p:ext uri="{BB962C8B-B14F-4D97-AF65-F5344CB8AC3E}">
        <p14:creationId xmlns:p14="http://schemas.microsoft.com/office/powerpoint/2010/main" val="2049898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862-8DC8-86C4-B49A-8EAB93B4DB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0AE774-7831-1624-80EA-95E7475304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D15E671-8180-DE37-A19C-8B9548989DE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B88F27-7B67-F6A2-57F2-240E04C27293}"/>
              </a:ext>
            </a:extLst>
          </p:cNvPr>
          <p:cNvSpPr>
            <a:spLocks noGrp="1"/>
          </p:cNvSpPr>
          <p:nvPr>
            <p:ph type="sldNum" sz="quarter" idx="5"/>
          </p:nvPr>
        </p:nvSpPr>
        <p:spPr/>
      </p:sp>
    </p:spTree>
    <p:extLst>
      <p:ext uri="{BB962C8B-B14F-4D97-AF65-F5344CB8AC3E}">
        <p14:creationId xmlns:p14="http://schemas.microsoft.com/office/powerpoint/2010/main" val="31513727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FFB02-5014-0B4A-1FA1-797EF6E676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4D8900-3F09-D838-FC9E-FEDB53A198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88B59EE-6C2C-A321-747C-805A7476993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87F881D-8FEA-563A-493E-45D243E54FB3}"/>
              </a:ext>
            </a:extLst>
          </p:cNvPr>
          <p:cNvSpPr>
            <a:spLocks noGrp="1"/>
          </p:cNvSpPr>
          <p:nvPr>
            <p:ph type="sldNum" sz="quarter" idx="5"/>
          </p:nvPr>
        </p:nvSpPr>
        <p:spPr/>
      </p:sp>
    </p:spTree>
    <p:extLst>
      <p:ext uri="{BB962C8B-B14F-4D97-AF65-F5344CB8AC3E}">
        <p14:creationId xmlns:p14="http://schemas.microsoft.com/office/powerpoint/2010/main" val="23735480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92B14-BC0A-09AE-2C89-2EFC42111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EA8AF-613F-7FE3-E474-5BBD6B2F059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AE35EF-A68F-745B-3ECC-12A607ED22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F92839B-44FB-6442-A019-16437AD97D87}"/>
              </a:ext>
            </a:extLst>
          </p:cNvPr>
          <p:cNvSpPr>
            <a:spLocks noGrp="1"/>
          </p:cNvSpPr>
          <p:nvPr>
            <p:ph type="sldNum" sz="quarter" idx="5"/>
          </p:nvPr>
        </p:nvSpPr>
        <p:spPr/>
      </p:sp>
    </p:spTree>
    <p:extLst>
      <p:ext uri="{BB962C8B-B14F-4D97-AF65-F5344CB8AC3E}">
        <p14:creationId xmlns:p14="http://schemas.microsoft.com/office/powerpoint/2010/main" val="5546439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9DA1C-B2E4-6478-1FFF-21E5BF0EFF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2902A2-3D56-0F4E-6518-68C21A0C19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311EE25-0748-8918-EF4A-ADF7F8838AF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E33CD7B-F8BE-54C5-82F3-DA0AF7CF0359}"/>
              </a:ext>
            </a:extLst>
          </p:cNvPr>
          <p:cNvSpPr>
            <a:spLocks noGrp="1"/>
          </p:cNvSpPr>
          <p:nvPr>
            <p:ph type="sldNum" sz="quarter" idx="5"/>
          </p:nvPr>
        </p:nvSpPr>
        <p:spPr/>
      </p:sp>
    </p:spTree>
    <p:extLst>
      <p:ext uri="{BB962C8B-B14F-4D97-AF65-F5344CB8AC3E}">
        <p14:creationId xmlns:p14="http://schemas.microsoft.com/office/powerpoint/2010/main" val="35584331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75303-10E8-5854-7ED9-C97004E9C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859F22-93E4-D4B2-C097-8394DA284F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03F8A5-F55C-6579-D4C0-A282B247F02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3CA148B-155C-7215-C851-BC2B0765129B}"/>
              </a:ext>
            </a:extLst>
          </p:cNvPr>
          <p:cNvSpPr>
            <a:spLocks noGrp="1"/>
          </p:cNvSpPr>
          <p:nvPr>
            <p:ph type="sldNum" sz="quarter" idx="5"/>
          </p:nvPr>
        </p:nvSpPr>
        <p:spPr/>
      </p:sp>
    </p:spTree>
    <p:extLst>
      <p:ext uri="{BB962C8B-B14F-4D97-AF65-F5344CB8AC3E}">
        <p14:creationId xmlns:p14="http://schemas.microsoft.com/office/powerpoint/2010/main" val="17770384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7733-B0A4-07AE-6B5E-F803DD6CF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71FBE-E406-BEB2-2B0A-732EBBD270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F86C83-1AB5-AAB0-44D8-95E224C41B5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27C226F-8261-1DA5-8AE3-B5EB909BCD73}"/>
              </a:ext>
            </a:extLst>
          </p:cNvPr>
          <p:cNvSpPr>
            <a:spLocks noGrp="1"/>
          </p:cNvSpPr>
          <p:nvPr>
            <p:ph type="sldNum" sz="quarter" idx="5"/>
          </p:nvPr>
        </p:nvSpPr>
        <p:spPr/>
      </p:sp>
    </p:spTree>
    <p:extLst>
      <p:ext uri="{BB962C8B-B14F-4D97-AF65-F5344CB8AC3E}">
        <p14:creationId xmlns:p14="http://schemas.microsoft.com/office/powerpoint/2010/main" val="4004688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12217-4135-1C86-5020-AA618560C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05E2-01AE-CB95-3603-E43DE4CD67C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E050A68-2E00-DC7D-8BDF-7F27E046D5E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2335A0D-4C28-62DA-44EB-AD929589CE5D}"/>
              </a:ext>
            </a:extLst>
          </p:cNvPr>
          <p:cNvSpPr>
            <a:spLocks noGrp="1"/>
          </p:cNvSpPr>
          <p:nvPr>
            <p:ph type="sldNum" sz="quarter" idx="5"/>
          </p:nvPr>
        </p:nvSpPr>
        <p:spPr/>
      </p:sp>
    </p:spTree>
    <p:extLst>
      <p:ext uri="{BB962C8B-B14F-4D97-AF65-F5344CB8AC3E}">
        <p14:creationId xmlns:p14="http://schemas.microsoft.com/office/powerpoint/2010/main" val="301303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19F81-F6C1-79CC-A7FF-8F56F306B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10A78E-688B-F36F-BB6A-CC0C810200C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94DCD72-FEC7-4EE4-92DA-2BAC1E693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4C5A0BB-2CA6-05D1-8BA8-B9DF40473AC4}"/>
              </a:ext>
            </a:extLst>
          </p:cNvPr>
          <p:cNvSpPr>
            <a:spLocks noGrp="1"/>
          </p:cNvSpPr>
          <p:nvPr>
            <p:ph type="sldNum" sz="quarter" idx="5"/>
          </p:nvPr>
        </p:nvSpPr>
        <p:spPr/>
      </p:sp>
    </p:spTree>
    <p:extLst>
      <p:ext uri="{BB962C8B-B14F-4D97-AF65-F5344CB8AC3E}">
        <p14:creationId xmlns:p14="http://schemas.microsoft.com/office/powerpoint/2010/main" val="31201138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0A894-5E53-19DE-90AA-6C5C53E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8F4C-3F8B-BF67-C2D0-EF7FC68E968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55A0F0C-03BA-FA93-3754-76D7A7EC11F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B2F4631-C6F9-F594-A00A-21C49F1D5B9D}"/>
              </a:ext>
            </a:extLst>
          </p:cNvPr>
          <p:cNvSpPr>
            <a:spLocks noGrp="1"/>
          </p:cNvSpPr>
          <p:nvPr>
            <p:ph type="sldNum" sz="quarter" idx="5"/>
          </p:nvPr>
        </p:nvSpPr>
        <p:spPr/>
      </p:sp>
    </p:spTree>
    <p:extLst>
      <p:ext uri="{BB962C8B-B14F-4D97-AF65-F5344CB8AC3E}">
        <p14:creationId xmlns:p14="http://schemas.microsoft.com/office/powerpoint/2010/main" val="13951772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CCA7-D249-B614-1DF6-9E6CACF6F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A81BE-4272-6660-99EF-F1BAB7F98F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B0E155A-9F8D-F198-5E5F-6E7482510D2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A7F8F16-8DE7-BBF9-A96A-875FD3972ECC}"/>
              </a:ext>
            </a:extLst>
          </p:cNvPr>
          <p:cNvSpPr>
            <a:spLocks noGrp="1"/>
          </p:cNvSpPr>
          <p:nvPr>
            <p:ph type="sldNum" sz="quarter" idx="5"/>
          </p:nvPr>
        </p:nvSpPr>
        <p:spPr/>
      </p:sp>
    </p:spTree>
    <p:extLst>
      <p:ext uri="{BB962C8B-B14F-4D97-AF65-F5344CB8AC3E}">
        <p14:creationId xmlns:p14="http://schemas.microsoft.com/office/powerpoint/2010/main" val="16560328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8DDD5-F1EB-B041-ACC3-02EB1A173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A5188-314E-F720-7C79-9A3B7D45D0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E430E9-2ED1-0A3E-F054-282CE48874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F419FF9-6C8A-6D29-FAF9-1215AAC8975D}"/>
              </a:ext>
            </a:extLst>
          </p:cNvPr>
          <p:cNvSpPr>
            <a:spLocks noGrp="1"/>
          </p:cNvSpPr>
          <p:nvPr>
            <p:ph type="sldNum" sz="quarter" idx="5"/>
          </p:nvPr>
        </p:nvSpPr>
        <p:spPr/>
      </p:sp>
    </p:spTree>
    <p:extLst>
      <p:ext uri="{BB962C8B-B14F-4D97-AF65-F5344CB8AC3E}">
        <p14:creationId xmlns:p14="http://schemas.microsoft.com/office/powerpoint/2010/main" val="4878482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26EB-BD2B-94FA-E89E-ECDFD94E54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368E8-A9CB-5621-14E2-1D5C833AC35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580118-535A-7A99-30A8-78428B2599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4382B2B-94BE-479B-1C9F-AA68C20D4CF9}"/>
              </a:ext>
            </a:extLst>
          </p:cNvPr>
          <p:cNvSpPr>
            <a:spLocks noGrp="1"/>
          </p:cNvSpPr>
          <p:nvPr>
            <p:ph type="sldNum" sz="quarter" idx="5"/>
          </p:nvPr>
        </p:nvSpPr>
        <p:spPr/>
      </p:sp>
    </p:spTree>
    <p:extLst>
      <p:ext uri="{BB962C8B-B14F-4D97-AF65-F5344CB8AC3E}">
        <p14:creationId xmlns:p14="http://schemas.microsoft.com/office/powerpoint/2010/main" val="3969897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1A11-AD46-4E28-3C97-66EADEFF5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A4B2CE-A8F2-B6FB-C7B1-574CF806608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FE34FF-938E-3336-60CB-0A30AAFD6E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E569AB-855B-7492-EC38-8649B107D336}"/>
              </a:ext>
            </a:extLst>
          </p:cNvPr>
          <p:cNvSpPr>
            <a:spLocks noGrp="1"/>
          </p:cNvSpPr>
          <p:nvPr>
            <p:ph type="sldNum" sz="quarter" idx="5"/>
          </p:nvPr>
        </p:nvSpPr>
        <p:spPr/>
      </p:sp>
    </p:spTree>
    <p:extLst>
      <p:ext uri="{BB962C8B-B14F-4D97-AF65-F5344CB8AC3E}">
        <p14:creationId xmlns:p14="http://schemas.microsoft.com/office/powerpoint/2010/main" val="32894014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B7924-001F-87BB-0A9D-BF2231897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FFC19-EF75-AD36-1502-0A7F1A2E57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ADC208-ECE3-8066-E83B-3BE84C9218C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4A7DE8C-10CB-152A-F75A-C78D0CFC48AF}"/>
              </a:ext>
            </a:extLst>
          </p:cNvPr>
          <p:cNvSpPr>
            <a:spLocks noGrp="1"/>
          </p:cNvSpPr>
          <p:nvPr>
            <p:ph type="sldNum" sz="quarter" idx="5"/>
          </p:nvPr>
        </p:nvSpPr>
        <p:spPr/>
      </p:sp>
    </p:spTree>
    <p:extLst>
      <p:ext uri="{BB962C8B-B14F-4D97-AF65-F5344CB8AC3E}">
        <p14:creationId xmlns:p14="http://schemas.microsoft.com/office/powerpoint/2010/main" val="42448243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20077-371B-BFE7-1E7B-38912019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F1B73-F876-E043-7F33-D56A334EAE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431BFC0-9229-277B-9072-F46B3B71A73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7E0ED6F-9FD8-6D88-0BFB-96A090673377}"/>
              </a:ext>
            </a:extLst>
          </p:cNvPr>
          <p:cNvSpPr>
            <a:spLocks noGrp="1"/>
          </p:cNvSpPr>
          <p:nvPr>
            <p:ph type="sldNum" sz="quarter" idx="5"/>
          </p:nvPr>
        </p:nvSpPr>
        <p:spPr/>
      </p:sp>
    </p:spTree>
    <p:extLst>
      <p:ext uri="{BB962C8B-B14F-4D97-AF65-F5344CB8AC3E}">
        <p14:creationId xmlns:p14="http://schemas.microsoft.com/office/powerpoint/2010/main" val="4173916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8AAD4-1413-B754-24C3-580AED691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62BB0C-04A4-77DD-61BE-167D748504D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ABBDCEA-2792-A728-98C8-6EBC8415B16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72714E7-FC5C-6B2F-8009-F0D1C74837AB}"/>
              </a:ext>
            </a:extLst>
          </p:cNvPr>
          <p:cNvSpPr>
            <a:spLocks noGrp="1"/>
          </p:cNvSpPr>
          <p:nvPr>
            <p:ph type="sldNum" sz="quarter" idx="5"/>
          </p:nvPr>
        </p:nvSpPr>
        <p:spPr/>
      </p:sp>
    </p:spTree>
    <p:extLst>
      <p:ext uri="{BB962C8B-B14F-4D97-AF65-F5344CB8AC3E}">
        <p14:creationId xmlns:p14="http://schemas.microsoft.com/office/powerpoint/2010/main" val="8334083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D020B-4E1D-5AF0-B7D1-FA9BFC8CF3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E1BF3A-C37E-9D45-7A4C-F5FC0DD1728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8D5ED0-5906-7170-4BC6-61E1AB8B0E4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8A5875A-E508-1DEA-5B44-831AA3535E4E}"/>
              </a:ext>
            </a:extLst>
          </p:cNvPr>
          <p:cNvSpPr>
            <a:spLocks noGrp="1"/>
          </p:cNvSpPr>
          <p:nvPr>
            <p:ph type="sldNum" sz="quarter" idx="5"/>
          </p:nvPr>
        </p:nvSpPr>
        <p:spPr/>
      </p:sp>
    </p:spTree>
    <p:extLst>
      <p:ext uri="{BB962C8B-B14F-4D97-AF65-F5344CB8AC3E}">
        <p14:creationId xmlns:p14="http://schemas.microsoft.com/office/powerpoint/2010/main" val="20522629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13FC4-DFE8-60D0-DFBB-E60F05F99C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E2F2C7-2D0A-1850-90EA-92BF6C2FE52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837D986-8BC8-C96E-385D-4EBBBDB050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0054DCF-E40B-29E3-91C2-22416B6C0B14}"/>
              </a:ext>
            </a:extLst>
          </p:cNvPr>
          <p:cNvSpPr>
            <a:spLocks noGrp="1"/>
          </p:cNvSpPr>
          <p:nvPr>
            <p:ph type="sldNum" sz="quarter" idx="5"/>
          </p:nvPr>
        </p:nvSpPr>
        <p:spPr/>
      </p:sp>
    </p:spTree>
    <p:extLst>
      <p:ext uri="{BB962C8B-B14F-4D97-AF65-F5344CB8AC3E}">
        <p14:creationId xmlns:p14="http://schemas.microsoft.com/office/powerpoint/2010/main" val="10062849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B2FE6-C028-680B-B61D-C190753592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ECA9EE-173B-4438-2F9E-A037ACC0B1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D2DA251-B2EB-4C6E-6B9F-68CF096B343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2906125-7393-1CA4-78F8-6F82457624A2}"/>
              </a:ext>
            </a:extLst>
          </p:cNvPr>
          <p:cNvSpPr>
            <a:spLocks noGrp="1"/>
          </p:cNvSpPr>
          <p:nvPr>
            <p:ph type="sldNum" sz="quarter" idx="5"/>
          </p:nvPr>
        </p:nvSpPr>
        <p:spPr/>
      </p:sp>
    </p:spTree>
    <p:extLst>
      <p:ext uri="{BB962C8B-B14F-4D97-AF65-F5344CB8AC3E}">
        <p14:creationId xmlns:p14="http://schemas.microsoft.com/office/powerpoint/2010/main" val="20988076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ACCDC-89A1-1FEC-D35C-3E79A35926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E8FC37-75A8-8C77-F2B5-3D10BDC89DA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0DFE7C-673B-9109-05D0-9E10B32DC4F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170DB31-FF01-B92C-5A48-AFD7E53155C2}"/>
              </a:ext>
            </a:extLst>
          </p:cNvPr>
          <p:cNvSpPr>
            <a:spLocks noGrp="1"/>
          </p:cNvSpPr>
          <p:nvPr>
            <p:ph type="sldNum" sz="quarter" idx="5"/>
          </p:nvPr>
        </p:nvSpPr>
        <p:spPr/>
      </p:sp>
    </p:spTree>
    <p:extLst>
      <p:ext uri="{BB962C8B-B14F-4D97-AF65-F5344CB8AC3E}">
        <p14:creationId xmlns:p14="http://schemas.microsoft.com/office/powerpoint/2010/main" val="21327940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46C31-600C-7070-536C-589A951C9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8CA68-9816-28F5-6592-5072C186B8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90A5534-EA37-B5DF-3D0A-4B5A810BBAD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DFAA30F-E2E1-AFEE-4DB2-108A3E146373}"/>
              </a:ext>
            </a:extLst>
          </p:cNvPr>
          <p:cNvSpPr>
            <a:spLocks noGrp="1"/>
          </p:cNvSpPr>
          <p:nvPr>
            <p:ph type="sldNum" sz="quarter" idx="5"/>
          </p:nvPr>
        </p:nvSpPr>
        <p:spPr/>
      </p:sp>
    </p:spTree>
    <p:extLst>
      <p:ext uri="{BB962C8B-B14F-4D97-AF65-F5344CB8AC3E}">
        <p14:creationId xmlns:p14="http://schemas.microsoft.com/office/powerpoint/2010/main" val="263822942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58BDB-B717-B07B-9F30-F1B7F875B2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4EB172-D6AF-AE63-2B7A-7A4B3DB248A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1436E6-9867-07F6-CCEA-36377AE9D22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372AD40-D807-006F-98FD-6A6F3EFEA72F}"/>
              </a:ext>
            </a:extLst>
          </p:cNvPr>
          <p:cNvSpPr>
            <a:spLocks noGrp="1"/>
          </p:cNvSpPr>
          <p:nvPr>
            <p:ph type="sldNum" sz="quarter" idx="5"/>
          </p:nvPr>
        </p:nvSpPr>
        <p:spPr/>
      </p:sp>
    </p:spTree>
    <p:extLst>
      <p:ext uri="{BB962C8B-B14F-4D97-AF65-F5344CB8AC3E}">
        <p14:creationId xmlns:p14="http://schemas.microsoft.com/office/powerpoint/2010/main" val="2480318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8A7CC-6F9D-4BEA-5550-6E5B22427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C4E7C-5BBA-500B-60C6-71C1BD23F6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54E15DB-55E4-33CD-3095-3A342C9390C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56A85E7-61A4-B6A2-400D-8416988CCD89}"/>
              </a:ext>
            </a:extLst>
          </p:cNvPr>
          <p:cNvSpPr>
            <a:spLocks noGrp="1"/>
          </p:cNvSpPr>
          <p:nvPr>
            <p:ph type="sldNum" sz="quarter" idx="5"/>
          </p:nvPr>
        </p:nvSpPr>
        <p:spPr/>
      </p:sp>
    </p:spTree>
    <p:extLst>
      <p:ext uri="{BB962C8B-B14F-4D97-AF65-F5344CB8AC3E}">
        <p14:creationId xmlns:p14="http://schemas.microsoft.com/office/powerpoint/2010/main" val="36570594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dinhdatthong1809.github.io/gaussian-mixture-model-interactive-visualisation"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80.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8.png"/><Relationship Id="rId7"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40.png"/><Relationship Id="rId5" Type="http://schemas.openxmlformats.org/officeDocument/2006/relationships/image" Target="../media/image13.png"/><Relationship Id="rId10" Type="http://schemas.openxmlformats.org/officeDocument/2006/relationships/image" Target="../media/image17.png"/><Relationship Id="rId4" Type="http://schemas.openxmlformats.org/officeDocument/2006/relationships/image" Target="../media/image14.png"/><Relationship Id="rId9" Type="http://schemas.openxmlformats.org/officeDocument/2006/relationships/image" Target="../media/image19.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15.png"/><Relationship Id="rId12"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40.png"/><Relationship Id="rId11" Type="http://schemas.openxmlformats.org/officeDocument/2006/relationships/image" Target="../media/image22.png"/><Relationship Id="rId5" Type="http://schemas.openxmlformats.org/officeDocument/2006/relationships/image" Target="../media/image13.png"/><Relationship Id="rId10" Type="http://schemas.openxmlformats.org/officeDocument/2006/relationships/image" Target="../media/image21.png"/><Relationship Id="rId4" Type="http://schemas.openxmlformats.org/officeDocument/2006/relationships/image" Target="../media/image14.png"/><Relationship Id="rId9"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20.png"/><Relationship Id="rId7"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25.png"/></Relationships>
</file>

<file path=ppt/slides/_rels/slide1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0.png"/><Relationship Id="rId7"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5.png"/><Relationship Id="rId4" Type="http://schemas.openxmlformats.org/officeDocument/2006/relationships/image" Target="../media/image26.png"/><Relationship Id="rId9"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3.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20.png"/><Relationship Id="rId7"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4.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20.png"/><Relationship Id="rId7"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3.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5.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65.png"/></Relationships>
</file>

<file path=ppt/slides/_rels/slide3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740.png"/></Relationships>
</file>

<file path=ppt/slides/_rels/slide4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3.xml"/><Relationship Id="rId1" Type="http://schemas.openxmlformats.org/officeDocument/2006/relationships/slideLayout" Target="../slideLayouts/slideLayout7.xml"/><Relationship Id="rId5" Type="http://schemas.openxmlformats.org/officeDocument/2006/relationships/image" Target="../media/image77.png"/><Relationship Id="rId4" Type="http://schemas.openxmlformats.org/officeDocument/2006/relationships/image" Target="../media/image76.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7.xml"/><Relationship Id="rId5" Type="http://schemas.openxmlformats.org/officeDocument/2006/relationships/image" Target="../media/image79.png"/><Relationship Id="rId4" Type="http://schemas.openxmlformats.org/officeDocument/2006/relationships/image" Target="../media/image78.png"/></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5.xml"/><Relationship Id="rId1" Type="http://schemas.openxmlformats.org/officeDocument/2006/relationships/slideLayout" Target="../slideLayouts/slideLayout7.xml"/><Relationship Id="rId5" Type="http://schemas.openxmlformats.org/officeDocument/2006/relationships/image" Target="../media/image82.png"/><Relationship Id="rId4" Type="http://schemas.openxmlformats.org/officeDocument/2006/relationships/image" Target="../media/image81.png"/></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2.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7.xml"/><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2.png"/><Relationship Id="rId4" Type="http://schemas.openxmlformats.org/officeDocument/2006/relationships/image" Target="../media/image84.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drive/1mdINSVY2X29GtQj1N6tcE2YFGUPZ7Wuc?usp=sharing" TargetMode="External"/><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hyperlink" Target="https://scikit-learn.org/stable/auto_examples/mixture/plot_gmm_init.html" TargetMode="External"/><Relationship Id="rId2" Type="http://schemas.openxmlformats.org/officeDocument/2006/relationships/notesSlide" Target="../notesSlides/notesSlide52.xml"/><Relationship Id="rId1" Type="http://schemas.openxmlformats.org/officeDocument/2006/relationships/slideLayout" Target="../slideLayouts/slideLayout7.xml"/><Relationship Id="rId5" Type="http://schemas.openxmlformats.org/officeDocument/2006/relationships/hyperlink" Target="https://phamdinhkhanh.github.io/deepai-book/ch_ml/GMM.html" TargetMode="External"/><Relationship Id="rId4" Type="http://schemas.openxmlformats.org/officeDocument/2006/relationships/hyperlink" Target="https://elearning.citd.edu.vn/pluginfile.php/108366/mod_resource/content/1/Unsupervised-learning.pdf"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554272"/>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374479"/>
            <a:ext cx="11185855" cy="5078313"/>
          </a:xfrm>
          <a:prstGeom prst="rect">
            <a:avLst/>
          </a:prstGeom>
          <a:noFill/>
        </p:spPr>
        <p:txBody>
          <a:bodyPr wrap="square">
            <a:spAutoFit/>
          </a:bodyPr>
          <a:lstStyle/>
          <a:p>
            <a:pPr>
              <a:spcAft>
                <a:spcPts val="600"/>
              </a:spcAft>
            </a:pPr>
            <a:r>
              <a:rPr lang="vi-VN" sz="2400" b="1" dirty="0">
                <a:solidFill>
                  <a:srgbClr val="1B8A7A"/>
                </a:solidFill>
                <a:latin typeface="Arial"/>
              </a:rPr>
              <a:t>1. Ngữ cảnh, vấn đề, giải pháp</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2. Giải thích giải pháp</a:t>
            </a:r>
            <a:endParaRPr lang="vi-VN" sz="1600" b="1" dirty="0">
              <a:solidFill>
                <a:srgbClr val="1B8A7A"/>
              </a:solidFill>
              <a:latin typeface="Arial"/>
            </a:endParaRPr>
          </a:p>
          <a:p>
            <a:pPr>
              <a:spcAft>
                <a:spcPts val="600"/>
              </a:spcAft>
            </a:pPr>
            <a:r>
              <a:rPr lang="vi-VN" sz="1600" b="1" dirty="0">
                <a:solidFill>
                  <a:srgbClr val="1B8A7A"/>
                </a:solidFill>
                <a:latin typeface="Arial"/>
              </a:rPr>
              <a:t>	2.1. Gaussian Mixture Model (GMM) - </a:t>
            </a:r>
            <a:r>
              <a:rPr lang="vi-VN" sz="1050" b="1" dirty="0">
                <a:solidFill>
                  <a:schemeClr val="accent5">
                    <a:lumMod val="60000"/>
                    <a:lumOff val="40000"/>
                  </a:schemeClr>
                </a:solidFill>
                <a:latin typeface="Arial"/>
              </a:rPr>
              <a:t>Mô hình hỗn hợp phân phối chuẩn</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2.1.1. Tìm hàm số mô hình</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2.1.2. Tìm hàm mục tiêu</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2.1.3. Tìm cực trị hàm mục tiêu</a:t>
            </a:r>
          </a:p>
          <a:p>
            <a:pPr>
              <a:spcAft>
                <a:spcPts val="600"/>
              </a:spcAft>
            </a:pPr>
            <a:r>
              <a:rPr lang="vi-VN" sz="1600" b="1" dirty="0">
                <a:solidFill>
                  <a:srgbClr val="1B8A7A"/>
                </a:solidFill>
                <a:latin typeface="Arial"/>
              </a:rPr>
              <a:t>	2.2. Expectation-Maximization (EM) - </a:t>
            </a:r>
            <a:r>
              <a:rPr lang="vi-VN" sz="1050" b="1" dirty="0">
                <a:solidFill>
                  <a:schemeClr val="accent5">
                    <a:lumMod val="60000"/>
                    <a:lumOff val="40000"/>
                  </a:schemeClr>
                </a:solidFill>
                <a:latin typeface="Arial"/>
              </a:rPr>
              <a:t>Phương pháp cực đại hoá kỳ vọng</a:t>
            </a:r>
            <a:endParaRPr lang="vi-VN" sz="1600" b="1" dirty="0">
              <a:solidFill>
                <a:schemeClr val="accent5">
                  <a:lumMod val="60000"/>
                  <a:lumOff val="40000"/>
                </a:schemeClr>
              </a:solidFill>
              <a:latin typeface="Arial"/>
            </a:endParaRPr>
          </a:p>
          <a:p>
            <a:pPr>
              <a:spcAft>
                <a:spcPts val="600"/>
              </a:spcAft>
            </a:pPr>
            <a:r>
              <a:rPr lang="vi-VN" sz="1600" b="1" dirty="0">
                <a:solidFill>
                  <a:srgbClr val="1B8A7A"/>
                </a:solidFill>
                <a:latin typeface="Arial"/>
              </a:rPr>
              <a:t>	2.3. Siêu tham số mô hình GMM</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3. Demo code</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4. Chủ đề liên quan</a:t>
            </a:r>
            <a:endParaRPr sz="20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8796865" cy="2354491"/>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Em có Web nghe nhạc, user càng nghe, mình càng có tiền quảng cáo</a:t>
            </a:r>
          </a:p>
          <a:p>
            <a:pPr>
              <a:spcAft>
                <a:spcPts val="600"/>
              </a:spcAft>
            </a:pPr>
            <a:r>
              <a:rPr lang="vi-VN" sz="1400" dirty="0">
                <a:solidFill>
                  <a:srgbClr val="444B52"/>
                </a:solidFill>
                <a:latin typeface="Arial"/>
              </a:rPr>
              <a:t>	- Để có thêm tiền quảng cáo thì thêm phần </a:t>
            </a:r>
            <a:r>
              <a:rPr lang="vi-VN" sz="1400" b="1" dirty="0">
                <a:solidFill>
                  <a:srgbClr val="444B52"/>
                </a:solidFill>
                <a:latin typeface="Arial"/>
              </a:rPr>
              <a:t>gợi ý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dụ user nghe hoài</a:t>
            </a: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như nào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cụm list bài hát, sử dụng Gaussian Mixture Model (GMM)</a:t>
            </a:r>
          </a:p>
          <a:p>
            <a:pPr>
              <a:spcAft>
                <a:spcPts val="600"/>
              </a:spcAft>
            </a:pPr>
            <a:r>
              <a:rPr lang="vi-VN" sz="1400" dirty="0">
                <a:solidFill>
                  <a:srgbClr val="444B52"/>
                </a:solidFill>
                <a:latin typeface="Arial"/>
              </a:rPr>
              <a:t>	-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là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3585481" y="3776695"/>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 Ngữ cảnh, vấn đề, giải pháp</a:t>
            </a:r>
          </a:p>
          <a:p>
            <a:r>
              <a:rPr lang="vi-VN" sz="1300" i="1" dirty="0">
                <a:solidFill>
                  <a:srgbClr val="CFE3EC"/>
                </a:solidFill>
                <a:latin typeface="Arial"/>
              </a:rPr>
              <a:t>Trình bày: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1144532013"/>
              </p:ext>
            </p:extLst>
          </p:nvPr>
        </p:nvGraphicFramePr>
        <p:xfrm>
          <a:off x="364067" y="1791761"/>
          <a:ext cx="3767666" cy="2225040"/>
        </p:xfrm>
        <a:graphic>
          <a:graphicData uri="http://schemas.openxmlformats.org/drawingml/2006/table">
            <a:tbl>
              <a:tblPr firstRow="1" bandRow="1">
                <a:tableStyleId>{5C22544A-7EE6-4342-B048-85BDC9FD1C3A}</a:tableStyleId>
              </a:tblPr>
              <a:tblGrid>
                <a:gridCol w="1883833">
                  <a:extLst>
                    <a:ext uri="{9D8B030D-6E8A-4147-A177-3AD203B41FA5}">
                      <a16:colId xmlns:a16="http://schemas.microsoft.com/office/drawing/2014/main" val="4104114755"/>
                    </a:ext>
                  </a:extLst>
                </a:gridCol>
                <a:gridCol w="1883833">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3.8</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3.4</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4.1</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VN" dirty="0"/>
                        <a:t>4.4</a:t>
                      </a:r>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7BDC6-EA3D-2E59-08F4-7D97AB0639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A0EAC26-A6A3-DD88-71CD-A6D4C5ACD4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B4468A90-1324-C5AA-F206-0982A93764CE}"/>
              </a:ext>
            </a:extLst>
          </p:cNvPr>
          <p:cNvSpPr txBox="1"/>
          <p:nvPr/>
        </p:nvSpPr>
        <p:spPr>
          <a:xfrm>
            <a:off x="364066" y="1267772"/>
            <a:ext cx="10354733" cy="923330"/>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a:p>
            <a:pPr>
              <a:spcAft>
                <a:spcPts val="600"/>
              </a:spcAft>
            </a:pPr>
            <a:endParaRPr lang="vi-VN" sz="1400" dirty="0">
              <a:solidFill>
                <a:srgbClr val="444B52"/>
              </a:solidFill>
              <a:latin typeface="Arial"/>
            </a:endParaRPr>
          </a:p>
        </p:txBody>
      </p:sp>
      <p:sp>
        <p:nvSpPr>
          <p:cNvPr id="8" name="TextBox 7">
            <a:extLst>
              <a:ext uri="{FF2B5EF4-FFF2-40B4-BE49-F238E27FC236}">
                <a16:creationId xmlns:a16="http://schemas.microsoft.com/office/drawing/2014/main" id="{F5549AAD-3EDD-3874-51AE-D3EBF03390BA}"/>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Dữ liệu 2 chiều</a:t>
            </a:r>
          </a:p>
        </p:txBody>
      </p:sp>
      <p:pic>
        <p:nvPicPr>
          <p:cNvPr id="7" name="Picture 6">
            <a:extLst>
              <a:ext uri="{FF2B5EF4-FFF2-40B4-BE49-F238E27FC236}">
                <a16:creationId xmlns:a16="http://schemas.microsoft.com/office/drawing/2014/main" id="{C792D4BC-D65C-3F2A-8634-D3A74DB3CD60}"/>
              </a:ext>
            </a:extLst>
          </p:cNvPr>
          <p:cNvPicPr>
            <a:picLocks noChangeAspect="1"/>
          </p:cNvPicPr>
          <p:nvPr/>
        </p:nvPicPr>
        <p:blipFill>
          <a:blip r:embed="rId3"/>
          <a:stretch>
            <a:fillRect/>
          </a:stretch>
        </p:blipFill>
        <p:spPr>
          <a:xfrm>
            <a:off x="364066" y="1791761"/>
            <a:ext cx="4769236" cy="4644459"/>
          </a:xfrm>
          <a:prstGeom prst="rect">
            <a:avLst/>
          </a:prstGeom>
        </p:spPr>
      </p:pic>
      <p:sp>
        <p:nvSpPr>
          <p:cNvPr id="11" name="TextBox 10">
            <a:extLst>
              <a:ext uri="{FF2B5EF4-FFF2-40B4-BE49-F238E27FC236}">
                <a16:creationId xmlns:a16="http://schemas.microsoft.com/office/drawing/2014/main" id="{56DBAF21-4B44-C9AE-123E-FE99F304FDF2}"/>
              </a:ext>
            </a:extLst>
          </p:cNvPr>
          <p:cNvSpPr txBox="1"/>
          <p:nvPr/>
        </p:nvSpPr>
        <p:spPr>
          <a:xfrm>
            <a:off x="5003801" y="3775436"/>
            <a:ext cx="8136161" cy="338554"/>
          </a:xfrm>
          <a:prstGeom prst="rect">
            <a:avLst/>
          </a:prstGeom>
          <a:noFill/>
        </p:spPr>
        <p:txBody>
          <a:bodyPr wrap="square">
            <a:spAutoFit/>
          </a:bodyPr>
          <a:lstStyle/>
          <a:p>
            <a:r>
              <a:rPr lang="en-VN" sz="1600" dirty="0">
                <a:hlinkClick r:id="rId4"/>
              </a:rPr>
              <a:t>https://dinhdatthong1809.github.io/gaussian-mixture-model-interactive-visualisation</a:t>
            </a:r>
            <a:endParaRPr lang="en-VN" sz="1600" dirty="0"/>
          </a:p>
        </p:txBody>
      </p:sp>
    </p:spTree>
    <p:extLst>
      <p:ext uri="{BB962C8B-B14F-4D97-AF65-F5344CB8AC3E}">
        <p14:creationId xmlns:p14="http://schemas.microsoft.com/office/powerpoint/2010/main" val="152616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D9EB9-B385-1786-9C54-F4B79E6E75A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CAC7D0-FB91-EFAF-01C6-BC992DE1FF3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49F21F6-0914-9214-D344-D3A4B9BC21D9}"/>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p:txBody>
      </p:sp>
      <p:sp>
        <p:nvSpPr>
          <p:cNvPr id="8" name="TextBox 7">
            <a:extLst>
              <a:ext uri="{FF2B5EF4-FFF2-40B4-BE49-F238E27FC236}">
                <a16:creationId xmlns:a16="http://schemas.microsoft.com/office/drawing/2014/main" id="{EC53D564-1ACE-1327-E775-C5E6E71701BB}"/>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Mô hình GMM</a:t>
            </a:r>
          </a:p>
        </p:txBody>
      </p:sp>
      <p:pic>
        <p:nvPicPr>
          <p:cNvPr id="7" name="Picture 6">
            <a:extLst>
              <a:ext uri="{FF2B5EF4-FFF2-40B4-BE49-F238E27FC236}">
                <a16:creationId xmlns:a16="http://schemas.microsoft.com/office/drawing/2014/main" id="{1BC0C1DC-4229-3D54-459A-1C79CA252CDC}"/>
              </a:ext>
            </a:extLst>
          </p:cNvPr>
          <p:cNvPicPr>
            <a:picLocks noChangeAspect="1"/>
          </p:cNvPicPr>
          <p:nvPr/>
        </p:nvPicPr>
        <p:blipFill>
          <a:blip r:embed="rId3"/>
          <a:stretch>
            <a:fillRect/>
          </a:stretch>
        </p:blipFill>
        <p:spPr>
          <a:xfrm>
            <a:off x="364066" y="1791761"/>
            <a:ext cx="4769236" cy="4644459"/>
          </a:xfrm>
          <a:prstGeom prst="rect">
            <a:avLst/>
          </a:prstGeom>
        </p:spPr>
      </p:pic>
      <p:pic>
        <p:nvPicPr>
          <p:cNvPr id="9" name="Picture 8">
            <a:extLst>
              <a:ext uri="{FF2B5EF4-FFF2-40B4-BE49-F238E27FC236}">
                <a16:creationId xmlns:a16="http://schemas.microsoft.com/office/drawing/2014/main" id="{800BB806-C1CB-6B88-266B-4A89CFD46ED9}"/>
              </a:ext>
            </a:extLst>
          </p:cNvPr>
          <p:cNvPicPr>
            <a:picLocks noChangeAspect="1"/>
          </p:cNvPicPr>
          <p:nvPr/>
        </p:nvPicPr>
        <p:blipFill>
          <a:blip r:embed="rId4"/>
          <a:stretch>
            <a:fillRect/>
          </a:stretch>
        </p:blipFill>
        <p:spPr>
          <a:xfrm>
            <a:off x="364065" y="1800228"/>
            <a:ext cx="4732868" cy="4671882"/>
          </a:xfrm>
          <a:prstGeom prst="rect">
            <a:avLst/>
          </a:prstGeom>
        </p:spPr>
      </p:pic>
      <p:pic>
        <p:nvPicPr>
          <p:cNvPr id="3" name="Picture 2">
            <a:extLst>
              <a:ext uri="{FF2B5EF4-FFF2-40B4-BE49-F238E27FC236}">
                <a16:creationId xmlns:a16="http://schemas.microsoft.com/office/drawing/2014/main" id="{133A842F-6EEB-EEEE-BCB7-FEBD247F32F2}"/>
              </a:ext>
            </a:extLst>
          </p:cNvPr>
          <p:cNvPicPr>
            <a:picLocks noChangeAspect="1"/>
          </p:cNvPicPr>
          <p:nvPr/>
        </p:nvPicPr>
        <p:blipFill>
          <a:blip r:embed="rId5"/>
          <a:stretch>
            <a:fillRect/>
          </a:stretch>
        </p:blipFill>
        <p:spPr>
          <a:xfrm>
            <a:off x="5867400" y="1946635"/>
            <a:ext cx="5554680" cy="4644459"/>
          </a:xfrm>
          <a:prstGeom prst="rect">
            <a:avLst/>
          </a:prstGeom>
        </p:spPr>
      </p:pic>
    </p:spTree>
    <p:extLst>
      <p:ext uri="{BB962C8B-B14F-4D97-AF65-F5344CB8AC3E}">
        <p14:creationId xmlns:p14="http://schemas.microsoft.com/office/powerpoint/2010/main" val="1619660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B24D0-0889-A54D-4BDF-870530F72B3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2A9894C-8BF4-4948-17A6-7417BDDF875D}"/>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6" name="TextBox 5">
            <a:extLst>
              <a:ext uri="{FF2B5EF4-FFF2-40B4-BE49-F238E27FC236}">
                <a16:creationId xmlns:a16="http://schemas.microsoft.com/office/drawing/2014/main" id="{5D45D776-7D98-7C1D-DD56-15D11665F94B}"/>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EAC47716-27D2-B873-DFD3-462BA821854C}"/>
              </a:ext>
            </a:extLst>
          </p:cNvPr>
          <p:cNvPicPr>
            <a:picLocks noChangeAspect="1"/>
          </p:cNvPicPr>
          <p:nvPr/>
        </p:nvPicPr>
        <p:blipFill>
          <a:blip r:embed="rId3"/>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DD412BE6-EFCB-C454-9DC4-960D634C5BD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3019750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5DE7C0-0BB5-333F-1D64-7BEA7B6FC960}"/>
                  </a:ext>
                </a:extLst>
              </p:cNvPr>
              <p:cNvSpPr txBox="1"/>
              <p:nvPr/>
            </p:nvSpPr>
            <p:spPr>
              <a:xfrm>
                <a:off x="5625737" y="2263665"/>
                <a:ext cx="6565958" cy="1762727"/>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55DE7C0-0BB5-333F-1D64-7BEA7B6FC960}"/>
                  </a:ext>
                </a:extLst>
              </p:cNvPr>
              <p:cNvSpPr txBox="1">
                <a:spLocks noRot="1" noChangeAspect="1" noMove="1" noResize="1" noEditPoints="1" noAdjustHandles="1" noChangeArrowheads="1" noChangeShapeType="1" noTextEdit="1"/>
              </p:cNvSpPr>
              <p:nvPr/>
            </p:nvSpPr>
            <p:spPr>
              <a:xfrm>
                <a:off x="5625737" y="2263665"/>
                <a:ext cx="6565958" cy="1762727"/>
              </a:xfrm>
              <a:prstGeom prst="rect">
                <a:avLst/>
              </a:prstGeom>
              <a:blipFill>
                <a:blip r:embed="rId3"/>
                <a:stretch>
                  <a:fillRect l="-386" t="-719"/>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FCCEFD7D-5F45-70DE-C239-86E9EAB0C42D}"/>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05C790A9-EAB8-5251-0330-7B14E1B2CB47}"/>
              </a:ext>
            </a:extLst>
          </p:cNvPr>
          <p:cNvPicPr>
            <a:picLocks noChangeAspect="1"/>
          </p:cNvPicPr>
          <p:nvPr/>
        </p:nvPicPr>
        <p:blipFill>
          <a:blip r:embed="rId4"/>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78A2E98F-8E68-26C6-3D72-CB11E6F410F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1764016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C917E-00FF-7962-358D-4A5D2FFC839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BF2320A-EC5D-05A3-8B8C-7934D1B0A24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72987EC-037D-D993-8F99-1DF2DD887D53}"/>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672987EC-037D-D993-8F99-1DF2DD887D53}"/>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311620-169D-4847-915C-757D7226CE08}"/>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3" name="TextBox 2">
                <a:extLst>
                  <a:ext uri="{FF2B5EF4-FFF2-40B4-BE49-F238E27FC236}">
                    <a16:creationId xmlns:a16="http://schemas.microsoft.com/office/drawing/2014/main" id="{82311620-169D-4847-915C-757D7226CE08}"/>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4"/>
                <a:stretch>
                  <a:fillRect l="-510" t="-110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B26E601-3E99-24F5-9064-26C343FB0930}"/>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2" name="TextBox 11">
                <a:extLst>
                  <a:ext uri="{FF2B5EF4-FFF2-40B4-BE49-F238E27FC236}">
                    <a16:creationId xmlns:a16="http://schemas.microsoft.com/office/drawing/2014/main" id="{0B26E601-3E99-24F5-9064-26C343FB0930}"/>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5"/>
                <a:stretch>
                  <a:fillRect l="-1531" t="-108000" b="-172000"/>
                </a:stretch>
              </a:blipFill>
              <a:ln w="12700">
                <a:solidFill>
                  <a:schemeClr val="tx2"/>
                </a:solidFill>
              </a:ln>
            </p:spPr>
            <p:txBody>
              <a:bodyPr/>
              <a:lstStyle/>
              <a:p>
                <a:r>
                  <a:rPr lang="en-VN">
                    <a:noFill/>
                  </a:rPr>
                  <a:t> </a:t>
                </a:r>
              </a:p>
            </p:txBody>
          </p:sp>
        </mc:Fallback>
      </mc:AlternateContent>
      <p:sp>
        <p:nvSpPr>
          <p:cNvPr id="6" name="TextBox 5">
            <a:extLst>
              <a:ext uri="{FF2B5EF4-FFF2-40B4-BE49-F238E27FC236}">
                <a16:creationId xmlns:a16="http://schemas.microsoft.com/office/drawing/2014/main" id="{41933893-AE83-FC00-E012-BED7625BCEDA}"/>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C1ACFCA-4862-4660-AD97-5A7BF94CE0AD}"/>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FC1ACFCA-4862-4660-AD97-5A7BF94CE0AD}"/>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6"/>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D92AFD56-2B0A-6C14-A821-ECDE5001701D}"/>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41AFD1F-9820-4A87-18E3-771AB6C0A065}"/>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E41AFD1F-9820-4A87-18E3-771AB6C0A065}"/>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7"/>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D519DBED-CA8B-34AE-69F5-45E7F837CFDB}"/>
              </a:ext>
            </a:extLst>
          </p:cNvPr>
          <p:cNvPicPr>
            <a:picLocks noChangeAspect="1"/>
          </p:cNvPicPr>
          <p:nvPr/>
        </p:nvPicPr>
        <p:blipFill>
          <a:blip r:embed="rId8"/>
          <a:stretch>
            <a:fillRect/>
          </a:stretch>
        </p:blipFill>
        <p:spPr>
          <a:xfrm>
            <a:off x="-1" y="2263665"/>
            <a:ext cx="5625738" cy="4181165"/>
          </a:xfrm>
          <a:prstGeom prst="rect">
            <a:avLst/>
          </a:prstGeom>
        </p:spPr>
      </p:pic>
      <p:sp>
        <p:nvSpPr>
          <p:cNvPr id="7" name="TextBox 6">
            <a:extLst>
              <a:ext uri="{FF2B5EF4-FFF2-40B4-BE49-F238E27FC236}">
                <a16:creationId xmlns:a16="http://schemas.microsoft.com/office/drawing/2014/main" id="{6E09E358-DD7C-786D-705F-402E9237CFD5}"/>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17" name="TextBox 16">
            <a:extLst>
              <a:ext uri="{FF2B5EF4-FFF2-40B4-BE49-F238E27FC236}">
                <a16:creationId xmlns:a16="http://schemas.microsoft.com/office/drawing/2014/main" id="{E76ABF98-F558-2C63-3CA3-15C3065B3C7C}"/>
              </a:ext>
            </a:extLst>
          </p:cNvPr>
          <p:cNvSpPr txBox="1"/>
          <p:nvPr/>
        </p:nvSpPr>
        <p:spPr>
          <a:xfrm>
            <a:off x="5625737" y="6018647"/>
            <a:ext cx="3354540"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194556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23CC9-4ECB-3F7B-677A-BA91E70DD00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70C0BA-0538-44F4-E18B-05267506D4F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4F84740-F2CB-8E00-6C35-7BB5041B0461}"/>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4F84740-F2CB-8E00-6C35-7BB5041B0461}"/>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0E8D11FF-B284-069B-5333-A9A4834A8F67}"/>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89FB68B-B7C0-5E06-1FBC-2CAE937BAFDF}"/>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389FB68B-B7C0-5E06-1FBC-2CAE937BAFDF}"/>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4"/>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0039329B-B3FE-D8D0-692D-977A2539E088}"/>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BFD8A47-23DE-C849-9376-1317FFBF470B}"/>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7BFD8A47-23DE-C849-9376-1317FFBF470B}"/>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5"/>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C6A98D39-9CC9-5F18-5B74-119DE9D5A401}"/>
              </a:ext>
            </a:extLst>
          </p:cNvPr>
          <p:cNvPicPr>
            <a:picLocks noChangeAspect="1"/>
          </p:cNvPicPr>
          <p:nvPr/>
        </p:nvPicPr>
        <p:blipFill>
          <a:blip r:embed="rId6"/>
          <a:stretch>
            <a:fillRect/>
          </a:stretch>
        </p:blipFill>
        <p:spPr>
          <a:xfrm>
            <a:off x="-1" y="2263665"/>
            <a:ext cx="5625738" cy="4181165"/>
          </a:xfrm>
          <a:prstGeom prst="rect">
            <a:avLst/>
          </a:prstGeom>
        </p:spPr>
      </p:pic>
      <p:sp>
        <p:nvSpPr>
          <p:cNvPr id="9" name="TextBox 8">
            <a:extLst>
              <a:ext uri="{FF2B5EF4-FFF2-40B4-BE49-F238E27FC236}">
                <a16:creationId xmlns:a16="http://schemas.microsoft.com/office/drawing/2014/main" id="{5052CE4C-7BC3-D215-E82E-676A2DFE2A3F}"/>
              </a:ext>
            </a:extLst>
          </p:cNvPr>
          <p:cNvSpPr txBox="1"/>
          <p:nvPr/>
        </p:nvSpPr>
        <p:spPr>
          <a:xfrm>
            <a:off x="9327816" y="6341378"/>
            <a:ext cx="2124299" cy="307777"/>
          </a:xfrm>
          <a:prstGeom prst="rect">
            <a:avLst/>
          </a:prstGeom>
          <a:noFill/>
        </p:spPr>
        <p:txBody>
          <a:bodyPr wrap="none" rtlCol="0">
            <a:spAutoFit/>
          </a:bodyPr>
          <a:lstStyle/>
          <a:p>
            <a:r>
              <a:rPr lang="vi-VN" sz="1400" dirty="0"/>
              <a:t>Hàm số màu cam là gì?</a:t>
            </a:r>
            <a:endParaRPr lang="el-GR" sz="1400" dirty="0"/>
          </a:p>
        </p:txBody>
      </p:sp>
      <p:sp>
        <p:nvSpPr>
          <p:cNvPr id="10" name="Right Arrow 9">
            <a:extLst>
              <a:ext uri="{FF2B5EF4-FFF2-40B4-BE49-F238E27FC236}">
                <a16:creationId xmlns:a16="http://schemas.microsoft.com/office/drawing/2014/main" id="{7FAFBEEA-D89D-2AB5-C972-0BD1EA29B2C4}"/>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004100B-4043-2FC3-982F-E02AC2458B4D}"/>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3" name="TextBox 12">
                <a:extLst>
                  <a:ext uri="{FF2B5EF4-FFF2-40B4-BE49-F238E27FC236}">
                    <a16:creationId xmlns:a16="http://schemas.microsoft.com/office/drawing/2014/main" id="{0004100B-4043-2FC3-982F-E02AC2458B4D}"/>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7"/>
                <a:stretch>
                  <a:fillRect l="-1531"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5AFA480-9790-F614-7DB0-B8E75A379E5E}"/>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14" name="TextBox 13">
                <a:extLst>
                  <a:ext uri="{FF2B5EF4-FFF2-40B4-BE49-F238E27FC236}">
                    <a16:creationId xmlns:a16="http://schemas.microsoft.com/office/drawing/2014/main" id="{D5AFA480-9790-F614-7DB0-B8E75A379E5E}"/>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8"/>
                <a:stretch>
                  <a:fillRect l="-510" t="-110000" b="-172000"/>
                </a:stretch>
              </a:blipFill>
              <a:ln w="12700">
                <a:solidFill>
                  <a:schemeClr val="tx2"/>
                </a:solidFill>
              </a:ln>
            </p:spPr>
            <p:txBody>
              <a:bodyPr/>
              <a:lstStyle/>
              <a:p>
                <a:r>
                  <a:rPr lang="en-VN">
                    <a:noFill/>
                  </a:rPr>
                  <a:t> </a:t>
                </a:r>
              </a:p>
            </p:txBody>
          </p:sp>
        </mc:Fallback>
      </mc:AlternateContent>
      <p:sp>
        <p:nvSpPr>
          <p:cNvPr id="17" name="TextBox 16">
            <a:extLst>
              <a:ext uri="{FF2B5EF4-FFF2-40B4-BE49-F238E27FC236}">
                <a16:creationId xmlns:a16="http://schemas.microsoft.com/office/drawing/2014/main" id="{5686C780-095D-2AD3-2D3C-EF0DFF62ECE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3" name="TextBox 2">
            <a:extLst>
              <a:ext uri="{FF2B5EF4-FFF2-40B4-BE49-F238E27FC236}">
                <a16:creationId xmlns:a16="http://schemas.microsoft.com/office/drawing/2014/main" id="{5B7E5D3B-7C5E-81E7-74A3-3D44C3C7A20D}"/>
              </a:ext>
            </a:extLst>
          </p:cNvPr>
          <p:cNvSpPr txBox="1"/>
          <p:nvPr/>
        </p:nvSpPr>
        <p:spPr>
          <a:xfrm>
            <a:off x="5625737" y="6018647"/>
            <a:ext cx="6138332"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800526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6AC5-9372-43A9-FED1-331DF3854A8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D36041-E1B3-9271-CA2B-6CBB974243D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CA3FAD9F-76DC-523E-3999-8EBF5954F3EA}"/>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pic>
        <p:nvPicPr>
          <p:cNvPr id="8" name="Picture 7">
            <a:extLst>
              <a:ext uri="{FF2B5EF4-FFF2-40B4-BE49-F238E27FC236}">
                <a16:creationId xmlns:a16="http://schemas.microsoft.com/office/drawing/2014/main" id="{47AF6EB6-E406-5A97-2F63-AEE209F0A074}"/>
              </a:ext>
            </a:extLst>
          </p:cNvPr>
          <p:cNvPicPr>
            <a:picLocks noChangeAspect="1"/>
          </p:cNvPicPr>
          <p:nvPr/>
        </p:nvPicPr>
        <p:blipFill>
          <a:blip r:embed="rId3"/>
          <a:stretch>
            <a:fillRect/>
          </a:stretch>
        </p:blipFill>
        <p:spPr>
          <a:xfrm>
            <a:off x="187781" y="2207259"/>
            <a:ext cx="5593644" cy="4324035"/>
          </a:xfrm>
          <a:prstGeom prst="rect">
            <a:avLst/>
          </a:prstGeom>
        </p:spPr>
      </p:pic>
    </p:spTree>
    <p:extLst>
      <p:ext uri="{BB962C8B-B14F-4D97-AF65-F5344CB8AC3E}">
        <p14:creationId xmlns:p14="http://schemas.microsoft.com/office/powerpoint/2010/main" val="2111806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D4C5-227F-55A5-FE34-0092344E0EA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D820331-3854-7358-CFB8-E01D11B4CC0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A2293593-D64C-A0DB-AC19-C48BFAF8F3FE}"/>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F33DD75-A15E-38CE-DB56-62C781F82286}"/>
                  </a:ext>
                </a:extLst>
              </p:cNvPr>
              <p:cNvSpPr txBox="1"/>
              <p:nvPr/>
            </p:nvSpPr>
            <p:spPr>
              <a:xfrm>
                <a:off x="6448730" y="2055439"/>
                <a:ext cx="3352953" cy="479618"/>
              </a:xfrm>
              <a:prstGeom prst="rect">
                <a:avLst/>
              </a:prstGeom>
              <a:noFill/>
              <a:ln w="12700">
                <a:noFill/>
              </a:ln>
            </p:spPr>
            <p:txBody>
              <a:bodyPr wrap="squar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vi-VN" sz="1400" b="0" i="0" smtClean="0">
                              <a:solidFill>
                                <a:schemeClr val="accent6">
                                  <a:lumMod val="75000"/>
                                </a:schemeClr>
                              </a:solidFill>
                              <a:latin typeface="Cambria Math" panose="02040503050406030204" pitchFamily="18" charset="0"/>
                            </a:rPr>
                            <m:t> </m:t>
                          </m:r>
                          <m:r>
                            <a:rPr lang="en-VN" sz="1400" b="0" i="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VN" sz="1400" b="0" i="1" smtClean="0">
                              <a:solidFill>
                                <a:schemeClr val="accent6">
                                  <a:lumMod val="75000"/>
                                </a:schemeClr>
                              </a:solidFill>
                              <a:latin typeface="Cambria Math" panose="02040503050406030204" pitchFamily="18" charset="0"/>
                            </a:rPr>
                            <m:t>𝜇</m:t>
                          </m:r>
                          <m:r>
                            <a:rPr lang="en-VN" sz="1400" b="0" i="0">
                              <a:solidFill>
                                <a:schemeClr val="accent6">
                                  <a:lumMod val="75000"/>
                                </a:schemeClr>
                              </a:solidFill>
                              <a:latin typeface="Cambria Math" panose="02040503050406030204" pitchFamily="18" charset="0"/>
                            </a:rPr>
                            <m:t>,</m:t>
                          </m:r>
                          <m:sSup>
                            <m:sSupPr>
                              <m:ctrlPr>
                                <a:rPr lang="en-VN" sz="1400" b="0" i="1" smtClean="0">
                                  <a:solidFill>
                                    <a:schemeClr val="accent6">
                                      <a:lumMod val="75000"/>
                                    </a:schemeClr>
                                  </a:solidFill>
                                  <a:latin typeface="Cambria Math" panose="02040503050406030204" pitchFamily="18" charset="0"/>
                                </a:rPr>
                              </m:ctrlPr>
                            </m:sSupPr>
                            <m:e>
                              <m:r>
                                <a:rPr lang="en-VN" sz="1400" b="0" i="1" smtClean="0">
                                  <a:solidFill>
                                    <a:schemeClr val="accent6">
                                      <a:lumMod val="75000"/>
                                    </a:schemeClr>
                                  </a:solidFill>
                                  <a:latin typeface="Cambria Math" panose="02040503050406030204" pitchFamily="18" charset="0"/>
                                </a:rPr>
                                <m:t>𝜎</m:t>
                              </m:r>
                            </m:e>
                            <m:sup>
                              <m:r>
                                <a:rPr lang="en-VN" sz="1400" b="0" i="0">
                                  <a:solidFill>
                                    <a:schemeClr val="accent6">
                                      <a:lumMod val="75000"/>
                                    </a:schemeClr>
                                  </a:solidFill>
                                  <a:latin typeface="Cambria Math" panose="02040503050406030204" pitchFamily="18" charset="0"/>
                                </a:rPr>
                                <m:t>2</m:t>
                              </m:r>
                            </m:sup>
                          </m:sSup>
                        </m:e>
                      </m:d>
                      <m:r>
                        <a:rPr lang="en-VN" sz="1400" b="0" i="0">
                          <a:latin typeface="Cambria Math" panose="02040503050406030204" pitchFamily="18" charset="0"/>
                        </a:rPr>
                        <m:t>=</m:t>
                      </m:r>
                      <m:f>
                        <m:fPr>
                          <m:ctrlPr>
                            <a:rPr lang="en-VN" sz="1400" b="0" i="0">
                              <a:latin typeface="Cambria Math" panose="02040503050406030204" pitchFamily="18" charset="0"/>
                            </a:rPr>
                          </m:ctrlPr>
                        </m:fPr>
                        <m:num>
                          <m:r>
                            <a:rPr lang="en-VN" sz="1400" b="0" i="0">
                              <a:latin typeface="Cambria Math" panose="02040503050406030204" pitchFamily="18" charset="0"/>
                            </a:rPr>
                            <m:t>1</m:t>
                          </m:r>
                        </m:num>
                        <m:den>
                          <m:r>
                            <a:rPr lang="en-VN" sz="1400" b="0" i="1" smtClean="0">
                              <a:solidFill>
                                <a:srgbClr val="00B050"/>
                              </a:solidFill>
                              <a:latin typeface="Cambria Math" panose="02040503050406030204" pitchFamily="18" charset="0"/>
                            </a:rPr>
                            <m:t>𝜎</m:t>
                          </m:r>
                          <m:rad>
                            <m:radPr>
                              <m:degHide m:val="on"/>
                              <m:ctrlPr>
                                <a:rPr lang="en-VN" sz="140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e>
                          </m:rad>
                        </m:den>
                      </m:f>
                      <m:sSup>
                        <m:sSupPr>
                          <m:ctrlPr>
                            <a:rPr lang="en-VN" sz="1400" b="0" i="1">
                              <a:latin typeface="Cambria Math" panose="02040503050406030204" pitchFamily="18" charset="0"/>
                            </a:rPr>
                          </m:ctrlPr>
                        </m:sSupPr>
                        <m:e>
                          <m:r>
                            <a:rPr lang="en-VN" sz="1400" b="0" i="1">
                              <a:latin typeface="Cambria Math" panose="02040503050406030204" pitchFamily="18" charset="0"/>
                            </a:rPr>
                            <m:t>𝑒</m:t>
                          </m:r>
                        </m:e>
                        <m:sup>
                          <m:r>
                            <a:rPr lang="en-VN" sz="1400" b="0" i="0">
                              <a:latin typeface="Cambria Math" panose="02040503050406030204" pitchFamily="18" charset="0"/>
                            </a:rPr>
                            <m:t>−</m:t>
                          </m:r>
                          <m:f>
                            <m:fPr>
                              <m:ctrlPr>
                                <a:rPr lang="en-VN" sz="1400" b="0" i="1" smtClean="0">
                                  <a:solidFill>
                                    <a:schemeClr val="accent6">
                                      <a:lumMod val="75000"/>
                                    </a:schemeClr>
                                  </a:solidFill>
                                  <a:latin typeface="Cambria Math" panose="02040503050406030204" pitchFamily="18" charset="0"/>
                                </a:rPr>
                              </m:ctrlPr>
                            </m:fPr>
                            <m:num>
                              <m:sSup>
                                <m:sSupPr>
                                  <m:ctrlPr>
                                    <a:rPr lang="en-VN" sz="1400" b="0" i="1" smtClean="0">
                                      <a:solidFill>
                                        <a:schemeClr val="accent6">
                                          <a:lumMod val="75000"/>
                                        </a:schemeClr>
                                      </a:solidFill>
                                      <a:latin typeface="Cambria Math" panose="02040503050406030204" pitchFamily="18" charset="0"/>
                                    </a:rPr>
                                  </m:ctrlPr>
                                </m:sSupPr>
                                <m:e>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en-VN" sz="1400" b="0" i="0">
                                          <a:solidFill>
                                            <a:schemeClr val="tx1"/>
                                          </a:solidFill>
                                          <a:latin typeface="Cambria Math" panose="02040503050406030204" pitchFamily="18" charset="0"/>
                                        </a:rPr>
                                        <m:t>−</m:t>
                                      </m:r>
                                      <m:r>
                                        <a:rPr lang="en-VN" sz="1400" b="0" i="1" smtClean="0">
                                          <a:solidFill>
                                            <a:schemeClr val="tx2">
                                              <a:lumMod val="60000"/>
                                              <a:lumOff val="40000"/>
                                            </a:schemeClr>
                                          </a:solidFill>
                                          <a:latin typeface="Cambria Math" panose="02040503050406030204" pitchFamily="18" charset="0"/>
                                        </a:rPr>
                                        <m:t>𝜇</m:t>
                                      </m:r>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p>
                                <m:sSupPr>
                                  <m:ctrlPr>
                                    <a:rPr lang="en-VN" sz="1400" b="0" i="1" smtClean="0">
                                      <a:solidFill>
                                        <a:srgbClr val="00B050"/>
                                      </a:solidFill>
                                      <a:latin typeface="Cambria Math" panose="02040503050406030204" pitchFamily="18" charset="0"/>
                                    </a:rPr>
                                  </m:ctrlPr>
                                </m:sSupPr>
                                <m:e>
                                  <m:r>
                                    <a:rPr lang="en-VN" sz="1400" b="0" i="1" smtClean="0">
                                      <a:solidFill>
                                        <a:srgbClr val="00B050"/>
                                      </a:solidFill>
                                      <a:latin typeface="Cambria Math" panose="02040503050406030204" pitchFamily="18" charset="0"/>
                                    </a:rPr>
                                    <m:t>𝜎</m:t>
                                  </m:r>
                                </m:e>
                                <m:sup>
                                  <m:r>
                                    <a:rPr lang="en-VN" sz="1400" b="0" i="0">
                                      <a:solidFill>
                                        <a:schemeClr val="tx1"/>
                                      </a:solidFill>
                                      <a:latin typeface="Cambria Math" panose="02040503050406030204" pitchFamily="18" charset="0"/>
                                    </a:rPr>
                                    <m:t>2</m:t>
                                  </m:r>
                                </m:sup>
                              </m:sSup>
                            </m:den>
                          </m:f>
                        </m:sup>
                      </m:sSup>
                    </m:oMath>
                  </m:oMathPara>
                </a14:m>
                <a:endParaRPr lang="en-VN" sz="1400" dirty="0"/>
              </a:p>
            </p:txBody>
          </p:sp>
        </mc:Choice>
        <mc:Fallback xmlns="">
          <p:sp>
            <p:nvSpPr>
              <p:cNvPr id="14" name="TextBox 13">
                <a:extLst>
                  <a:ext uri="{FF2B5EF4-FFF2-40B4-BE49-F238E27FC236}">
                    <a16:creationId xmlns:a16="http://schemas.microsoft.com/office/drawing/2014/main" id="{DF33DD75-A15E-38CE-DB56-62C781F82286}"/>
                  </a:ext>
                </a:extLst>
              </p:cNvPr>
              <p:cNvSpPr txBox="1">
                <a:spLocks noRot="1" noChangeAspect="1" noMove="1" noResize="1" noEditPoints="1" noAdjustHandles="1" noChangeArrowheads="1" noChangeShapeType="1" noTextEdit="1"/>
              </p:cNvSpPr>
              <p:nvPr/>
            </p:nvSpPr>
            <p:spPr>
              <a:xfrm>
                <a:off x="6448730" y="2055439"/>
                <a:ext cx="3352953" cy="479618"/>
              </a:xfrm>
              <a:prstGeom prst="rect">
                <a:avLst/>
              </a:prstGeom>
              <a:blipFill>
                <a:blip r:embed="rId3"/>
                <a:stretch>
                  <a:fillRect b="-10256"/>
                </a:stretch>
              </a:blipFill>
              <a:ln w="12700">
                <a:no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B8C2F9CA-7241-4B8F-081A-2A85C5366544}"/>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089C776F-2EB2-72B1-935B-7C84A1E9A5AF}"/>
              </a:ext>
            </a:extLst>
          </p:cNvPr>
          <p:cNvPicPr>
            <a:picLocks noChangeAspect="1"/>
          </p:cNvPicPr>
          <p:nvPr/>
        </p:nvPicPr>
        <p:blipFill>
          <a:blip r:embed="rId4"/>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AC8D10C-0A4C-210D-2CDB-913DBB0120A7}"/>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7F6B7882-6AB1-7B23-938A-E8D1ED26D273}"/>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5"/>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FEAD909-E816-0D7D-2963-7858CF6B4665}"/>
                  </a:ext>
                </a:extLst>
              </p:cNvPr>
              <p:cNvSpPr txBox="1"/>
              <p:nvPr/>
            </p:nvSpPr>
            <p:spPr>
              <a:xfrm>
                <a:off x="6898932" y="3213677"/>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EFEAD909-E816-0D7D-2963-7858CF6B4665}"/>
                  </a:ext>
                </a:extLst>
              </p:cNvPr>
              <p:cNvSpPr txBox="1">
                <a:spLocks noRot="1" noChangeAspect="1" noMove="1" noResize="1" noEditPoints="1" noAdjustHandles="1" noChangeArrowheads="1" noChangeShapeType="1" noTextEdit="1"/>
              </p:cNvSpPr>
              <p:nvPr/>
            </p:nvSpPr>
            <p:spPr>
              <a:xfrm>
                <a:off x="6898932" y="3213677"/>
                <a:ext cx="3603057" cy="307777"/>
              </a:xfrm>
              <a:prstGeom prst="rect">
                <a:avLst/>
              </a:prstGeom>
              <a:blipFill>
                <a:blip r:embed="rId6"/>
                <a:stretch>
                  <a:fillRect t="-3846" b="-1538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6E697AB-ABE1-D6FE-EEA4-9836CDEBF1B3}"/>
                  </a:ext>
                </a:extLst>
              </p:cNvPr>
              <p:cNvSpPr txBox="1"/>
              <p:nvPr/>
            </p:nvSpPr>
            <p:spPr>
              <a:xfrm>
                <a:off x="6898932" y="351632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86E697AB-ABE1-D6FE-EEA4-9836CDEBF1B3}"/>
                  </a:ext>
                </a:extLst>
              </p:cNvPr>
              <p:cNvSpPr txBox="1">
                <a:spLocks noRot="1" noChangeAspect="1" noMove="1" noResize="1" noEditPoints="1" noAdjustHandles="1" noChangeArrowheads="1" noChangeShapeType="1" noTextEdit="1"/>
              </p:cNvSpPr>
              <p:nvPr/>
            </p:nvSpPr>
            <p:spPr>
              <a:xfrm>
                <a:off x="6898932" y="3516329"/>
                <a:ext cx="3603057" cy="307777"/>
              </a:xfrm>
              <a:prstGeom prst="rect">
                <a:avLst/>
              </a:prstGeom>
              <a:blipFill>
                <a:blip r:embed="rId7"/>
                <a:stretch>
                  <a:fillRect t="-4000" b="-20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2C7F382-A2CF-9B0D-0038-CA0465EEE089}"/>
                  </a:ext>
                </a:extLst>
              </p:cNvPr>
              <p:cNvSpPr txBox="1"/>
              <p:nvPr/>
            </p:nvSpPr>
            <p:spPr>
              <a:xfrm>
                <a:off x="7030720" y="2559639"/>
                <a:ext cx="4301049" cy="518347"/>
              </a:xfrm>
              <a:prstGeom prst="rect">
                <a:avLst/>
              </a:prstGeom>
              <a:noFill/>
            </p:spPr>
            <p:txBody>
              <a:bodyPr wrap="non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US" sz="1400" b="0" i="1">
                              <a:solidFill>
                                <a:schemeClr val="accent6">
                                  <a:lumMod val="75000"/>
                                </a:schemeClr>
                              </a:solidFill>
                              <a:latin typeface="Cambria Math" panose="02040503050406030204" pitchFamily="18" charset="0"/>
                            </a:rPr>
                          </m:ctrlPr>
                        </m:dPr>
                        <m:e>
                          <m:r>
                            <a:rPr lang="en-US" sz="1400" b="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VN" sz="1400" b="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US" sz="1400" b="0" i="1">
                              <a:solidFill>
                                <a:schemeClr val="accent6">
                                  <a:lumMod val="75000"/>
                                </a:schemeClr>
                              </a:solidFill>
                              <a:latin typeface="Cambria Math" panose="02040503050406030204" pitchFamily="18" charset="0"/>
                            </a:rPr>
                            <m:t>𝜇</m:t>
                          </m:r>
                          <m:r>
                            <a:rPr lang="en-US" sz="1400" b="0" i="1">
                              <a:solidFill>
                                <a:schemeClr val="accent6">
                                  <a:lumMod val="75000"/>
                                </a:schemeClr>
                              </a:solidFill>
                              <a:latin typeface="Cambria Math" panose="02040503050406030204" pitchFamily="18" charset="0"/>
                            </a:rPr>
                            <m:t>,</m:t>
                          </m:r>
                          <m:r>
                            <a:rPr lang="en-US" sz="1400" b="0" i="1">
                              <a:solidFill>
                                <a:schemeClr val="accent6">
                                  <a:lumMod val="75000"/>
                                </a:schemeClr>
                              </a:solidFill>
                              <a:latin typeface="Cambria Math" panose="02040503050406030204" pitchFamily="18" charset="0"/>
                            </a:rPr>
                            <m:t>𝛴</m:t>
                          </m:r>
                        </m:e>
                      </m:d>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𝑘</m:t>
                                  </m:r>
                                </m:sup>
                              </m:sSup>
                              <m:d>
                                <m:dPr>
                                  <m:begChr m:val="|"/>
                                  <m:endChr m:val="|"/>
                                  <m:ctrlPr>
                                    <a:rPr lang="en-US" sz="1400" b="0" i="1" smtClean="0">
                                      <a:solidFill>
                                        <a:srgbClr val="00B050"/>
                                      </a:solidFill>
                                      <a:latin typeface="Cambria Math" panose="02040503050406030204" pitchFamily="18" charset="0"/>
                                    </a:rPr>
                                  </m:ctrlPr>
                                </m:dPr>
                                <m:e>
                                  <m:r>
                                    <a:rPr lang="en-US" sz="1400" b="0" i="1" smtClean="0">
                                      <a:solidFill>
                                        <a:srgbClr val="00B050"/>
                                      </a:solidFill>
                                      <a:latin typeface="Cambria Math" panose="02040503050406030204" pitchFamily="18" charset="0"/>
                                    </a:rPr>
                                    <m:t>𝛴</m:t>
                                  </m:r>
                                </m:e>
                              </m:d>
                            </m:e>
                          </m:rad>
                        </m:den>
                      </m:f>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sup>
                                  <m:r>
                                    <a:rPr lang="en-US" sz="1400" b="0" i="1">
                                      <a:latin typeface="Cambria Math" panose="02040503050406030204" pitchFamily="18" charset="0"/>
                                    </a:rPr>
                                    <m:t>𝑇</m:t>
                                  </m:r>
                                </m:sup>
                              </m:sSup>
                              <m:sSup>
                                <m:sSupPr>
                                  <m:ctrlPr>
                                    <a:rPr lang="en-US" sz="1400" b="0" i="1" smtClean="0">
                                      <a:solidFill>
                                        <a:srgbClr val="00B050"/>
                                      </a:solidFill>
                                      <a:latin typeface="Cambria Math" panose="02040503050406030204" pitchFamily="18" charset="0"/>
                                    </a:rPr>
                                  </m:ctrlPr>
                                </m:sSupPr>
                                <m:e>
                                  <m:r>
                                    <a:rPr lang="en-US" sz="1400" b="0" i="1" smtClean="0">
                                      <a:solidFill>
                                        <a:srgbClr val="00B050"/>
                                      </a:solidFill>
                                      <a:latin typeface="Cambria Math" panose="02040503050406030204" pitchFamily="18" charset="0"/>
                                    </a:rPr>
                                    <m:t>𝛴</m:t>
                                  </m:r>
                                </m:e>
                                <m:sup>
                                  <m:r>
                                    <a:rPr lang="en-US" sz="1400" b="0" i="1">
                                      <a:latin typeface="Cambria Math" panose="02040503050406030204" pitchFamily="18" charset="0"/>
                                    </a:rPr>
                                    <m:t>−1</m:t>
                                  </m:r>
                                </m:sup>
                              </m:s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d>
                        </m:e>
                      </m:func>
                    </m:oMath>
                  </m:oMathPara>
                </a14:m>
                <a:endParaRPr lang="en-VN" sz="1400" dirty="0"/>
              </a:p>
            </p:txBody>
          </p:sp>
        </mc:Choice>
        <mc:Fallback xmlns="">
          <p:sp>
            <p:nvSpPr>
              <p:cNvPr id="20" name="TextBox 19">
                <a:extLst>
                  <a:ext uri="{FF2B5EF4-FFF2-40B4-BE49-F238E27FC236}">
                    <a16:creationId xmlns:a16="http://schemas.microsoft.com/office/drawing/2014/main" id="{82C7F382-A2CF-9B0D-0038-CA0465EEE089}"/>
                  </a:ext>
                </a:extLst>
              </p:cNvPr>
              <p:cNvSpPr txBox="1">
                <a:spLocks noRot="1" noChangeAspect="1" noMove="1" noResize="1" noEditPoints="1" noAdjustHandles="1" noChangeArrowheads="1" noChangeShapeType="1" noTextEdit="1"/>
              </p:cNvSpPr>
              <p:nvPr/>
            </p:nvSpPr>
            <p:spPr>
              <a:xfrm>
                <a:off x="7030720" y="2559639"/>
                <a:ext cx="4301049" cy="518347"/>
              </a:xfrm>
              <a:prstGeom prst="rect">
                <a:avLst/>
              </a:prstGeom>
              <a:blipFill>
                <a:blip r:embed="rId8"/>
                <a:stretch>
                  <a:fillRect l="-294" b="-2381"/>
                </a:stretch>
              </a:blipFill>
            </p:spPr>
            <p:txBody>
              <a:bodyPr/>
              <a:lstStyle/>
              <a:p>
                <a:r>
                  <a:rPr lang="en-VN">
                    <a:noFill/>
                  </a:rPr>
                  <a:t> </a:t>
                </a:r>
              </a:p>
            </p:txBody>
          </p:sp>
        </mc:Fallback>
      </mc:AlternateContent>
    </p:spTree>
    <p:extLst>
      <p:ext uri="{BB962C8B-B14F-4D97-AF65-F5344CB8AC3E}">
        <p14:creationId xmlns:p14="http://schemas.microsoft.com/office/powerpoint/2010/main" val="3282568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4F733-C276-1EC8-B8E6-C564B3E7AC8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FE02BEE-0160-7FCF-D209-08DE78D845BE}"/>
                  </a:ext>
                </a:extLst>
              </p:cNvPr>
              <p:cNvSpPr txBox="1"/>
              <p:nvPr/>
            </p:nvSpPr>
            <p:spPr>
              <a:xfrm>
                <a:off x="6095847" y="4200075"/>
                <a:ext cx="5820076" cy="815608"/>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p:txBody>
          </p:sp>
        </mc:Choice>
        <mc:Fallback xmlns="">
          <p:sp>
            <p:nvSpPr>
              <p:cNvPr id="13" name="TextBox 12">
                <a:extLst>
                  <a:ext uri="{FF2B5EF4-FFF2-40B4-BE49-F238E27FC236}">
                    <a16:creationId xmlns:a16="http://schemas.microsoft.com/office/drawing/2014/main" id="{6FE02BEE-0160-7FCF-D209-08DE78D845BE}"/>
                  </a:ext>
                </a:extLst>
              </p:cNvPr>
              <p:cNvSpPr txBox="1">
                <a:spLocks noRot="1" noChangeAspect="1" noMove="1" noResize="1" noEditPoints="1" noAdjustHandles="1" noChangeArrowheads="1" noChangeShapeType="1" noTextEdit="1"/>
              </p:cNvSpPr>
              <p:nvPr/>
            </p:nvSpPr>
            <p:spPr>
              <a:xfrm>
                <a:off x="6095847" y="4200075"/>
                <a:ext cx="5820076" cy="815608"/>
              </a:xfrm>
              <a:prstGeom prst="rect">
                <a:avLst/>
              </a:prstGeom>
              <a:blipFill>
                <a:blip r:embed="rId3"/>
                <a:stretch>
                  <a:fillRect l="-436" t="-1515" b="-4545"/>
                </a:stretch>
              </a:blipFill>
            </p:spPr>
            <p:txBody>
              <a:bodyPr/>
              <a:lstStyle/>
              <a:p>
                <a:r>
                  <a:rPr lang="en-VN">
                    <a:noFill/>
                  </a:rPr>
                  <a:t> </a:t>
                </a:r>
              </a:p>
            </p:txBody>
          </p:sp>
        </mc:Fallback>
      </mc:AlternateContent>
      <p:sp>
        <p:nvSpPr>
          <p:cNvPr id="2" name="Rectangle 1">
            <a:extLst>
              <a:ext uri="{FF2B5EF4-FFF2-40B4-BE49-F238E27FC236}">
                <a16:creationId xmlns:a16="http://schemas.microsoft.com/office/drawing/2014/main" id="{DE6A83A2-F5D7-6111-738B-7D67450451BD}"/>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0CC81279-7EA9-F7D6-019D-5F52619F083B}"/>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66E978C-6621-CEBF-F920-D11D6A338BE7}"/>
                  </a:ext>
                </a:extLst>
              </p:cNvPr>
              <p:cNvSpPr txBox="1"/>
              <p:nvPr/>
            </p:nvSpPr>
            <p:spPr>
              <a:xfrm>
                <a:off x="6448730" y="2055439"/>
                <a:ext cx="3352953" cy="479618"/>
              </a:xfrm>
              <a:prstGeom prst="rect">
                <a:avLst/>
              </a:prstGeom>
              <a:noFill/>
              <a:ln w="12700">
                <a:noFill/>
              </a:ln>
            </p:spPr>
            <p:txBody>
              <a:bodyPr wrap="squar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vi-VN" sz="1400" b="0" i="0" smtClean="0">
                              <a:solidFill>
                                <a:schemeClr val="accent6">
                                  <a:lumMod val="75000"/>
                                </a:schemeClr>
                              </a:solidFill>
                              <a:latin typeface="Cambria Math" panose="02040503050406030204" pitchFamily="18" charset="0"/>
                            </a:rPr>
                            <m:t> </m:t>
                          </m:r>
                          <m:r>
                            <a:rPr lang="en-VN" sz="1400" b="0" i="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VN" sz="1400" b="0" i="1" smtClean="0">
                              <a:solidFill>
                                <a:schemeClr val="accent6">
                                  <a:lumMod val="75000"/>
                                </a:schemeClr>
                              </a:solidFill>
                              <a:latin typeface="Cambria Math" panose="02040503050406030204" pitchFamily="18" charset="0"/>
                            </a:rPr>
                            <m:t>𝜇</m:t>
                          </m:r>
                          <m:r>
                            <a:rPr lang="en-VN" sz="1400" b="0" i="0">
                              <a:solidFill>
                                <a:schemeClr val="accent6">
                                  <a:lumMod val="75000"/>
                                </a:schemeClr>
                              </a:solidFill>
                              <a:latin typeface="Cambria Math" panose="02040503050406030204" pitchFamily="18" charset="0"/>
                            </a:rPr>
                            <m:t>,</m:t>
                          </m:r>
                          <m:sSup>
                            <m:sSupPr>
                              <m:ctrlPr>
                                <a:rPr lang="en-VN" sz="1400" b="0" i="1" smtClean="0">
                                  <a:solidFill>
                                    <a:schemeClr val="accent6">
                                      <a:lumMod val="75000"/>
                                    </a:schemeClr>
                                  </a:solidFill>
                                  <a:latin typeface="Cambria Math" panose="02040503050406030204" pitchFamily="18" charset="0"/>
                                </a:rPr>
                              </m:ctrlPr>
                            </m:sSupPr>
                            <m:e>
                              <m:r>
                                <a:rPr lang="en-VN" sz="1400" b="0" i="1" smtClean="0">
                                  <a:solidFill>
                                    <a:schemeClr val="accent6">
                                      <a:lumMod val="75000"/>
                                    </a:schemeClr>
                                  </a:solidFill>
                                  <a:latin typeface="Cambria Math" panose="02040503050406030204" pitchFamily="18" charset="0"/>
                                </a:rPr>
                                <m:t>𝜎</m:t>
                              </m:r>
                            </m:e>
                            <m:sup>
                              <m:r>
                                <a:rPr lang="en-VN" sz="1400" b="0" i="0">
                                  <a:solidFill>
                                    <a:schemeClr val="accent6">
                                      <a:lumMod val="75000"/>
                                    </a:schemeClr>
                                  </a:solidFill>
                                  <a:latin typeface="Cambria Math" panose="02040503050406030204" pitchFamily="18" charset="0"/>
                                </a:rPr>
                                <m:t>2</m:t>
                              </m:r>
                            </m:sup>
                          </m:sSup>
                        </m:e>
                      </m:d>
                      <m:r>
                        <a:rPr lang="en-VN" sz="1400" b="0" i="0">
                          <a:latin typeface="Cambria Math" panose="02040503050406030204" pitchFamily="18" charset="0"/>
                        </a:rPr>
                        <m:t>=</m:t>
                      </m:r>
                      <m:f>
                        <m:fPr>
                          <m:ctrlPr>
                            <a:rPr lang="en-VN" sz="1400" b="0" i="0">
                              <a:latin typeface="Cambria Math" panose="02040503050406030204" pitchFamily="18" charset="0"/>
                            </a:rPr>
                          </m:ctrlPr>
                        </m:fPr>
                        <m:num>
                          <m:r>
                            <a:rPr lang="en-VN" sz="1400" b="0" i="0">
                              <a:latin typeface="Cambria Math" panose="02040503050406030204" pitchFamily="18" charset="0"/>
                            </a:rPr>
                            <m:t>1</m:t>
                          </m:r>
                        </m:num>
                        <m:den>
                          <m:r>
                            <a:rPr lang="en-VN" sz="1400" b="0" i="1" smtClean="0">
                              <a:solidFill>
                                <a:srgbClr val="00B050"/>
                              </a:solidFill>
                              <a:latin typeface="Cambria Math" panose="02040503050406030204" pitchFamily="18" charset="0"/>
                            </a:rPr>
                            <m:t>𝜎</m:t>
                          </m:r>
                          <m:rad>
                            <m:radPr>
                              <m:degHide m:val="on"/>
                              <m:ctrlPr>
                                <a:rPr lang="en-VN" sz="140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e>
                          </m:rad>
                        </m:den>
                      </m:f>
                      <m:sSup>
                        <m:sSupPr>
                          <m:ctrlPr>
                            <a:rPr lang="en-VN" sz="1400" b="0" i="1">
                              <a:latin typeface="Cambria Math" panose="02040503050406030204" pitchFamily="18" charset="0"/>
                            </a:rPr>
                          </m:ctrlPr>
                        </m:sSupPr>
                        <m:e>
                          <m:r>
                            <a:rPr lang="en-VN" sz="1400" b="0" i="1">
                              <a:latin typeface="Cambria Math" panose="02040503050406030204" pitchFamily="18" charset="0"/>
                            </a:rPr>
                            <m:t>𝑒</m:t>
                          </m:r>
                        </m:e>
                        <m:sup>
                          <m:r>
                            <a:rPr lang="en-VN" sz="1400" b="0" i="0">
                              <a:latin typeface="Cambria Math" panose="02040503050406030204" pitchFamily="18" charset="0"/>
                            </a:rPr>
                            <m:t>−</m:t>
                          </m:r>
                          <m:f>
                            <m:fPr>
                              <m:ctrlPr>
                                <a:rPr lang="en-VN" sz="1400" b="0" i="1" smtClean="0">
                                  <a:solidFill>
                                    <a:schemeClr val="accent6">
                                      <a:lumMod val="75000"/>
                                    </a:schemeClr>
                                  </a:solidFill>
                                  <a:latin typeface="Cambria Math" panose="02040503050406030204" pitchFamily="18" charset="0"/>
                                </a:rPr>
                              </m:ctrlPr>
                            </m:fPr>
                            <m:num>
                              <m:sSup>
                                <m:sSupPr>
                                  <m:ctrlPr>
                                    <a:rPr lang="en-VN" sz="1400" b="0" i="1" smtClean="0">
                                      <a:solidFill>
                                        <a:schemeClr val="accent6">
                                          <a:lumMod val="75000"/>
                                        </a:schemeClr>
                                      </a:solidFill>
                                      <a:latin typeface="Cambria Math" panose="02040503050406030204" pitchFamily="18" charset="0"/>
                                    </a:rPr>
                                  </m:ctrlPr>
                                </m:sSupPr>
                                <m:e>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en-VN" sz="1400" b="0" i="0">
                                          <a:solidFill>
                                            <a:schemeClr val="tx1"/>
                                          </a:solidFill>
                                          <a:latin typeface="Cambria Math" panose="02040503050406030204" pitchFamily="18" charset="0"/>
                                        </a:rPr>
                                        <m:t>−</m:t>
                                      </m:r>
                                      <m:r>
                                        <a:rPr lang="en-VN" sz="1400" b="0" i="1" smtClean="0">
                                          <a:solidFill>
                                            <a:schemeClr val="tx2">
                                              <a:lumMod val="60000"/>
                                              <a:lumOff val="40000"/>
                                            </a:schemeClr>
                                          </a:solidFill>
                                          <a:latin typeface="Cambria Math" panose="02040503050406030204" pitchFamily="18" charset="0"/>
                                        </a:rPr>
                                        <m:t>𝜇</m:t>
                                      </m:r>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p>
                                <m:sSupPr>
                                  <m:ctrlPr>
                                    <a:rPr lang="en-VN" sz="1400" b="0" i="1" smtClean="0">
                                      <a:solidFill>
                                        <a:srgbClr val="00B050"/>
                                      </a:solidFill>
                                      <a:latin typeface="Cambria Math" panose="02040503050406030204" pitchFamily="18" charset="0"/>
                                    </a:rPr>
                                  </m:ctrlPr>
                                </m:sSupPr>
                                <m:e>
                                  <m:r>
                                    <a:rPr lang="en-VN" sz="1400" b="0" i="1" smtClean="0">
                                      <a:solidFill>
                                        <a:srgbClr val="00B050"/>
                                      </a:solidFill>
                                      <a:latin typeface="Cambria Math" panose="02040503050406030204" pitchFamily="18" charset="0"/>
                                    </a:rPr>
                                    <m:t>𝜎</m:t>
                                  </m:r>
                                </m:e>
                                <m:sup>
                                  <m:r>
                                    <a:rPr lang="en-VN" sz="1400" b="0" i="0">
                                      <a:solidFill>
                                        <a:schemeClr val="tx1"/>
                                      </a:solidFill>
                                      <a:latin typeface="Cambria Math" panose="02040503050406030204" pitchFamily="18" charset="0"/>
                                    </a:rPr>
                                    <m:t>2</m:t>
                                  </m:r>
                                </m:sup>
                              </m:sSup>
                            </m:den>
                          </m:f>
                        </m:sup>
                      </m:sSup>
                    </m:oMath>
                  </m:oMathPara>
                </a14:m>
                <a:endParaRPr lang="en-VN" sz="1400" dirty="0"/>
              </a:p>
            </p:txBody>
          </p:sp>
        </mc:Choice>
        <mc:Fallback xmlns="">
          <p:sp>
            <p:nvSpPr>
              <p:cNvPr id="14" name="TextBox 13">
                <a:extLst>
                  <a:ext uri="{FF2B5EF4-FFF2-40B4-BE49-F238E27FC236}">
                    <a16:creationId xmlns:a16="http://schemas.microsoft.com/office/drawing/2014/main" id="{F66E978C-6621-CEBF-F920-D11D6A338BE7}"/>
                  </a:ext>
                </a:extLst>
              </p:cNvPr>
              <p:cNvSpPr txBox="1">
                <a:spLocks noRot="1" noChangeAspect="1" noMove="1" noResize="1" noEditPoints="1" noAdjustHandles="1" noChangeArrowheads="1" noChangeShapeType="1" noTextEdit="1"/>
              </p:cNvSpPr>
              <p:nvPr/>
            </p:nvSpPr>
            <p:spPr>
              <a:xfrm>
                <a:off x="6448730" y="2055439"/>
                <a:ext cx="3352953" cy="479618"/>
              </a:xfrm>
              <a:prstGeom prst="rect">
                <a:avLst/>
              </a:prstGeom>
              <a:blipFill>
                <a:blip r:embed="rId4"/>
                <a:stretch>
                  <a:fillRect b="-10256"/>
                </a:stretch>
              </a:blipFill>
              <a:ln w="12700">
                <a:no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37CA7F70-6470-1A9D-E429-2F332E5775BD}"/>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B37990CF-E629-BC1D-1A42-42D688FD6D94}"/>
              </a:ext>
            </a:extLst>
          </p:cNvPr>
          <p:cNvPicPr>
            <a:picLocks noChangeAspect="1"/>
          </p:cNvPicPr>
          <p:nvPr/>
        </p:nvPicPr>
        <p:blipFill>
          <a:blip r:embed="rId5"/>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EBAA56F-760B-0B74-1474-0FCE69CA8B76}"/>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7F6B7882-6AB1-7B23-938A-E8D1ED26D273}"/>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6"/>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C445DBC-2ECD-B52C-4F3D-D57A40EBED3B}"/>
                  </a:ext>
                </a:extLst>
              </p:cNvPr>
              <p:cNvSpPr txBox="1"/>
              <p:nvPr/>
            </p:nvSpPr>
            <p:spPr>
              <a:xfrm>
                <a:off x="6898932" y="3213677"/>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5C445DBC-2ECD-B52C-4F3D-D57A40EBED3B}"/>
                  </a:ext>
                </a:extLst>
              </p:cNvPr>
              <p:cNvSpPr txBox="1">
                <a:spLocks noRot="1" noChangeAspect="1" noMove="1" noResize="1" noEditPoints="1" noAdjustHandles="1" noChangeArrowheads="1" noChangeShapeType="1" noTextEdit="1"/>
              </p:cNvSpPr>
              <p:nvPr/>
            </p:nvSpPr>
            <p:spPr>
              <a:xfrm>
                <a:off x="6898932" y="3213677"/>
                <a:ext cx="3603057" cy="307777"/>
              </a:xfrm>
              <a:prstGeom prst="rect">
                <a:avLst/>
              </a:prstGeom>
              <a:blipFill>
                <a:blip r:embed="rId7"/>
                <a:stretch>
                  <a:fillRect t="-3846" b="-1538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35E5193-F3EF-2D74-518D-67859315819F}"/>
                  </a:ext>
                </a:extLst>
              </p:cNvPr>
              <p:cNvSpPr txBox="1"/>
              <p:nvPr/>
            </p:nvSpPr>
            <p:spPr>
              <a:xfrm>
                <a:off x="6898932" y="351632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D35E5193-F3EF-2D74-518D-67859315819F}"/>
                  </a:ext>
                </a:extLst>
              </p:cNvPr>
              <p:cNvSpPr txBox="1">
                <a:spLocks noRot="1" noChangeAspect="1" noMove="1" noResize="1" noEditPoints="1" noAdjustHandles="1" noChangeArrowheads="1" noChangeShapeType="1" noTextEdit="1"/>
              </p:cNvSpPr>
              <p:nvPr/>
            </p:nvSpPr>
            <p:spPr>
              <a:xfrm>
                <a:off x="6898932" y="3516329"/>
                <a:ext cx="3603057" cy="307777"/>
              </a:xfrm>
              <a:prstGeom prst="rect">
                <a:avLst/>
              </a:prstGeom>
              <a:blipFill>
                <a:blip r:embed="rId8"/>
                <a:stretch>
                  <a:fillRect t="-4000" b="-20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126C448-DDFF-4E54-F717-502FEA3A5889}"/>
                  </a:ext>
                </a:extLst>
              </p:cNvPr>
              <p:cNvSpPr txBox="1"/>
              <p:nvPr/>
            </p:nvSpPr>
            <p:spPr>
              <a:xfrm>
                <a:off x="7182182" y="4507906"/>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0126C448-DDFF-4E54-F717-502FEA3A5889}"/>
                  </a:ext>
                </a:extLst>
              </p:cNvPr>
              <p:cNvSpPr txBox="1">
                <a:spLocks noRot="1" noChangeAspect="1" noMove="1" noResize="1" noEditPoints="1" noAdjustHandles="1" noChangeArrowheads="1" noChangeShapeType="1" noTextEdit="1"/>
              </p:cNvSpPr>
              <p:nvPr/>
            </p:nvSpPr>
            <p:spPr>
              <a:xfrm>
                <a:off x="7182182" y="4507906"/>
                <a:ext cx="1899751" cy="215444"/>
              </a:xfrm>
              <a:prstGeom prst="rect">
                <a:avLst/>
              </a:prstGeom>
              <a:blipFill>
                <a:blip r:embed="rId9"/>
                <a:stretch>
                  <a:fillRect l="-662" b="-1111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9A901F7B-2B18-AA7B-1F4A-1E25BCCF0BFF}"/>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FDDC789-C43F-12F3-2F31-24A589817671}"/>
                  </a:ext>
                </a:extLst>
              </p:cNvPr>
              <p:cNvSpPr txBox="1"/>
              <p:nvPr/>
            </p:nvSpPr>
            <p:spPr>
              <a:xfrm>
                <a:off x="7030720" y="2559639"/>
                <a:ext cx="4301049" cy="518347"/>
              </a:xfrm>
              <a:prstGeom prst="rect">
                <a:avLst/>
              </a:prstGeom>
              <a:noFill/>
            </p:spPr>
            <p:txBody>
              <a:bodyPr wrap="non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US" sz="1400" b="0" i="1">
                              <a:solidFill>
                                <a:schemeClr val="accent6">
                                  <a:lumMod val="75000"/>
                                </a:schemeClr>
                              </a:solidFill>
                              <a:latin typeface="Cambria Math" panose="02040503050406030204" pitchFamily="18" charset="0"/>
                            </a:rPr>
                          </m:ctrlPr>
                        </m:dPr>
                        <m:e>
                          <m:r>
                            <a:rPr lang="en-US" sz="1400" b="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VN" sz="1400" b="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US" sz="1400" b="0" i="1">
                              <a:solidFill>
                                <a:schemeClr val="accent6">
                                  <a:lumMod val="75000"/>
                                </a:schemeClr>
                              </a:solidFill>
                              <a:latin typeface="Cambria Math" panose="02040503050406030204" pitchFamily="18" charset="0"/>
                            </a:rPr>
                            <m:t>𝜇</m:t>
                          </m:r>
                          <m:r>
                            <a:rPr lang="en-US" sz="1400" b="0" i="1">
                              <a:solidFill>
                                <a:schemeClr val="accent6">
                                  <a:lumMod val="75000"/>
                                </a:schemeClr>
                              </a:solidFill>
                              <a:latin typeface="Cambria Math" panose="02040503050406030204" pitchFamily="18" charset="0"/>
                            </a:rPr>
                            <m:t>,</m:t>
                          </m:r>
                          <m:r>
                            <a:rPr lang="en-US" sz="1400" b="0" i="1">
                              <a:solidFill>
                                <a:schemeClr val="accent6">
                                  <a:lumMod val="75000"/>
                                </a:schemeClr>
                              </a:solidFill>
                              <a:latin typeface="Cambria Math" panose="02040503050406030204" pitchFamily="18" charset="0"/>
                            </a:rPr>
                            <m:t>𝛴</m:t>
                          </m:r>
                        </m:e>
                      </m:d>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𝑘</m:t>
                                  </m:r>
                                </m:sup>
                              </m:sSup>
                              <m:d>
                                <m:dPr>
                                  <m:begChr m:val="|"/>
                                  <m:endChr m:val="|"/>
                                  <m:ctrlPr>
                                    <a:rPr lang="en-US" sz="1400" b="0" i="1" smtClean="0">
                                      <a:solidFill>
                                        <a:srgbClr val="00B050"/>
                                      </a:solidFill>
                                      <a:latin typeface="Cambria Math" panose="02040503050406030204" pitchFamily="18" charset="0"/>
                                    </a:rPr>
                                  </m:ctrlPr>
                                </m:dPr>
                                <m:e>
                                  <m:r>
                                    <a:rPr lang="en-US" sz="1400" b="0" i="1" smtClean="0">
                                      <a:solidFill>
                                        <a:srgbClr val="00B050"/>
                                      </a:solidFill>
                                      <a:latin typeface="Cambria Math" panose="02040503050406030204" pitchFamily="18" charset="0"/>
                                    </a:rPr>
                                    <m:t>𝛴</m:t>
                                  </m:r>
                                </m:e>
                              </m:d>
                            </m:e>
                          </m:rad>
                        </m:den>
                      </m:f>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sup>
                                  <m:r>
                                    <a:rPr lang="en-US" sz="1400" b="0" i="1">
                                      <a:latin typeface="Cambria Math" panose="02040503050406030204" pitchFamily="18" charset="0"/>
                                    </a:rPr>
                                    <m:t>𝑇</m:t>
                                  </m:r>
                                </m:sup>
                              </m:sSup>
                              <m:sSup>
                                <m:sSupPr>
                                  <m:ctrlPr>
                                    <a:rPr lang="en-US" sz="1400" b="0" i="1" smtClean="0">
                                      <a:solidFill>
                                        <a:srgbClr val="00B050"/>
                                      </a:solidFill>
                                      <a:latin typeface="Cambria Math" panose="02040503050406030204" pitchFamily="18" charset="0"/>
                                    </a:rPr>
                                  </m:ctrlPr>
                                </m:sSupPr>
                                <m:e>
                                  <m:r>
                                    <a:rPr lang="en-US" sz="1400" b="0" i="1" smtClean="0">
                                      <a:solidFill>
                                        <a:srgbClr val="00B050"/>
                                      </a:solidFill>
                                      <a:latin typeface="Cambria Math" panose="02040503050406030204" pitchFamily="18" charset="0"/>
                                    </a:rPr>
                                    <m:t>𝛴</m:t>
                                  </m:r>
                                </m:e>
                                <m:sup>
                                  <m:r>
                                    <a:rPr lang="en-US" sz="1400" b="0" i="1">
                                      <a:latin typeface="Cambria Math" panose="02040503050406030204" pitchFamily="18" charset="0"/>
                                    </a:rPr>
                                    <m:t>−1</m:t>
                                  </m:r>
                                </m:sup>
                              </m:s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d>
                        </m:e>
                      </m:func>
                    </m:oMath>
                  </m:oMathPara>
                </a14:m>
                <a:endParaRPr lang="en-VN" sz="1400" dirty="0"/>
              </a:p>
            </p:txBody>
          </p:sp>
        </mc:Choice>
        <mc:Fallback xmlns="">
          <p:sp>
            <p:nvSpPr>
              <p:cNvPr id="20" name="TextBox 19">
                <a:extLst>
                  <a:ext uri="{FF2B5EF4-FFF2-40B4-BE49-F238E27FC236}">
                    <a16:creationId xmlns:a16="http://schemas.microsoft.com/office/drawing/2014/main" id="{7FDDC789-C43F-12F3-2F31-24A589817671}"/>
                  </a:ext>
                </a:extLst>
              </p:cNvPr>
              <p:cNvSpPr txBox="1">
                <a:spLocks noRot="1" noChangeAspect="1" noMove="1" noResize="1" noEditPoints="1" noAdjustHandles="1" noChangeArrowheads="1" noChangeShapeType="1" noTextEdit="1"/>
              </p:cNvSpPr>
              <p:nvPr/>
            </p:nvSpPr>
            <p:spPr>
              <a:xfrm>
                <a:off x="7030720" y="2559639"/>
                <a:ext cx="4301049" cy="518347"/>
              </a:xfrm>
              <a:prstGeom prst="rect">
                <a:avLst/>
              </a:prstGeom>
              <a:blipFill>
                <a:blip r:embed="rId10"/>
                <a:stretch>
                  <a:fillRect l="-294" b="-2381"/>
                </a:stretch>
              </a:blipFill>
            </p:spPr>
            <p:txBody>
              <a:bodyPr/>
              <a:lstStyle/>
              <a:p>
                <a:r>
                  <a:rPr lang="en-VN">
                    <a:noFill/>
                  </a:rPr>
                  <a:t> </a:t>
                </a:r>
              </a:p>
            </p:txBody>
          </p:sp>
        </mc:Fallback>
      </mc:AlternateContent>
    </p:spTree>
    <p:extLst>
      <p:ext uri="{BB962C8B-B14F-4D97-AF65-F5344CB8AC3E}">
        <p14:creationId xmlns:p14="http://schemas.microsoft.com/office/powerpoint/2010/main" val="1045903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7D242-F453-41FC-B20C-D7D8039332E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54AD13C-CEA6-DEDE-2163-5425B50F1C32}"/>
                  </a:ext>
                </a:extLst>
              </p:cNvPr>
              <p:cNvSpPr txBox="1"/>
              <p:nvPr/>
            </p:nvSpPr>
            <p:spPr>
              <a:xfrm>
                <a:off x="6095847" y="4200075"/>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3" name="TextBox 12">
                <a:extLst>
                  <a:ext uri="{FF2B5EF4-FFF2-40B4-BE49-F238E27FC236}">
                    <a16:creationId xmlns:a16="http://schemas.microsoft.com/office/drawing/2014/main" id="{654AD13C-CEA6-DEDE-2163-5425B50F1C32}"/>
                  </a:ext>
                </a:extLst>
              </p:cNvPr>
              <p:cNvSpPr txBox="1">
                <a:spLocks noRot="1" noChangeAspect="1" noMove="1" noResize="1" noEditPoints="1" noAdjustHandles="1" noChangeArrowheads="1" noChangeShapeType="1" noTextEdit="1"/>
              </p:cNvSpPr>
              <p:nvPr/>
            </p:nvSpPr>
            <p:spPr>
              <a:xfrm>
                <a:off x="6095847" y="4200075"/>
                <a:ext cx="5820076" cy="1107996"/>
              </a:xfrm>
              <a:prstGeom prst="rect">
                <a:avLst/>
              </a:prstGeom>
              <a:blipFill>
                <a:blip r:embed="rId3"/>
                <a:stretch>
                  <a:fillRect l="-436" t="-1124" b="-3371"/>
                </a:stretch>
              </a:blipFill>
            </p:spPr>
            <p:txBody>
              <a:bodyPr/>
              <a:lstStyle/>
              <a:p>
                <a:r>
                  <a:rPr lang="en-VN">
                    <a:noFill/>
                  </a:rPr>
                  <a:t> </a:t>
                </a:r>
              </a:p>
            </p:txBody>
          </p:sp>
        </mc:Fallback>
      </mc:AlternateContent>
      <p:sp>
        <p:nvSpPr>
          <p:cNvPr id="2" name="Rectangle 1">
            <a:extLst>
              <a:ext uri="{FF2B5EF4-FFF2-40B4-BE49-F238E27FC236}">
                <a16:creationId xmlns:a16="http://schemas.microsoft.com/office/drawing/2014/main" id="{79F170C2-1994-125A-B740-0641CAB13FE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852DAFB2-C1A5-0980-BEC0-7FC02DDB4661}"/>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C16D6C6-C63B-80F1-238C-D1278D4D30EE}"/>
                  </a:ext>
                </a:extLst>
              </p:cNvPr>
              <p:cNvSpPr txBox="1"/>
              <p:nvPr/>
            </p:nvSpPr>
            <p:spPr>
              <a:xfrm>
                <a:off x="6448730" y="2055439"/>
                <a:ext cx="3352953" cy="479618"/>
              </a:xfrm>
              <a:prstGeom prst="rect">
                <a:avLst/>
              </a:prstGeom>
              <a:noFill/>
              <a:ln w="12700">
                <a:noFill/>
              </a:ln>
            </p:spPr>
            <p:txBody>
              <a:bodyPr wrap="squar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vi-VN" sz="1400" b="0" i="0" smtClean="0">
                              <a:solidFill>
                                <a:schemeClr val="accent6">
                                  <a:lumMod val="75000"/>
                                </a:schemeClr>
                              </a:solidFill>
                              <a:latin typeface="Cambria Math" panose="02040503050406030204" pitchFamily="18" charset="0"/>
                            </a:rPr>
                            <m:t> </m:t>
                          </m:r>
                          <m:r>
                            <a:rPr lang="en-VN" sz="1400" b="0" i="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VN" sz="1400" b="0" i="1" smtClean="0">
                              <a:solidFill>
                                <a:schemeClr val="accent6">
                                  <a:lumMod val="75000"/>
                                </a:schemeClr>
                              </a:solidFill>
                              <a:latin typeface="Cambria Math" panose="02040503050406030204" pitchFamily="18" charset="0"/>
                            </a:rPr>
                            <m:t>𝜇</m:t>
                          </m:r>
                          <m:r>
                            <a:rPr lang="en-VN" sz="1400" b="0" i="0">
                              <a:solidFill>
                                <a:schemeClr val="accent6">
                                  <a:lumMod val="75000"/>
                                </a:schemeClr>
                              </a:solidFill>
                              <a:latin typeface="Cambria Math" panose="02040503050406030204" pitchFamily="18" charset="0"/>
                            </a:rPr>
                            <m:t>,</m:t>
                          </m:r>
                          <m:sSup>
                            <m:sSupPr>
                              <m:ctrlPr>
                                <a:rPr lang="en-VN" sz="1400" b="0" i="1" smtClean="0">
                                  <a:solidFill>
                                    <a:schemeClr val="accent6">
                                      <a:lumMod val="75000"/>
                                    </a:schemeClr>
                                  </a:solidFill>
                                  <a:latin typeface="Cambria Math" panose="02040503050406030204" pitchFamily="18" charset="0"/>
                                </a:rPr>
                              </m:ctrlPr>
                            </m:sSupPr>
                            <m:e>
                              <m:r>
                                <a:rPr lang="en-VN" sz="1400" b="0" i="1" smtClean="0">
                                  <a:solidFill>
                                    <a:schemeClr val="accent6">
                                      <a:lumMod val="75000"/>
                                    </a:schemeClr>
                                  </a:solidFill>
                                  <a:latin typeface="Cambria Math" panose="02040503050406030204" pitchFamily="18" charset="0"/>
                                </a:rPr>
                                <m:t>𝜎</m:t>
                              </m:r>
                            </m:e>
                            <m:sup>
                              <m:r>
                                <a:rPr lang="en-VN" sz="1400" b="0" i="0">
                                  <a:solidFill>
                                    <a:schemeClr val="accent6">
                                      <a:lumMod val="75000"/>
                                    </a:schemeClr>
                                  </a:solidFill>
                                  <a:latin typeface="Cambria Math" panose="02040503050406030204" pitchFamily="18" charset="0"/>
                                </a:rPr>
                                <m:t>2</m:t>
                              </m:r>
                            </m:sup>
                          </m:sSup>
                        </m:e>
                      </m:d>
                      <m:r>
                        <a:rPr lang="en-VN" sz="1400" b="0" i="0">
                          <a:latin typeface="Cambria Math" panose="02040503050406030204" pitchFamily="18" charset="0"/>
                        </a:rPr>
                        <m:t>=</m:t>
                      </m:r>
                      <m:f>
                        <m:fPr>
                          <m:ctrlPr>
                            <a:rPr lang="en-VN" sz="1400" b="0" i="0">
                              <a:latin typeface="Cambria Math" panose="02040503050406030204" pitchFamily="18" charset="0"/>
                            </a:rPr>
                          </m:ctrlPr>
                        </m:fPr>
                        <m:num>
                          <m:r>
                            <a:rPr lang="en-VN" sz="1400" b="0" i="0">
                              <a:latin typeface="Cambria Math" panose="02040503050406030204" pitchFamily="18" charset="0"/>
                            </a:rPr>
                            <m:t>1</m:t>
                          </m:r>
                        </m:num>
                        <m:den>
                          <m:r>
                            <a:rPr lang="en-VN" sz="1400" b="0" i="1" smtClean="0">
                              <a:solidFill>
                                <a:srgbClr val="00B050"/>
                              </a:solidFill>
                              <a:latin typeface="Cambria Math" panose="02040503050406030204" pitchFamily="18" charset="0"/>
                            </a:rPr>
                            <m:t>𝜎</m:t>
                          </m:r>
                          <m:rad>
                            <m:radPr>
                              <m:degHide m:val="on"/>
                              <m:ctrlPr>
                                <a:rPr lang="en-VN" sz="140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e>
                          </m:rad>
                        </m:den>
                      </m:f>
                      <m:sSup>
                        <m:sSupPr>
                          <m:ctrlPr>
                            <a:rPr lang="en-VN" sz="1400" b="0" i="1">
                              <a:latin typeface="Cambria Math" panose="02040503050406030204" pitchFamily="18" charset="0"/>
                            </a:rPr>
                          </m:ctrlPr>
                        </m:sSupPr>
                        <m:e>
                          <m:r>
                            <a:rPr lang="en-VN" sz="1400" b="0" i="1">
                              <a:latin typeface="Cambria Math" panose="02040503050406030204" pitchFamily="18" charset="0"/>
                            </a:rPr>
                            <m:t>𝑒</m:t>
                          </m:r>
                        </m:e>
                        <m:sup>
                          <m:r>
                            <a:rPr lang="en-VN" sz="1400" b="0" i="0">
                              <a:latin typeface="Cambria Math" panose="02040503050406030204" pitchFamily="18" charset="0"/>
                            </a:rPr>
                            <m:t>−</m:t>
                          </m:r>
                          <m:f>
                            <m:fPr>
                              <m:ctrlPr>
                                <a:rPr lang="en-VN" sz="1400" b="0" i="1" smtClean="0">
                                  <a:solidFill>
                                    <a:schemeClr val="accent6">
                                      <a:lumMod val="75000"/>
                                    </a:schemeClr>
                                  </a:solidFill>
                                  <a:latin typeface="Cambria Math" panose="02040503050406030204" pitchFamily="18" charset="0"/>
                                </a:rPr>
                              </m:ctrlPr>
                            </m:fPr>
                            <m:num>
                              <m:sSup>
                                <m:sSupPr>
                                  <m:ctrlPr>
                                    <a:rPr lang="en-VN" sz="1400" b="0" i="1" smtClean="0">
                                      <a:solidFill>
                                        <a:schemeClr val="accent6">
                                          <a:lumMod val="75000"/>
                                        </a:schemeClr>
                                      </a:solidFill>
                                      <a:latin typeface="Cambria Math" panose="02040503050406030204" pitchFamily="18" charset="0"/>
                                    </a:rPr>
                                  </m:ctrlPr>
                                </m:sSupPr>
                                <m:e>
                                  <m:d>
                                    <m:dPr>
                                      <m:ctrlPr>
                                        <a:rPr lang="en-VN" sz="1400" b="0" i="1" smtClean="0">
                                          <a:solidFill>
                                            <a:schemeClr val="accent6">
                                              <a:lumMod val="75000"/>
                                            </a:schemeClr>
                                          </a:solidFill>
                                          <a:latin typeface="Cambria Math" panose="02040503050406030204" pitchFamily="18" charset="0"/>
                                        </a:rPr>
                                      </m:ctrlPr>
                                    </m:dPr>
                                    <m:e>
                                      <m:r>
                                        <a:rPr lang="en-VN" sz="1400" b="0" i="1" smtClean="0">
                                          <a:solidFill>
                                            <a:schemeClr val="accent6">
                                              <a:lumMod val="75000"/>
                                            </a:schemeClr>
                                          </a:solidFill>
                                          <a:latin typeface="Cambria Math" panose="02040503050406030204" pitchFamily="18" charset="0"/>
                                        </a:rPr>
                                        <m:t>𝑥</m:t>
                                      </m:r>
                                      <m:r>
                                        <a:rPr lang="en-VN" sz="1400" b="0" i="0">
                                          <a:solidFill>
                                            <a:schemeClr val="tx1"/>
                                          </a:solidFill>
                                          <a:latin typeface="Cambria Math" panose="02040503050406030204" pitchFamily="18" charset="0"/>
                                        </a:rPr>
                                        <m:t>−</m:t>
                                      </m:r>
                                      <m:r>
                                        <a:rPr lang="en-VN" sz="1400" b="0" i="1" smtClean="0">
                                          <a:solidFill>
                                            <a:schemeClr val="tx2">
                                              <a:lumMod val="60000"/>
                                              <a:lumOff val="40000"/>
                                            </a:schemeClr>
                                          </a:solidFill>
                                          <a:latin typeface="Cambria Math" panose="02040503050406030204" pitchFamily="18" charset="0"/>
                                        </a:rPr>
                                        <m:t>𝜇</m:t>
                                      </m:r>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p>
                                <m:sSupPr>
                                  <m:ctrlPr>
                                    <a:rPr lang="en-VN" sz="1400" b="0" i="1" smtClean="0">
                                      <a:solidFill>
                                        <a:srgbClr val="00B050"/>
                                      </a:solidFill>
                                      <a:latin typeface="Cambria Math" panose="02040503050406030204" pitchFamily="18" charset="0"/>
                                    </a:rPr>
                                  </m:ctrlPr>
                                </m:sSupPr>
                                <m:e>
                                  <m:r>
                                    <a:rPr lang="en-VN" sz="1400" b="0" i="1" smtClean="0">
                                      <a:solidFill>
                                        <a:srgbClr val="00B050"/>
                                      </a:solidFill>
                                      <a:latin typeface="Cambria Math" panose="02040503050406030204" pitchFamily="18" charset="0"/>
                                    </a:rPr>
                                    <m:t>𝜎</m:t>
                                  </m:r>
                                </m:e>
                                <m:sup>
                                  <m:r>
                                    <a:rPr lang="en-VN" sz="1400" b="0" i="0">
                                      <a:solidFill>
                                        <a:schemeClr val="tx1"/>
                                      </a:solidFill>
                                      <a:latin typeface="Cambria Math" panose="02040503050406030204" pitchFamily="18" charset="0"/>
                                    </a:rPr>
                                    <m:t>2</m:t>
                                  </m:r>
                                </m:sup>
                              </m:sSup>
                            </m:den>
                          </m:f>
                        </m:sup>
                      </m:sSup>
                    </m:oMath>
                  </m:oMathPara>
                </a14:m>
                <a:endParaRPr lang="en-VN" sz="1400" dirty="0"/>
              </a:p>
            </p:txBody>
          </p:sp>
        </mc:Choice>
        <mc:Fallback xmlns="">
          <p:sp>
            <p:nvSpPr>
              <p:cNvPr id="14" name="TextBox 13">
                <a:extLst>
                  <a:ext uri="{FF2B5EF4-FFF2-40B4-BE49-F238E27FC236}">
                    <a16:creationId xmlns:a16="http://schemas.microsoft.com/office/drawing/2014/main" id="{4C16D6C6-C63B-80F1-238C-D1278D4D30EE}"/>
                  </a:ext>
                </a:extLst>
              </p:cNvPr>
              <p:cNvSpPr txBox="1">
                <a:spLocks noRot="1" noChangeAspect="1" noMove="1" noResize="1" noEditPoints="1" noAdjustHandles="1" noChangeArrowheads="1" noChangeShapeType="1" noTextEdit="1"/>
              </p:cNvSpPr>
              <p:nvPr/>
            </p:nvSpPr>
            <p:spPr>
              <a:xfrm>
                <a:off x="6448730" y="2055439"/>
                <a:ext cx="3352953" cy="479618"/>
              </a:xfrm>
              <a:prstGeom prst="rect">
                <a:avLst/>
              </a:prstGeom>
              <a:blipFill>
                <a:blip r:embed="rId4"/>
                <a:stretch>
                  <a:fillRect b="-10256"/>
                </a:stretch>
              </a:blipFill>
              <a:ln w="12700">
                <a:no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2D0ED8C6-D25F-A2D4-B1B9-8DB1E14BC4CD}"/>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21AC7D1F-DA47-4D46-98DD-843349C5271D}"/>
              </a:ext>
            </a:extLst>
          </p:cNvPr>
          <p:cNvPicPr>
            <a:picLocks noChangeAspect="1"/>
          </p:cNvPicPr>
          <p:nvPr/>
        </p:nvPicPr>
        <p:blipFill>
          <a:blip r:embed="rId5"/>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98D55E1-67FF-86F7-6C17-CBA2FB4B1094}"/>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7F6B7882-6AB1-7B23-938A-E8D1ED26D273}"/>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6"/>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EEFBD37-CF75-821C-286E-E3E2126F6C68}"/>
                  </a:ext>
                </a:extLst>
              </p:cNvPr>
              <p:cNvSpPr txBox="1"/>
              <p:nvPr/>
            </p:nvSpPr>
            <p:spPr>
              <a:xfrm>
                <a:off x="6898932" y="3213677"/>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0EEFBD37-CF75-821C-286E-E3E2126F6C68}"/>
                  </a:ext>
                </a:extLst>
              </p:cNvPr>
              <p:cNvSpPr txBox="1">
                <a:spLocks noRot="1" noChangeAspect="1" noMove="1" noResize="1" noEditPoints="1" noAdjustHandles="1" noChangeArrowheads="1" noChangeShapeType="1" noTextEdit="1"/>
              </p:cNvSpPr>
              <p:nvPr/>
            </p:nvSpPr>
            <p:spPr>
              <a:xfrm>
                <a:off x="6898932" y="3213677"/>
                <a:ext cx="3603057" cy="307777"/>
              </a:xfrm>
              <a:prstGeom prst="rect">
                <a:avLst/>
              </a:prstGeom>
              <a:blipFill>
                <a:blip r:embed="rId7"/>
                <a:stretch>
                  <a:fillRect t="-3846" b="-1538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5D50679-F892-E3E3-7EB3-77360D86905C}"/>
                  </a:ext>
                </a:extLst>
              </p:cNvPr>
              <p:cNvSpPr txBox="1"/>
              <p:nvPr/>
            </p:nvSpPr>
            <p:spPr>
              <a:xfrm>
                <a:off x="6898932" y="351632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35D50679-F892-E3E3-7EB3-77360D86905C}"/>
                  </a:ext>
                </a:extLst>
              </p:cNvPr>
              <p:cNvSpPr txBox="1">
                <a:spLocks noRot="1" noChangeAspect="1" noMove="1" noResize="1" noEditPoints="1" noAdjustHandles="1" noChangeArrowheads="1" noChangeShapeType="1" noTextEdit="1"/>
              </p:cNvSpPr>
              <p:nvPr/>
            </p:nvSpPr>
            <p:spPr>
              <a:xfrm>
                <a:off x="6898932" y="3516329"/>
                <a:ext cx="3603057" cy="307777"/>
              </a:xfrm>
              <a:prstGeom prst="rect">
                <a:avLst/>
              </a:prstGeom>
              <a:blipFill>
                <a:blip r:embed="rId8"/>
                <a:stretch>
                  <a:fillRect t="-4000" b="-20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5A6D5D5-92B9-A53D-DA82-C23684079988}"/>
                  </a:ext>
                </a:extLst>
              </p:cNvPr>
              <p:cNvSpPr txBox="1"/>
              <p:nvPr/>
            </p:nvSpPr>
            <p:spPr>
              <a:xfrm>
                <a:off x="7182182" y="4507906"/>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75A6D5D5-92B9-A53D-DA82-C23684079988}"/>
                  </a:ext>
                </a:extLst>
              </p:cNvPr>
              <p:cNvSpPr txBox="1">
                <a:spLocks noRot="1" noChangeAspect="1" noMove="1" noResize="1" noEditPoints="1" noAdjustHandles="1" noChangeArrowheads="1" noChangeShapeType="1" noTextEdit="1"/>
              </p:cNvSpPr>
              <p:nvPr/>
            </p:nvSpPr>
            <p:spPr>
              <a:xfrm>
                <a:off x="7182182" y="4507906"/>
                <a:ext cx="1899751" cy="215444"/>
              </a:xfrm>
              <a:prstGeom prst="rect">
                <a:avLst/>
              </a:prstGeom>
              <a:blipFill>
                <a:blip r:embed="rId9"/>
                <a:stretch>
                  <a:fillRect l="-662" b="-1111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C3379ED-7329-15BB-C660-5C7D23B9D699}"/>
                  </a:ext>
                </a:extLst>
              </p:cNvPr>
              <p:cNvSpPr txBox="1"/>
              <p:nvPr/>
            </p:nvSpPr>
            <p:spPr>
              <a:xfrm>
                <a:off x="6336587" y="5343445"/>
                <a:ext cx="4377332" cy="492443"/>
              </a:xfrm>
              <a:prstGeom prst="rect">
                <a:avLst/>
              </a:prstGeom>
              <a:noFill/>
            </p:spPr>
            <p:txBody>
              <a:bodyPr wrap="square">
                <a:spAutoFit/>
              </a:bodyPr>
              <a:lstStyle/>
              <a:p>
                <a:r>
                  <a:rPr lang="en-US" sz="1400" b="1" dirty="0" err="1">
                    <a:solidFill>
                      <a:srgbClr val="1B8A7A"/>
                    </a:solidFill>
                    <a:highlight>
                      <a:srgbClr val="FFFF00"/>
                    </a:highlight>
                    <a:latin typeface="Arial"/>
                  </a:rPr>
                  <a:t>Hàm</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hợp</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lý</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a:t>
                </a:r>
                <a:br>
                  <a:rPr lang="vi-VN" sz="1400" b="1" dirty="0">
                    <a:highlight>
                      <a:srgbClr val="FFFF00"/>
                    </a:highlight>
                    <a:latin typeface="Arial"/>
                    <a:sym typeface="Wingdings" pitchFamily="2" charset="2"/>
                  </a:rPr>
                </a:br>
                <a:r>
                  <a:rPr lang="vi-VN" sz="1100" dirty="0">
                    <a:highlight>
                      <a:srgbClr val="00FFFF"/>
                    </a:highlight>
                    <a:latin typeface="Arial"/>
                    <a:sym typeface="Wingdings" pitchFamily="2" charset="2"/>
                  </a:rPr>
                  <a:t>(tích các đường cao chiếu từ mỗi điểm x lên hình chuông)</a:t>
                </a:r>
                <a:endParaRPr lang="en-VN" dirty="0">
                  <a:highlight>
                    <a:srgbClr val="00FFFF"/>
                  </a:highlight>
                </a:endParaRPr>
              </a:p>
            </p:txBody>
          </p:sp>
        </mc:Choice>
        <mc:Fallback xmlns="">
          <p:sp>
            <p:nvSpPr>
              <p:cNvPr id="5" name="TextBox 4">
                <a:extLst>
                  <a:ext uri="{FF2B5EF4-FFF2-40B4-BE49-F238E27FC236}">
                    <a16:creationId xmlns:a16="http://schemas.microsoft.com/office/drawing/2014/main" id="{9C3379ED-7329-15BB-C660-5C7D23B9D699}"/>
                  </a:ext>
                </a:extLst>
              </p:cNvPr>
              <p:cNvSpPr txBox="1">
                <a:spLocks noRot="1" noChangeAspect="1" noMove="1" noResize="1" noEditPoints="1" noAdjustHandles="1" noChangeArrowheads="1" noChangeShapeType="1" noTextEdit="1"/>
              </p:cNvSpPr>
              <p:nvPr/>
            </p:nvSpPr>
            <p:spPr>
              <a:xfrm>
                <a:off x="6336587" y="5343445"/>
                <a:ext cx="4377332" cy="492443"/>
              </a:xfrm>
              <a:prstGeom prst="rect">
                <a:avLst/>
              </a:prstGeom>
              <a:blipFill>
                <a:blip r:embed="rId10"/>
                <a:stretch>
                  <a:fillRect l="-289" b="-5000"/>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60FAC885-28BD-6188-FF82-F9686D8BCC84}"/>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4AD8A6F-C963-BF6E-F776-934B9CD61B01}"/>
                  </a:ext>
                </a:extLst>
              </p:cNvPr>
              <p:cNvSpPr txBox="1"/>
              <p:nvPr/>
            </p:nvSpPr>
            <p:spPr>
              <a:xfrm>
                <a:off x="6448730" y="5940244"/>
                <a:ext cx="3470177" cy="871201"/>
              </a:xfrm>
              <a:prstGeom prst="rect">
                <a:avLst/>
              </a:prstGeom>
              <a:noFill/>
              <a:ln w="12700">
                <a:solidFill>
                  <a:schemeClr val="accent1"/>
                </a:solidFill>
              </a:ln>
            </p:spPr>
            <p:txBody>
              <a:bodyPr wrap="square">
                <a:spAutoFit/>
              </a:bodyPr>
              <a:lstStyle/>
              <a:p>
                <a:pPr/>
                <a14:m>
                  <m:oMathPara xmlns:m="http://schemas.openxmlformats.org/officeDocument/2006/math">
                    <m:oMath>
                      <m:r>
                        <a:rPr lang="en-VN" i="1" smtClean="0">
                          <a:solidFill>
                            <a:schemeClr val="tx1"/>
                          </a:solidFill>
                          <a:latin typeface="Cambria Math" panose="02040503050406030204" pitchFamily="18" charset="0"/>
                        </a:rPr>
                        <m:t>𝐿</m:t>
                      </m:r>
                      <m:d>
                        <m:dPr>
                          <m:ctrlPr>
                            <a:rPr lang="en-VN" i="1" smtClean="0">
                              <a:solidFill>
                                <a:schemeClr val="tx1"/>
                              </a:solidFill>
                              <a:latin typeface="Cambria Math" panose="02040503050406030204" pitchFamily="18" charset="0"/>
                            </a:rPr>
                          </m:ctrlPr>
                        </m:dPr>
                        <m:e>
                          <m:r>
                            <a:rPr lang="en-VN" i="1" smtClean="0">
                              <a:solidFill>
                                <a:schemeClr val="tx1"/>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chemeClr val="tx1"/>
                                  </a:solidFill>
                                  <a:latin typeface="Cambria Math" panose="02040503050406030204" pitchFamily="18" charset="0"/>
                                </a:rPr>
                              </m:ctrlPr>
                            </m:sSupPr>
                            <m:e>
                              <m:r>
                                <a:rPr lang="en-VN" i="1" smtClean="0">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en-VN" i="0">
                              <a:solidFill>
                                <a:schemeClr val="tx1"/>
                              </a:solidFill>
                              <a:latin typeface="Cambria Math" panose="02040503050406030204" pitchFamily="18" charset="0"/>
                            </a:rPr>
                            <m:t>∣</m:t>
                          </m:r>
                          <m:r>
                            <a:rPr lang="en-VN" i="1" smtClean="0">
                              <a:solidFill>
                                <a:schemeClr val="tx1"/>
                              </a:solidFill>
                              <a:latin typeface="Cambria Math" panose="02040503050406030204" pitchFamily="18" charset="0"/>
                            </a:rPr>
                            <m:t>𝑥</m:t>
                          </m:r>
                        </m:e>
                      </m:d>
                      <m:r>
                        <a:rPr lang="en-VN" i="0">
                          <a:solidFill>
                            <a:schemeClr val="tx1"/>
                          </a:solidFill>
                          <a:latin typeface="Cambria Math" panose="02040503050406030204" pitchFamily="18" charset="0"/>
                        </a:rPr>
                        <m:t>=</m:t>
                      </m:r>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a:latin typeface="Cambria Math" panose="02040503050406030204" pitchFamily="18" charset="0"/>
                            </a:rPr>
                            <m:t>=1</m:t>
                          </m:r>
                        </m:sub>
                        <m:sup>
                          <m:r>
                            <a:rPr lang="en-VN" i="1">
                              <a:latin typeface="Cambria Math" panose="02040503050406030204" pitchFamily="18" charset="0"/>
                            </a:rPr>
                            <m:t>𝑁</m:t>
                          </m:r>
                        </m:sup>
                        <m:e>
                          <m:r>
                            <a:rPr lang="en-VN" i="0" smtClean="0">
                              <a:solidFill>
                                <a:schemeClr val="accent6">
                                  <a:lumMod val="75000"/>
                                </a:schemeClr>
                              </a:solidFill>
                              <a:latin typeface="Cambria Math" panose="02040503050406030204" pitchFamily="18" charset="0"/>
                            </a:rPr>
                            <m:t>𝒩</m:t>
                          </m:r>
                        </m:e>
                      </m:nary>
                      <m:d>
                        <m:dPr>
                          <m:ctrlPr>
                            <a:rPr lang="en-VN" i="1">
                              <a:solidFill>
                                <a:schemeClr val="accent6">
                                  <a:lumMod val="75000"/>
                                </a:schemeClr>
                              </a:solidFill>
                              <a:latin typeface="Cambria Math" panose="02040503050406030204" pitchFamily="18" charset="0"/>
                            </a:rPr>
                          </m:ctrlPr>
                        </m:dPr>
                        <m:e>
                          <m:sSub>
                            <m:sSubPr>
                              <m:ctrlPr>
                                <a:rPr lang="en-VN" i="1">
                                  <a:solidFill>
                                    <a:schemeClr val="accent6">
                                      <a:lumMod val="75000"/>
                                    </a:schemeClr>
                                  </a:solidFill>
                                  <a:latin typeface="Cambria Math" panose="02040503050406030204" pitchFamily="18" charset="0"/>
                                </a:rPr>
                              </m:ctrlPr>
                            </m:sSubPr>
                            <m:e>
                              <m:r>
                                <a:rPr lang="en-VN" i="1">
                                  <a:solidFill>
                                    <a:schemeClr val="accent6">
                                      <a:lumMod val="75000"/>
                                    </a:schemeClr>
                                  </a:solidFill>
                                  <a:latin typeface="Cambria Math" panose="02040503050406030204" pitchFamily="18" charset="0"/>
                                </a:rPr>
                                <m:t>𝑥</m:t>
                              </m:r>
                            </m:e>
                            <m:sub>
                              <m:r>
                                <a:rPr lang="en-VN" i="1">
                                  <a:solidFill>
                                    <a:schemeClr val="accent6">
                                      <a:lumMod val="75000"/>
                                    </a:schemeClr>
                                  </a:solidFill>
                                  <a:latin typeface="Cambria Math" panose="02040503050406030204" pitchFamily="18" charset="0"/>
                                </a:rPr>
                                <m:t>𝑛</m:t>
                              </m:r>
                            </m:sub>
                          </m:sSub>
                          <m:r>
                            <a:rPr lang="en-VN" i="0">
                              <a:solidFill>
                                <a:schemeClr val="accent6">
                                  <a:lumMod val="75000"/>
                                </a:schemeClr>
                              </a:solidFill>
                              <a:latin typeface="Cambria Math" panose="02040503050406030204" pitchFamily="18" charset="0"/>
                            </a:rPr>
                            <m:t>∣</m:t>
                          </m:r>
                          <m:r>
                            <a:rPr lang="en-VN" i="1">
                              <a:solidFill>
                                <a:schemeClr val="accent6">
                                  <a:lumMod val="75000"/>
                                </a:schemeClr>
                              </a:solidFill>
                              <a:latin typeface="Cambria Math" panose="02040503050406030204" pitchFamily="18" charset="0"/>
                            </a:rPr>
                            <m:t>𝜇</m:t>
                          </m:r>
                          <m:r>
                            <a:rPr lang="en-VN" i="0">
                              <a:solidFill>
                                <a:schemeClr val="accent6">
                                  <a:lumMod val="75000"/>
                                </a:schemeClr>
                              </a:solidFill>
                              <a:latin typeface="Cambria Math" panose="02040503050406030204" pitchFamily="18" charset="0"/>
                            </a:rPr>
                            <m:t>,</m:t>
                          </m:r>
                          <m:sSup>
                            <m:sSupPr>
                              <m:ctrlPr>
                                <a:rPr lang="en-VN" i="1">
                                  <a:solidFill>
                                    <a:schemeClr val="accent6">
                                      <a:lumMod val="75000"/>
                                    </a:schemeClr>
                                  </a:solidFill>
                                  <a:latin typeface="Cambria Math" panose="02040503050406030204" pitchFamily="18" charset="0"/>
                                </a:rPr>
                              </m:ctrlPr>
                            </m:sSupPr>
                            <m:e>
                              <m:r>
                                <a:rPr lang="en-VN" i="1">
                                  <a:solidFill>
                                    <a:schemeClr val="accent6">
                                      <a:lumMod val="75000"/>
                                    </a:schemeClr>
                                  </a:solidFill>
                                  <a:latin typeface="Cambria Math" panose="02040503050406030204" pitchFamily="18" charset="0"/>
                                </a:rPr>
                                <m:t>𝜎</m:t>
                              </m:r>
                            </m:e>
                            <m:sup>
                              <m:r>
                                <a:rPr lang="en-VN" i="0">
                                  <a:solidFill>
                                    <a:schemeClr val="accent6">
                                      <a:lumMod val="75000"/>
                                    </a:schemeClr>
                                  </a:solidFill>
                                  <a:latin typeface="Cambria Math" panose="02040503050406030204" pitchFamily="18" charset="0"/>
                                </a:rPr>
                                <m:t>2</m:t>
                              </m:r>
                            </m:sup>
                          </m:sSup>
                        </m:e>
                      </m:d>
                    </m:oMath>
                  </m:oMathPara>
                </a14:m>
                <a:endParaRPr lang="en-VN" dirty="0"/>
              </a:p>
            </p:txBody>
          </p:sp>
        </mc:Choice>
        <mc:Fallback xmlns="">
          <p:sp>
            <p:nvSpPr>
              <p:cNvPr id="16" name="TextBox 15">
                <a:extLst>
                  <a:ext uri="{FF2B5EF4-FFF2-40B4-BE49-F238E27FC236}">
                    <a16:creationId xmlns:a16="http://schemas.microsoft.com/office/drawing/2014/main" id="{B4AD8A6F-C963-BF6E-F776-934B9CD61B01}"/>
                  </a:ext>
                </a:extLst>
              </p:cNvPr>
              <p:cNvSpPr txBox="1">
                <a:spLocks noRot="1" noChangeAspect="1" noMove="1" noResize="1" noEditPoints="1" noAdjustHandles="1" noChangeArrowheads="1" noChangeShapeType="1" noTextEdit="1"/>
              </p:cNvSpPr>
              <p:nvPr/>
            </p:nvSpPr>
            <p:spPr>
              <a:xfrm>
                <a:off x="6448730" y="5940244"/>
                <a:ext cx="3470177" cy="871201"/>
              </a:xfrm>
              <a:prstGeom prst="rect">
                <a:avLst/>
              </a:prstGeom>
              <a:blipFill>
                <a:blip r:embed="rId11"/>
                <a:stretch>
                  <a:fillRect t="-92857" b="-148571"/>
                </a:stretch>
              </a:blipFill>
              <a:ln w="12700">
                <a:solidFill>
                  <a:schemeClr val="accent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9868F4E-F3E9-2889-63B3-B43A20ACE9B9}"/>
                  </a:ext>
                </a:extLst>
              </p:cNvPr>
              <p:cNvSpPr txBox="1"/>
              <p:nvPr/>
            </p:nvSpPr>
            <p:spPr>
              <a:xfrm>
                <a:off x="7030720" y="2559639"/>
                <a:ext cx="4301049" cy="518347"/>
              </a:xfrm>
              <a:prstGeom prst="rect">
                <a:avLst/>
              </a:prstGeom>
              <a:noFill/>
            </p:spPr>
            <p:txBody>
              <a:bodyPr wrap="none" lIns="0" tIns="0" rIns="0" bIns="0" rtlCol="0">
                <a:spAutoFit/>
              </a:bodyPr>
              <a:lstStyle/>
              <a:p>
                <a:pPr/>
                <a14:m>
                  <m:oMathPara xmlns:m="http://schemas.openxmlformats.org/officeDocument/2006/math">
                    <m:oMath>
                      <m:r>
                        <a:rPr lang="en-US" sz="1400" b="0" i="1" smtClean="0">
                          <a:solidFill>
                            <a:schemeClr val="accent6">
                              <a:lumMod val="75000"/>
                            </a:schemeClr>
                          </a:solidFill>
                          <a:latin typeface="Cambria Math" panose="02040503050406030204" pitchFamily="18" charset="0"/>
                        </a:rPr>
                        <m:t>𝒩</m:t>
                      </m:r>
                      <m:d>
                        <m:dPr>
                          <m:ctrlPr>
                            <a:rPr lang="en-US" sz="1400" b="0" i="1">
                              <a:solidFill>
                                <a:schemeClr val="accent6">
                                  <a:lumMod val="75000"/>
                                </a:schemeClr>
                              </a:solidFill>
                              <a:latin typeface="Cambria Math" panose="02040503050406030204" pitchFamily="18" charset="0"/>
                            </a:rPr>
                          </m:ctrlPr>
                        </m:dPr>
                        <m:e>
                          <m:r>
                            <a:rPr lang="en-US" sz="1400" b="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VN" sz="1400" b="0">
                              <a:solidFill>
                                <a:schemeClr val="accent6">
                                  <a:lumMod val="75000"/>
                                </a:schemeClr>
                              </a:solidFill>
                              <a:latin typeface="Cambria Math" panose="02040503050406030204" pitchFamily="18" charset="0"/>
                            </a:rPr>
                            <m:t>|</m:t>
                          </m:r>
                          <m:r>
                            <a:rPr lang="vi-VN" sz="1400" b="0" i="0" smtClean="0">
                              <a:solidFill>
                                <a:schemeClr val="accent6">
                                  <a:lumMod val="75000"/>
                                </a:schemeClr>
                              </a:solidFill>
                              <a:latin typeface="Cambria Math" panose="02040503050406030204" pitchFamily="18" charset="0"/>
                            </a:rPr>
                            <m:t> </m:t>
                          </m:r>
                          <m:r>
                            <a:rPr lang="en-US" sz="1400" b="0" i="1">
                              <a:solidFill>
                                <a:schemeClr val="accent6">
                                  <a:lumMod val="75000"/>
                                </a:schemeClr>
                              </a:solidFill>
                              <a:latin typeface="Cambria Math" panose="02040503050406030204" pitchFamily="18" charset="0"/>
                            </a:rPr>
                            <m:t>𝜇</m:t>
                          </m:r>
                          <m:r>
                            <a:rPr lang="en-US" sz="1400" b="0" i="1">
                              <a:solidFill>
                                <a:schemeClr val="accent6">
                                  <a:lumMod val="75000"/>
                                </a:schemeClr>
                              </a:solidFill>
                              <a:latin typeface="Cambria Math" panose="02040503050406030204" pitchFamily="18" charset="0"/>
                            </a:rPr>
                            <m:t>,</m:t>
                          </m:r>
                          <m:r>
                            <a:rPr lang="en-US" sz="1400" b="0" i="1">
                              <a:solidFill>
                                <a:schemeClr val="accent6">
                                  <a:lumMod val="75000"/>
                                </a:schemeClr>
                              </a:solidFill>
                              <a:latin typeface="Cambria Math" panose="02040503050406030204" pitchFamily="18" charset="0"/>
                            </a:rPr>
                            <m:t>𝛴</m:t>
                          </m:r>
                        </m:e>
                      </m:d>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𝑘</m:t>
                                  </m:r>
                                </m:sup>
                              </m:sSup>
                              <m:d>
                                <m:dPr>
                                  <m:begChr m:val="|"/>
                                  <m:endChr m:val="|"/>
                                  <m:ctrlPr>
                                    <a:rPr lang="en-US" sz="1400" b="0" i="1" smtClean="0">
                                      <a:solidFill>
                                        <a:srgbClr val="00B050"/>
                                      </a:solidFill>
                                      <a:latin typeface="Cambria Math" panose="02040503050406030204" pitchFamily="18" charset="0"/>
                                    </a:rPr>
                                  </m:ctrlPr>
                                </m:dPr>
                                <m:e>
                                  <m:r>
                                    <a:rPr lang="en-US" sz="1400" b="0" i="1" smtClean="0">
                                      <a:solidFill>
                                        <a:srgbClr val="00B050"/>
                                      </a:solidFill>
                                      <a:latin typeface="Cambria Math" panose="02040503050406030204" pitchFamily="18" charset="0"/>
                                    </a:rPr>
                                    <m:t>𝛴</m:t>
                                  </m:r>
                                </m:e>
                              </m:d>
                            </m:e>
                          </m:rad>
                        </m:den>
                      </m:f>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sup>
                                  <m:r>
                                    <a:rPr lang="en-US" sz="1400" b="0" i="1">
                                      <a:latin typeface="Cambria Math" panose="02040503050406030204" pitchFamily="18" charset="0"/>
                                    </a:rPr>
                                    <m:t>𝑇</m:t>
                                  </m:r>
                                </m:sup>
                              </m:sSup>
                              <m:sSup>
                                <m:sSupPr>
                                  <m:ctrlPr>
                                    <a:rPr lang="en-US" sz="1400" b="0" i="1" smtClean="0">
                                      <a:solidFill>
                                        <a:srgbClr val="00B050"/>
                                      </a:solidFill>
                                      <a:latin typeface="Cambria Math" panose="02040503050406030204" pitchFamily="18" charset="0"/>
                                    </a:rPr>
                                  </m:ctrlPr>
                                </m:sSupPr>
                                <m:e>
                                  <m:r>
                                    <a:rPr lang="en-US" sz="1400" b="0" i="1" smtClean="0">
                                      <a:solidFill>
                                        <a:srgbClr val="00B050"/>
                                      </a:solidFill>
                                      <a:latin typeface="Cambria Math" panose="02040503050406030204" pitchFamily="18" charset="0"/>
                                    </a:rPr>
                                    <m:t>𝛴</m:t>
                                  </m:r>
                                </m:e>
                                <m:sup>
                                  <m:r>
                                    <a:rPr lang="en-US" sz="1400" b="0" i="1">
                                      <a:latin typeface="Cambria Math" panose="02040503050406030204" pitchFamily="18" charset="0"/>
                                    </a:rPr>
                                    <m:t>−1</m:t>
                                  </m:r>
                                </m:sup>
                              </m:s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smtClean="0">
                                      <a:solidFill>
                                        <a:srgbClr val="0070C0"/>
                                      </a:solidFill>
                                      <a:latin typeface="Cambria Math" panose="02040503050406030204" pitchFamily="18" charset="0"/>
                                    </a:rPr>
                                    <m:t>𝜇</m:t>
                                  </m:r>
                                </m:e>
                              </m:d>
                            </m:e>
                          </m:d>
                        </m:e>
                      </m:func>
                    </m:oMath>
                  </m:oMathPara>
                </a14:m>
                <a:endParaRPr lang="en-VN" sz="1400" dirty="0"/>
              </a:p>
            </p:txBody>
          </p:sp>
        </mc:Choice>
        <mc:Fallback xmlns="">
          <p:sp>
            <p:nvSpPr>
              <p:cNvPr id="20" name="TextBox 19">
                <a:extLst>
                  <a:ext uri="{FF2B5EF4-FFF2-40B4-BE49-F238E27FC236}">
                    <a16:creationId xmlns:a16="http://schemas.microsoft.com/office/drawing/2014/main" id="{D9868F4E-F3E9-2889-63B3-B43A20ACE9B9}"/>
                  </a:ext>
                </a:extLst>
              </p:cNvPr>
              <p:cNvSpPr txBox="1">
                <a:spLocks noRot="1" noChangeAspect="1" noMove="1" noResize="1" noEditPoints="1" noAdjustHandles="1" noChangeArrowheads="1" noChangeShapeType="1" noTextEdit="1"/>
              </p:cNvSpPr>
              <p:nvPr/>
            </p:nvSpPr>
            <p:spPr>
              <a:xfrm>
                <a:off x="7030720" y="2559639"/>
                <a:ext cx="4301049" cy="518347"/>
              </a:xfrm>
              <a:prstGeom prst="rect">
                <a:avLst/>
              </a:prstGeom>
              <a:blipFill>
                <a:blip r:embed="rId12"/>
                <a:stretch>
                  <a:fillRect l="-294" b="-2381"/>
                </a:stretch>
              </a:blipFill>
            </p:spPr>
            <p:txBody>
              <a:bodyPr/>
              <a:lstStyle/>
              <a:p>
                <a:r>
                  <a:rPr lang="en-VN">
                    <a:noFill/>
                  </a:rPr>
                  <a:t> </a:t>
                </a:r>
              </a:p>
            </p:txBody>
          </p:sp>
        </mc:Fallback>
      </mc:AlternateContent>
    </p:spTree>
    <p:extLst>
      <p:ext uri="{BB962C8B-B14F-4D97-AF65-F5344CB8AC3E}">
        <p14:creationId xmlns:p14="http://schemas.microsoft.com/office/powerpoint/2010/main" val="4876230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ABB19-03BD-33C8-07F3-06EDE28C4C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36065A-3063-A1D5-F33E-ACDF1193F35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846C090-C329-5AE6-6CB7-FF865F13CF0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Tree>
    <p:extLst>
      <p:ext uri="{BB962C8B-B14F-4D97-AF65-F5344CB8AC3E}">
        <p14:creationId xmlns:p14="http://schemas.microsoft.com/office/powerpoint/2010/main" val="4240678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4EB70-62AB-3299-D9C3-E91D4F4C7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03F9245-AF6D-9957-8AE4-9EBF98EB94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820603A-EBD7-00D6-467C-7470425C842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A820603A-EBD7-00D6-467C-7470425C842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7E3152A-AA2E-8107-3DE2-A50AE4FC4DA0}"/>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77E3152A-AA2E-8107-3DE2-A50AE4FC4DA0}"/>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4"/>
                <a:stretch>
                  <a:fillRect t="-94545" b="-150909"/>
                </a:stretch>
              </a:blipFill>
              <a:ln w="12700">
                <a:noFill/>
              </a:ln>
            </p:spPr>
            <p:txBody>
              <a:bodyPr/>
              <a:lstStyle/>
              <a:p>
                <a:r>
                  <a:rPr lang="en-VN">
                    <a:noFill/>
                  </a:rPr>
                  <a:t> </a:t>
                </a:r>
              </a:p>
            </p:txBody>
          </p:sp>
        </mc:Fallback>
      </mc:AlternateContent>
      <p:sp>
        <p:nvSpPr>
          <p:cNvPr id="12" name="TextBox 11">
            <a:extLst>
              <a:ext uri="{FF2B5EF4-FFF2-40B4-BE49-F238E27FC236}">
                <a16:creationId xmlns:a16="http://schemas.microsoft.com/office/drawing/2014/main" id="{CDEA5C84-35CB-2043-F47A-F2D9641AF839}"/>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903BF20-9CE3-FA38-78AE-C6E31CCA1FEB}"/>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6039B394-6E16-A77C-19F2-0F17CF6807BF}"/>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93F67F6-4B9B-1D82-375F-56230094C1AC}"/>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93F67F6-4B9B-1D82-375F-56230094C1AC}"/>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5"/>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ED46B2B-A179-D69D-B1CB-B45FB3344924}"/>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6ED46B2B-A179-D69D-B1CB-B45FB3344924}"/>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6"/>
                <a:stretch>
                  <a:fillRect t="-89474" b="-145614"/>
                </a:stretch>
              </a:blipFill>
              <a:ln w="12700">
                <a:noFill/>
              </a:ln>
            </p:spPr>
            <p:txBody>
              <a:bodyPr/>
              <a:lstStyle/>
              <a:p>
                <a:r>
                  <a:rPr lang="en-VN">
                    <a:noFill/>
                  </a:rPr>
                  <a:t> </a:t>
                </a:r>
              </a:p>
            </p:txBody>
          </p:sp>
        </mc:Fallback>
      </mc:AlternateContent>
    </p:spTree>
    <p:extLst>
      <p:ext uri="{BB962C8B-B14F-4D97-AF65-F5344CB8AC3E}">
        <p14:creationId xmlns:p14="http://schemas.microsoft.com/office/powerpoint/2010/main" val="34720162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C17AB-29DB-5529-5C62-38990D318C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4390C18-0DE5-A4A2-CE8B-8D3D9AE8330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9888731-74B7-FE4A-034D-0DD33E2C58D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59888731-74B7-FE4A-034D-0DD33E2C58D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A99B1E57-7511-91C9-E342-CCC4D7C531E0}"/>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CC98057-D007-683C-9D2C-9E591F7B831F}"/>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4CC98057-D007-683C-9D2C-9E591F7B831F}"/>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CD2E531-44C8-9066-1C2E-E6C91F42443B}"/>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9CD2E531-44C8-9066-1C2E-E6C91F42443B}"/>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14DE057-155A-9070-F67B-F3187F546C9A}"/>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914DE057-155A-9070-F67B-F3187F546C9A}"/>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EA66726D-2D35-5EA7-41D1-2408C009395B}"/>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9F70F646-3585-D73E-E5FF-AD7FBEF87718}"/>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911DBD90-1072-395A-ED0E-85FDA674355D}"/>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FB4D8E35-8497-A549-6084-EB2BBE651624}"/>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FB4D8E35-8497-A549-6084-EB2BBE651624}"/>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7"/>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63AE62C-1B5D-9127-7617-DBD23A6C11C1}"/>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863AE62C-1B5D-9127-7617-DBD23A6C11C1}"/>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EFA881D-CBDF-6719-457C-A720B2127E91}"/>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FEFA881D-CBDF-6719-457C-A720B2127E91}"/>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9"/>
                <a:stretch>
                  <a:fillRect t="-89474" b="-145614"/>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EE339A8-D774-15C1-148D-DFDF58CDA2E5}"/>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7" name="TextBox 6">
                <a:extLst>
                  <a:ext uri="{FF2B5EF4-FFF2-40B4-BE49-F238E27FC236}">
                    <a16:creationId xmlns:a16="http://schemas.microsoft.com/office/drawing/2014/main" id="{5EE339A8-D774-15C1-148D-DFDF58CDA2E5}"/>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10"/>
                <a:stretch>
                  <a:fillRect l="-20690" t="-108000" r="-5172" b="-172000"/>
                </a:stretch>
              </a:blipFill>
              <a:ln w="12700">
                <a:solidFill>
                  <a:schemeClr val="accent1"/>
                </a:solidFill>
              </a:ln>
            </p:spPr>
            <p:txBody>
              <a:bodyPr/>
              <a:lstStyle/>
              <a:p>
                <a:r>
                  <a:rPr lang="en-VN">
                    <a:noFill/>
                  </a:rPr>
                  <a:t> </a:t>
                </a:r>
              </a:p>
            </p:txBody>
          </p:sp>
        </mc:Fallback>
      </mc:AlternateContent>
    </p:spTree>
    <p:extLst>
      <p:ext uri="{BB962C8B-B14F-4D97-AF65-F5344CB8AC3E}">
        <p14:creationId xmlns:p14="http://schemas.microsoft.com/office/powerpoint/2010/main" val="23541650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F900E-536C-252B-66E0-0E61CE1053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6A071BE-9CF4-F2FC-8F76-F5EA06BE481F}"/>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1A1C734-D262-E75E-1F4A-963D5809540C}"/>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31A1C734-D262-E75E-1F4A-963D5809540C}"/>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30AA1F1E-626D-5696-4FDD-A3470B6705E7}"/>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D75F1DC-F2D0-C8A4-6ACC-F234B2CBC993}"/>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9D75F1DC-F2D0-C8A4-6ACC-F234B2CBC993}"/>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1C381AE-7CB1-1D9A-7070-9A3CC6C58D51}"/>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01C381AE-7CB1-1D9A-7070-9A3CC6C58D51}"/>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4393D6-70E0-972E-DBBC-BB82A985795F}"/>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D34393D6-70E0-972E-DBBC-BB82A985795F}"/>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BEF5ECB-F9C1-8970-013C-11407763F3A0}"/>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3C4FD7E-1E7D-53AE-38A4-52534A9988DA}"/>
              </a:ext>
            </a:extLst>
          </p:cNvPr>
          <p:cNvSpPr txBox="1"/>
          <p:nvPr/>
        </p:nvSpPr>
        <p:spPr>
          <a:xfrm>
            <a:off x="2085174" y="5819686"/>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77FA3E7-859B-84CB-B0FA-A098BF6547E8}"/>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277FA3E7-859B-84CB-B0FA-A098BF6547E8}"/>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7"/>
                <a:stretch>
                  <a:fillRect l="-20690" t="-108000" r="-5172" b="-172000"/>
                </a:stretch>
              </a:blipFill>
              <a:ln w="12700">
                <a:solidFill>
                  <a:schemeClr val="accent1"/>
                </a:solidFill>
              </a:ln>
            </p:spPr>
            <p:txBody>
              <a:bodyPr/>
              <a:lstStyle/>
              <a:p>
                <a:r>
                  <a:rPr lang="en-VN">
                    <a:noFill/>
                  </a:rPr>
                  <a:t> </a:t>
                </a:r>
              </a:p>
            </p:txBody>
          </p:sp>
        </mc:Fallback>
      </mc:AlternateContent>
      <p:sp>
        <p:nvSpPr>
          <p:cNvPr id="41" name="TextBox 40">
            <a:extLst>
              <a:ext uri="{FF2B5EF4-FFF2-40B4-BE49-F238E27FC236}">
                <a16:creationId xmlns:a16="http://schemas.microsoft.com/office/drawing/2014/main" id="{03B238A1-2A43-E433-B549-3761EBE1BE35}"/>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B578129-7352-4CAD-24CE-3189FEC841B2}"/>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B578129-7352-4CAD-24CE-3189FEC841B2}"/>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7A72B27-E841-89AC-2CC6-B7858D6F2250}"/>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77A72B27-E841-89AC-2CC6-B7858D6F2250}"/>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9"/>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5302251-2C52-A169-2677-81087F3054CF}"/>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D5302251-2C52-A169-2677-81087F3054CF}"/>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10"/>
                <a:stretch>
                  <a:fillRect t="-89474" b="-145614"/>
                </a:stretch>
              </a:blipFill>
              <a:ln w="12700">
                <a:noFill/>
              </a:ln>
            </p:spPr>
            <p:txBody>
              <a:bodyPr/>
              <a:lstStyle/>
              <a:p>
                <a:r>
                  <a:rPr lang="en-VN">
                    <a:noFill/>
                  </a:rPr>
                  <a:t> </a:t>
                </a:r>
              </a:p>
            </p:txBody>
          </p:sp>
        </mc:Fallback>
      </mc:AlternateContent>
      <p:sp>
        <p:nvSpPr>
          <p:cNvPr id="4" name="TextBox 3">
            <a:extLst>
              <a:ext uri="{FF2B5EF4-FFF2-40B4-BE49-F238E27FC236}">
                <a16:creationId xmlns:a16="http://schemas.microsoft.com/office/drawing/2014/main" id="{F52ACDFB-C295-A84D-98F4-96FF126A2440}"/>
              </a:ext>
            </a:extLst>
          </p:cNvPr>
          <p:cNvSpPr txBox="1"/>
          <p:nvPr/>
        </p:nvSpPr>
        <p:spPr>
          <a:xfrm>
            <a:off x="9138662" y="6319626"/>
            <a:ext cx="2483372" cy="307777"/>
          </a:xfrm>
          <a:prstGeom prst="rect">
            <a:avLst/>
          </a:prstGeom>
          <a:noFill/>
        </p:spPr>
        <p:txBody>
          <a:bodyPr wrap="none" rtlCol="0">
            <a:spAutoFit/>
          </a:bodyPr>
          <a:lstStyle/>
          <a:p>
            <a:r>
              <a:rPr lang="vi-VN" sz="1400" dirty="0"/>
              <a:t>Đạo hàm tìm cực trị là xong?</a:t>
            </a:r>
            <a:endParaRPr lang="el-GR" sz="1400" dirty="0"/>
          </a:p>
        </p:txBody>
      </p:sp>
      <p:sp>
        <p:nvSpPr>
          <p:cNvPr id="5" name="Right Arrow 4">
            <a:extLst>
              <a:ext uri="{FF2B5EF4-FFF2-40B4-BE49-F238E27FC236}">
                <a16:creationId xmlns:a16="http://schemas.microsoft.com/office/drawing/2014/main" id="{90CF9D84-6759-46DA-E2C9-D8A0A505CE9B}"/>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p:spTree>
    <p:extLst>
      <p:ext uri="{BB962C8B-B14F-4D97-AF65-F5344CB8AC3E}">
        <p14:creationId xmlns:p14="http://schemas.microsoft.com/office/powerpoint/2010/main" val="3130075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1E3A-E18A-9DC6-F290-33468EFA88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F66B9AB-5D03-D07A-8FCA-20863ECCEF8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8D463B6A-30C2-4FB3-6F68-44F88A188786}"/>
              </a:ext>
            </a:extLst>
          </p:cNvPr>
          <p:cNvSpPr txBox="1"/>
          <p:nvPr/>
        </p:nvSpPr>
        <p:spPr>
          <a:xfrm>
            <a:off x="364066" y="1267771"/>
            <a:ext cx="11283437" cy="1769715"/>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FDCF906-BACB-D8DD-6601-AFB1E276D2ED}"/>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FDCF906-BACB-D8DD-6601-AFB1E276D2ED}"/>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p:spTree>
    <p:extLst>
      <p:ext uri="{BB962C8B-B14F-4D97-AF65-F5344CB8AC3E}">
        <p14:creationId xmlns:p14="http://schemas.microsoft.com/office/powerpoint/2010/main" val="21588372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59171-BE3B-E5FA-694D-AB29C76BF21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E98B3B-3C94-2727-6EE7-6E151822E3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E306A1E2-2E59-5CF9-6571-0B8657C4229A}"/>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56CB31B-4580-F8D1-DAEA-35402BE14371}"/>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D56CB31B-4580-F8D1-DAEA-35402BE14371}"/>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6319BBC-7071-3CBE-B55F-5BCF8B7020B8}"/>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3" name="TextBox 2">
                <a:extLst>
                  <a:ext uri="{FF2B5EF4-FFF2-40B4-BE49-F238E27FC236}">
                    <a16:creationId xmlns:a16="http://schemas.microsoft.com/office/drawing/2014/main" id="{D6319BBC-7071-3CBE-B55F-5BCF8B7020B8}"/>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4"/>
                <a:stretch>
                  <a:fillRect l="-730" t="-94545" r="-2920" b="-150909"/>
                </a:stretch>
              </a:blipFill>
            </p:spPr>
            <p:txBody>
              <a:bodyPr/>
              <a:lstStyle/>
              <a:p>
                <a:r>
                  <a:rPr lang="en-VN">
                    <a:noFill/>
                  </a:rPr>
                  <a:t> </a:t>
                </a:r>
              </a:p>
            </p:txBody>
          </p:sp>
        </mc:Fallback>
      </mc:AlternateContent>
      <p:sp>
        <p:nvSpPr>
          <p:cNvPr id="4" name="Right Arrow 3">
            <a:extLst>
              <a:ext uri="{FF2B5EF4-FFF2-40B4-BE49-F238E27FC236}">
                <a16:creationId xmlns:a16="http://schemas.microsoft.com/office/drawing/2014/main" id="{7F56EDA7-1EDA-B7C7-BFBF-0BD7081C84C6}"/>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1145214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CE0F5-D5A8-3F1F-195B-8F26BAB5714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5D1DE76-20DF-15DF-76B6-A0915D3FACC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301BDB84-4B25-0D5B-0644-9D481EA45577}"/>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p:sp>
            <p:nvSpPr>
              <p:cNvPr id="12" name="TextBox 11">
                <a:extLst>
                  <a:ext uri="{FF2B5EF4-FFF2-40B4-BE49-F238E27FC236}">
                    <a16:creationId xmlns:a16="http://schemas.microsoft.com/office/drawing/2014/main" id="{301BDB84-4B25-0D5B-0644-9D481EA45577}"/>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F39C2E13-F2A1-30C5-6BD7-4FB1260CD6D0}"/>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F39C2E13-F2A1-30C5-6BD7-4FB1260CD6D0}"/>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5E6705-57CF-0FB8-0D41-84B9CACEA711}"/>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7" name="TextBox 6">
                <a:extLst>
                  <a:ext uri="{FF2B5EF4-FFF2-40B4-BE49-F238E27FC236}">
                    <a16:creationId xmlns:a16="http://schemas.microsoft.com/office/drawing/2014/main" id="{6B5E6705-57CF-0FB8-0D41-84B9CACEA711}"/>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5"/>
                <a:stretch>
                  <a:fillRect l="-730" t="-94545" r="-2920" b="-150909"/>
                </a:stretch>
              </a:blipFill>
            </p:spPr>
            <p:txBody>
              <a:bodyPr/>
              <a:lstStyle/>
              <a:p>
                <a:r>
                  <a:rPr lang="en-VN">
                    <a:noFill/>
                  </a:rPr>
                  <a:t> </a:t>
                </a:r>
              </a:p>
            </p:txBody>
          </p:sp>
        </mc:Fallback>
      </mc:AlternateContent>
      <p:sp>
        <p:nvSpPr>
          <p:cNvPr id="8" name="Right Arrow 7">
            <a:extLst>
              <a:ext uri="{FF2B5EF4-FFF2-40B4-BE49-F238E27FC236}">
                <a16:creationId xmlns:a16="http://schemas.microsoft.com/office/drawing/2014/main" id="{844B3DCE-D1AA-2686-B659-6855BB51B3AE}"/>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42185937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92A76-62AD-BAFF-2EAC-1497B50D0D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9F679FE-BF18-1CFA-988F-14FD369017E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391DEA1-FCE7-55A0-81FC-A8B5BACF3EEF}"/>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E391DEA1-FCE7-55A0-81FC-A8B5BACF3EEF}"/>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AAE868-5894-1A1F-3999-EEE15DDD2DD6}"/>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A1AAE868-5894-1A1F-3999-EEE15DDD2DD6}"/>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7A4E4C0-D401-9A22-8E45-D221F65A8246}"/>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3E625D-B0A8-0AF6-D552-89145854C08D}"/>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F03E625D-B0A8-0AF6-D552-89145854C08D}"/>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56DB519-E051-6F01-13EF-D3DFDFB473B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4" name="TextBox 13">
                <a:extLst>
                  <a:ext uri="{FF2B5EF4-FFF2-40B4-BE49-F238E27FC236}">
                    <a16:creationId xmlns:a16="http://schemas.microsoft.com/office/drawing/2014/main" id="{256DB519-E051-6F01-13EF-D3DFDFB473B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6"/>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0AACCFDD-83D0-5B19-1468-F0D7C0569858}"/>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3831538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2DC1-A8C6-543D-211C-9E37E9A3A71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2724B5B-5A0C-67B3-C111-0F2E31EFA0E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0E3127-A874-840D-3439-0651F02760B1}"/>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4E0E3127-A874-840D-3439-0651F02760B1}"/>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8A8C116-CF02-0B56-C5A0-AA2977026245}"/>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D8A8C116-CF02-0B56-C5A0-AA2977026245}"/>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D03895B-1301-6392-8C5D-43E85CAF0BBE}"/>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6D03895B-1301-6392-8C5D-43E85CAF0BBE}"/>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5"/>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69EBADD-6524-8194-2A86-D9DD670C6FD9}"/>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B69C9A8-0076-CA18-40A8-1CA5B958AA3C}"/>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AB69C9A8-0076-CA18-40A8-1CA5B958AA3C}"/>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6"/>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86FD596-7CDB-ED27-AA5B-066067084CE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4" name="TextBox 13">
                <a:extLst>
                  <a:ext uri="{FF2B5EF4-FFF2-40B4-BE49-F238E27FC236}">
                    <a16:creationId xmlns:a16="http://schemas.microsoft.com/office/drawing/2014/main" id="{B86FD596-7CDB-ED27-AA5B-066067084CE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F20DACB8-E1D6-2037-1D0A-EA6239EEC5FC}"/>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9931990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1AFED-9652-00C4-BAE4-04E41551FA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C07F8CA-AF8B-5D1E-482D-2AF2D5EFB87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DFC7060-D933-596D-631C-5375D615A6DD}"/>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2DFC7060-D933-596D-631C-5375D615A6DD}"/>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2E1C093-A174-ACCA-2F46-DDDBD3B55E28}"/>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2E1C093-A174-ACCA-2F46-DDDBD3B55E28}"/>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3" name="TextBox 2">
            <a:extLst>
              <a:ext uri="{FF2B5EF4-FFF2-40B4-BE49-F238E27FC236}">
                <a16:creationId xmlns:a16="http://schemas.microsoft.com/office/drawing/2014/main" id="{C1ADFF8B-FBBB-304F-DE4A-81FF396C375D}"/>
              </a:ext>
            </a:extLst>
          </p:cNvPr>
          <p:cNvSpPr txBox="1"/>
          <p:nvPr/>
        </p:nvSpPr>
        <p:spPr>
          <a:xfrm>
            <a:off x="10015504" y="6358097"/>
            <a:ext cx="1606530" cy="307777"/>
          </a:xfrm>
          <a:prstGeom prst="rect">
            <a:avLst/>
          </a:prstGeom>
          <a:noFill/>
        </p:spPr>
        <p:txBody>
          <a:bodyPr wrap="none" rtlCol="0">
            <a:spAutoFit/>
          </a:bodyPr>
          <a:lstStyle/>
          <a:p>
            <a:r>
              <a:rPr lang="vi-VN" sz="1400" dirty="0"/>
              <a:t>Phương pháp EM</a:t>
            </a:r>
            <a:endParaRPr lang="el-GR" sz="1400" dirty="0"/>
          </a:p>
        </p:txBody>
      </p:sp>
      <p:sp>
        <p:nvSpPr>
          <p:cNvPr id="4" name="Right Arrow 3">
            <a:extLst>
              <a:ext uri="{FF2B5EF4-FFF2-40B4-BE49-F238E27FC236}">
                <a16:creationId xmlns:a16="http://schemas.microsoft.com/office/drawing/2014/main" id="{5EE693B1-ADB6-0737-4D5E-3540B72A32BC}"/>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BE79E60-ABF8-9DDD-7657-CDE93FF0DF40}"/>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5" name="TextBox 4">
                <a:extLst>
                  <a:ext uri="{FF2B5EF4-FFF2-40B4-BE49-F238E27FC236}">
                    <a16:creationId xmlns:a16="http://schemas.microsoft.com/office/drawing/2014/main" id="{0BE79E60-ABF8-9DDD-7657-CDE93FF0DF40}"/>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1554131-A7A7-39DA-7308-D78B2AD787D1}"/>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41554131-A7A7-39DA-7308-D78B2AD787D1}"/>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6"/>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F2031957-3BA2-423E-AD58-32954355D8AC}"/>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853602-1F50-D6C0-9858-43465628AADE}"/>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9" name="TextBox 18">
                <a:extLst>
                  <a:ext uri="{FF2B5EF4-FFF2-40B4-BE49-F238E27FC236}">
                    <a16:creationId xmlns:a16="http://schemas.microsoft.com/office/drawing/2014/main" id="{25853602-1F50-D6C0-9858-43465628AADE}"/>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20" name="Right Arrow 19">
            <a:extLst>
              <a:ext uri="{FF2B5EF4-FFF2-40B4-BE49-F238E27FC236}">
                <a16:creationId xmlns:a16="http://schemas.microsoft.com/office/drawing/2014/main" id="{8C049384-6DFC-613C-DC69-D6F245C92CB1}"/>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7243998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4E671-5D4C-9F55-BE69-80B9B00838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9F6AE7-0D30-C450-3534-23D8D520C00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CEF9CD-25B2-534A-BAB7-6103B72EF176}"/>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p:txBody>
      </p:sp>
    </p:spTree>
    <p:extLst>
      <p:ext uri="{BB962C8B-B14F-4D97-AF65-F5344CB8AC3E}">
        <p14:creationId xmlns:p14="http://schemas.microsoft.com/office/powerpoint/2010/main" val="1401840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10404-E99B-51E1-47E6-DDCFDA951B6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9DB0C9-249C-392D-6F83-51BC9745C81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362107B-ED25-D4D0-2230-FE8E4FB095B8}"/>
                  </a:ext>
                </a:extLst>
              </p:cNvPr>
              <p:cNvSpPr txBox="1"/>
              <p:nvPr/>
            </p:nvSpPr>
            <p:spPr>
              <a:xfrm>
                <a:off x="364066" y="1267772"/>
                <a:ext cx="10961159" cy="147732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p:txBody>
          </p:sp>
        </mc:Choice>
        <mc:Fallback xmlns="">
          <p:sp>
            <p:nvSpPr>
              <p:cNvPr id="4" name="TextBox 3">
                <a:extLst>
                  <a:ext uri="{FF2B5EF4-FFF2-40B4-BE49-F238E27FC236}">
                    <a16:creationId xmlns:a16="http://schemas.microsoft.com/office/drawing/2014/main" id="{D362107B-ED25-D4D0-2230-FE8E4FB095B8}"/>
                  </a:ext>
                </a:extLst>
              </p:cNvPr>
              <p:cNvSpPr txBox="1">
                <a:spLocks noRot="1" noChangeAspect="1" noMove="1" noResize="1" noEditPoints="1" noAdjustHandles="1" noChangeArrowheads="1" noChangeShapeType="1" noTextEdit="1"/>
              </p:cNvSpPr>
              <p:nvPr/>
            </p:nvSpPr>
            <p:spPr>
              <a:xfrm>
                <a:off x="364066" y="1267772"/>
                <a:ext cx="10961159" cy="1477328"/>
              </a:xfrm>
              <a:prstGeom prst="rect">
                <a:avLst/>
              </a:prstGeom>
              <a:blipFill>
                <a:blip r:embed="rId3"/>
                <a:stretch>
                  <a:fillRect l="-116" t="-847" b="-3390"/>
                </a:stretch>
              </a:blipFill>
            </p:spPr>
            <p:txBody>
              <a:bodyPr/>
              <a:lstStyle/>
              <a:p>
                <a:r>
                  <a:rPr lang="en-VN">
                    <a:noFill/>
                  </a:rPr>
                  <a:t> </a:t>
                </a:r>
              </a:p>
            </p:txBody>
          </p:sp>
        </mc:Fallback>
      </mc:AlternateContent>
    </p:spTree>
    <p:extLst>
      <p:ext uri="{BB962C8B-B14F-4D97-AF65-F5344CB8AC3E}">
        <p14:creationId xmlns:p14="http://schemas.microsoft.com/office/powerpoint/2010/main" val="38146915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3E78D-DD12-86AB-270A-707665DFF2C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66B31B5-A84C-724D-54C8-B17C790CF384}"/>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03EEA61-8CFA-7847-573A-ADDAC8FC0306}"/>
                  </a:ext>
                </a:extLst>
              </p:cNvPr>
              <p:cNvSpPr txBox="1"/>
              <p:nvPr/>
            </p:nvSpPr>
            <p:spPr>
              <a:xfrm>
                <a:off x="364066" y="1267772"/>
                <a:ext cx="10961159" cy="206210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p:txBody>
          </p:sp>
        </mc:Choice>
        <mc:Fallback xmlns="">
          <p:sp>
            <p:nvSpPr>
              <p:cNvPr id="4" name="TextBox 3">
                <a:extLst>
                  <a:ext uri="{FF2B5EF4-FFF2-40B4-BE49-F238E27FC236}">
                    <a16:creationId xmlns:a16="http://schemas.microsoft.com/office/drawing/2014/main" id="{803EEA61-8CFA-7847-573A-ADDAC8FC0306}"/>
                  </a:ext>
                </a:extLst>
              </p:cNvPr>
              <p:cNvSpPr txBox="1">
                <a:spLocks noRot="1" noChangeAspect="1" noMove="1" noResize="1" noEditPoints="1" noAdjustHandles="1" noChangeArrowheads="1" noChangeShapeType="1" noTextEdit="1"/>
              </p:cNvSpPr>
              <p:nvPr/>
            </p:nvSpPr>
            <p:spPr>
              <a:xfrm>
                <a:off x="364066" y="1267772"/>
                <a:ext cx="10961159" cy="2062103"/>
              </a:xfrm>
              <a:prstGeom prst="rect">
                <a:avLst/>
              </a:prstGeom>
              <a:blipFill>
                <a:blip r:embed="rId3"/>
                <a:stretch>
                  <a:fillRect l="-116" t="-610" b="-1220"/>
                </a:stretch>
              </a:blipFill>
            </p:spPr>
            <p:txBody>
              <a:bodyPr/>
              <a:lstStyle/>
              <a:p>
                <a:r>
                  <a:rPr lang="en-VN">
                    <a:noFill/>
                  </a:rPr>
                  <a:t> </a:t>
                </a:r>
              </a:p>
            </p:txBody>
          </p:sp>
        </mc:Fallback>
      </mc:AlternateContent>
    </p:spTree>
    <p:extLst>
      <p:ext uri="{BB962C8B-B14F-4D97-AF65-F5344CB8AC3E}">
        <p14:creationId xmlns:p14="http://schemas.microsoft.com/office/powerpoint/2010/main" val="995783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6BB-EB6D-77DC-7CF8-E73CF15A15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CBCD10-9CED-E17E-614E-F8706E90AB2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3A50792-8828-92E8-53E8-3D656C009C42}"/>
                  </a:ext>
                </a:extLst>
              </p:cNvPr>
              <p:cNvSpPr txBox="1"/>
              <p:nvPr/>
            </p:nvSpPr>
            <p:spPr>
              <a:xfrm>
                <a:off x="364066" y="1267772"/>
                <a:ext cx="10961159"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xmlns="">
          <p:sp>
            <p:nvSpPr>
              <p:cNvPr id="4" name="TextBox 3">
                <a:extLst>
                  <a:ext uri="{FF2B5EF4-FFF2-40B4-BE49-F238E27FC236}">
                    <a16:creationId xmlns:a16="http://schemas.microsoft.com/office/drawing/2014/main" id="{43A50792-8828-92E8-53E8-3D656C009C42}"/>
                  </a:ext>
                </a:extLst>
              </p:cNvPr>
              <p:cNvSpPr txBox="1">
                <a:spLocks noRot="1" noChangeAspect="1" noMove="1" noResize="1" noEditPoints="1" noAdjustHandles="1" noChangeArrowheads="1" noChangeShapeType="1" noTextEdit="1"/>
              </p:cNvSpPr>
              <p:nvPr/>
            </p:nvSpPr>
            <p:spPr>
              <a:xfrm>
                <a:off x="364066" y="1267772"/>
                <a:ext cx="10961159" cy="2646878"/>
              </a:xfrm>
              <a:prstGeom prst="rect">
                <a:avLst/>
              </a:prstGeom>
              <a:blipFill>
                <a:blip r:embed="rId3"/>
                <a:stretch>
                  <a:fillRect l="-116" t="-476" b="-142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3F8637-1255-EC59-855A-3ABBD563DCAF}"/>
                  </a:ext>
                </a:extLst>
              </p:cNvPr>
              <p:cNvSpPr txBox="1"/>
              <p:nvPr/>
            </p:nvSpPr>
            <p:spPr>
              <a:xfrm>
                <a:off x="7501866" y="2136728"/>
                <a:ext cx="3902735" cy="454483"/>
              </a:xfrm>
              <a:prstGeom prst="rect">
                <a:avLst/>
              </a:prstGeom>
              <a:noFill/>
            </p:spPr>
            <p:txBody>
              <a:bodyPr wrap="square" lIns="0" tIns="0" rIns="0" bIns="0" rtlCol="0">
                <a:spAutoFit/>
              </a:bodyPr>
              <a:lstStyle/>
              <a:p>
                <a:pPr/>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xmlns="">
          <p:sp>
            <p:nvSpPr>
              <p:cNvPr id="6" name="TextBox 5">
                <a:extLst>
                  <a:ext uri="{FF2B5EF4-FFF2-40B4-BE49-F238E27FC236}">
                    <a16:creationId xmlns:a16="http://schemas.microsoft.com/office/drawing/2014/main" id="{1B3F8637-1255-EC59-855A-3ABBD563DCAF}"/>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4"/>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2885972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17EAB-0697-FD60-EBEC-BBCAC383F5B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72289B-5AA9-B854-814C-EE89483F80B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03B49BE-0DAC-4D85-C211-E8102A0BBA68}"/>
                  </a:ext>
                </a:extLst>
              </p:cNvPr>
              <p:cNvSpPr txBox="1"/>
              <p:nvPr/>
            </p:nvSpPr>
            <p:spPr>
              <a:xfrm>
                <a:off x="364066" y="1267772"/>
                <a:ext cx="7044267"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xmlns="">
          <p:sp>
            <p:nvSpPr>
              <p:cNvPr id="4" name="TextBox 3">
                <a:extLst>
                  <a:ext uri="{FF2B5EF4-FFF2-40B4-BE49-F238E27FC236}">
                    <a16:creationId xmlns:a16="http://schemas.microsoft.com/office/drawing/2014/main" id="{C03B49BE-0DAC-4D85-C211-E8102A0BBA68}"/>
                  </a:ext>
                </a:extLst>
              </p:cNvPr>
              <p:cNvSpPr txBox="1">
                <a:spLocks noRot="1" noChangeAspect="1" noMove="1" noResize="1" noEditPoints="1" noAdjustHandles="1" noChangeArrowheads="1" noChangeShapeType="1" noTextEdit="1"/>
              </p:cNvSpPr>
              <p:nvPr/>
            </p:nvSpPr>
            <p:spPr>
              <a:xfrm>
                <a:off x="364066" y="1267772"/>
                <a:ext cx="7044267" cy="2646878"/>
              </a:xfrm>
              <a:prstGeom prst="rect">
                <a:avLst/>
              </a:prstGeom>
              <a:blipFill>
                <a:blip r:embed="rId3"/>
                <a:stretch>
                  <a:fillRect l="-180" t="-476" b="-142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155DD26-5A43-A23E-02D0-9FB587BF785F}"/>
                  </a:ext>
                </a:extLst>
              </p:cNvPr>
              <p:cNvSpPr txBox="1"/>
              <p:nvPr/>
            </p:nvSpPr>
            <p:spPr>
              <a:xfrm>
                <a:off x="8503483" y="3636521"/>
                <a:ext cx="2326599" cy="630878"/>
              </a:xfrm>
              <a:prstGeom prst="rect">
                <a:avLst/>
              </a:prstGeom>
              <a:noFill/>
            </p:spPr>
            <p:txBody>
              <a:bodyPr wrap="none" lIns="0" tIns="0" rIns="0" bIns="0" rtlCol="0">
                <a:spAutoFit/>
              </a:bodyPr>
              <a:lstStyle/>
              <a:p>
                <a:pPr/>
                <a14:m>
                  <m:oMathPara xmlns:m="http://schemas.openxmlformats.org/officeDocument/2006/math">
                    <m:oMath>
                      <m:borderBox>
                        <m:borderBoxPr>
                          <m:ctrlPr>
                            <a:rPr lang="en-US" sz="1400" b="1" i="1">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r>
                                <a:rPr lang="en-US" sz="1400" i="1" smtClean="0">
                                  <a:solidFill>
                                    <a:schemeClr val="accent5">
                                      <a:lumMod val="75000"/>
                                    </a:schemeClr>
                                  </a:solidFill>
                                  <a:latin typeface="Cambria Math" panose="02040503050406030204" pitchFamily="18" charset="0"/>
                                </a:rPr>
                                <m:t>𝒩</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r>
                                    <a:rPr lang="en-US" sz="1400" i="1">
                                      <a:solidFill>
                                        <a:schemeClr val="accent5">
                                          <a:lumMod val="75000"/>
                                        </a:schemeClr>
                                      </a:solidFill>
                                      <a:latin typeface="Cambria Math" panose="02040503050406030204" pitchFamily="18" charset="0"/>
                                    </a:rPr>
                                    <m:t>,</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d>
                            </m:den>
                          </m:f>
                        </m:e>
                      </m:borderBox>
                    </m:oMath>
                  </m:oMathPara>
                </a14:m>
                <a:endParaRPr lang="en-VN" sz="1400" dirty="0"/>
              </a:p>
            </p:txBody>
          </p:sp>
        </mc:Choice>
        <mc:Fallback xmlns="">
          <p:sp>
            <p:nvSpPr>
              <p:cNvPr id="9" name="TextBox 8">
                <a:extLst>
                  <a:ext uri="{FF2B5EF4-FFF2-40B4-BE49-F238E27FC236}">
                    <a16:creationId xmlns:a16="http://schemas.microsoft.com/office/drawing/2014/main" id="{5155DD26-5A43-A23E-02D0-9FB587BF785F}"/>
                  </a:ext>
                </a:extLst>
              </p:cNvPr>
              <p:cNvSpPr txBox="1">
                <a:spLocks noRot="1" noChangeAspect="1" noMove="1" noResize="1" noEditPoints="1" noAdjustHandles="1" noChangeArrowheads="1" noChangeShapeType="1" noTextEdit="1"/>
              </p:cNvSpPr>
              <p:nvPr/>
            </p:nvSpPr>
            <p:spPr>
              <a:xfrm>
                <a:off x="8503483" y="3636521"/>
                <a:ext cx="2326599" cy="630878"/>
              </a:xfrm>
              <a:prstGeom prst="rect">
                <a:avLst/>
              </a:prstGeom>
              <a:blipFill>
                <a:blip r:embed="rId4"/>
                <a:stretch>
                  <a:fillRect t="-8000" b="-7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0E13CFF-9067-FE6C-EB4F-A3E87BAAA9F9}"/>
                  </a:ext>
                </a:extLst>
              </p:cNvPr>
              <p:cNvSpPr txBox="1"/>
              <p:nvPr/>
            </p:nvSpPr>
            <p:spPr>
              <a:xfrm>
                <a:off x="8503483" y="4568898"/>
                <a:ext cx="3282117" cy="1548950"/>
              </a:xfrm>
              <a:prstGeom prst="rect">
                <a:avLst/>
              </a:prstGeom>
              <a:noFill/>
            </p:spPr>
            <p:txBody>
              <a:bodyPr wrap="none" lIns="0" tIns="0" rIns="0" bIns="0" rtlCol="0">
                <a:spAutoFit/>
              </a:bodyPr>
              <a:lstStyle/>
              <a:p>
                <a:pPr/>
                <a14:m>
                  <m:oMathPara xmlns:m="http://schemas.openxmlformats.org/officeDocument/2006/math">
                    <m:oMath>
                      <m:borderBox>
                        <m:borderBoxPr>
                          <m:ctrlPr>
                            <a:rPr lang="en-US" sz="1400" b="1" i="1">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f>
                                <m:fPr>
                                  <m:ctrlPr>
                                    <a:rPr lang="en-US" sz="1400" i="1">
                                      <a:solidFill>
                                        <a:schemeClr val="accent6">
                                          <a:lumMod val="75000"/>
                                        </a:schemeClr>
                                      </a:solidFill>
                                      <a:latin typeface="Cambria Math" panose="02040503050406030204" pitchFamily="18" charset="0"/>
                                    </a:rPr>
                                  </m:ctrlPr>
                                </m:fPr>
                                <m:num>
                                  <m:r>
                                    <a:rPr lang="en-US" sz="1400" i="1">
                                      <a:solidFill>
                                        <a:schemeClr val="accent6">
                                          <a:lumMod val="75000"/>
                                        </a:schemeClr>
                                      </a:solidFill>
                                      <a:latin typeface="Cambria Math" panose="02040503050406030204" pitchFamily="18" charset="0"/>
                                    </a:rPr>
                                    <m:t>1</m:t>
                                  </m:r>
                                </m:num>
                                <m:den>
                                  <m:rad>
                                    <m:radPr>
                                      <m:degHide m:val="on"/>
                                      <m:ctrlPr>
                                        <a:rPr lang="en-US" sz="1400" i="1">
                                          <a:solidFill>
                                            <a:schemeClr val="accent6">
                                              <a:lumMod val="75000"/>
                                            </a:schemeClr>
                                          </a:solidFill>
                                          <a:latin typeface="Cambria Math" panose="02040503050406030204" pitchFamily="18" charset="0"/>
                                        </a:rPr>
                                      </m:ctrlPr>
                                    </m:radPr>
                                    <m:deg/>
                                    <m:e>
                                      <m:r>
                                        <a:rPr lang="en-US" sz="1400" i="1">
                                          <a:solidFill>
                                            <a:schemeClr val="accent6">
                                              <a:lumMod val="75000"/>
                                            </a:schemeClr>
                                          </a:solidFill>
                                          <a:latin typeface="Cambria Math" panose="02040503050406030204" pitchFamily="18" charset="0"/>
                                        </a:rPr>
                                        <m:t>2</m:t>
                                      </m:r>
                                      <m:r>
                                        <a:rPr lang="en-US" sz="1400" i="1">
                                          <a:solidFill>
                                            <a:schemeClr val="accent6">
                                              <a:lumMod val="75000"/>
                                            </a:schemeClr>
                                          </a:solidFill>
                                          <a:latin typeface="Cambria Math" panose="02040503050406030204" pitchFamily="18" charset="0"/>
                                        </a:rPr>
                                        <m:t>𝜋</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rad>
                                </m:den>
                              </m:f>
                              <m:func>
                                <m:funcPr>
                                  <m:ctrlPr>
                                    <a:rPr lang="en-US" sz="1400" i="1">
                                      <a:solidFill>
                                        <a:schemeClr val="accent6">
                                          <a:lumMod val="75000"/>
                                        </a:schemeClr>
                                      </a:solidFill>
                                      <a:latin typeface="Cambria Math" panose="02040503050406030204" pitchFamily="18" charset="0"/>
                                    </a:rPr>
                                  </m:ctrlPr>
                                </m:funcPr>
                                <m:fName>
                                  <m:r>
                                    <m:rPr>
                                      <m:sty m:val="p"/>
                                    </m:rPr>
                                    <a:rPr lang="en-US" sz="1400" i="1">
                                      <a:solidFill>
                                        <a:schemeClr val="accent6">
                                          <a:lumMod val="75000"/>
                                        </a:schemeClr>
                                      </a:solidFill>
                                      <a:latin typeface="Cambria Math" panose="02040503050406030204" pitchFamily="18" charset="0"/>
                                    </a:rPr>
                                    <m:t>exp</m:t>
                                  </m:r>
                                </m:fName>
                                <m:e>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m:t>
                                      </m:r>
                                      <m:f>
                                        <m:fPr>
                                          <m:ctrlPr>
                                            <a:rPr lang="en-US" sz="1400" i="1">
                                              <a:solidFill>
                                                <a:schemeClr val="accent6">
                                                  <a:lumMod val="75000"/>
                                                </a:schemeClr>
                                              </a:solidFill>
                                              <a:latin typeface="Cambria Math" panose="02040503050406030204" pitchFamily="18" charset="0"/>
                                            </a:rPr>
                                          </m:ctrlPr>
                                        </m:fPr>
                                        <m:num>
                                          <m:sSup>
                                            <m:sSupPr>
                                              <m:ctrlPr>
                                                <a:rPr lang="en-US" sz="1400" i="1">
                                                  <a:solidFill>
                                                    <a:schemeClr val="accent6">
                                                      <a:lumMod val="75000"/>
                                                    </a:schemeClr>
                                                  </a:solidFill>
                                                  <a:latin typeface="Cambria Math" panose="02040503050406030204" pitchFamily="18" charset="0"/>
                                                </a:rPr>
                                              </m:ctrlPr>
                                            </m:sSupPr>
                                            <m:e>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e>
                                              </m:d>
                                            </m:e>
                                            <m:sup>
                                              <m:r>
                                                <a:rPr lang="en-US" sz="1400" i="1">
                                                  <a:solidFill>
                                                    <a:schemeClr val="accent6">
                                                      <a:lumMod val="75000"/>
                                                    </a:schemeClr>
                                                  </a:solidFill>
                                                  <a:latin typeface="Cambria Math" panose="02040503050406030204" pitchFamily="18" charset="0"/>
                                                </a:rPr>
                                                <m:t>2</m:t>
                                              </m:r>
                                            </m:sup>
                                          </m:sSup>
                                        </m:num>
                                        <m:den>
                                          <m:r>
                                            <a:rPr lang="en-US" sz="1400" i="1">
                                              <a:solidFill>
                                                <a:schemeClr val="accent6">
                                                  <a:lumMod val="75000"/>
                                                </a:schemeClr>
                                              </a:solidFill>
                                              <a:latin typeface="Cambria Math" panose="02040503050406030204" pitchFamily="18" charset="0"/>
                                            </a:rPr>
                                            <m:t>2</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den>
                                      </m:f>
                                    </m:e>
                                  </m:d>
                                </m:e>
                              </m:func>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f>
                                <m:fPr>
                                  <m:ctrlPr>
                                    <a:rPr lang="en-US" sz="1400" i="1">
                                      <a:solidFill>
                                        <a:schemeClr val="accent5">
                                          <a:lumMod val="75000"/>
                                        </a:schemeClr>
                                      </a:solidFill>
                                      <a:latin typeface="Cambria Math" panose="02040503050406030204" pitchFamily="18" charset="0"/>
                                    </a:rPr>
                                  </m:ctrlPr>
                                </m:fPr>
                                <m:num>
                                  <m:r>
                                    <a:rPr lang="en-US" sz="1400" i="1">
                                      <a:solidFill>
                                        <a:schemeClr val="accent5">
                                          <a:lumMod val="75000"/>
                                        </a:schemeClr>
                                      </a:solidFill>
                                      <a:latin typeface="Cambria Math" panose="02040503050406030204" pitchFamily="18" charset="0"/>
                                    </a:rPr>
                                    <m:t>1</m:t>
                                  </m:r>
                                </m:num>
                                <m:den>
                                  <m:rad>
                                    <m:radPr>
                                      <m:degHide m:val="on"/>
                                      <m:ctrlPr>
                                        <a:rPr lang="en-US" sz="1400" i="1">
                                          <a:solidFill>
                                            <a:schemeClr val="accent5">
                                              <a:lumMod val="75000"/>
                                            </a:schemeClr>
                                          </a:solidFill>
                                          <a:latin typeface="Cambria Math" panose="02040503050406030204" pitchFamily="18" charset="0"/>
                                        </a:rPr>
                                      </m:ctrlPr>
                                    </m:radPr>
                                    <m:deg/>
                                    <m:e>
                                      <m:r>
                                        <a:rPr lang="en-US" sz="1400" i="1">
                                          <a:solidFill>
                                            <a:schemeClr val="accent5">
                                              <a:lumMod val="75000"/>
                                            </a:schemeClr>
                                          </a:solidFill>
                                          <a:latin typeface="Cambria Math" panose="02040503050406030204" pitchFamily="18" charset="0"/>
                                        </a:rPr>
                                        <m:t>2</m:t>
                                      </m:r>
                                      <m:r>
                                        <a:rPr lang="en-US" sz="1400" i="1">
                                          <a:solidFill>
                                            <a:schemeClr val="accent5">
                                              <a:lumMod val="75000"/>
                                            </a:schemeClr>
                                          </a:solidFill>
                                          <a:latin typeface="Cambria Math" panose="02040503050406030204" pitchFamily="18" charset="0"/>
                                        </a:rPr>
                                        <m:t>𝜋</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rad>
                                </m:den>
                              </m:f>
                              <m:func>
                                <m:funcPr>
                                  <m:ctrlPr>
                                    <a:rPr lang="en-US" sz="1400" i="1">
                                      <a:solidFill>
                                        <a:schemeClr val="accent5">
                                          <a:lumMod val="75000"/>
                                        </a:schemeClr>
                                      </a:solidFill>
                                      <a:latin typeface="Cambria Math" panose="02040503050406030204" pitchFamily="18" charset="0"/>
                                    </a:rPr>
                                  </m:ctrlPr>
                                </m:funcPr>
                                <m:fName>
                                  <m:r>
                                    <m:rPr>
                                      <m:sty m:val="p"/>
                                    </m:rPr>
                                    <a:rPr lang="en-US" sz="1400" i="1">
                                      <a:solidFill>
                                        <a:schemeClr val="accent5">
                                          <a:lumMod val="75000"/>
                                        </a:schemeClr>
                                      </a:solidFill>
                                      <a:latin typeface="Cambria Math" panose="02040503050406030204" pitchFamily="18" charset="0"/>
                                    </a:rPr>
                                    <m:t>exp</m:t>
                                  </m:r>
                                </m:fName>
                                <m:e>
                                  <m:d>
                                    <m:dPr>
                                      <m:ctrlPr>
                                        <a:rPr lang="en-US" sz="1400" i="1">
                                          <a:solidFill>
                                            <a:schemeClr val="accent5">
                                              <a:lumMod val="75000"/>
                                            </a:schemeClr>
                                          </a:solidFill>
                                          <a:latin typeface="Cambria Math" panose="02040503050406030204" pitchFamily="18" charset="0"/>
                                        </a:rPr>
                                      </m:ctrlPr>
                                    </m:dPr>
                                    <m:e>
                                      <m:r>
                                        <a:rPr lang="en-US" sz="1400" i="1">
                                          <a:solidFill>
                                            <a:schemeClr val="accent5">
                                              <a:lumMod val="75000"/>
                                            </a:schemeClr>
                                          </a:solidFill>
                                          <a:latin typeface="Cambria Math" panose="02040503050406030204" pitchFamily="18" charset="0"/>
                                        </a:rPr>
                                        <m:t>−</m:t>
                                      </m:r>
                                      <m:f>
                                        <m:fPr>
                                          <m:ctrlPr>
                                            <a:rPr lang="en-US" sz="1400" i="1">
                                              <a:solidFill>
                                                <a:schemeClr val="accent5">
                                                  <a:lumMod val="75000"/>
                                                </a:schemeClr>
                                              </a:solidFill>
                                              <a:latin typeface="Cambria Math" panose="02040503050406030204" pitchFamily="18" charset="0"/>
                                            </a:rPr>
                                          </m:ctrlPr>
                                        </m:fPr>
                                        <m:num>
                                          <m:sSup>
                                            <m:sSupPr>
                                              <m:ctrlPr>
                                                <a:rPr lang="en-US" sz="1400" i="1">
                                                  <a:solidFill>
                                                    <a:schemeClr val="accent5">
                                                      <a:lumMod val="75000"/>
                                                    </a:schemeClr>
                                                  </a:solidFill>
                                                  <a:latin typeface="Cambria Math" panose="02040503050406030204" pitchFamily="18" charset="0"/>
                                                </a:rPr>
                                              </m:ctrlPr>
                                            </m:sSupPr>
                                            <m:e>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e>
                                              </m:d>
                                            </m:e>
                                            <m:sup>
                                              <m:r>
                                                <a:rPr lang="en-US" sz="1400" i="1">
                                                  <a:solidFill>
                                                    <a:schemeClr val="accent5">
                                                      <a:lumMod val="75000"/>
                                                    </a:schemeClr>
                                                  </a:solidFill>
                                                  <a:latin typeface="Cambria Math" panose="02040503050406030204" pitchFamily="18" charset="0"/>
                                                </a:rPr>
                                                <m:t>2</m:t>
                                              </m:r>
                                            </m:sup>
                                          </m:sSup>
                                        </m:num>
                                        <m:den>
                                          <m:r>
                                            <a:rPr lang="en-US" sz="1400" i="1">
                                              <a:solidFill>
                                                <a:schemeClr val="accent5">
                                                  <a:lumMod val="75000"/>
                                                </a:schemeClr>
                                              </a:solidFill>
                                              <a:latin typeface="Cambria Math" panose="02040503050406030204" pitchFamily="18" charset="0"/>
                                            </a:rPr>
                                            <m:t>2</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den>
                                      </m:f>
                                    </m:e>
                                  </m:d>
                                </m:e>
                              </m:func>
                            </m:den>
                          </m:f>
                        </m:e>
                      </m:borderBox>
                    </m:oMath>
                  </m:oMathPara>
                </a14:m>
                <a:endParaRPr lang="en-VN" dirty="0"/>
              </a:p>
            </p:txBody>
          </p:sp>
        </mc:Choice>
        <mc:Fallback xmlns="">
          <p:sp>
            <p:nvSpPr>
              <p:cNvPr id="11" name="TextBox 10">
                <a:extLst>
                  <a:ext uri="{FF2B5EF4-FFF2-40B4-BE49-F238E27FC236}">
                    <a16:creationId xmlns:a16="http://schemas.microsoft.com/office/drawing/2014/main" id="{40E13CFF-9067-FE6C-EB4F-A3E87BAAA9F9}"/>
                  </a:ext>
                </a:extLst>
              </p:cNvPr>
              <p:cNvSpPr txBox="1">
                <a:spLocks noRot="1" noChangeAspect="1" noMove="1" noResize="1" noEditPoints="1" noAdjustHandles="1" noChangeArrowheads="1" noChangeShapeType="1" noTextEdit="1"/>
              </p:cNvSpPr>
              <p:nvPr/>
            </p:nvSpPr>
            <p:spPr>
              <a:xfrm>
                <a:off x="8503483" y="4568898"/>
                <a:ext cx="3282117" cy="1548950"/>
              </a:xfrm>
              <a:prstGeom prst="rect">
                <a:avLst/>
              </a:prstGeom>
              <a:blipFill>
                <a:blip r:embed="rId5"/>
                <a:stretch>
                  <a:fillRect b="-11382"/>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7AC036D-C8C2-8CDC-E846-3E466A045A5F}"/>
                  </a:ext>
                </a:extLst>
              </p:cNvPr>
              <p:cNvSpPr txBox="1"/>
              <p:nvPr/>
            </p:nvSpPr>
            <p:spPr>
              <a:xfrm>
                <a:off x="5774266" y="6257836"/>
                <a:ext cx="6417734" cy="600164"/>
              </a:xfrm>
              <a:prstGeom prst="rect">
                <a:avLst/>
              </a:prstGeom>
              <a:noFill/>
            </p:spPr>
            <p:txBody>
              <a:bodyPr wrap="square" rtlCol="0">
                <a:spAutoFit/>
              </a:bodyPr>
              <a:lstStyle/>
              <a:p>
                <a:pPr>
                  <a:spcAft>
                    <a:spcPts val="600"/>
                  </a:spcAft>
                </a:pPr>
                <a:r>
                  <a:rPr lang="vi-VN" sz="1400" dirty="0">
                    <a:solidFill>
                      <a:srgbClr val="444B52"/>
                    </a:solidFill>
                    <a:latin typeface="Arial"/>
                  </a:rPr>
                  <a:t>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còn được gọi là </a:t>
                </a:r>
                <a:r>
                  <a:rPr lang="vi-VN" sz="1400" b="1" dirty="0">
                    <a:solidFill>
                      <a:srgbClr val="444B52"/>
                    </a:solidFill>
                    <a:latin typeface="Arial"/>
                  </a:rPr>
                  <a:t>điểm trách nhiệm (Responsibility)</a:t>
                </a:r>
                <a:endParaRPr lang="vi-VN" sz="1400" dirty="0">
                  <a:solidFill>
                    <a:srgbClr val="444B52"/>
                  </a:solidFill>
                  <a:latin typeface="Arial"/>
                </a:endParaRPr>
              </a:p>
              <a:p>
                <a:pPr>
                  <a:spcAft>
                    <a:spcPts val="600"/>
                  </a:spcAft>
                </a:pPr>
                <a:r>
                  <a:rPr lang="vi-VN" sz="1400" dirty="0">
                    <a:solidFill>
                      <a:srgbClr val="444B52"/>
                    </a:solidFill>
                    <a:latin typeface="Arial"/>
                  </a:rPr>
                  <a:t>Nghĩa là Phân phối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chịu bao nhiêu </a:t>
                </a:r>
                <a:r>
                  <a:rPr lang="vi-VN" sz="1400" b="1" dirty="0">
                    <a:solidFill>
                      <a:srgbClr val="444B52"/>
                    </a:solidFill>
                    <a:latin typeface="Arial"/>
                  </a:rPr>
                  <a:t>trách nhiệm</a:t>
                </a:r>
                <a:r>
                  <a:rPr lang="vi-VN" sz="1400" dirty="0">
                    <a:solidFill>
                      <a:srgbClr val="444B52"/>
                    </a:solidFill>
                    <a:latin typeface="Arial"/>
                  </a:rPr>
                  <a:t> sinh ra điểm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endParaRPr lang="vi-VN" sz="1400" b="1" dirty="0">
                  <a:solidFill>
                    <a:srgbClr val="444B52"/>
                  </a:solidFill>
                  <a:latin typeface="Arial"/>
                </a:endParaRPr>
              </a:p>
            </p:txBody>
          </p:sp>
        </mc:Choice>
        <mc:Fallback xmlns="">
          <p:sp>
            <p:nvSpPr>
              <p:cNvPr id="3" name="TextBox 2">
                <a:extLst>
                  <a:ext uri="{FF2B5EF4-FFF2-40B4-BE49-F238E27FC236}">
                    <a16:creationId xmlns:a16="http://schemas.microsoft.com/office/drawing/2014/main" id="{27AC036D-C8C2-8CDC-E846-3E466A045A5F}"/>
                  </a:ext>
                </a:extLst>
              </p:cNvPr>
              <p:cNvSpPr txBox="1">
                <a:spLocks noRot="1" noChangeAspect="1" noMove="1" noResize="1" noEditPoints="1" noAdjustHandles="1" noChangeArrowheads="1" noChangeShapeType="1" noTextEdit="1"/>
              </p:cNvSpPr>
              <p:nvPr/>
            </p:nvSpPr>
            <p:spPr>
              <a:xfrm>
                <a:off x="5774266" y="6257836"/>
                <a:ext cx="6417734" cy="600164"/>
              </a:xfrm>
              <a:prstGeom prst="rect">
                <a:avLst/>
              </a:prstGeom>
              <a:blipFill>
                <a:blip r:embed="rId6"/>
                <a:stretch>
                  <a:fillRect l="-197" b="-1041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B63CC9E-74B6-2591-98A0-B02EA9FF7EF1}"/>
                  </a:ext>
                </a:extLst>
              </p:cNvPr>
              <p:cNvSpPr txBox="1"/>
              <p:nvPr/>
            </p:nvSpPr>
            <p:spPr>
              <a:xfrm>
                <a:off x="8440626" y="2807423"/>
                <a:ext cx="3387308" cy="542841"/>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FF0000"/>
                              </a:solidFill>
                              <a:latin typeface="Cambria Math" panose="02040503050406030204" pitchFamily="18" charset="0"/>
                            </a:rPr>
                          </m:ctrlPr>
                        </m:sSubPr>
                        <m:e>
                          <m:r>
                            <a:rPr lang="en-VN" sz="1400" b="1" i="1" smtClean="0">
                              <a:solidFill>
                                <a:srgbClr val="FF0000"/>
                              </a:solidFill>
                              <a:latin typeface="Cambria Math" panose="02040503050406030204" pitchFamily="18" charset="0"/>
                            </a:rPr>
                            <m:t>𝜸</m:t>
                          </m:r>
                        </m:e>
                        <m:sub>
                          <m:r>
                            <a:rPr lang="en-VN" sz="1400" b="1" i="1" smtClean="0">
                              <a:solidFill>
                                <a:srgbClr val="FF0000"/>
                              </a:solidFill>
                              <a:latin typeface="Cambria Math" panose="02040503050406030204" pitchFamily="18" charset="0"/>
                            </a:rPr>
                            <m:t>𝒏𝒌</m:t>
                          </m:r>
                        </m:sub>
                      </m:sSub>
                      <m:r>
                        <a:rPr lang="en-VN" sz="1400" b="0" i="1" smtClean="0">
                          <a:latin typeface="Cambria Math" panose="02040503050406030204" pitchFamily="18" charset="0"/>
                        </a:rPr>
                        <m:t>=</m:t>
                      </m:r>
                      <m:f>
                        <m:fPr>
                          <m:ctrlPr>
                            <a:rPr lang="en-VN" sz="1400" b="0" i="0" smtClean="0">
                              <a:latin typeface="Cambria Math" panose="02040503050406030204" pitchFamily="18" charset="0"/>
                            </a:rPr>
                          </m:ctrlPr>
                        </m:fPr>
                        <m:num>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a:rPr lang="en-VN" sz="1400" b="0" i="1" smtClean="0">
                              <a:latin typeface="Cambria Math" panose="02040503050406030204" pitchFamily="18" charset="0"/>
                            </a:rPr>
                            <m:t>𝑘</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num>
                        <m:den>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tất</m:t>
                          </m:r>
                          <m:r>
                            <a:rPr lang="en-VN" sz="1400" b="0" i="1" smtClean="0">
                              <a:latin typeface="Cambria Math" panose="02040503050406030204" pitchFamily="18" charset="0"/>
                            </a:rPr>
                            <m:t> </m:t>
                          </m:r>
                          <m:r>
                            <m:rPr>
                              <m:nor/>
                            </m:rPr>
                            <a:rPr lang="en-VN" sz="1400" b="0" i="0" smtClean="0">
                              <a:latin typeface="Cambria Math" panose="02040503050406030204" pitchFamily="18" charset="0"/>
                            </a:rPr>
                            <m:t>cả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den>
                      </m:f>
                    </m:oMath>
                  </m:oMathPara>
                </a14:m>
                <a:endParaRPr lang="en-VN" dirty="0"/>
              </a:p>
            </p:txBody>
          </p:sp>
        </mc:Choice>
        <mc:Fallback xmlns="">
          <p:sp>
            <p:nvSpPr>
              <p:cNvPr id="7" name="TextBox 6">
                <a:extLst>
                  <a:ext uri="{FF2B5EF4-FFF2-40B4-BE49-F238E27FC236}">
                    <a16:creationId xmlns:a16="http://schemas.microsoft.com/office/drawing/2014/main" id="{AB63CC9E-74B6-2591-98A0-B02EA9FF7EF1}"/>
                  </a:ext>
                </a:extLst>
              </p:cNvPr>
              <p:cNvSpPr txBox="1">
                <a:spLocks noRot="1" noChangeAspect="1" noMove="1" noResize="1" noEditPoints="1" noAdjustHandles="1" noChangeArrowheads="1" noChangeShapeType="1" noTextEdit="1"/>
              </p:cNvSpPr>
              <p:nvPr/>
            </p:nvSpPr>
            <p:spPr>
              <a:xfrm>
                <a:off x="8440626" y="2807423"/>
                <a:ext cx="3387308" cy="542841"/>
              </a:xfrm>
              <a:prstGeom prst="rect">
                <a:avLst/>
              </a:prstGeom>
              <a:blipFill>
                <a:blip r:embed="rId7"/>
                <a:stretch>
                  <a:fillRect b="-9302"/>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B6B1539-2E97-8C58-83D6-9B57EEF9AB82}"/>
                  </a:ext>
                </a:extLst>
              </p:cNvPr>
              <p:cNvSpPr txBox="1"/>
              <p:nvPr/>
            </p:nvSpPr>
            <p:spPr>
              <a:xfrm>
                <a:off x="7501866" y="2136728"/>
                <a:ext cx="3902735" cy="454483"/>
              </a:xfrm>
              <a:prstGeom prst="rect">
                <a:avLst/>
              </a:prstGeom>
              <a:noFill/>
            </p:spPr>
            <p:txBody>
              <a:bodyPr wrap="square" lIns="0" tIns="0" rIns="0" bIns="0" rtlCol="0">
                <a:spAutoFit/>
              </a:bodyPr>
              <a:lstStyle/>
              <a:p>
                <a:pPr/>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xmlns="">
          <p:sp>
            <p:nvSpPr>
              <p:cNvPr id="8" name="TextBox 7">
                <a:extLst>
                  <a:ext uri="{FF2B5EF4-FFF2-40B4-BE49-F238E27FC236}">
                    <a16:creationId xmlns:a16="http://schemas.microsoft.com/office/drawing/2014/main" id="{9B6B1539-2E97-8C58-83D6-9B57EEF9AB82}"/>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8"/>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4669553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6B0D3-D1A7-B4F4-B62E-6FE519AFE2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06714CC-77D1-195B-6B2B-1159AC3395D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79CD9FB-E33F-BF28-12A5-35E58B536097}"/>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DA9B7C8-78B1-1622-508B-B40B3DB3063F}"/>
                  </a:ext>
                </a:extLst>
              </p:cNvPr>
              <p:cNvSpPr txBox="1"/>
              <p:nvPr/>
            </p:nvSpPr>
            <p:spPr>
              <a:xfrm>
                <a:off x="364065" y="2350561"/>
                <a:ext cx="6206067" cy="295093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a:t>
                </a:r>
                <a14:m>
                  <m:oMath xmlns:m="http://schemas.openxmlformats.org/officeDocument/2006/math">
                    <m:sSub>
                      <m:sSubPr>
                        <m:ctrlPr>
                          <a:rPr lang="vi-VN" sz="1400" dirty="0">
                            <a:solidFill>
                              <a:srgbClr val="444B52"/>
                            </a:solidFill>
                            <a:latin typeface="Arial"/>
                          </a:rPr>
                        </m:ctrlPr>
                      </m:sSubPr>
                      <m:e>
                        <m:r>
                          <m:rPr>
                            <m:nor/>
                          </m:rPr>
                          <a:rPr lang="vi-VN" sz="1400" dirty="0">
                            <a:solidFill>
                              <a:srgbClr val="444B52"/>
                            </a:solidFill>
                            <a:latin typeface="Arial"/>
                          </a:rPr>
                          <m:t>Bước </m:t>
                        </m:r>
                        <m:r>
                          <m:rPr>
                            <m:nor/>
                          </m:rPr>
                          <a:rPr lang="vi-VN" sz="1400" b="1" dirty="0">
                            <a:solidFill>
                              <a:srgbClr val="444B52"/>
                            </a:solidFill>
                            <a:latin typeface="Arial"/>
                          </a:rPr>
                          <m:t>Expectation (E)</m:t>
                        </m:r>
                        <m:r>
                          <m:rPr>
                            <m:nor/>
                          </m:rPr>
                          <a:rPr lang="vi-VN" sz="1400" dirty="0">
                            <a:solidFill>
                              <a:srgbClr val="444B52"/>
                            </a:solidFill>
                            <a:latin typeface="Arial"/>
                          </a:rPr>
                          <m:t>: Dùng </m:t>
                        </m:r>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r>
                          <m:rPr>
                            <m:nor/>
                          </m:rPr>
                          <a:rPr lang="vi-VN" sz="1400" dirty="0">
                            <a:latin typeface="Arial"/>
                          </a:rPr>
                          <m:t>, </m:t>
                        </m:r>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r>
                          <m:rPr>
                            <m:nor/>
                          </m:rPr>
                          <a:rPr lang="vi-VN" sz="1400" b="1" dirty="0">
                            <a:solidFill>
                              <a:schemeClr val="tx2">
                                <a:lumMod val="60000"/>
                                <a:lumOff val="40000"/>
                              </a:schemeClr>
                            </a:solidFill>
                            <a:latin typeface="Arial"/>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m:rPr>
                            <m:nor/>
                          </m:rPr>
                          <a:rPr lang="vi-VN" sz="1400" dirty="0">
                            <a:solidFill>
                              <a:srgbClr val="444B52"/>
                            </a:solidFill>
                            <a:latin typeface="Arial"/>
                          </a:rPr>
                          <m:t> để tính xác suất hậu nghiệm</m:t>
                        </m:r>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EDA9B7C8-78B1-1622-508B-B40B3DB3063F}"/>
                  </a:ext>
                </a:extLst>
              </p:cNvPr>
              <p:cNvSpPr txBox="1">
                <a:spLocks noRot="1" noChangeAspect="1" noMove="1" noResize="1" noEditPoints="1" noAdjustHandles="1" noChangeArrowheads="1" noChangeShapeType="1" noTextEdit="1"/>
              </p:cNvSpPr>
              <p:nvPr/>
            </p:nvSpPr>
            <p:spPr>
              <a:xfrm>
                <a:off x="364065" y="2350561"/>
                <a:ext cx="6206067" cy="2950936"/>
              </a:xfrm>
              <a:prstGeom prst="rect">
                <a:avLst/>
              </a:prstGeom>
              <a:blipFill>
                <a:blip r:embed="rId3"/>
                <a:stretch>
                  <a:fillRect l="-204" t="-429" b="-1288"/>
                </a:stretch>
              </a:blipFill>
            </p:spPr>
            <p:txBody>
              <a:bodyPr/>
              <a:lstStyle/>
              <a:p>
                <a:r>
                  <a:rPr lang="en-VN">
                    <a:noFill/>
                  </a:rPr>
                  <a:t> </a:t>
                </a:r>
              </a:p>
            </p:txBody>
          </p:sp>
        </mc:Fallback>
      </mc:AlternateContent>
      <p:pic>
        <p:nvPicPr>
          <p:cNvPr id="5" name="Picture 4">
            <a:extLst>
              <a:ext uri="{FF2B5EF4-FFF2-40B4-BE49-F238E27FC236}">
                <a16:creationId xmlns:a16="http://schemas.microsoft.com/office/drawing/2014/main" id="{38FEBEA9-FA0F-779E-054E-EB67FEF01BFC}"/>
              </a:ext>
            </a:extLst>
          </p:cNvPr>
          <p:cNvPicPr>
            <a:picLocks noChangeAspect="1"/>
          </p:cNvPicPr>
          <p:nvPr/>
        </p:nvPicPr>
        <p:blipFill>
          <a:blip r:embed="rId4"/>
          <a:stretch>
            <a:fillRect/>
          </a:stretch>
        </p:blipFill>
        <p:spPr>
          <a:xfrm>
            <a:off x="6900333" y="2084148"/>
            <a:ext cx="5003799" cy="3925604"/>
          </a:xfrm>
          <a:prstGeom prst="rect">
            <a:avLst/>
          </a:prstGeom>
        </p:spPr>
      </p:pic>
    </p:spTree>
    <p:extLst>
      <p:ext uri="{BB962C8B-B14F-4D97-AF65-F5344CB8AC3E}">
        <p14:creationId xmlns:p14="http://schemas.microsoft.com/office/powerpoint/2010/main" val="3719706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3A42B-F662-7BC4-FB6C-48415606117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386443B-EBB2-97EF-BB48-06D719E17D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DCA1D1B-8675-75FF-BE9B-E121299408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AE073C5-720D-EB12-73D7-B40BEDD08474}"/>
                  </a:ext>
                </a:extLst>
              </p:cNvPr>
              <p:cNvSpPr txBox="1"/>
              <p:nvPr/>
            </p:nvSpPr>
            <p:spPr>
              <a:xfrm>
                <a:off x="364065" y="2350561"/>
                <a:ext cx="620606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xmlns="">
          <p:sp>
            <p:nvSpPr>
              <p:cNvPr id="10" name="TextBox 9">
                <a:extLst>
                  <a:ext uri="{FF2B5EF4-FFF2-40B4-BE49-F238E27FC236}">
                    <a16:creationId xmlns:a16="http://schemas.microsoft.com/office/drawing/2014/main" id="{BAE073C5-720D-EB12-73D7-B40BEDD08474}"/>
                  </a:ext>
                </a:extLst>
              </p:cNvPr>
              <p:cNvSpPr txBox="1">
                <a:spLocks noRot="1" noChangeAspect="1" noMove="1" noResize="1" noEditPoints="1" noAdjustHandles="1" noChangeArrowheads="1" noChangeShapeType="1" noTextEdit="1"/>
              </p:cNvSpPr>
              <p:nvPr/>
            </p:nvSpPr>
            <p:spPr>
              <a:xfrm>
                <a:off x="364065" y="2350561"/>
                <a:ext cx="6206067" cy="2939266"/>
              </a:xfrm>
              <a:prstGeom prst="rect">
                <a:avLst/>
              </a:prstGeom>
              <a:blipFill>
                <a:blip r:embed="rId3"/>
                <a:stretch>
                  <a:fillRect l="-204" t="-431" b="-1293"/>
                </a:stretch>
              </a:blipFill>
            </p:spPr>
            <p:txBody>
              <a:bodyPr/>
              <a:lstStyle/>
              <a:p>
                <a:r>
                  <a:rPr lang="en-VN">
                    <a:noFill/>
                  </a:rPr>
                  <a:t> </a:t>
                </a:r>
              </a:p>
            </p:txBody>
          </p:sp>
        </mc:Fallback>
      </mc:AlternateContent>
      <p:pic>
        <p:nvPicPr>
          <p:cNvPr id="3" name="Picture 2">
            <a:extLst>
              <a:ext uri="{FF2B5EF4-FFF2-40B4-BE49-F238E27FC236}">
                <a16:creationId xmlns:a16="http://schemas.microsoft.com/office/drawing/2014/main" id="{86AD05DF-1A74-8343-8DEF-C72A9C188267}"/>
              </a:ext>
            </a:extLst>
          </p:cNvPr>
          <p:cNvPicPr>
            <a:picLocks noChangeAspect="1"/>
          </p:cNvPicPr>
          <p:nvPr/>
        </p:nvPicPr>
        <p:blipFill>
          <a:blip r:embed="rId4"/>
          <a:stretch>
            <a:fillRect/>
          </a:stretch>
        </p:blipFill>
        <p:spPr>
          <a:xfrm>
            <a:off x="4846103" y="4284133"/>
            <a:ext cx="7345897" cy="2573867"/>
          </a:xfrm>
          <a:prstGeom prst="rect">
            <a:avLst/>
          </a:prstGeom>
        </p:spPr>
      </p:pic>
    </p:spTree>
    <p:extLst>
      <p:ext uri="{BB962C8B-B14F-4D97-AF65-F5344CB8AC3E}">
        <p14:creationId xmlns:p14="http://schemas.microsoft.com/office/powerpoint/2010/main" val="17918958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8ECB5-4183-3038-4ED8-E394CA00334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6D4291-10BC-35B3-BEF6-B757D33D0A8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33602D4-0165-002A-4699-137E22F611F9}"/>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4022E9-B8B0-F78D-F6F9-901B7580CCBA}"/>
                  </a:ext>
                </a:extLst>
              </p:cNvPr>
              <p:cNvSpPr txBox="1"/>
              <p:nvPr/>
            </p:nvSpPr>
            <p:spPr>
              <a:xfrm>
                <a:off x="364065" y="2350561"/>
                <a:ext cx="623781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xmlns="">
          <p:sp>
            <p:nvSpPr>
              <p:cNvPr id="10" name="TextBox 9">
                <a:extLst>
                  <a:ext uri="{FF2B5EF4-FFF2-40B4-BE49-F238E27FC236}">
                    <a16:creationId xmlns:a16="http://schemas.microsoft.com/office/drawing/2014/main" id="{0B4022E9-B8B0-F78D-F6F9-901B7580CCBA}"/>
                  </a:ext>
                </a:extLst>
              </p:cNvPr>
              <p:cNvSpPr txBox="1">
                <a:spLocks noRot="1" noChangeAspect="1" noMove="1" noResize="1" noEditPoints="1" noAdjustHandles="1" noChangeArrowheads="1" noChangeShapeType="1" noTextEdit="1"/>
              </p:cNvSpPr>
              <p:nvPr/>
            </p:nvSpPr>
            <p:spPr>
              <a:xfrm>
                <a:off x="364065" y="2350561"/>
                <a:ext cx="6237817" cy="2939266"/>
              </a:xfrm>
              <a:prstGeom prst="rect">
                <a:avLst/>
              </a:prstGeom>
              <a:blipFill>
                <a:blip r:embed="rId3"/>
                <a:stretch>
                  <a:fillRect l="-203" t="-431" b="-129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C41893F-1237-57E5-008C-FF2912939CCA}"/>
                  </a:ext>
                </a:extLst>
              </p:cNvPr>
              <p:cNvSpPr txBox="1"/>
              <p:nvPr/>
            </p:nvSpPr>
            <p:spPr>
              <a:xfrm>
                <a:off x="6601883" y="2212062"/>
                <a:ext cx="4591050" cy="954107"/>
              </a:xfrm>
              <a:prstGeom prst="rect">
                <a:avLst/>
              </a:prstGeom>
              <a:noFill/>
            </p:spPr>
            <p:txBody>
              <a:bodyPr wrap="square">
                <a:spAutoFit/>
              </a:bodyPr>
              <a:lstStyle/>
              <a:p>
                <a:r>
                  <a:rPr lang="vi-VN" sz="1400" dirty="0">
                    <a:solidFill>
                      <a:srgbClr val="444B52"/>
                    </a:solidFill>
                    <a:latin typeface="Arial"/>
                  </a:rPr>
                  <a:t>Dùng K-means (hoặc K-means++)</a:t>
                </a:r>
              </a:p>
              <a:p>
                <a:r>
                  <a:rPr lang="vi-VN" sz="1400" dirty="0">
                    <a:solidFill>
                      <a:srgbClr val="444B52"/>
                    </a:solidFill>
                    <a:latin typeface="Arial"/>
                  </a:rPr>
                  <a:t>ra được các cụm </a:t>
                </a:r>
                <a14:m>
                  <m:oMath xmlns:m="http://schemas.openxmlformats.org/officeDocument/2006/math">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oMath>
                </a14:m>
                <a:r>
                  <a:rPr lang="en-VN" sz="1400" dirty="0"/>
                  <a:t> và </a:t>
                </a:r>
                <a14:m>
                  <m:oMath xmlns:m="http://schemas.openxmlformats.org/officeDocument/2006/math">
                    <m:d>
                      <m:dPr>
                        <m:begChr m:val="|"/>
                        <m:endChr m:val="|"/>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e>
                    </m:d>
                  </m:oMath>
                </a14:m>
                <a:r>
                  <a:rPr lang="en-VN" sz="1400" dirty="0"/>
                  <a:t> số lượng phần tử của cụm</a:t>
                </a:r>
                <a:br>
                  <a:rPr lang="en-VN" sz="1400" dirty="0"/>
                </a:br>
                <a:br>
                  <a:rPr lang="en-VN" sz="1400" dirty="0"/>
                </a:br>
                <a:r>
                  <a:rPr lang="en-VN" sz="1400" dirty="0"/>
                  <a:t>Ta khởi tạo:</a:t>
                </a:r>
              </a:p>
            </p:txBody>
          </p:sp>
        </mc:Choice>
        <mc:Fallback xmlns="">
          <p:sp>
            <p:nvSpPr>
              <p:cNvPr id="6" name="TextBox 5">
                <a:extLst>
                  <a:ext uri="{FF2B5EF4-FFF2-40B4-BE49-F238E27FC236}">
                    <a16:creationId xmlns:a16="http://schemas.microsoft.com/office/drawing/2014/main" id="{BC41893F-1237-57E5-008C-FF2912939CCA}"/>
                  </a:ext>
                </a:extLst>
              </p:cNvPr>
              <p:cNvSpPr txBox="1">
                <a:spLocks noRot="1" noChangeAspect="1" noMove="1" noResize="1" noEditPoints="1" noAdjustHandles="1" noChangeArrowheads="1" noChangeShapeType="1" noTextEdit="1"/>
              </p:cNvSpPr>
              <p:nvPr/>
            </p:nvSpPr>
            <p:spPr>
              <a:xfrm>
                <a:off x="6601883" y="2212062"/>
                <a:ext cx="4591050" cy="954107"/>
              </a:xfrm>
              <a:prstGeom prst="rect">
                <a:avLst/>
              </a:prstGeom>
              <a:blipFill>
                <a:blip r:embed="rId4"/>
                <a:stretch>
                  <a:fillRect l="-275" t="-1316" b="-65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AD659CD-661F-3F05-F00C-293A9268673B}"/>
                  </a:ext>
                </a:extLst>
              </p:cNvPr>
              <p:cNvSpPr txBox="1"/>
              <p:nvPr/>
            </p:nvSpPr>
            <p:spPr>
              <a:xfrm>
                <a:off x="6716025" y="5423454"/>
                <a:ext cx="1322734" cy="626005"/>
              </a:xfrm>
              <a:prstGeom prst="rect">
                <a:avLst/>
              </a:prstGeom>
              <a:noFill/>
            </p:spPr>
            <p:txBody>
              <a:bodyPr wrap="none" rtlCol="0">
                <a:spAutoFit/>
              </a:bodyPr>
              <a:lstStyle/>
              <a:p>
                <a:pPr/>
                <a14:m>
                  <m:oMathPara xmlns:m="http://schemas.openxmlformats.org/officeDocument/2006/math">
                    <m:oMath>
                      <m:sSubSup>
                        <m:sSubSupPr>
                          <m:ctrlPr>
                            <a:rPr lang="en-VN" i="1">
                              <a:solidFill>
                                <a:schemeClr val="accent6">
                                  <a:lumMod val="75000"/>
                                </a:schemeClr>
                              </a:solidFill>
                              <a:latin typeface="Cambria Math" panose="02040503050406030204" pitchFamily="18" charset="0"/>
                            </a:rPr>
                          </m:ctrlPr>
                        </m:sSubSupPr>
                        <m:e>
                          <m:r>
                            <a:rPr lang="en-VN" i="1">
                              <a:solidFill>
                                <a:schemeClr val="accent6">
                                  <a:lumMod val="75000"/>
                                </a:schemeClr>
                              </a:solidFill>
                              <a:latin typeface="Cambria Math" panose="02040503050406030204" pitchFamily="18" charset="0"/>
                            </a:rPr>
                            <m:t>𝜋</m:t>
                          </m:r>
                        </m:e>
                        <m:sub>
                          <m:r>
                            <a:rPr lang="en-VN" i="1">
                              <a:solidFill>
                                <a:schemeClr val="accent6">
                                  <a:lumMod val="75000"/>
                                </a:schemeClr>
                              </a:solidFill>
                              <a:latin typeface="Cambria Math" panose="02040503050406030204" pitchFamily="18" charset="0"/>
                            </a:rPr>
                            <m:t>𝑘</m:t>
                          </m:r>
                        </m:sub>
                        <m:sup>
                          <m:d>
                            <m:dPr>
                              <m:ctrlPr>
                                <a:rPr lang="en-VN">
                                  <a:solidFill>
                                    <a:schemeClr val="accent6">
                                      <a:lumMod val="75000"/>
                                    </a:schemeClr>
                                  </a:solidFill>
                                  <a:latin typeface="Cambria Math" panose="02040503050406030204" pitchFamily="18" charset="0"/>
                                </a:rPr>
                              </m:ctrlPr>
                            </m:dPr>
                            <m:e>
                              <m:r>
                                <a:rPr lang="en-VN">
                                  <a:solidFill>
                                    <a:schemeClr val="accent6">
                                      <a:lumMod val="75000"/>
                                    </a:schemeClr>
                                  </a:solidFill>
                                  <a:latin typeface="Cambria Math" panose="02040503050406030204" pitchFamily="18" charset="0"/>
                                </a:rPr>
                                <m:t>0</m:t>
                              </m:r>
                            </m:e>
                          </m:d>
                        </m:sup>
                      </m:sSubSup>
                      <m:r>
                        <a:rPr lang="en-VN">
                          <a:latin typeface="Cambria Math" panose="02040503050406030204" pitchFamily="18" charset="0"/>
                        </a:rPr>
                        <m:t>=</m:t>
                      </m:r>
                      <m:f>
                        <m:fPr>
                          <m:ctrlPr>
                            <a:rPr lang="en-VN" i="1">
                              <a:latin typeface="Cambria Math" panose="02040503050406030204" pitchFamily="18" charset="0"/>
                            </a:rPr>
                          </m:ctrlPr>
                        </m:fPr>
                        <m:num>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num>
                        <m:den>
                          <m:r>
                            <a:rPr lang="en-VN" i="1">
                              <a:latin typeface="Cambria Math" panose="02040503050406030204" pitchFamily="18" charset="0"/>
                            </a:rPr>
                            <m:t>𝑁</m:t>
                          </m:r>
                        </m:den>
                      </m:f>
                    </m:oMath>
                  </m:oMathPara>
                </a14:m>
                <a:endParaRPr lang="en-VN" dirty="0"/>
              </a:p>
            </p:txBody>
          </p:sp>
        </mc:Choice>
        <mc:Fallback xmlns="">
          <p:sp>
            <p:nvSpPr>
              <p:cNvPr id="14" name="TextBox 13">
                <a:extLst>
                  <a:ext uri="{FF2B5EF4-FFF2-40B4-BE49-F238E27FC236}">
                    <a16:creationId xmlns:a16="http://schemas.microsoft.com/office/drawing/2014/main" id="{9AD659CD-661F-3F05-F00C-293A9268673B}"/>
                  </a:ext>
                </a:extLst>
              </p:cNvPr>
              <p:cNvSpPr txBox="1">
                <a:spLocks noRot="1" noChangeAspect="1" noMove="1" noResize="1" noEditPoints="1" noAdjustHandles="1" noChangeArrowheads="1" noChangeShapeType="1" noTextEdit="1"/>
              </p:cNvSpPr>
              <p:nvPr/>
            </p:nvSpPr>
            <p:spPr>
              <a:xfrm>
                <a:off x="6716025" y="5423454"/>
                <a:ext cx="1322734" cy="626005"/>
              </a:xfrm>
              <a:prstGeom prst="rect">
                <a:avLst/>
              </a:prstGeom>
              <a:blipFill>
                <a:blip r:embed="rId5"/>
                <a:stretch>
                  <a:fillRect b="-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E94BC6F-F46D-E6B8-3C28-A6AE0E2D3F34}"/>
                  </a:ext>
                </a:extLst>
              </p:cNvPr>
              <p:cNvSpPr txBox="1"/>
              <p:nvPr/>
            </p:nvSpPr>
            <p:spPr>
              <a:xfrm>
                <a:off x="6538225" y="4252157"/>
                <a:ext cx="3587908" cy="910699"/>
              </a:xfrm>
              <a:prstGeom prst="rect">
                <a:avLst/>
              </a:prstGeom>
              <a:noFill/>
            </p:spPr>
            <p:txBody>
              <a:bodyPr wrap="square">
                <a:spAutoFit/>
              </a:bodyPr>
              <a:lstStyle/>
              <a:p>
                <a:pPr/>
                <a14:m>
                  <m:oMathPara xmlns:m="http://schemas.openxmlformats.org/officeDocument/2006/math">
                    <m:oMath>
                      <m:sSubSup>
                        <m:sSubSupPr>
                          <m:ctrlPr>
                            <a:rPr lang="en-VN" i="1">
                              <a:solidFill>
                                <a:srgbClr val="00B050"/>
                              </a:solidFill>
                              <a:latin typeface="Cambria Math" panose="02040503050406030204" pitchFamily="18" charset="0"/>
                            </a:rPr>
                          </m:ctrlPr>
                        </m:sSubSupPr>
                        <m:e>
                          <m:r>
                            <a:rPr lang="en-VN" i="1">
                              <a:solidFill>
                                <a:srgbClr val="00B050"/>
                              </a:solidFill>
                              <a:latin typeface="Cambria Math" panose="02040503050406030204" pitchFamily="18" charset="0"/>
                            </a:rPr>
                            <m:t>𝜎</m:t>
                          </m:r>
                        </m:e>
                        <m:sub>
                          <m:r>
                            <a:rPr lang="en-VN" i="1">
                              <a:solidFill>
                                <a:srgbClr val="00B050"/>
                              </a:solidFill>
                              <a:latin typeface="Cambria Math" panose="02040503050406030204" pitchFamily="18" charset="0"/>
                            </a:rPr>
                            <m:t>𝑘</m:t>
                          </m:r>
                        </m:sub>
                        <m:sup>
                          <m:d>
                            <m:dPr>
                              <m:ctrlPr>
                                <a:rPr lang="en-VN" i="0">
                                  <a:solidFill>
                                    <a:srgbClr val="00B050"/>
                                  </a:solidFill>
                                  <a:latin typeface="Cambria Math" panose="02040503050406030204" pitchFamily="18" charset="0"/>
                                </a:rPr>
                              </m:ctrlPr>
                            </m:dPr>
                            <m:e>
                              <m:r>
                                <a:rPr lang="en-VN" i="0">
                                  <a:solidFill>
                                    <a:srgbClr val="00B050"/>
                                  </a:solidFill>
                                  <a:latin typeface="Cambria Math" panose="02040503050406030204" pitchFamily="18" charset="0"/>
                                </a:rPr>
                                <m:t>0</m:t>
                              </m:r>
                            </m:e>
                          </m:d>
                        </m:sup>
                      </m:sSubSup>
                      <m:r>
                        <a:rPr lang="en-VN" i="0">
                          <a:latin typeface="Cambria Math" panose="02040503050406030204" pitchFamily="18" charset="0"/>
                        </a:rPr>
                        <m:t>=</m:t>
                      </m:r>
                      <m:rad>
                        <m:radPr>
                          <m:degHide m:val="on"/>
                          <m:ctrlPr>
                            <a:rPr lang="en-VN" i="1">
                              <a:latin typeface="Cambria Math" panose="02040503050406030204" pitchFamily="18" charset="0"/>
                            </a:rPr>
                          </m:ctrlPr>
                        </m:radPr>
                        <m:deg/>
                        <m:e>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p>
                                <m:sSupPr>
                                  <m:ctrlPr>
                                    <a:rPr lang="en-VN" i="1">
                                      <a:latin typeface="Cambria Math" panose="02040503050406030204" pitchFamily="18" charset="0"/>
                                    </a:rPr>
                                  </m:ctrlPr>
                                </m:sSupPr>
                                <m:e>
                                  <m:d>
                                    <m:dPr>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Sup>
                                        <m:sSubSupPr>
                                          <m:ctrlPr>
                                            <a:rPr lang="en-VN" i="1">
                                              <a:solidFill>
                                                <a:schemeClr val="tx2">
                                                  <a:lumMod val="60000"/>
                                                  <a:lumOff val="40000"/>
                                                </a:schemeClr>
                                              </a:solidFill>
                                              <a:latin typeface="Cambria Math" panose="02040503050406030204" pitchFamily="18" charset="0"/>
                                            </a:rPr>
                                          </m:ctrlPr>
                                        </m:sSubSupPr>
                                        <m:e>
                                          <m:r>
                                            <a:rPr lang="en-VN" i="1">
                                              <a:solidFill>
                                                <a:schemeClr val="tx2">
                                                  <a:lumMod val="60000"/>
                                                  <a:lumOff val="40000"/>
                                                </a:schemeClr>
                                              </a:solidFill>
                                              <a:latin typeface="Cambria Math" panose="02040503050406030204" pitchFamily="18" charset="0"/>
                                            </a:rPr>
                                            <m:t>𝜇</m:t>
                                          </m:r>
                                        </m:e>
                                        <m:sub>
                                          <m:r>
                                            <a:rPr lang="en-VN" i="1">
                                              <a:solidFill>
                                                <a:schemeClr val="tx2">
                                                  <a:lumMod val="60000"/>
                                                  <a:lumOff val="40000"/>
                                                </a:schemeClr>
                                              </a:solidFill>
                                              <a:latin typeface="Cambria Math" panose="02040503050406030204" pitchFamily="18" charset="0"/>
                                            </a:rPr>
                                            <m:t>𝑘</m:t>
                                          </m:r>
                                        </m:sub>
                                        <m:sup>
                                          <m:d>
                                            <m:dPr>
                                              <m:ctrlPr>
                                                <a:rPr lang="en-VN" i="0">
                                                  <a:solidFill>
                                                    <a:schemeClr val="tx2">
                                                      <a:lumMod val="60000"/>
                                                      <a:lumOff val="40000"/>
                                                    </a:schemeClr>
                                                  </a:solidFill>
                                                  <a:latin typeface="Cambria Math" panose="02040503050406030204" pitchFamily="18" charset="0"/>
                                                </a:rPr>
                                              </m:ctrlPr>
                                            </m:dPr>
                                            <m:e>
                                              <m:r>
                                                <a:rPr lang="en-VN" i="0">
                                                  <a:solidFill>
                                                    <a:schemeClr val="tx2">
                                                      <a:lumMod val="60000"/>
                                                      <a:lumOff val="40000"/>
                                                    </a:schemeClr>
                                                  </a:solidFill>
                                                  <a:latin typeface="Cambria Math" panose="02040503050406030204" pitchFamily="18" charset="0"/>
                                                </a:rPr>
                                                <m:t>0</m:t>
                                              </m:r>
                                            </m:e>
                                          </m:d>
                                        </m:sup>
                                      </m:sSubSup>
                                    </m:e>
                                  </m:d>
                                </m:e>
                                <m:sup>
                                  <m:r>
                                    <a:rPr lang="en-VN" i="0">
                                      <a:latin typeface="Cambria Math" panose="02040503050406030204" pitchFamily="18" charset="0"/>
                                    </a:rPr>
                                    <m:t>2</m:t>
                                  </m:r>
                                </m:sup>
                              </m:sSup>
                            </m:e>
                          </m:nary>
                        </m:e>
                      </m:rad>
                    </m:oMath>
                  </m:oMathPara>
                </a14:m>
                <a:endParaRPr lang="en-VN" sz="2400" dirty="0"/>
              </a:p>
            </p:txBody>
          </p:sp>
        </mc:Choice>
        <mc:Fallback xmlns="">
          <p:sp>
            <p:nvSpPr>
              <p:cNvPr id="16" name="TextBox 15">
                <a:extLst>
                  <a:ext uri="{FF2B5EF4-FFF2-40B4-BE49-F238E27FC236}">
                    <a16:creationId xmlns:a16="http://schemas.microsoft.com/office/drawing/2014/main" id="{EE94BC6F-F46D-E6B8-3C28-A6AE0E2D3F34}"/>
                  </a:ext>
                </a:extLst>
              </p:cNvPr>
              <p:cNvSpPr txBox="1">
                <a:spLocks noRot="1" noChangeAspect="1" noMove="1" noResize="1" noEditPoints="1" noAdjustHandles="1" noChangeArrowheads="1" noChangeShapeType="1" noTextEdit="1"/>
              </p:cNvSpPr>
              <p:nvPr/>
            </p:nvSpPr>
            <p:spPr>
              <a:xfrm>
                <a:off x="6538225" y="4252157"/>
                <a:ext cx="3587908" cy="910699"/>
              </a:xfrm>
              <a:prstGeom prst="rect">
                <a:avLst/>
              </a:prstGeom>
              <a:blipFill>
                <a:blip r:embed="rId6"/>
                <a:stretch>
                  <a:fillRect t="-95833" b="-13611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E83C190-3A29-47A6-3F21-C977D855C166}"/>
                  </a:ext>
                </a:extLst>
              </p:cNvPr>
              <p:cNvSpPr txBox="1"/>
              <p:nvPr/>
            </p:nvSpPr>
            <p:spPr>
              <a:xfrm>
                <a:off x="6305550" y="3292011"/>
                <a:ext cx="2897717" cy="799642"/>
              </a:xfrm>
              <a:prstGeom prst="rect">
                <a:avLst/>
              </a:prstGeom>
              <a:noFill/>
            </p:spPr>
            <p:txBody>
              <a:bodyPr wrap="square">
                <a:spAutoFit/>
              </a:bodyPr>
              <a:lstStyle/>
              <a:p>
                <a:pPr/>
                <a14:m>
                  <m:oMathPara xmlns:m="http://schemas.openxmlformats.org/officeDocument/2006/math">
                    <m:oMath>
                      <m:sSubSup>
                        <m:sSubSupPr>
                          <m:ctrlPr>
                            <a:rPr lang="en-VN" b="1" i="1">
                              <a:solidFill>
                                <a:schemeClr val="tx2">
                                  <a:lumMod val="60000"/>
                                  <a:lumOff val="40000"/>
                                </a:schemeClr>
                              </a:solidFill>
                              <a:latin typeface="Cambria Math" panose="02040503050406030204" pitchFamily="18" charset="0"/>
                            </a:rPr>
                          </m:ctrlPr>
                        </m:sSubSupPr>
                        <m:e>
                          <m:r>
                            <a:rPr lang="en-VN" b="1" i="1">
                              <a:solidFill>
                                <a:schemeClr val="tx2">
                                  <a:lumMod val="60000"/>
                                  <a:lumOff val="40000"/>
                                </a:schemeClr>
                              </a:solidFill>
                              <a:latin typeface="Cambria Math" panose="02040503050406030204" pitchFamily="18" charset="0"/>
                            </a:rPr>
                            <m:t>𝝁</m:t>
                          </m:r>
                        </m:e>
                        <m:sub>
                          <m:r>
                            <a:rPr lang="en-VN" b="1" i="1">
                              <a:solidFill>
                                <a:schemeClr val="tx2">
                                  <a:lumMod val="60000"/>
                                  <a:lumOff val="40000"/>
                                </a:schemeClr>
                              </a:solidFill>
                              <a:latin typeface="Cambria Math" panose="02040503050406030204" pitchFamily="18" charset="0"/>
                            </a:rPr>
                            <m:t>𝒌</m:t>
                          </m:r>
                        </m:sub>
                        <m:sup>
                          <m:d>
                            <m:dPr>
                              <m:ctrlPr>
                                <a:rPr lang="en-VN" b="1" i="0">
                                  <a:solidFill>
                                    <a:schemeClr val="tx2">
                                      <a:lumMod val="60000"/>
                                      <a:lumOff val="40000"/>
                                    </a:schemeClr>
                                  </a:solidFill>
                                  <a:latin typeface="Cambria Math" panose="02040503050406030204" pitchFamily="18" charset="0"/>
                                </a:rPr>
                              </m:ctrlPr>
                            </m:dPr>
                            <m:e>
                              <m:r>
                                <a:rPr lang="en-VN" b="1" i="0">
                                  <a:solidFill>
                                    <a:schemeClr val="tx2">
                                      <a:lumMod val="60000"/>
                                      <a:lumOff val="40000"/>
                                    </a:schemeClr>
                                  </a:solidFill>
                                  <a:latin typeface="Cambria Math" panose="02040503050406030204" pitchFamily="18" charset="0"/>
                                </a:rPr>
                                <m:t>𝟎</m:t>
                              </m:r>
                            </m:e>
                          </m:d>
                        </m:sup>
                      </m:sSubSup>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e>
                      </m:nary>
                    </m:oMath>
                  </m:oMathPara>
                </a14:m>
                <a:endParaRPr lang="en-VN" dirty="0"/>
              </a:p>
            </p:txBody>
          </p:sp>
        </mc:Choice>
        <mc:Fallback>
          <p:sp>
            <p:nvSpPr>
              <p:cNvPr id="18" name="TextBox 17">
                <a:extLst>
                  <a:ext uri="{FF2B5EF4-FFF2-40B4-BE49-F238E27FC236}">
                    <a16:creationId xmlns:a16="http://schemas.microsoft.com/office/drawing/2014/main" id="{6E83C190-3A29-47A6-3F21-C977D855C166}"/>
                  </a:ext>
                </a:extLst>
              </p:cNvPr>
              <p:cNvSpPr txBox="1">
                <a:spLocks noRot="1" noChangeAspect="1" noMove="1" noResize="1" noEditPoints="1" noAdjustHandles="1" noChangeArrowheads="1" noChangeShapeType="1" noTextEdit="1"/>
              </p:cNvSpPr>
              <p:nvPr/>
            </p:nvSpPr>
            <p:spPr>
              <a:xfrm>
                <a:off x="6305550" y="3292011"/>
                <a:ext cx="2897717" cy="799642"/>
              </a:xfrm>
              <a:prstGeom prst="rect">
                <a:avLst/>
              </a:prstGeom>
              <a:blipFill>
                <a:blip r:embed="rId7"/>
                <a:stretch>
                  <a:fillRect t="-117188" b="-156250"/>
                </a:stretch>
              </a:blipFill>
            </p:spPr>
            <p:txBody>
              <a:bodyPr/>
              <a:lstStyle/>
              <a:p>
                <a:r>
                  <a:rPr lang="en-VN">
                    <a:noFill/>
                  </a:rPr>
                  <a:t> </a:t>
                </a:r>
              </a:p>
            </p:txBody>
          </p:sp>
        </mc:Fallback>
      </mc:AlternateContent>
    </p:spTree>
    <p:extLst>
      <p:ext uri="{BB962C8B-B14F-4D97-AF65-F5344CB8AC3E}">
        <p14:creationId xmlns:p14="http://schemas.microsoft.com/office/powerpoint/2010/main" val="25792865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A7CC-19D8-0362-753F-14E3622539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39337FD-F39A-7AA9-BBFD-43637E61DF5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46AA284-DE32-5A19-349C-F9B7CB0A819B}"/>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277F0C3-6EDD-3493-5041-E72E18264CC7}"/>
                  </a:ext>
                </a:extLst>
              </p:cNvPr>
              <p:cNvSpPr txBox="1"/>
              <p:nvPr/>
            </p:nvSpPr>
            <p:spPr>
              <a:xfrm>
                <a:off x="364066" y="2350561"/>
                <a:ext cx="6172201"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xmlns="">
          <p:sp>
            <p:nvSpPr>
              <p:cNvPr id="10" name="TextBox 9">
                <a:extLst>
                  <a:ext uri="{FF2B5EF4-FFF2-40B4-BE49-F238E27FC236}">
                    <a16:creationId xmlns:a16="http://schemas.microsoft.com/office/drawing/2014/main" id="{E277F0C3-6EDD-3493-5041-E72E18264CC7}"/>
                  </a:ext>
                </a:extLst>
              </p:cNvPr>
              <p:cNvSpPr txBox="1">
                <a:spLocks noRot="1" noChangeAspect="1" noMove="1" noResize="1" noEditPoints="1" noAdjustHandles="1" noChangeArrowheads="1" noChangeShapeType="1" noTextEdit="1"/>
              </p:cNvSpPr>
              <p:nvPr/>
            </p:nvSpPr>
            <p:spPr>
              <a:xfrm>
                <a:off x="364066" y="2350561"/>
                <a:ext cx="6172201" cy="2939266"/>
              </a:xfrm>
              <a:prstGeom prst="rect">
                <a:avLst/>
              </a:prstGeom>
              <a:blipFill>
                <a:blip r:embed="rId3"/>
                <a:stretch>
                  <a:fillRect l="-205" t="-431" b="-129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C329E7F-918D-DE02-CE4C-5E682A991AEF}"/>
                  </a:ext>
                </a:extLst>
              </p:cNvPr>
              <p:cNvSpPr txBox="1"/>
              <p:nvPr/>
            </p:nvSpPr>
            <p:spPr>
              <a:xfrm>
                <a:off x="6536267" y="2284152"/>
                <a:ext cx="3568699" cy="961225"/>
              </a:xfrm>
              <a:prstGeom prst="rect">
                <a:avLst/>
              </a:prstGeom>
              <a:noFill/>
            </p:spPr>
            <p:txBody>
              <a:bodyPr wrap="square">
                <a:spAutoFit/>
              </a:bodyPr>
              <a:lstStyle/>
              <a:p>
                <a:pPr/>
                <a14:m>
                  <m:oMathPara xmlns:m="http://schemas.openxmlformats.org/officeDocument/2006/math">
                    <m:oMath>
                      <m:sSubSup>
                        <m:sSubSupPr>
                          <m:ctrlPr>
                            <a:rPr lang="en-VN" b="1" i="1" smtClean="0">
                              <a:solidFill>
                                <a:srgbClr val="FF0000"/>
                              </a:solidFill>
                              <a:latin typeface="Cambria Math" panose="02040503050406030204" pitchFamily="18" charset="0"/>
                            </a:rPr>
                          </m:ctrlPr>
                        </m:sSubSupPr>
                        <m:e>
                          <m:r>
                            <a:rPr lang="en-VN" b="1" i="1" smtClean="0">
                              <a:solidFill>
                                <a:srgbClr val="FF0000"/>
                              </a:solidFill>
                              <a:latin typeface="Cambria Math" panose="02040503050406030204" pitchFamily="18" charset="0"/>
                            </a:rPr>
                            <m:t>𝜸</m:t>
                          </m:r>
                        </m:e>
                        <m:sub>
                          <m:r>
                            <a:rPr lang="en-VN" b="1" i="1" smtClean="0">
                              <a:solidFill>
                                <a:srgbClr val="FF0000"/>
                              </a:solidFill>
                              <a:latin typeface="Cambria Math" panose="02040503050406030204" pitchFamily="18" charset="0"/>
                            </a:rPr>
                            <m:t>𝒏𝒌</m:t>
                          </m:r>
                        </m:sub>
                        <m:sup>
                          <m:d>
                            <m:dPr>
                              <m:ctrlPr>
                                <a:rPr lang="en-VN" b="1" i="1" smtClean="0">
                                  <a:solidFill>
                                    <a:srgbClr val="FF0000"/>
                                  </a:solidFill>
                                  <a:latin typeface="Cambria Math" panose="02040503050406030204" pitchFamily="18" charset="0"/>
                                </a:rPr>
                              </m:ctrlPr>
                            </m:dPr>
                            <m:e>
                              <m:r>
                                <a:rPr lang="en-VN" b="1" i="1" smtClean="0">
                                  <a:solidFill>
                                    <a:srgbClr val="FF0000"/>
                                  </a:solidFill>
                                  <a:latin typeface="Cambria Math" panose="02040503050406030204" pitchFamily="18" charset="0"/>
                                </a:rPr>
                                <m:t>𝒕</m:t>
                              </m:r>
                            </m:e>
                          </m:d>
                        </m:sup>
                      </m:sSubSup>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den>
                      </m:f>
                    </m:oMath>
                  </m:oMathPara>
                </a14:m>
                <a:endParaRPr lang="en-VN" dirty="0"/>
              </a:p>
            </p:txBody>
          </p:sp>
        </mc:Choice>
        <mc:Fallback xmlns="">
          <p:sp>
            <p:nvSpPr>
              <p:cNvPr id="7" name="TextBox 6">
                <a:extLst>
                  <a:ext uri="{FF2B5EF4-FFF2-40B4-BE49-F238E27FC236}">
                    <a16:creationId xmlns:a16="http://schemas.microsoft.com/office/drawing/2014/main" id="{6C329E7F-918D-DE02-CE4C-5E682A991AEF}"/>
                  </a:ext>
                </a:extLst>
              </p:cNvPr>
              <p:cNvSpPr txBox="1">
                <a:spLocks noRot="1" noChangeAspect="1" noMove="1" noResize="1" noEditPoints="1" noAdjustHandles="1" noChangeArrowheads="1" noChangeShapeType="1" noTextEdit="1"/>
              </p:cNvSpPr>
              <p:nvPr/>
            </p:nvSpPr>
            <p:spPr>
              <a:xfrm>
                <a:off x="6536267" y="2284152"/>
                <a:ext cx="3568699" cy="961225"/>
              </a:xfrm>
              <a:prstGeom prst="rect">
                <a:avLst/>
              </a:prstGeom>
              <a:blipFill>
                <a:blip r:embed="rId4"/>
                <a:stretch>
                  <a:fillRect b="-5789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16918B3-2029-AA79-8F67-7F57342D4EE0}"/>
                  </a:ext>
                </a:extLst>
              </p:cNvPr>
              <p:cNvSpPr txBox="1"/>
              <p:nvPr/>
            </p:nvSpPr>
            <p:spPr>
              <a:xfrm>
                <a:off x="6773334" y="4043372"/>
                <a:ext cx="4635499" cy="2308517"/>
              </a:xfrm>
              <a:prstGeom prst="rect">
                <a:avLst/>
              </a:prstGeom>
              <a:noFill/>
            </p:spPr>
            <p:txBody>
              <a:bodyPr wrap="square">
                <a:spAutoFit/>
              </a:bodyPr>
              <a:lstStyle/>
              <a:p>
                <a:pPr/>
                <a14:m>
                  <m:oMathPara xmlns:m="http://schemas.openxmlformats.org/officeDocument/2006/math">
                    <m:oMath>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den>
                      </m:f>
                    </m:oMath>
                  </m:oMathPara>
                </a14:m>
                <a:endParaRPr lang="vi-VN" dirty="0"/>
              </a:p>
              <a:p>
                <a:endParaRPr lang="en-VN" dirty="0"/>
              </a:p>
            </p:txBody>
          </p:sp>
        </mc:Choice>
        <mc:Fallback xmlns="">
          <p:sp>
            <p:nvSpPr>
              <p:cNvPr id="15" name="TextBox 14">
                <a:extLst>
                  <a:ext uri="{FF2B5EF4-FFF2-40B4-BE49-F238E27FC236}">
                    <a16:creationId xmlns:a16="http://schemas.microsoft.com/office/drawing/2014/main" id="{116918B3-2029-AA79-8F67-7F57342D4EE0}"/>
                  </a:ext>
                </a:extLst>
              </p:cNvPr>
              <p:cNvSpPr txBox="1">
                <a:spLocks noRot="1" noChangeAspect="1" noMove="1" noResize="1" noEditPoints="1" noAdjustHandles="1" noChangeArrowheads="1" noChangeShapeType="1" noTextEdit="1"/>
              </p:cNvSpPr>
              <p:nvPr/>
            </p:nvSpPr>
            <p:spPr>
              <a:xfrm>
                <a:off x="6773334" y="4043372"/>
                <a:ext cx="4635499" cy="2308517"/>
              </a:xfrm>
              <a:prstGeom prst="rect">
                <a:avLst/>
              </a:prstGeom>
              <a:blipFill>
                <a:blip r:embed="rId5"/>
                <a:stretch>
                  <a:fillRect b="-546"/>
                </a:stretch>
              </a:blipFill>
            </p:spPr>
            <p:txBody>
              <a:bodyPr/>
              <a:lstStyle/>
              <a:p>
                <a:r>
                  <a:rPr lang="en-VN">
                    <a:noFill/>
                  </a:rPr>
                  <a:t> </a:t>
                </a:r>
              </a:p>
            </p:txBody>
          </p:sp>
        </mc:Fallback>
      </mc:AlternateContent>
      <p:sp>
        <p:nvSpPr>
          <p:cNvPr id="17" name="Down Arrow 16">
            <a:extLst>
              <a:ext uri="{FF2B5EF4-FFF2-40B4-BE49-F238E27FC236}">
                <a16:creationId xmlns:a16="http://schemas.microsoft.com/office/drawing/2014/main" id="{35F20114-18AC-853D-4C4E-3F21F362F08D}"/>
              </a:ext>
            </a:extLst>
          </p:cNvPr>
          <p:cNvSpPr/>
          <p:nvPr/>
        </p:nvSpPr>
        <p:spPr>
          <a:xfrm>
            <a:off x="7823199" y="3556000"/>
            <a:ext cx="313266" cy="487372"/>
          </a:xfrm>
          <a:prstGeom prst="downArrow">
            <a:avLst/>
          </a:prstGeom>
          <a:solidFill>
            <a:schemeClr val="accent6">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895505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29A6C-61CC-D6A1-956A-A6FDAEFAA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7F38A29-AA1E-32BD-3461-D5B81955810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A758FFD-2F4E-C0FC-05DF-58B15838652E}"/>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E2C9DF5-C500-BC22-91CC-914F9DAF0F3F}"/>
                  </a:ext>
                </a:extLst>
              </p:cNvPr>
              <p:cNvSpPr txBox="1"/>
              <p:nvPr/>
            </p:nvSpPr>
            <p:spPr>
              <a:xfrm>
                <a:off x="364066" y="2350561"/>
                <a:ext cx="62145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xmlns="">
          <p:sp>
            <p:nvSpPr>
              <p:cNvPr id="10" name="TextBox 9">
                <a:extLst>
                  <a:ext uri="{FF2B5EF4-FFF2-40B4-BE49-F238E27FC236}">
                    <a16:creationId xmlns:a16="http://schemas.microsoft.com/office/drawing/2014/main" id="{6E2C9DF5-C500-BC22-91CC-914F9DAF0F3F}"/>
                  </a:ext>
                </a:extLst>
              </p:cNvPr>
              <p:cNvSpPr txBox="1">
                <a:spLocks noRot="1" noChangeAspect="1" noMove="1" noResize="1" noEditPoints="1" noAdjustHandles="1" noChangeArrowheads="1" noChangeShapeType="1" noTextEdit="1"/>
              </p:cNvSpPr>
              <p:nvPr/>
            </p:nvSpPr>
            <p:spPr>
              <a:xfrm>
                <a:off x="364066" y="2350561"/>
                <a:ext cx="6214534" cy="2939266"/>
              </a:xfrm>
              <a:prstGeom prst="rect">
                <a:avLst/>
              </a:prstGeom>
              <a:blipFill>
                <a:blip r:embed="rId3"/>
                <a:stretch>
                  <a:fillRect l="-204" t="-431" b="-129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88AF870-C4E1-1077-8476-1E2196A2AD8E}"/>
                  </a:ext>
                </a:extLst>
              </p:cNvPr>
              <p:cNvSpPr txBox="1"/>
              <p:nvPr/>
            </p:nvSpPr>
            <p:spPr>
              <a:xfrm>
                <a:off x="6824134" y="2696215"/>
                <a:ext cx="2230811" cy="961545"/>
              </a:xfrm>
              <a:prstGeom prst="rect">
                <a:avLst/>
              </a:prstGeom>
              <a:noFill/>
            </p:spPr>
            <p:txBody>
              <a:bodyPr wrap="square">
                <a:spAutoFit/>
              </a:bodyPr>
              <a:lstStyle/>
              <a:p>
                <a:pPr/>
                <a14:m>
                  <m:oMathPara xmlns:m="http://schemas.openxmlformats.org/officeDocument/2006/math">
                    <m:oMath>
                      <m:borderBox>
                        <m:borderBoxPr>
                          <m:ctrlPr>
                            <a:rPr lang="en-VN" b="1" i="1">
                              <a:solidFill>
                                <a:schemeClr val="tx2">
                                  <a:lumMod val="60000"/>
                                  <a:lumOff val="40000"/>
                                </a:schemeClr>
                              </a:solidFill>
                              <a:latin typeface="Cambria Math" panose="02040503050406030204" pitchFamily="18" charset="0"/>
                            </a:rPr>
                          </m:ctrlPr>
                        </m:borderBoxPr>
                        <m:e>
                          <m:sSubSup>
                            <m:sSubSupPr>
                              <m:ctrlPr>
                                <a:rPr lang="en-VN" b="1" i="1">
                                  <a:solidFill>
                                    <a:schemeClr val="tx2">
                                      <a:lumMod val="60000"/>
                                      <a:lumOff val="40000"/>
                                    </a:schemeClr>
                                  </a:solidFill>
                                  <a:latin typeface="Cambria Math" panose="02040503050406030204" pitchFamily="18" charset="0"/>
                                </a:rPr>
                              </m:ctrlPr>
                            </m:sSubSupPr>
                            <m:e>
                              <m:r>
                                <a:rPr lang="en-VN" b="1" i="1">
                                  <a:solidFill>
                                    <a:schemeClr val="tx2">
                                      <a:lumMod val="60000"/>
                                      <a:lumOff val="40000"/>
                                    </a:schemeClr>
                                  </a:solidFill>
                                  <a:latin typeface="Cambria Math" panose="02040503050406030204" pitchFamily="18" charset="0"/>
                                </a:rPr>
                                <m:t>𝝁</m:t>
                              </m:r>
                            </m:e>
                            <m:sub>
                              <m:r>
                                <a:rPr lang="en-VN" b="1" i="1">
                                  <a:solidFill>
                                    <a:schemeClr val="tx2">
                                      <a:lumMod val="60000"/>
                                      <a:lumOff val="40000"/>
                                    </a:schemeClr>
                                  </a:solidFill>
                                  <a:latin typeface="Cambria Math" panose="02040503050406030204" pitchFamily="18" charset="0"/>
                                </a:rPr>
                                <m:t>𝒌</m:t>
                              </m:r>
                            </m:sub>
                            <m:sup>
                              <m:d>
                                <m:dPr>
                                  <m:ctrlPr>
                                    <a:rPr lang="en-VN" b="1" i="1">
                                      <a:solidFill>
                                        <a:schemeClr val="tx2">
                                          <a:lumMod val="60000"/>
                                          <a:lumOff val="40000"/>
                                        </a:schemeClr>
                                      </a:solidFill>
                                      <a:latin typeface="Cambria Math" panose="02040503050406030204" pitchFamily="18" charset="0"/>
                                    </a:rPr>
                                  </m:ctrlPr>
                                </m:dPr>
                                <m:e>
                                  <m:r>
                                    <a:rPr lang="en-VN" b="1" i="1">
                                      <a:solidFill>
                                        <a:schemeClr val="tx2">
                                          <a:lumMod val="60000"/>
                                          <a:lumOff val="40000"/>
                                        </a:schemeClr>
                                      </a:solidFill>
                                      <a:latin typeface="Cambria Math" panose="02040503050406030204" pitchFamily="18" charset="0"/>
                                    </a:rPr>
                                    <m:t>𝒕</m:t>
                                  </m:r>
                                  <m:r>
                                    <a:rPr lang="en-VN" b="1" i="0">
                                      <a:solidFill>
                                        <a:schemeClr val="tx2">
                                          <a:lumMod val="60000"/>
                                          <a:lumOff val="40000"/>
                                        </a:schemeClr>
                                      </a:solidFill>
                                      <a:latin typeface="Cambria Math" panose="02040503050406030204" pitchFamily="18" charset="0"/>
                                    </a:rPr>
                                    <m:t>+</m:t>
                                  </m:r>
                                  <m:r>
                                    <a:rPr lang="en-VN" b="1" i="0">
                                      <a:solidFill>
                                        <a:schemeClr val="tx2">
                                          <a:lumMod val="60000"/>
                                          <a:lumOff val="40000"/>
                                        </a:schemeClr>
                                      </a:solidFill>
                                      <a:latin typeface="Cambria Math" panose="02040503050406030204" pitchFamily="18" charset="0"/>
                                    </a:rPr>
                                    <m:t>𝟏</m:t>
                                  </m:r>
                                </m:e>
                              </m:d>
                            </m:sup>
                          </m:sSubSup>
                          <m:r>
                            <a:rPr lang="en-VN" i="0">
                              <a:latin typeface="Cambria Math" panose="02040503050406030204" pitchFamily="18" charset="0"/>
                            </a:rPr>
                            <m:t>=</m:t>
                          </m:r>
                          <m:f>
                            <m:fPr>
                              <m:ctrlPr>
                                <a:rPr lang="en-VN" i="1">
                                  <a:latin typeface="Cambria Math" panose="02040503050406030204" pitchFamily="18" charset="0"/>
                                </a:rPr>
                              </m:ctrlPr>
                            </m:fPr>
                            <m:num>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i="0">
                                      <a:latin typeface="Cambria Math" panose="02040503050406030204" pitchFamily="18" charset="0"/>
                                    </a:rPr>
                                    <m:t>=1</m:t>
                                  </m:r>
                                </m:sub>
                                <m:sup>
                                  <m:r>
                                    <a:rPr lang="en-VN" i="1">
                                      <a:latin typeface="Cambria Math" panose="02040503050406030204" pitchFamily="18" charset="0"/>
                                    </a:rPr>
                                    <m:t>𝑁</m:t>
                                  </m:r>
                                </m:sup>
                                <m:e>
                                  <m:sSubSup>
                                    <m:sSubSupPr>
                                      <m:ctrlPr>
                                        <a:rPr lang="en-VN" i="1">
                                          <a:solidFill>
                                            <a:srgbClr val="FF0000"/>
                                          </a:solidFill>
                                          <a:latin typeface="Cambria Math" panose="02040503050406030204" pitchFamily="18" charset="0"/>
                                        </a:rPr>
                                      </m:ctrlPr>
                                    </m:sSubSupPr>
                                    <m:e>
                                      <m:r>
                                        <a:rPr lang="en-VN" i="1">
                                          <a:solidFill>
                                            <a:srgbClr val="FF0000"/>
                                          </a:solidFill>
                                          <a:latin typeface="Cambria Math" panose="02040503050406030204" pitchFamily="18" charset="0"/>
                                        </a:rPr>
                                        <m:t>𝛾</m:t>
                                      </m:r>
                                    </m:e>
                                    <m:sub>
                                      <m:r>
                                        <a:rPr lang="en-VN" i="1">
                                          <a:solidFill>
                                            <a:srgbClr val="FF0000"/>
                                          </a:solidFill>
                                          <a:latin typeface="Cambria Math" panose="02040503050406030204" pitchFamily="18" charset="0"/>
                                        </a:rPr>
                                        <m:t>𝑛𝑘</m:t>
                                      </m:r>
                                    </m:sub>
                                    <m:sup>
                                      <m:d>
                                        <m:dPr>
                                          <m:ctrlPr>
                                            <a:rPr lang="en-VN" i="1">
                                              <a:solidFill>
                                                <a:srgbClr val="FF0000"/>
                                              </a:solidFill>
                                              <a:latin typeface="Cambria Math" panose="02040503050406030204" pitchFamily="18" charset="0"/>
                                            </a:rPr>
                                          </m:ctrlPr>
                                        </m:dPr>
                                        <m:e>
                                          <m:r>
                                            <a:rPr lang="en-VN" i="1">
                                              <a:solidFill>
                                                <a:srgbClr val="FF0000"/>
                                              </a:solidFill>
                                              <a:latin typeface="Cambria Math" panose="02040503050406030204" pitchFamily="18" charset="0"/>
                                            </a:rPr>
                                            <m:t>𝑡</m:t>
                                          </m:r>
                                        </m:e>
                                      </m:d>
                                    </m:sup>
                                  </m:sSubSup>
                                </m:e>
                              </m:nary>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num>
                            <m:den>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i="0">
                                      <a:latin typeface="Cambria Math" panose="02040503050406030204" pitchFamily="18" charset="0"/>
                                    </a:rPr>
                                    <m:t>=1</m:t>
                                  </m:r>
                                </m:sub>
                                <m:sup>
                                  <m:r>
                                    <a:rPr lang="en-VN" i="1">
                                      <a:latin typeface="Cambria Math" panose="02040503050406030204" pitchFamily="18" charset="0"/>
                                    </a:rPr>
                                    <m:t>𝑁</m:t>
                                  </m:r>
                                </m:sup>
                                <m:e>
                                  <m:sSubSup>
                                    <m:sSubSupPr>
                                      <m:ctrlPr>
                                        <a:rPr lang="en-VN" i="1">
                                          <a:solidFill>
                                            <a:srgbClr val="FF0000"/>
                                          </a:solidFill>
                                          <a:latin typeface="Cambria Math" panose="02040503050406030204" pitchFamily="18" charset="0"/>
                                        </a:rPr>
                                      </m:ctrlPr>
                                    </m:sSubSupPr>
                                    <m:e>
                                      <m:r>
                                        <a:rPr lang="en-VN" i="1">
                                          <a:solidFill>
                                            <a:srgbClr val="FF0000"/>
                                          </a:solidFill>
                                          <a:latin typeface="Cambria Math" panose="02040503050406030204" pitchFamily="18" charset="0"/>
                                        </a:rPr>
                                        <m:t>𝛾</m:t>
                                      </m:r>
                                    </m:e>
                                    <m:sub>
                                      <m:r>
                                        <a:rPr lang="en-VN" i="1">
                                          <a:solidFill>
                                            <a:srgbClr val="FF0000"/>
                                          </a:solidFill>
                                          <a:latin typeface="Cambria Math" panose="02040503050406030204" pitchFamily="18" charset="0"/>
                                        </a:rPr>
                                        <m:t>𝑛𝑘</m:t>
                                      </m:r>
                                    </m:sub>
                                    <m:sup>
                                      <m:d>
                                        <m:dPr>
                                          <m:ctrlPr>
                                            <a:rPr lang="en-VN" i="1">
                                              <a:solidFill>
                                                <a:srgbClr val="FF0000"/>
                                              </a:solidFill>
                                              <a:latin typeface="Cambria Math" panose="02040503050406030204" pitchFamily="18" charset="0"/>
                                            </a:rPr>
                                          </m:ctrlPr>
                                        </m:dPr>
                                        <m:e>
                                          <m:r>
                                            <a:rPr lang="en-VN" i="1">
                                              <a:solidFill>
                                                <a:srgbClr val="FF0000"/>
                                              </a:solidFill>
                                              <a:latin typeface="Cambria Math" panose="02040503050406030204" pitchFamily="18" charset="0"/>
                                            </a:rPr>
                                            <m:t>𝑡</m:t>
                                          </m:r>
                                        </m:e>
                                      </m:d>
                                    </m:sup>
                                  </m:sSubSup>
                                </m:e>
                              </m:nary>
                            </m:den>
                          </m:f>
                        </m:e>
                      </m:borderBox>
                    </m:oMath>
                  </m:oMathPara>
                </a14:m>
                <a:endParaRPr lang="en-VN" dirty="0"/>
              </a:p>
            </p:txBody>
          </p:sp>
        </mc:Choice>
        <mc:Fallback xmlns="">
          <p:sp>
            <p:nvSpPr>
              <p:cNvPr id="6" name="TextBox 5">
                <a:extLst>
                  <a:ext uri="{FF2B5EF4-FFF2-40B4-BE49-F238E27FC236}">
                    <a16:creationId xmlns:a16="http://schemas.microsoft.com/office/drawing/2014/main" id="{088AF870-C4E1-1077-8476-1E2196A2AD8E}"/>
                  </a:ext>
                </a:extLst>
              </p:cNvPr>
              <p:cNvSpPr txBox="1">
                <a:spLocks noRot="1" noChangeAspect="1" noMove="1" noResize="1" noEditPoints="1" noAdjustHandles="1" noChangeArrowheads="1" noChangeShapeType="1" noTextEdit="1"/>
              </p:cNvSpPr>
              <p:nvPr/>
            </p:nvSpPr>
            <p:spPr>
              <a:xfrm>
                <a:off x="6824134" y="2696215"/>
                <a:ext cx="2230811" cy="961545"/>
              </a:xfrm>
              <a:prstGeom prst="rect">
                <a:avLst/>
              </a:prstGeom>
              <a:blipFill>
                <a:blip r:embed="rId4"/>
                <a:stretch>
                  <a:fillRect t="-32895" b="-565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0E4F75-6E13-95E6-04A3-6D32107CF385}"/>
                  </a:ext>
                </a:extLst>
              </p:cNvPr>
              <p:cNvSpPr txBox="1"/>
              <p:nvPr/>
            </p:nvSpPr>
            <p:spPr>
              <a:xfrm>
                <a:off x="6798733" y="3697383"/>
                <a:ext cx="3721099" cy="1292662"/>
              </a:xfrm>
              <a:prstGeom prst="rect">
                <a:avLst/>
              </a:prstGeom>
              <a:noFill/>
            </p:spPr>
            <p:txBody>
              <a:bodyPr wrap="square">
                <a:spAutoFit/>
              </a:bodyPr>
              <a:lstStyle/>
              <a:p>
                <a:pPr/>
                <a14:m>
                  <m:oMathPara xmlns:m="http://schemas.openxmlformats.org/officeDocument/2006/math">
                    <m:oMath>
                      <m:borderBox>
                        <m:borderBoxPr>
                          <m:ctrlPr>
                            <a:rPr lang="en-VN" b="1" i="1">
                              <a:solidFill>
                                <a:srgbClr val="00B050"/>
                              </a:solidFill>
                              <a:latin typeface="Cambria Math" panose="02040503050406030204" pitchFamily="18" charset="0"/>
                            </a:rPr>
                          </m:ctrlPr>
                        </m:borderBoxPr>
                        <m:e>
                          <m:sSubSup>
                            <m:sSubSupPr>
                              <m:ctrlPr>
                                <a:rPr lang="en-VN" b="1" i="1">
                                  <a:solidFill>
                                    <a:srgbClr val="00B050"/>
                                  </a:solidFill>
                                  <a:latin typeface="Cambria Math" panose="02040503050406030204" pitchFamily="18" charset="0"/>
                                </a:rPr>
                              </m:ctrlPr>
                            </m:sSubSupPr>
                            <m:e>
                              <m:r>
                                <a:rPr lang="en-VN" b="1" i="1">
                                  <a:solidFill>
                                    <a:srgbClr val="00B050"/>
                                  </a:solidFill>
                                  <a:latin typeface="Cambria Math" panose="02040503050406030204" pitchFamily="18" charset="0"/>
                                </a:rPr>
                                <m:t>𝝈</m:t>
                              </m:r>
                            </m:e>
                            <m:sub>
                              <m:r>
                                <a:rPr lang="en-VN" b="1" i="1">
                                  <a:solidFill>
                                    <a:srgbClr val="00B050"/>
                                  </a:solidFill>
                                  <a:latin typeface="Cambria Math" panose="02040503050406030204" pitchFamily="18" charset="0"/>
                                </a:rPr>
                                <m:t>𝒌</m:t>
                              </m:r>
                            </m:sub>
                            <m:sup>
                              <m:d>
                                <m:dPr>
                                  <m:ctrlPr>
                                    <a:rPr lang="en-VN" b="1" i="1">
                                      <a:solidFill>
                                        <a:srgbClr val="00B050"/>
                                      </a:solidFill>
                                      <a:latin typeface="Cambria Math" panose="02040503050406030204" pitchFamily="18" charset="0"/>
                                    </a:rPr>
                                  </m:ctrlPr>
                                </m:dPr>
                                <m:e>
                                  <m:r>
                                    <a:rPr lang="en-VN" b="1" i="1">
                                      <a:solidFill>
                                        <a:srgbClr val="00B050"/>
                                      </a:solidFill>
                                      <a:latin typeface="Cambria Math" panose="02040503050406030204" pitchFamily="18" charset="0"/>
                                    </a:rPr>
                                    <m:t>𝒕</m:t>
                                  </m:r>
                                  <m:r>
                                    <a:rPr lang="en-VN" b="1" i="0">
                                      <a:solidFill>
                                        <a:srgbClr val="00B050"/>
                                      </a:solidFill>
                                      <a:latin typeface="Cambria Math" panose="02040503050406030204" pitchFamily="18" charset="0"/>
                                    </a:rPr>
                                    <m:t>+</m:t>
                                  </m:r>
                                  <m:r>
                                    <a:rPr lang="en-VN" b="1" i="0">
                                      <a:solidFill>
                                        <a:srgbClr val="00B050"/>
                                      </a:solidFill>
                                      <a:latin typeface="Cambria Math" panose="02040503050406030204" pitchFamily="18" charset="0"/>
                                    </a:rPr>
                                    <m:t>𝟏</m:t>
                                  </m:r>
                                </m:e>
                              </m:d>
                            </m:sup>
                          </m:sSubSup>
                          <m:r>
                            <a:rPr lang="en-VN" i="0">
                              <a:latin typeface="Cambria Math" panose="02040503050406030204" pitchFamily="18" charset="0"/>
                            </a:rPr>
                            <m:t>=</m:t>
                          </m:r>
                          <m:rad>
                            <m:radPr>
                              <m:degHide m:val="on"/>
                              <m:ctrlPr>
                                <a:rPr lang="en-VN" i="1">
                                  <a:latin typeface="Cambria Math" panose="02040503050406030204" pitchFamily="18" charset="0"/>
                                </a:rPr>
                              </m:ctrlPr>
                            </m:radPr>
                            <m:deg/>
                            <m:e>
                              <m:f>
                                <m:fPr>
                                  <m:ctrlPr>
                                    <a:rPr lang="en-VN" i="1">
                                      <a:latin typeface="Cambria Math" panose="02040503050406030204" pitchFamily="18" charset="0"/>
                                    </a:rPr>
                                  </m:ctrlPr>
                                </m:fPr>
                                <m:num>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i="0">
                                          <a:latin typeface="Cambria Math" panose="02040503050406030204" pitchFamily="18" charset="0"/>
                                        </a:rPr>
                                        <m:t>=1</m:t>
                                      </m:r>
                                    </m:sub>
                                    <m:sup>
                                      <m:r>
                                        <a:rPr lang="en-VN" i="1">
                                          <a:latin typeface="Cambria Math" panose="02040503050406030204" pitchFamily="18" charset="0"/>
                                        </a:rPr>
                                        <m:t>𝑁</m:t>
                                      </m:r>
                                    </m:sup>
                                    <m:e>
                                      <m:sSubSup>
                                        <m:sSubSupPr>
                                          <m:ctrlPr>
                                            <a:rPr lang="en-VN" i="1">
                                              <a:solidFill>
                                                <a:srgbClr val="FF0000"/>
                                              </a:solidFill>
                                              <a:latin typeface="Cambria Math" panose="02040503050406030204" pitchFamily="18" charset="0"/>
                                            </a:rPr>
                                          </m:ctrlPr>
                                        </m:sSubSupPr>
                                        <m:e>
                                          <m:r>
                                            <a:rPr lang="en-VN" i="1">
                                              <a:solidFill>
                                                <a:srgbClr val="FF0000"/>
                                              </a:solidFill>
                                              <a:latin typeface="Cambria Math" panose="02040503050406030204" pitchFamily="18" charset="0"/>
                                            </a:rPr>
                                            <m:t>𝛾</m:t>
                                          </m:r>
                                        </m:e>
                                        <m:sub>
                                          <m:r>
                                            <a:rPr lang="en-VN" i="1">
                                              <a:solidFill>
                                                <a:srgbClr val="FF0000"/>
                                              </a:solidFill>
                                              <a:latin typeface="Cambria Math" panose="02040503050406030204" pitchFamily="18" charset="0"/>
                                            </a:rPr>
                                            <m:t>𝑛𝑘</m:t>
                                          </m:r>
                                        </m:sub>
                                        <m:sup>
                                          <m:d>
                                            <m:dPr>
                                              <m:ctrlPr>
                                                <a:rPr lang="en-VN" i="1">
                                                  <a:solidFill>
                                                    <a:srgbClr val="FF0000"/>
                                                  </a:solidFill>
                                                  <a:latin typeface="Cambria Math" panose="02040503050406030204" pitchFamily="18" charset="0"/>
                                                </a:rPr>
                                              </m:ctrlPr>
                                            </m:dPr>
                                            <m:e>
                                              <m:r>
                                                <a:rPr lang="en-VN" i="1">
                                                  <a:solidFill>
                                                    <a:srgbClr val="FF0000"/>
                                                  </a:solidFill>
                                                  <a:latin typeface="Cambria Math" panose="02040503050406030204" pitchFamily="18" charset="0"/>
                                                </a:rPr>
                                                <m:t>𝑡</m:t>
                                              </m:r>
                                            </m:e>
                                          </m:d>
                                        </m:sup>
                                      </m:sSubSup>
                                    </m:e>
                                  </m:nary>
                                  <m:sSup>
                                    <m:sSupPr>
                                      <m:ctrlPr>
                                        <a:rPr lang="en-VN" i="1">
                                          <a:latin typeface="Cambria Math" panose="02040503050406030204" pitchFamily="18" charset="0"/>
                                        </a:rPr>
                                      </m:ctrlPr>
                                    </m:sSupPr>
                                    <m:e>
                                      <m:d>
                                        <m:dPr>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Sup>
                                            <m:sSubSupPr>
                                              <m:ctrlPr>
                                                <a:rPr lang="en-VN" i="1">
                                                  <a:solidFill>
                                                    <a:srgbClr val="0070C0"/>
                                                  </a:solidFill>
                                                  <a:latin typeface="Cambria Math" panose="02040503050406030204" pitchFamily="18" charset="0"/>
                                                </a:rPr>
                                              </m:ctrlPr>
                                            </m:sSubSupPr>
                                            <m:e>
                                              <m:r>
                                                <a:rPr lang="en-VN" i="1">
                                                  <a:solidFill>
                                                    <a:srgbClr val="0070C0"/>
                                                  </a:solidFill>
                                                  <a:latin typeface="Cambria Math" panose="02040503050406030204" pitchFamily="18" charset="0"/>
                                                </a:rPr>
                                                <m:t>𝜇</m:t>
                                              </m:r>
                                            </m:e>
                                            <m:sub>
                                              <m:r>
                                                <a:rPr lang="en-VN" i="1">
                                                  <a:solidFill>
                                                    <a:srgbClr val="0070C0"/>
                                                  </a:solidFill>
                                                  <a:latin typeface="Cambria Math" panose="02040503050406030204" pitchFamily="18" charset="0"/>
                                                </a:rPr>
                                                <m:t>𝑘</m:t>
                                              </m:r>
                                            </m:sub>
                                            <m:sup>
                                              <m:d>
                                                <m:dPr>
                                                  <m:ctrlPr>
                                                    <a:rPr lang="en-VN" i="1">
                                                      <a:solidFill>
                                                        <a:srgbClr val="0070C0"/>
                                                      </a:solidFill>
                                                      <a:latin typeface="Cambria Math" panose="02040503050406030204" pitchFamily="18" charset="0"/>
                                                    </a:rPr>
                                                  </m:ctrlPr>
                                                </m:dPr>
                                                <m:e>
                                                  <m:r>
                                                    <a:rPr lang="en-VN" i="1">
                                                      <a:solidFill>
                                                        <a:srgbClr val="0070C0"/>
                                                      </a:solidFill>
                                                      <a:latin typeface="Cambria Math" panose="02040503050406030204" pitchFamily="18" charset="0"/>
                                                    </a:rPr>
                                                    <m:t>𝑡</m:t>
                                                  </m:r>
                                                  <m:r>
                                                    <a:rPr lang="en-VN" i="0">
                                                      <a:solidFill>
                                                        <a:srgbClr val="0070C0"/>
                                                      </a:solidFill>
                                                      <a:latin typeface="Cambria Math" panose="02040503050406030204" pitchFamily="18" charset="0"/>
                                                    </a:rPr>
                                                    <m:t>+1</m:t>
                                                  </m:r>
                                                </m:e>
                                              </m:d>
                                            </m:sup>
                                          </m:sSubSup>
                                        </m:e>
                                      </m:d>
                                    </m:e>
                                    <m:sup>
                                      <m:r>
                                        <a:rPr lang="en-VN" i="0">
                                          <a:latin typeface="Cambria Math" panose="02040503050406030204" pitchFamily="18" charset="0"/>
                                        </a:rPr>
                                        <m:t>2</m:t>
                                      </m:r>
                                    </m:sup>
                                  </m:sSup>
                                </m:num>
                                <m:den>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i="0">
                                          <a:latin typeface="Cambria Math" panose="02040503050406030204" pitchFamily="18" charset="0"/>
                                        </a:rPr>
                                        <m:t>=1</m:t>
                                      </m:r>
                                    </m:sub>
                                    <m:sup>
                                      <m:r>
                                        <a:rPr lang="en-VN" i="1">
                                          <a:latin typeface="Cambria Math" panose="02040503050406030204" pitchFamily="18" charset="0"/>
                                        </a:rPr>
                                        <m:t>𝑁</m:t>
                                      </m:r>
                                    </m:sup>
                                    <m:e>
                                      <m:sSubSup>
                                        <m:sSubSupPr>
                                          <m:ctrlPr>
                                            <a:rPr lang="en-VN" i="1">
                                              <a:solidFill>
                                                <a:srgbClr val="FF0000"/>
                                              </a:solidFill>
                                              <a:latin typeface="Cambria Math" panose="02040503050406030204" pitchFamily="18" charset="0"/>
                                            </a:rPr>
                                          </m:ctrlPr>
                                        </m:sSubSupPr>
                                        <m:e>
                                          <m:r>
                                            <a:rPr lang="en-VN" i="1">
                                              <a:solidFill>
                                                <a:srgbClr val="FF0000"/>
                                              </a:solidFill>
                                              <a:latin typeface="Cambria Math" panose="02040503050406030204" pitchFamily="18" charset="0"/>
                                            </a:rPr>
                                            <m:t>𝛾</m:t>
                                          </m:r>
                                        </m:e>
                                        <m:sub>
                                          <m:r>
                                            <a:rPr lang="en-VN" i="1">
                                              <a:solidFill>
                                                <a:srgbClr val="FF0000"/>
                                              </a:solidFill>
                                              <a:latin typeface="Cambria Math" panose="02040503050406030204" pitchFamily="18" charset="0"/>
                                            </a:rPr>
                                            <m:t>𝑛𝑘</m:t>
                                          </m:r>
                                        </m:sub>
                                        <m:sup>
                                          <m:d>
                                            <m:dPr>
                                              <m:ctrlPr>
                                                <a:rPr lang="en-VN" i="1">
                                                  <a:solidFill>
                                                    <a:srgbClr val="FF0000"/>
                                                  </a:solidFill>
                                                  <a:latin typeface="Cambria Math" panose="02040503050406030204" pitchFamily="18" charset="0"/>
                                                </a:rPr>
                                              </m:ctrlPr>
                                            </m:dPr>
                                            <m:e>
                                              <m:r>
                                                <a:rPr lang="en-VN" i="1">
                                                  <a:solidFill>
                                                    <a:srgbClr val="FF0000"/>
                                                  </a:solidFill>
                                                  <a:latin typeface="Cambria Math" panose="02040503050406030204" pitchFamily="18" charset="0"/>
                                                </a:rPr>
                                                <m:t>𝑡</m:t>
                                              </m:r>
                                            </m:e>
                                          </m:d>
                                        </m:sup>
                                      </m:sSubSup>
                                    </m:e>
                                  </m:nary>
                                </m:den>
                              </m:f>
                            </m:e>
                          </m:rad>
                        </m:e>
                      </m:borderBox>
                    </m:oMath>
                  </m:oMathPara>
                </a14:m>
                <a:endParaRPr lang="en-VN" dirty="0"/>
              </a:p>
            </p:txBody>
          </p:sp>
        </mc:Choice>
        <mc:Fallback xmlns="">
          <p:sp>
            <p:nvSpPr>
              <p:cNvPr id="13" name="TextBox 12">
                <a:extLst>
                  <a:ext uri="{FF2B5EF4-FFF2-40B4-BE49-F238E27FC236}">
                    <a16:creationId xmlns:a16="http://schemas.microsoft.com/office/drawing/2014/main" id="{590E4F75-6E13-95E6-04A3-6D32107CF385}"/>
                  </a:ext>
                </a:extLst>
              </p:cNvPr>
              <p:cNvSpPr txBox="1">
                <a:spLocks noRot="1" noChangeAspect="1" noMove="1" noResize="1" noEditPoints="1" noAdjustHandles="1" noChangeArrowheads="1" noChangeShapeType="1" noTextEdit="1"/>
              </p:cNvSpPr>
              <p:nvPr/>
            </p:nvSpPr>
            <p:spPr>
              <a:xfrm>
                <a:off x="6798733" y="3697383"/>
                <a:ext cx="3721099" cy="1292662"/>
              </a:xfrm>
              <a:prstGeom prst="rect">
                <a:avLst/>
              </a:prstGeom>
              <a:blipFill>
                <a:blip r:embed="rId5"/>
                <a:stretch>
                  <a:fillRect t="-8738" b="-3398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FF5CB22-B5A3-F2BD-4AC8-F9E43A69BD64}"/>
                  </a:ext>
                </a:extLst>
              </p:cNvPr>
              <p:cNvSpPr txBox="1"/>
              <p:nvPr/>
            </p:nvSpPr>
            <p:spPr>
              <a:xfrm>
                <a:off x="6375322" y="5084824"/>
                <a:ext cx="2992966" cy="821700"/>
              </a:xfrm>
              <a:prstGeom prst="rect">
                <a:avLst/>
              </a:prstGeom>
              <a:noFill/>
            </p:spPr>
            <p:txBody>
              <a:bodyPr wrap="square">
                <a:spAutoFit/>
              </a:bodyPr>
              <a:lstStyle/>
              <a:p>
                <a:pPr/>
                <a14:m>
                  <m:oMathPara xmlns:m="http://schemas.openxmlformats.org/officeDocument/2006/math">
                    <m:oMath>
                      <m:borderBox>
                        <m:borderBoxPr>
                          <m:ctrlPr>
                            <a:rPr lang="en-VN" b="1" i="1">
                              <a:solidFill>
                                <a:schemeClr val="accent6">
                                  <a:lumMod val="75000"/>
                                </a:schemeClr>
                              </a:solidFill>
                              <a:latin typeface="Cambria Math" panose="02040503050406030204" pitchFamily="18" charset="0"/>
                            </a:rPr>
                          </m:ctrlPr>
                        </m:borderBoxPr>
                        <m:e>
                          <m:sSubSup>
                            <m:sSubSupPr>
                              <m:ctrlPr>
                                <a:rPr lang="en-VN" b="1" i="1">
                                  <a:solidFill>
                                    <a:schemeClr val="accent6">
                                      <a:lumMod val="75000"/>
                                    </a:schemeClr>
                                  </a:solidFill>
                                  <a:latin typeface="Cambria Math" panose="02040503050406030204" pitchFamily="18" charset="0"/>
                                </a:rPr>
                              </m:ctrlPr>
                            </m:sSubSupPr>
                            <m:e>
                              <m:r>
                                <a:rPr lang="en-VN" b="1" i="1">
                                  <a:solidFill>
                                    <a:schemeClr val="accent6">
                                      <a:lumMod val="75000"/>
                                    </a:schemeClr>
                                  </a:solidFill>
                                  <a:latin typeface="Cambria Math" panose="02040503050406030204" pitchFamily="18" charset="0"/>
                                </a:rPr>
                                <m:t>𝝅</m:t>
                              </m:r>
                            </m:e>
                            <m:sub>
                              <m:r>
                                <a:rPr lang="en-VN" b="1" i="1">
                                  <a:solidFill>
                                    <a:schemeClr val="accent6">
                                      <a:lumMod val="75000"/>
                                    </a:schemeClr>
                                  </a:solidFill>
                                  <a:latin typeface="Cambria Math" panose="02040503050406030204" pitchFamily="18" charset="0"/>
                                </a:rPr>
                                <m:t>𝒌</m:t>
                              </m:r>
                            </m:sub>
                            <m:sup>
                              <m:d>
                                <m:dPr>
                                  <m:ctrlPr>
                                    <a:rPr lang="en-VN" b="1" i="1">
                                      <a:solidFill>
                                        <a:schemeClr val="accent6">
                                          <a:lumMod val="75000"/>
                                        </a:schemeClr>
                                      </a:solidFill>
                                      <a:latin typeface="Cambria Math" panose="02040503050406030204" pitchFamily="18" charset="0"/>
                                    </a:rPr>
                                  </m:ctrlPr>
                                </m:dPr>
                                <m:e>
                                  <m:r>
                                    <a:rPr lang="en-VN" b="1" i="1">
                                      <a:solidFill>
                                        <a:schemeClr val="accent6">
                                          <a:lumMod val="75000"/>
                                        </a:schemeClr>
                                      </a:solidFill>
                                      <a:latin typeface="Cambria Math" panose="02040503050406030204" pitchFamily="18" charset="0"/>
                                    </a:rPr>
                                    <m:t>𝒕</m:t>
                                  </m:r>
                                  <m:r>
                                    <a:rPr lang="en-VN" b="1" i="0">
                                      <a:solidFill>
                                        <a:schemeClr val="accent6">
                                          <a:lumMod val="75000"/>
                                        </a:schemeClr>
                                      </a:solidFill>
                                      <a:latin typeface="Cambria Math" panose="02040503050406030204" pitchFamily="18" charset="0"/>
                                    </a:rPr>
                                    <m:t>+</m:t>
                                  </m:r>
                                  <m:r>
                                    <a:rPr lang="en-VN" b="1" i="0">
                                      <a:solidFill>
                                        <a:schemeClr val="accent6">
                                          <a:lumMod val="75000"/>
                                        </a:schemeClr>
                                      </a:solidFill>
                                      <a:latin typeface="Cambria Math" panose="02040503050406030204" pitchFamily="18" charset="0"/>
                                    </a:rPr>
                                    <m:t>𝟏</m:t>
                                  </m:r>
                                </m:e>
                              </m:d>
                            </m:sup>
                          </m:sSubSup>
                          <m:r>
                            <a:rPr lang="en-VN" i="0">
                              <a:latin typeface="Cambria Math" panose="02040503050406030204" pitchFamily="18" charset="0"/>
                            </a:rPr>
                            <m:t>=</m:t>
                          </m:r>
                          <m:f>
                            <m:fPr>
                              <m:ctrlPr>
                                <a:rPr lang="en-VN" i="1">
                                  <a:latin typeface="Cambria Math" panose="02040503050406030204" pitchFamily="18" charset="0"/>
                                </a:rPr>
                              </m:ctrlPr>
                            </m:fPr>
                            <m:num>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i="0">
                                      <a:latin typeface="Cambria Math" panose="02040503050406030204" pitchFamily="18" charset="0"/>
                                    </a:rPr>
                                    <m:t>=1</m:t>
                                  </m:r>
                                </m:sub>
                                <m:sup>
                                  <m:r>
                                    <a:rPr lang="en-VN" i="1">
                                      <a:latin typeface="Cambria Math" panose="02040503050406030204" pitchFamily="18" charset="0"/>
                                    </a:rPr>
                                    <m:t>𝑁</m:t>
                                  </m:r>
                                </m:sup>
                                <m:e>
                                  <m:sSubSup>
                                    <m:sSubSupPr>
                                      <m:ctrlPr>
                                        <a:rPr lang="en-VN" i="1">
                                          <a:solidFill>
                                            <a:srgbClr val="FF0000"/>
                                          </a:solidFill>
                                          <a:latin typeface="Cambria Math" panose="02040503050406030204" pitchFamily="18" charset="0"/>
                                        </a:rPr>
                                      </m:ctrlPr>
                                    </m:sSubSupPr>
                                    <m:e>
                                      <m:r>
                                        <a:rPr lang="en-VN" i="1">
                                          <a:solidFill>
                                            <a:srgbClr val="FF0000"/>
                                          </a:solidFill>
                                          <a:latin typeface="Cambria Math" panose="02040503050406030204" pitchFamily="18" charset="0"/>
                                        </a:rPr>
                                        <m:t>𝛾</m:t>
                                      </m:r>
                                    </m:e>
                                    <m:sub>
                                      <m:r>
                                        <a:rPr lang="en-VN" i="1">
                                          <a:solidFill>
                                            <a:srgbClr val="FF0000"/>
                                          </a:solidFill>
                                          <a:latin typeface="Cambria Math" panose="02040503050406030204" pitchFamily="18" charset="0"/>
                                        </a:rPr>
                                        <m:t>𝑛𝑘</m:t>
                                      </m:r>
                                    </m:sub>
                                    <m:sup>
                                      <m:d>
                                        <m:dPr>
                                          <m:ctrlPr>
                                            <a:rPr lang="en-VN" i="1">
                                              <a:solidFill>
                                                <a:srgbClr val="FF0000"/>
                                              </a:solidFill>
                                              <a:latin typeface="Cambria Math" panose="02040503050406030204" pitchFamily="18" charset="0"/>
                                            </a:rPr>
                                          </m:ctrlPr>
                                        </m:dPr>
                                        <m:e>
                                          <m:r>
                                            <a:rPr lang="en-VN" i="1">
                                              <a:solidFill>
                                                <a:srgbClr val="FF0000"/>
                                              </a:solidFill>
                                              <a:latin typeface="Cambria Math" panose="02040503050406030204" pitchFamily="18" charset="0"/>
                                            </a:rPr>
                                            <m:t>𝑡</m:t>
                                          </m:r>
                                        </m:e>
                                      </m:d>
                                    </m:sup>
                                  </m:sSubSup>
                                </m:e>
                              </m:nary>
                            </m:num>
                            <m:den>
                              <m:r>
                                <a:rPr lang="en-VN" i="1">
                                  <a:latin typeface="Cambria Math" panose="02040503050406030204" pitchFamily="18" charset="0"/>
                                </a:rPr>
                                <m:t>𝑁</m:t>
                              </m:r>
                            </m:den>
                          </m:f>
                        </m:e>
                      </m:borderBox>
                    </m:oMath>
                  </m:oMathPara>
                </a14:m>
                <a:endParaRPr lang="en-VN" dirty="0"/>
              </a:p>
            </p:txBody>
          </p:sp>
        </mc:Choice>
        <mc:Fallback xmlns="">
          <p:sp>
            <p:nvSpPr>
              <p:cNvPr id="15" name="TextBox 14">
                <a:extLst>
                  <a:ext uri="{FF2B5EF4-FFF2-40B4-BE49-F238E27FC236}">
                    <a16:creationId xmlns:a16="http://schemas.microsoft.com/office/drawing/2014/main" id="{CFF5CB22-B5A3-F2BD-4AC8-F9E43A69BD64}"/>
                  </a:ext>
                </a:extLst>
              </p:cNvPr>
              <p:cNvSpPr txBox="1">
                <a:spLocks noRot="1" noChangeAspect="1" noMove="1" noResize="1" noEditPoints="1" noAdjustHandles="1" noChangeArrowheads="1" noChangeShapeType="1" noTextEdit="1"/>
              </p:cNvSpPr>
              <p:nvPr/>
            </p:nvSpPr>
            <p:spPr>
              <a:xfrm>
                <a:off x="6375322" y="5084824"/>
                <a:ext cx="2992966" cy="821700"/>
              </a:xfrm>
              <a:prstGeom prst="rect">
                <a:avLst/>
              </a:prstGeom>
              <a:blipFill>
                <a:blip r:embed="rId6"/>
                <a:stretch>
                  <a:fillRect t="-37879" b="-33333"/>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E2D7AC6C-99CF-5154-EFA4-0AF17152FAE7}"/>
              </a:ext>
            </a:extLst>
          </p:cNvPr>
          <p:cNvSpPr txBox="1"/>
          <p:nvPr/>
        </p:nvSpPr>
        <p:spPr>
          <a:xfrm>
            <a:off x="6824134" y="2368626"/>
            <a:ext cx="1895071" cy="307777"/>
          </a:xfrm>
          <a:prstGeom prst="rect">
            <a:avLst/>
          </a:prstGeom>
          <a:noFill/>
        </p:spPr>
        <p:txBody>
          <a:bodyPr wrap="none" rtlCol="0">
            <a:spAutoFit/>
          </a:bodyPr>
          <a:lstStyle/>
          <a:p>
            <a:pPr>
              <a:spcAft>
                <a:spcPts val="600"/>
              </a:spcAft>
            </a:pPr>
            <a:r>
              <a:rPr lang="vi-VN" sz="1400" dirty="0">
                <a:solidFill>
                  <a:srgbClr val="444B52"/>
                </a:solidFill>
                <a:latin typeface="Arial"/>
              </a:rPr>
              <a:t>Cập nhật bộ tham số:</a:t>
            </a:r>
            <a:endParaRPr lang="vi-VN" sz="1400" b="1" dirty="0">
              <a:solidFill>
                <a:srgbClr val="444B52"/>
              </a:solidFill>
              <a:latin typeface="Arial"/>
            </a:endParaRPr>
          </a:p>
        </p:txBody>
      </p:sp>
    </p:spTree>
    <p:extLst>
      <p:ext uri="{BB962C8B-B14F-4D97-AF65-F5344CB8AC3E}">
        <p14:creationId xmlns:p14="http://schemas.microsoft.com/office/powerpoint/2010/main" val="22174218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71803-DA8D-CD35-E2BF-361965FD1B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3CCC8F-DCD0-370E-E68A-F24E2C57B3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0B75FA47-33E1-14C7-14EE-B8332EB320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CF2F81C-8F74-F677-64B6-AD3232623D6B}"/>
                  </a:ext>
                </a:extLst>
              </p:cNvPr>
              <p:cNvSpPr txBox="1"/>
              <p:nvPr/>
            </p:nvSpPr>
            <p:spPr>
              <a:xfrm>
                <a:off x="364066" y="2350561"/>
                <a:ext cx="56557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xmlns="">
          <p:sp>
            <p:nvSpPr>
              <p:cNvPr id="10" name="TextBox 9">
                <a:extLst>
                  <a:ext uri="{FF2B5EF4-FFF2-40B4-BE49-F238E27FC236}">
                    <a16:creationId xmlns:a16="http://schemas.microsoft.com/office/drawing/2014/main" id="{2CF2F81C-8F74-F677-64B6-AD3232623D6B}"/>
                  </a:ext>
                </a:extLst>
              </p:cNvPr>
              <p:cNvSpPr txBox="1">
                <a:spLocks noRot="1" noChangeAspect="1" noMove="1" noResize="1" noEditPoints="1" noAdjustHandles="1" noChangeArrowheads="1" noChangeShapeType="1" noTextEdit="1"/>
              </p:cNvSpPr>
              <p:nvPr/>
            </p:nvSpPr>
            <p:spPr>
              <a:xfrm>
                <a:off x="364066" y="2350561"/>
                <a:ext cx="5655734" cy="2939266"/>
              </a:xfrm>
              <a:prstGeom prst="rect">
                <a:avLst/>
              </a:prstGeom>
              <a:blipFill>
                <a:blip r:embed="rId3"/>
                <a:stretch>
                  <a:fillRect l="-224" t="-431" b="-129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576A63-FAA3-2BB7-CB68-26A20A0C4215}"/>
                  </a:ext>
                </a:extLst>
              </p:cNvPr>
              <p:cNvSpPr txBox="1"/>
              <p:nvPr/>
            </p:nvSpPr>
            <p:spPr>
              <a:xfrm>
                <a:off x="6604003" y="3791952"/>
                <a:ext cx="4495800" cy="53290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Cambria Math" panose="02040503050406030204" pitchFamily="18" charset="0"/>
                            </a:rPr>
                          </m:ctrlPr>
                        </m:borderBoxPr>
                        <m:e>
                          <m:r>
                            <m:rPr>
                              <m:sty m:val="p"/>
                            </m:rPr>
                            <a:rPr lang="en-VN" smtClean="0">
                              <a:solidFill>
                                <a:srgbClr val="00B050"/>
                              </a:solidFill>
                              <a:latin typeface="Cambria Math" panose="02040503050406030204" pitchFamily="18" charset="0"/>
                            </a:rPr>
                            <m:t>Δ</m:t>
                          </m:r>
                          <m:r>
                            <m:rPr>
                              <m:sty m:val="p"/>
                            </m:rPr>
                            <a:rPr lang="en-VN" i="0">
                              <a:solidFill>
                                <a:srgbClr val="00B050"/>
                              </a:solidFill>
                              <a:latin typeface="Cambria Math" panose="02040503050406030204" pitchFamily="18" charset="0"/>
                            </a:rPr>
                            <m:t>ℓ</m:t>
                          </m:r>
                          <m:r>
                            <a:rPr lang="en-VN" i="0">
                              <a:latin typeface="Cambria Math" panose="02040503050406030204" pitchFamily="18" charset="0"/>
                            </a:rPr>
                            <m:t>=</m:t>
                          </m:r>
                          <m:d>
                            <m:dPr>
                              <m:begChr m:val="|"/>
                              <m:endChr m:val="|"/>
                              <m:ctrlPr>
                                <a:rPr lang="en-VN" i="1">
                                  <a:solidFill>
                                    <a:schemeClr val="accent5">
                                      <a:lumMod val="75000"/>
                                    </a:schemeClr>
                                  </a:solidFill>
                                  <a:latin typeface="Cambria Math" panose="02040503050406030204" pitchFamily="18" charset="0"/>
                                </a:rPr>
                              </m:ctrlPr>
                            </m:dPr>
                            <m:e>
                              <m:func>
                                <m:funcPr>
                                  <m:ctrlPr>
                                    <a:rPr lang="en-VN" i="0">
                                      <a:solidFill>
                                        <a:schemeClr val="accent5">
                                          <a:lumMod val="75000"/>
                                        </a:schemeClr>
                                      </a:solidFill>
                                      <a:latin typeface="Cambria Math" panose="02040503050406030204" pitchFamily="18" charset="0"/>
                                    </a:rPr>
                                  </m:ctrlPr>
                                </m:funcPr>
                                <m:fName>
                                  <m:r>
                                    <m:rPr>
                                      <m:sty m:val="p"/>
                                    </m:rPr>
                                    <a:rPr lang="en-VN" i="0">
                                      <a:solidFill>
                                        <a:schemeClr val="accent5">
                                          <a:lumMod val="75000"/>
                                        </a:schemeClr>
                                      </a:solidFill>
                                      <a:latin typeface="Cambria Math" panose="02040503050406030204" pitchFamily="18" charset="0"/>
                                    </a:rPr>
                                    <m:t>ln</m:t>
                                  </m:r>
                                </m:fName>
                                <m:e>
                                  <m:r>
                                    <a:rPr lang="en-VN" i="1">
                                      <a:solidFill>
                                        <a:schemeClr val="accent5">
                                          <a:lumMod val="75000"/>
                                        </a:schemeClr>
                                      </a:solidFill>
                                      <a:latin typeface="Cambria Math" panose="02040503050406030204" pitchFamily="18" charset="0"/>
                                    </a:rPr>
                                    <m:t>𝐿</m:t>
                                  </m:r>
                                </m:e>
                              </m:func>
                              <m:d>
                                <m:dPr>
                                  <m:ctrlPr>
                                    <a:rPr lang="en-VN" i="1">
                                      <a:solidFill>
                                        <a:schemeClr val="accent5">
                                          <a:lumMod val="75000"/>
                                        </a:schemeClr>
                                      </a:solidFill>
                                      <a:latin typeface="Cambria Math" panose="02040503050406030204" pitchFamily="18" charset="0"/>
                                    </a:rPr>
                                  </m:ctrlPr>
                                </m:dPr>
                                <m:e>
                                  <m:sSup>
                                    <m:sSupPr>
                                      <m:ctrlPr>
                                        <a:rPr lang="en-VN" i="1">
                                          <a:solidFill>
                                            <a:schemeClr val="accent5">
                                              <a:lumMod val="75000"/>
                                            </a:schemeClr>
                                          </a:solidFill>
                                          <a:latin typeface="Cambria Math" panose="02040503050406030204" pitchFamily="18" charset="0"/>
                                        </a:rPr>
                                      </m:ctrlPr>
                                    </m:sSupPr>
                                    <m:e>
                                      <m:r>
                                        <a:rPr lang="en-VN" i="1">
                                          <a:solidFill>
                                            <a:schemeClr val="accent5">
                                              <a:lumMod val="75000"/>
                                            </a:schemeClr>
                                          </a:solidFill>
                                          <a:latin typeface="Cambria Math" panose="02040503050406030204" pitchFamily="18" charset="0"/>
                                        </a:rPr>
                                        <m:t>𝜃</m:t>
                                      </m:r>
                                    </m:e>
                                    <m:sup>
                                      <m:d>
                                        <m:dPr>
                                          <m:ctrlPr>
                                            <a:rPr lang="en-VN" i="1">
                                              <a:solidFill>
                                                <a:schemeClr val="accent5">
                                                  <a:lumMod val="75000"/>
                                                </a:schemeClr>
                                              </a:solidFill>
                                              <a:latin typeface="Cambria Math" panose="02040503050406030204" pitchFamily="18" charset="0"/>
                                            </a:rPr>
                                          </m:ctrlPr>
                                        </m:dPr>
                                        <m:e>
                                          <m:r>
                                            <a:rPr lang="en-VN" i="1">
                                              <a:solidFill>
                                                <a:schemeClr val="accent5">
                                                  <a:lumMod val="75000"/>
                                                </a:schemeClr>
                                              </a:solidFill>
                                              <a:latin typeface="Cambria Math" panose="02040503050406030204" pitchFamily="18" charset="0"/>
                                            </a:rPr>
                                            <m:t>𝑡</m:t>
                                          </m:r>
                                          <m:r>
                                            <a:rPr lang="en-VN" i="0">
                                              <a:solidFill>
                                                <a:schemeClr val="accent5">
                                                  <a:lumMod val="75000"/>
                                                </a:schemeClr>
                                              </a:solidFill>
                                              <a:latin typeface="Cambria Math" panose="02040503050406030204" pitchFamily="18" charset="0"/>
                                            </a:rPr>
                                            <m:t>+1</m:t>
                                          </m:r>
                                        </m:e>
                                      </m:d>
                                    </m:sup>
                                  </m:sSup>
                                  <m:r>
                                    <a:rPr lang="en-VN" i="0">
                                      <a:solidFill>
                                        <a:schemeClr val="accent5">
                                          <a:lumMod val="75000"/>
                                        </a:schemeClr>
                                      </a:solidFill>
                                      <a:latin typeface="Cambria Math" panose="02040503050406030204" pitchFamily="18" charset="0"/>
                                    </a:rPr>
                                    <m:t>∣</m:t>
                                  </m:r>
                                  <m:r>
                                    <a:rPr lang="en-VN" i="1">
                                      <a:solidFill>
                                        <a:schemeClr val="accent5">
                                          <a:lumMod val="75000"/>
                                        </a:schemeClr>
                                      </a:solidFill>
                                      <a:latin typeface="Cambria Math" panose="02040503050406030204" pitchFamily="18" charset="0"/>
                                    </a:rPr>
                                    <m:t>𝑥</m:t>
                                  </m:r>
                                </m:e>
                              </m:d>
                              <m:r>
                                <a:rPr lang="en-VN" i="0">
                                  <a:latin typeface="Cambria Math" panose="02040503050406030204" pitchFamily="18" charset="0"/>
                                </a:rPr>
                                <m:t>−</m:t>
                              </m:r>
                              <m:func>
                                <m:funcPr>
                                  <m:ctrlPr>
                                    <a:rPr lang="en-VN" i="0">
                                      <a:solidFill>
                                        <a:schemeClr val="accent2">
                                          <a:lumMod val="75000"/>
                                        </a:schemeClr>
                                      </a:solidFill>
                                      <a:latin typeface="Cambria Math" panose="02040503050406030204" pitchFamily="18" charset="0"/>
                                    </a:rPr>
                                  </m:ctrlPr>
                                </m:funcPr>
                                <m:fName>
                                  <m:r>
                                    <m:rPr>
                                      <m:sty m:val="p"/>
                                    </m:rPr>
                                    <a:rPr lang="en-VN" i="0">
                                      <a:solidFill>
                                        <a:schemeClr val="accent2">
                                          <a:lumMod val="75000"/>
                                        </a:schemeClr>
                                      </a:solidFill>
                                      <a:latin typeface="Cambria Math" panose="02040503050406030204" pitchFamily="18" charset="0"/>
                                    </a:rPr>
                                    <m:t>ln</m:t>
                                  </m:r>
                                </m:fName>
                                <m:e>
                                  <m:r>
                                    <a:rPr lang="en-VN" i="1">
                                      <a:solidFill>
                                        <a:schemeClr val="accent2">
                                          <a:lumMod val="75000"/>
                                        </a:schemeClr>
                                      </a:solidFill>
                                      <a:latin typeface="Cambria Math" panose="02040503050406030204" pitchFamily="18" charset="0"/>
                                    </a:rPr>
                                    <m:t>𝐿</m:t>
                                  </m:r>
                                </m:e>
                              </m:func>
                              <m:d>
                                <m:dPr>
                                  <m:ctrlPr>
                                    <a:rPr lang="en-VN" i="1">
                                      <a:solidFill>
                                        <a:schemeClr val="accent2">
                                          <a:lumMod val="75000"/>
                                        </a:schemeClr>
                                      </a:solidFill>
                                      <a:latin typeface="Cambria Math" panose="02040503050406030204" pitchFamily="18" charset="0"/>
                                    </a:rPr>
                                  </m:ctrlPr>
                                </m:dPr>
                                <m:e>
                                  <m:sSup>
                                    <m:sSupPr>
                                      <m:ctrlPr>
                                        <a:rPr lang="en-VN" i="1">
                                          <a:solidFill>
                                            <a:schemeClr val="accent2">
                                              <a:lumMod val="75000"/>
                                            </a:schemeClr>
                                          </a:solidFill>
                                          <a:latin typeface="Cambria Math" panose="02040503050406030204" pitchFamily="18" charset="0"/>
                                        </a:rPr>
                                      </m:ctrlPr>
                                    </m:sSupPr>
                                    <m:e>
                                      <m:r>
                                        <a:rPr lang="en-VN" i="1">
                                          <a:solidFill>
                                            <a:schemeClr val="accent2">
                                              <a:lumMod val="75000"/>
                                            </a:schemeClr>
                                          </a:solidFill>
                                          <a:latin typeface="Cambria Math" panose="02040503050406030204" pitchFamily="18" charset="0"/>
                                        </a:rPr>
                                        <m:t>𝜃</m:t>
                                      </m:r>
                                    </m:e>
                                    <m:sup>
                                      <m:d>
                                        <m:dPr>
                                          <m:ctrlPr>
                                            <a:rPr lang="en-VN" i="1">
                                              <a:solidFill>
                                                <a:schemeClr val="accent2">
                                                  <a:lumMod val="75000"/>
                                                </a:schemeClr>
                                              </a:solidFill>
                                              <a:latin typeface="Cambria Math" panose="02040503050406030204" pitchFamily="18" charset="0"/>
                                            </a:rPr>
                                          </m:ctrlPr>
                                        </m:dPr>
                                        <m:e>
                                          <m:r>
                                            <a:rPr lang="en-VN" i="1">
                                              <a:solidFill>
                                                <a:schemeClr val="accent2">
                                                  <a:lumMod val="75000"/>
                                                </a:schemeClr>
                                              </a:solidFill>
                                              <a:latin typeface="Cambria Math" panose="02040503050406030204" pitchFamily="18" charset="0"/>
                                            </a:rPr>
                                            <m:t>𝑡</m:t>
                                          </m:r>
                                        </m:e>
                                      </m:d>
                                    </m:sup>
                                  </m:sSup>
                                  <m:r>
                                    <a:rPr lang="en-VN" i="0">
                                      <a:solidFill>
                                        <a:schemeClr val="accent2">
                                          <a:lumMod val="75000"/>
                                        </a:schemeClr>
                                      </a:solidFill>
                                      <a:latin typeface="Cambria Math" panose="02040503050406030204" pitchFamily="18" charset="0"/>
                                    </a:rPr>
                                    <m:t>∣</m:t>
                                  </m:r>
                                  <m:r>
                                    <a:rPr lang="en-VN" i="1">
                                      <a:solidFill>
                                        <a:schemeClr val="accent2">
                                          <a:lumMod val="75000"/>
                                        </a:schemeClr>
                                      </a:solidFill>
                                      <a:latin typeface="Cambria Math" panose="02040503050406030204" pitchFamily="18" charset="0"/>
                                    </a:rPr>
                                    <m:t>𝑥</m:t>
                                  </m:r>
                                </m:e>
                              </m:d>
                            </m:e>
                          </m:d>
                        </m:e>
                      </m:borderBox>
                    </m:oMath>
                  </m:oMathPara>
                </a14:m>
                <a:endParaRPr lang="en-VN" dirty="0"/>
              </a:p>
            </p:txBody>
          </p:sp>
        </mc:Choice>
        <mc:Fallback xmlns="">
          <p:sp>
            <p:nvSpPr>
              <p:cNvPr id="8" name="TextBox 7">
                <a:extLst>
                  <a:ext uri="{FF2B5EF4-FFF2-40B4-BE49-F238E27FC236}">
                    <a16:creationId xmlns:a16="http://schemas.microsoft.com/office/drawing/2014/main" id="{33576A63-FAA3-2BB7-CB68-26A20A0C4215}"/>
                  </a:ext>
                </a:extLst>
              </p:cNvPr>
              <p:cNvSpPr txBox="1">
                <a:spLocks noRot="1" noChangeAspect="1" noMove="1" noResize="1" noEditPoints="1" noAdjustHandles="1" noChangeArrowheads="1" noChangeShapeType="1" noTextEdit="1"/>
              </p:cNvSpPr>
              <p:nvPr/>
            </p:nvSpPr>
            <p:spPr>
              <a:xfrm>
                <a:off x="6604003" y="3791952"/>
                <a:ext cx="4495800" cy="532903"/>
              </a:xfrm>
              <a:prstGeom prst="rect">
                <a:avLst/>
              </a:prstGeom>
              <a:blipFill>
                <a:blip r:embed="rId4"/>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5AD0EF4-91E4-01D8-D0ED-40D6B009CE53}"/>
                  </a:ext>
                </a:extLst>
              </p:cNvPr>
              <p:cNvSpPr txBox="1"/>
              <p:nvPr/>
            </p:nvSpPr>
            <p:spPr>
              <a:xfrm>
                <a:off x="6841068" y="4892184"/>
                <a:ext cx="2412999" cy="459485"/>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Cambria Math" panose="02040503050406030204" pitchFamily="18" charset="0"/>
                            </a:rPr>
                          </m:ctrlPr>
                        </m:borderBoxPr>
                        <m:e>
                          <m:r>
                            <m:rPr>
                              <m:sty m:val="p"/>
                            </m:rPr>
                            <a:rPr lang="en-VN" smtClean="0">
                              <a:solidFill>
                                <a:srgbClr val="00B050"/>
                              </a:solidFill>
                              <a:latin typeface="Cambria Math" panose="02040503050406030204" pitchFamily="18" charset="0"/>
                            </a:rPr>
                            <m:t>Δ</m:t>
                          </m:r>
                          <m:r>
                            <m:rPr>
                              <m:sty m:val="p"/>
                            </m:rPr>
                            <a:rPr lang="en-VN" i="0">
                              <a:solidFill>
                                <a:srgbClr val="00B050"/>
                              </a:solidFill>
                              <a:latin typeface="Cambria Math" panose="02040503050406030204" pitchFamily="18" charset="0"/>
                            </a:rPr>
                            <m:t>ℓ</m:t>
                          </m:r>
                          <m:r>
                            <a:rPr lang="en-VN" i="0">
                              <a:latin typeface="Cambria Math" panose="02040503050406030204" pitchFamily="18" charset="0"/>
                            </a:rPr>
                            <m:t>≥</m:t>
                          </m:r>
                          <m:r>
                            <a:rPr lang="en-VN" i="1">
                              <a:latin typeface="Cambria Math" panose="02040503050406030204" pitchFamily="18" charset="0"/>
                            </a:rPr>
                            <m:t>𝜀</m:t>
                          </m:r>
                          <m:r>
                            <a:rPr lang="en-VN" i="0">
                              <a:latin typeface="Cambria Math" panose="02040503050406030204" pitchFamily="18" charset="0"/>
                            </a:rPr>
                            <m:t>⇒</m:t>
                          </m:r>
                          <m:r>
                            <m:rPr>
                              <m:nor/>
                            </m:rPr>
                            <a:rPr lang="vi-VN" b="0" i="0" smtClean="0">
                              <a:latin typeface="+mn-lt"/>
                            </a:rPr>
                            <m:t>Q</m:t>
                          </m:r>
                          <m:r>
                            <m:rPr>
                              <m:nor/>
                            </m:rPr>
                            <a:rPr lang="en-VN" i="0">
                              <a:latin typeface="+mn-lt"/>
                            </a:rPr>
                            <m:t>uay lại </m:t>
                          </m:r>
                          <m:r>
                            <m:rPr>
                              <m:sty m:val="p"/>
                            </m:rPr>
                            <a:rPr lang="vi-VN" b="0" i="1" smtClean="0">
                              <a:latin typeface="Cambria Math" panose="02040503050406030204" pitchFamily="18" charset="0"/>
                            </a:rPr>
                            <m:t>b</m:t>
                          </m:r>
                          <m:r>
                            <a:rPr lang="vi-VN" b="0" i="1" smtClean="0">
                              <a:latin typeface="Cambria Math" panose="02040503050406030204" pitchFamily="18" charset="0"/>
                            </a:rPr>
                            <m:t>ướ</m:t>
                          </m:r>
                          <m:r>
                            <m:rPr>
                              <m:sty m:val="p"/>
                            </m:rPr>
                            <a:rPr lang="vi-VN" b="0" i="1" smtClean="0">
                              <a:latin typeface="Cambria Math" panose="02040503050406030204" pitchFamily="18" charset="0"/>
                            </a:rPr>
                            <m:t>c</m:t>
                          </m:r>
                          <m:r>
                            <a:rPr lang="vi-VN" b="0" i="1" smtClean="0">
                              <a:latin typeface="Cambria Math" panose="02040503050406030204" pitchFamily="18" charset="0"/>
                            </a:rPr>
                            <m:t> 2</m:t>
                          </m:r>
                        </m:e>
                      </m:borderBox>
                    </m:oMath>
                  </m:oMathPara>
                </a14:m>
                <a:endParaRPr lang="en-VN" dirty="0"/>
              </a:p>
            </p:txBody>
          </p:sp>
        </mc:Choice>
        <mc:Fallback xmlns="">
          <p:sp>
            <p:nvSpPr>
              <p:cNvPr id="13" name="TextBox 12">
                <a:extLst>
                  <a:ext uri="{FF2B5EF4-FFF2-40B4-BE49-F238E27FC236}">
                    <a16:creationId xmlns:a16="http://schemas.microsoft.com/office/drawing/2014/main" id="{65AD0EF4-91E4-01D8-D0ED-40D6B009CE53}"/>
                  </a:ext>
                </a:extLst>
              </p:cNvPr>
              <p:cNvSpPr txBox="1">
                <a:spLocks noRot="1" noChangeAspect="1" noMove="1" noResize="1" noEditPoints="1" noAdjustHandles="1" noChangeArrowheads="1" noChangeShapeType="1" noTextEdit="1"/>
              </p:cNvSpPr>
              <p:nvPr/>
            </p:nvSpPr>
            <p:spPr>
              <a:xfrm>
                <a:off x="6841068" y="4892184"/>
                <a:ext cx="2412999" cy="459485"/>
              </a:xfrm>
              <a:prstGeom prst="rect">
                <a:avLst/>
              </a:prstGeom>
              <a:blipFill>
                <a:blip r:embed="rId5"/>
                <a:stretch>
                  <a:fillRect r="-12565" b="-270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D7382DD-4FB3-93B9-A6F2-94E3BEDE82B5}"/>
                  </a:ext>
                </a:extLst>
              </p:cNvPr>
              <p:cNvSpPr txBox="1"/>
              <p:nvPr/>
            </p:nvSpPr>
            <p:spPr>
              <a:xfrm>
                <a:off x="6172202" y="4378585"/>
                <a:ext cx="3141133" cy="46179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Cambria Math" panose="02040503050406030204" pitchFamily="18" charset="0"/>
                            </a:rPr>
                          </m:ctrlPr>
                        </m:borderBoxPr>
                        <m:e>
                          <m:r>
                            <m:rPr>
                              <m:sty m:val="p"/>
                            </m:rPr>
                            <a:rPr lang="en-VN" smtClean="0">
                              <a:solidFill>
                                <a:srgbClr val="00B050"/>
                              </a:solidFill>
                              <a:latin typeface="Cambria Math" panose="02040503050406030204" pitchFamily="18" charset="0"/>
                            </a:rPr>
                            <m:t>Δ</m:t>
                          </m:r>
                          <m:r>
                            <m:rPr>
                              <m:sty m:val="p"/>
                            </m:rPr>
                            <a:rPr lang="en-VN" i="0">
                              <a:solidFill>
                                <a:srgbClr val="00B050"/>
                              </a:solidFill>
                              <a:latin typeface="Cambria Math" panose="02040503050406030204" pitchFamily="18" charset="0"/>
                            </a:rPr>
                            <m:t>ℓ</m:t>
                          </m:r>
                          <m:r>
                            <a:rPr lang="vi-VN" b="0" i="0" smtClean="0">
                              <a:latin typeface="Cambria Math" panose="02040503050406030204" pitchFamily="18" charset="0"/>
                            </a:rPr>
                            <m:t>&lt;</m:t>
                          </m:r>
                          <m:r>
                            <a:rPr lang="en-VN" i="1">
                              <a:latin typeface="Cambria Math" panose="02040503050406030204" pitchFamily="18" charset="0"/>
                            </a:rPr>
                            <m:t>𝜀</m:t>
                          </m:r>
                          <m:r>
                            <a:rPr lang="en-VN" i="0">
                              <a:latin typeface="Cambria Math" panose="02040503050406030204" pitchFamily="18" charset="0"/>
                            </a:rPr>
                            <m:t>⇒</m:t>
                          </m:r>
                          <m:r>
                            <m:rPr>
                              <m:sty m:val="p"/>
                            </m:rPr>
                            <a:rPr lang="vi-VN" b="0" i="1" smtClean="0">
                              <a:latin typeface="Cambria Math" panose="02040503050406030204" pitchFamily="18" charset="0"/>
                            </a:rPr>
                            <m:t>D</m:t>
                          </m:r>
                          <m:r>
                            <a:rPr lang="vi-VN" b="0" i="1" smtClean="0">
                              <a:latin typeface="Cambria Math" panose="02040503050406030204" pitchFamily="18" charset="0"/>
                            </a:rPr>
                            <m:t>ừ</m:t>
                          </m:r>
                          <m:r>
                            <m:rPr>
                              <m:sty m:val="p"/>
                            </m:rPr>
                            <a:rPr lang="vi-VN" b="0" i="1" smtClean="0">
                              <a:latin typeface="Cambria Math" panose="02040503050406030204" pitchFamily="18" charset="0"/>
                            </a:rPr>
                            <m:t>ng</m:t>
                          </m:r>
                        </m:e>
                      </m:borderBox>
                    </m:oMath>
                  </m:oMathPara>
                </a14:m>
                <a:endParaRPr lang="en-VN" dirty="0"/>
              </a:p>
            </p:txBody>
          </p:sp>
        </mc:Choice>
        <mc:Fallback xmlns="">
          <p:sp>
            <p:nvSpPr>
              <p:cNvPr id="14" name="TextBox 13">
                <a:extLst>
                  <a:ext uri="{FF2B5EF4-FFF2-40B4-BE49-F238E27FC236}">
                    <a16:creationId xmlns:a16="http://schemas.microsoft.com/office/drawing/2014/main" id="{4D7382DD-4FB3-93B9-A6F2-94E3BEDE82B5}"/>
                  </a:ext>
                </a:extLst>
              </p:cNvPr>
              <p:cNvSpPr txBox="1">
                <a:spLocks noRot="1" noChangeAspect="1" noMove="1" noResize="1" noEditPoints="1" noAdjustHandles="1" noChangeArrowheads="1" noChangeShapeType="1" noTextEdit="1"/>
              </p:cNvSpPr>
              <p:nvPr/>
            </p:nvSpPr>
            <p:spPr>
              <a:xfrm>
                <a:off x="6172202" y="4378585"/>
                <a:ext cx="3141133" cy="461793"/>
              </a:xfrm>
              <a:prstGeom prst="rect">
                <a:avLst/>
              </a:prstGeom>
              <a:blipFill>
                <a:blip r:embed="rId6"/>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1EB5A3D-3BE8-FC81-287D-25343E95E5CE}"/>
                  </a:ext>
                </a:extLst>
              </p:cNvPr>
              <p:cNvSpPr txBox="1"/>
              <p:nvPr/>
            </p:nvSpPr>
            <p:spPr>
              <a:xfrm>
                <a:off x="6841068" y="3082982"/>
                <a:ext cx="4418197" cy="523220"/>
              </a:xfrm>
              <a:prstGeom prst="rect">
                <a:avLst/>
              </a:prstGeom>
              <a:noFill/>
            </p:spPr>
            <p:txBody>
              <a:bodyPr wrap="none" rtlCol="0">
                <a:spAutoFit/>
              </a:bodyPr>
              <a:lstStyle/>
              <a:p>
                <a:r>
                  <a:rPr lang="vi-VN" sz="1400" dirty="0">
                    <a:solidFill>
                      <a:srgbClr val="444B52"/>
                    </a:solidFill>
                    <a:latin typeface="Arial"/>
                  </a:rPr>
                  <a:t>Ngưỡng hội tụ là siêu tham số định trước: (tolerance)</a:t>
                </a:r>
              </a:p>
              <a:p>
                <a:pPr/>
                <a14:m>
                  <m:oMathPara xmlns:m="http://schemas.openxmlformats.org/officeDocument/2006/math">
                    <m:oMathParaPr>
                      <m:jc m:val="left"/>
                    </m:oMathParaPr>
                    <m:oMath>
                      <m:r>
                        <a:rPr lang="vi-VN" sz="1400" b="1" i="1" dirty="0">
                          <a:solidFill>
                            <a:srgbClr val="444B52"/>
                          </a:solidFill>
                          <a:latin typeface="Cambria Math" panose="02040503050406030204" pitchFamily="18" charset="0"/>
                        </a:rPr>
                        <m:t>𝜀</m:t>
                      </m:r>
                      <m:r>
                        <a:rPr lang="vi-VN" sz="1400" b="1" i="0" dirty="0">
                          <a:solidFill>
                            <a:srgbClr val="444B52"/>
                          </a:solidFill>
                          <a:latin typeface="Cambria Math" panose="02040503050406030204" pitchFamily="18" charset="0"/>
                        </a:rPr>
                        <m:t>=</m:t>
                      </m:r>
                      <m:sSup>
                        <m:sSupPr>
                          <m:ctrlPr>
                            <a:rPr lang="vi-VN" sz="1400" b="1" i="0" dirty="0">
                              <a:solidFill>
                                <a:srgbClr val="444B52"/>
                              </a:solidFill>
                              <a:latin typeface="Cambria Math" panose="02040503050406030204" pitchFamily="18" charset="0"/>
                            </a:rPr>
                          </m:ctrlPr>
                        </m:sSupPr>
                        <m:e>
                          <m:r>
                            <a:rPr lang="vi-VN" sz="1400" b="1" i="0" dirty="0">
                              <a:solidFill>
                                <a:srgbClr val="444B52"/>
                              </a:solidFill>
                              <a:latin typeface="Cambria Math" panose="02040503050406030204" pitchFamily="18" charset="0"/>
                            </a:rPr>
                            <m:t>10</m:t>
                          </m:r>
                        </m:e>
                        <m:sup>
                          <m:r>
                            <a:rPr lang="vi-VN" sz="1400" b="1" i="0" dirty="0">
                              <a:solidFill>
                                <a:srgbClr val="444B52"/>
                              </a:solidFill>
                              <a:latin typeface="Cambria Math" panose="02040503050406030204" pitchFamily="18" charset="0"/>
                            </a:rPr>
                            <m:t>−6</m:t>
                          </m:r>
                        </m:sup>
                      </m:sSup>
                    </m:oMath>
                  </m:oMathPara>
                </a14:m>
                <a:endParaRPr lang="vi-VN" sz="1400" b="1" dirty="0">
                  <a:solidFill>
                    <a:srgbClr val="444B52"/>
                  </a:solidFill>
                  <a:latin typeface="Arial"/>
                </a:endParaRPr>
              </a:p>
            </p:txBody>
          </p:sp>
        </mc:Choice>
        <mc:Fallback xmlns="">
          <p:sp>
            <p:nvSpPr>
              <p:cNvPr id="16" name="TextBox 15">
                <a:extLst>
                  <a:ext uri="{FF2B5EF4-FFF2-40B4-BE49-F238E27FC236}">
                    <a16:creationId xmlns:a16="http://schemas.microsoft.com/office/drawing/2014/main" id="{F1EB5A3D-3BE8-FC81-287D-25343E95E5CE}"/>
                  </a:ext>
                </a:extLst>
              </p:cNvPr>
              <p:cNvSpPr txBox="1">
                <a:spLocks noRot="1" noChangeAspect="1" noMove="1" noResize="1" noEditPoints="1" noAdjustHandles="1" noChangeArrowheads="1" noChangeShapeType="1" noTextEdit="1"/>
              </p:cNvSpPr>
              <p:nvPr/>
            </p:nvSpPr>
            <p:spPr>
              <a:xfrm>
                <a:off x="6841068" y="3082982"/>
                <a:ext cx="4418197" cy="523220"/>
              </a:xfrm>
              <a:prstGeom prst="rect">
                <a:avLst/>
              </a:prstGeom>
              <a:blipFill>
                <a:blip r:embed="rId7"/>
                <a:stretch>
                  <a:fillRect l="-287" t="-2326"/>
                </a:stretch>
              </a:blipFill>
            </p:spPr>
            <p:txBody>
              <a:bodyPr/>
              <a:lstStyle/>
              <a:p>
                <a:r>
                  <a:rPr lang="en-VN">
                    <a:noFill/>
                  </a:rPr>
                  <a:t> </a:t>
                </a:r>
              </a:p>
            </p:txBody>
          </p:sp>
        </mc:Fallback>
      </mc:AlternateContent>
    </p:spTree>
    <p:extLst>
      <p:ext uri="{BB962C8B-B14F-4D97-AF65-F5344CB8AC3E}">
        <p14:creationId xmlns:p14="http://schemas.microsoft.com/office/powerpoint/2010/main" val="1239998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1C1BF-E023-FBC4-3034-2C684E91A71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FCB140E-98DF-9B51-8588-821955C00D5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4BAA30E-8767-B460-8C12-AC8FC7A299A4}"/>
                  </a:ext>
                </a:extLst>
              </p:cNvPr>
              <p:cNvSpPr txBox="1"/>
              <p:nvPr/>
            </p:nvSpPr>
            <p:spPr>
              <a:xfrm>
                <a:off x="364066" y="1267772"/>
                <a:ext cx="10961159" cy="140038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a:p>
                <a:pPr>
                  <a:spcAft>
                    <a:spcPts val="600"/>
                  </a:spcAft>
                </a:pPr>
                <a:br>
                  <a:rPr lang="vi-VN" sz="1400" b="1" dirty="0">
                    <a:solidFill>
                      <a:srgbClr val="444B52"/>
                    </a:solidFill>
                    <a:latin typeface="Arial"/>
                  </a:rPr>
                </a:br>
                <a:r>
                  <a:rPr lang="vi-VN" sz="1400" dirty="0">
                    <a:solidFill>
                      <a:srgbClr val="444B52"/>
                    </a:solidFill>
                    <a:latin typeface="Arial"/>
                  </a:rPr>
                  <a:t>Hàm mục tiêu log-likelihood được cấu thành từ 2 thành phần: </a:t>
                </a:r>
              </a:p>
              <a:p>
                <a:pPr>
                  <a:spcAft>
                    <a:spcPts val="600"/>
                  </a:spcAft>
                </a:pPr>
                <a:r>
                  <a:rPr lang="vi-VN" sz="1400" dirty="0">
                    <a:solidFill>
                      <a:schemeClr val="tx2">
                        <a:lumMod val="60000"/>
                        <a:lumOff val="40000"/>
                      </a:schemeClr>
                    </a:solidFill>
                    <a:latin typeface="Arial"/>
                  </a:rPr>
                  <a:t>Log-likelihood</a:t>
                </a:r>
                <a:r>
                  <a:rPr lang="vi-VN" sz="1400" dirty="0">
                    <a:solidFill>
                      <a:srgbClr val="444B52"/>
                    </a:solidFill>
                    <a:latin typeface="Arial"/>
                  </a:rPr>
                  <a:t> = </a:t>
                </a:r>
                <a14:m>
                  <m:oMath xmlns:m="http://schemas.openxmlformats.org/officeDocument/2006/math">
                    <m:r>
                      <m:rPr>
                        <m:nor/>
                      </m:rPr>
                      <a:rPr lang="en-VN" sz="1400" i="0" smtClean="0">
                        <a:solidFill>
                          <a:schemeClr val="accent2">
                            <a:lumMod val="60000"/>
                            <a:lumOff val="40000"/>
                          </a:schemeClr>
                        </a:solidFill>
                        <a:latin typeface="Cambria Math" panose="02040503050406030204" pitchFamily="18" charset="0"/>
                      </a:rPr>
                      <m:t>ELBO</m:t>
                    </m:r>
                  </m:oMath>
                </a14:m>
                <a:r>
                  <a:rPr lang="vi-VN" sz="1400" dirty="0">
                    <a:solidFill>
                      <a:srgbClr val="444B52"/>
                    </a:solidFill>
                    <a:latin typeface="Arial"/>
                  </a:rPr>
                  <a:t> + </a:t>
                </a:r>
                <a14:m>
                  <m:oMath xmlns:m="http://schemas.openxmlformats.org/officeDocument/2006/math">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oMath>
                </a14:m>
                <a:endParaRPr lang="vi-VN" sz="1400" b="1" dirty="0">
                  <a:solidFill>
                    <a:srgbClr val="444B52"/>
                  </a:solidFill>
                  <a:latin typeface="Arial"/>
                </a:endParaRPr>
              </a:p>
            </p:txBody>
          </p:sp>
        </mc:Choice>
        <mc:Fallback xmlns="">
          <p:sp>
            <p:nvSpPr>
              <p:cNvPr id="4" name="TextBox 3">
                <a:extLst>
                  <a:ext uri="{FF2B5EF4-FFF2-40B4-BE49-F238E27FC236}">
                    <a16:creationId xmlns:a16="http://schemas.microsoft.com/office/drawing/2014/main" id="{44BAA30E-8767-B460-8C12-AC8FC7A299A4}"/>
                  </a:ext>
                </a:extLst>
              </p:cNvPr>
              <p:cNvSpPr txBox="1">
                <a:spLocks noRot="1" noChangeAspect="1" noMove="1" noResize="1" noEditPoints="1" noAdjustHandles="1" noChangeArrowheads="1" noChangeShapeType="1" noTextEdit="1"/>
              </p:cNvSpPr>
              <p:nvPr/>
            </p:nvSpPr>
            <p:spPr>
              <a:xfrm>
                <a:off x="364066" y="1267772"/>
                <a:ext cx="10961159" cy="1400383"/>
              </a:xfrm>
              <a:prstGeom prst="rect">
                <a:avLst/>
              </a:prstGeom>
              <a:blipFill>
                <a:blip r:embed="rId3"/>
                <a:stretch>
                  <a:fillRect l="-116" t="-893" b="-3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71FCA69-526D-B23D-FE13-82E609A1CD4A}"/>
                  </a:ext>
                </a:extLst>
              </p:cNvPr>
              <p:cNvSpPr txBox="1"/>
              <p:nvPr/>
            </p:nvSpPr>
            <p:spPr>
              <a:xfrm>
                <a:off x="430967" y="3179064"/>
                <a:ext cx="6901390" cy="985334"/>
              </a:xfrm>
              <a:prstGeom prst="rect">
                <a:avLst/>
              </a:prstGeom>
              <a:noFill/>
            </p:spPr>
            <p:txBody>
              <a:bodyPr wrap="square">
                <a:spAutoFit/>
              </a:bodyPr>
              <a:lstStyle/>
              <a:p>
                <a:pPr/>
                <a14:m>
                  <m:oMathPara xmlns:m="http://schemas.openxmlformats.org/officeDocument/2006/math">
                    <m:oMath>
                      <m:borderBox>
                        <m:borderBoxPr>
                          <m:ctrlPr>
                            <a:rPr lang="en-VN" sz="1400" i="1">
                              <a:solidFill>
                                <a:schemeClr val="tx2">
                                  <a:lumMod val="60000"/>
                                  <a:lumOff val="40000"/>
                                </a:schemeClr>
                              </a:solidFill>
                              <a:latin typeface="Cambria Math" panose="02040503050406030204" pitchFamily="18" charset="0"/>
                            </a:rPr>
                          </m:ctrlPr>
                        </m:borderBoxPr>
                        <m:e>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limLow>
                            <m:limLowPr>
                              <m:ctrlPr>
                                <a:rPr lang="en-VN" sz="1400" i="1">
                                  <a:solidFill>
                                    <a:schemeClr val="accent2">
                                      <a:lumMod val="60000"/>
                                      <a:lumOff val="40000"/>
                                    </a:schemeClr>
                                  </a:solidFill>
                                  <a:latin typeface="Cambria Math" panose="02040503050406030204" pitchFamily="18" charset="0"/>
                                </a:rPr>
                              </m:ctrlPr>
                            </m:limLowPr>
                            <m:e>
                              <m:groupChr>
                                <m:groupChrPr>
                                  <m:chr m:val="⏟"/>
                                  <m:pos m:val="bot"/>
                                  <m:vertJc m:val="top"/>
                                  <m:ctrlPr>
                                    <a:rPr lang="en-VN" sz="1400" i="1">
                                      <a:solidFill>
                                        <a:schemeClr val="accent2">
                                          <a:lumMod val="60000"/>
                                          <a:lumOff val="40000"/>
                                        </a:schemeClr>
                                      </a:solidFill>
                                      <a:latin typeface="Cambria Math" panose="02040503050406030204" pitchFamily="18" charset="0"/>
                                    </a:rPr>
                                  </m:ctrlPr>
                                </m:groupChrPr>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𝑛</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𝑁</m:t>
                                      </m:r>
                                    </m:sup>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𝑘</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𝐾</m:t>
                                          </m:r>
                                        </m:sup>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e>
                                      </m:nary>
                                    </m:e>
                                  </m:nary>
                                  <m:func>
                                    <m:funcPr>
                                      <m:ctrlPr>
                                        <a:rPr lang="en-VN" sz="1400" i="0">
                                          <a:solidFill>
                                            <a:schemeClr val="accent2">
                                              <a:lumMod val="60000"/>
                                              <a:lumOff val="40000"/>
                                            </a:schemeClr>
                                          </a:solidFill>
                                          <a:latin typeface="Cambria Math" panose="02040503050406030204" pitchFamily="18" charset="0"/>
                                        </a:rPr>
                                      </m:ctrlPr>
                                    </m:funcPr>
                                    <m:fName>
                                      <m:r>
                                        <m:rPr>
                                          <m:sty m:val="p"/>
                                        </m:rPr>
                                        <a:rPr lang="en-VN" sz="1400" i="0">
                                          <a:solidFill>
                                            <a:schemeClr val="accent2">
                                              <a:lumMod val="60000"/>
                                              <a:lumOff val="40000"/>
                                            </a:schemeClr>
                                          </a:solidFill>
                                          <a:latin typeface="Cambria Math" panose="02040503050406030204" pitchFamily="18" charset="0"/>
                                        </a:rPr>
                                        <m:t>ln</m:t>
                                      </m:r>
                                    </m:fName>
                                    <m:e>
                                      <m:d>
                                        <m:dPr>
                                          <m:ctrlPr>
                                            <a:rPr lang="en-VN" sz="1400" i="1">
                                              <a:solidFill>
                                                <a:schemeClr val="accent2">
                                                  <a:lumMod val="60000"/>
                                                  <a:lumOff val="40000"/>
                                                </a:schemeClr>
                                              </a:solidFill>
                                              <a:latin typeface="Cambria Math" panose="02040503050406030204" pitchFamily="18" charset="0"/>
                                            </a:rPr>
                                          </m:ctrlPr>
                                        </m:dPr>
                                        <m:e>
                                          <m:f>
                                            <m:fPr>
                                              <m:ctrlPr>
                                                <a:rPr lang="en-VN" sz="1400" i="1">
                                                  <a:solidFill>
                                                    <a:schemeClr val="accent2">
                                                      <a:lumMod val="60000"/>
                                                      <a:lumOff val="40000"/>
                                                    </a:schemeClr>
                                                  </a:solidFill>
                                                  <a:latin typeface="Cambria Math" panose="02040503050406030204" pitchFamily="18" charset="0"/>
                                                </a:rPr>
                                              </m:ctrlPr>
                                            </m:fPr>
                                            <m:num>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𝜋</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𝒩</m:t>
                                              </m:r>
                                              <m:d>
                                                <m:dPr>
                                                  <m:ctrlPr>
                                                    <a:rPr lang="en-VN" sz="1400" i="1">
                                                      <a:solidFill>
                                                        <a:schemeClr val="accent2">
                                                          <a:lumMod val="60000"/>
                                                          <a:lumOff val="40000"/>
                                                        </a:schemeClr>
                                                      </a:solidFill>
                                                      <a:latin typeface="Cambria Math" panose="02040503050406030204" pitchFamily="18" charset="0"/>
                                                    </a:rPr>
                                                  </m:ctrlPr>
                                                </m:dPr>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𝑥</m:t>
                                                      </m:r>
                                                    </m:e>
                                                    <m:sub>
                                                      <m:r>
                                                        <a:rPr lang="en-VN" sz="1400" i="1">
                                                          <a:solidFill>
                                                            <a:schemeClr val="accent2">
                                                              <a:lumMod val="60000"/>
                                                              <a:lumOff val="40000"/>
                                                            </a:schemeClr>
                                                          </a:solidFill>
                                                          <a:latin typeface="Cambria Math" panose="02040503050406030204" pitchFamily="18" charset="0"/>
                                                        </a:rPr>
                                                        <m:t>𝑛</m:t>
                                                      </m:r>
                                                    </m:sub>
                                                  </m:sSub>
                                                  <m:r>
                                                    <a:rPr lang="en-VN" sz="1400" i="0">
                                                      <a:solidFill>
                                                        <a:schemeClr val="accent2">
                                                          <a:lumMod val="60000"/>
                                                          <a:lumOff val="40000"/>
                                                        </a:schemeClr>
                                                      </a:solidFill>
                                                      <a:latin typeface="Cambria Math" panose="02040503050406030204" pitchFamily="18" charset="0"/>
                                                    </a:rPr>
                                                    <m:t>∣</m:t>
                                                  </m:r>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𝜇</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m:t>
                                                  </m:r>
                                                  <m:sSubSup>
                                                    <m:sSubSupPr>
                                                      <m:ctrlPr>
                                                        <a:rPr lang="en-VN" sz="1400" i="1">
                                                          <a:solidFill>
                                                            <a:schemeClr val="accent2">
                                                              <a:lumMod val="60000"/>
                                                              <a:lumOff val="40000"/>
                                                            </a:schemeClr>
                                                          </a:solidFill>
                                                          <a:latin typeface="Cambria Math" panose="02040503050406030204" pitchFamily="18" charset="0"/>
                                                        </a:rPr>
                                                      </m:ctrlPr>
                                                    </m:sSubSupPr>
                                                    <m:e>
                                                      <m:r>
                                                        <a:rPr lang="en-VN" sz="1400" i="1">
                                                          <a:solidFill>
                                                            <a:schemeClr val="accent2">
                                                              <a:lumMod val="60000"/>
                                                              <a:lumOff val="40000"/>
                                                            </a:schemeClr>
                                                          </a:solidFill>
                                                          <a:latin typeface="Cambria Math" panose="02040503050406030204" pitchFamily="18" charset="0"/>
                                                        </a:rPr>
                                                        <m:t>𝜎</m:t>
                                                      </m:r>
                                                    </m:e>
                                                    <m:sub>
                                                      <m:r>
                                                        <a:rPr lang="en-VN" sz="1400" i="1">
                                                          <a:solidFill>
                                                            <a:schemeClr val="accent2">
                                                              <a:lumMod val="60000"/>
                                                              <a:lumOff val="40000"/>
                                                            </a:schemeClr>
                                                          </a:solidFill>
                                                          <a:latin typeface="Cambria Math" panose="02040503050406030204" pitchFamily="18" charset="0"/>
                                                        </a:rPr>
                                                        <m:t>𝑘</m:t>
                                                      </m:r>
                                                    </m:sub>
                                                    <m:sup>
                                                      <m:r>
                                                        <a:rPr lang="en-VN" sz="1400" i="0">
                                                          <a:solidFill>
                                                            <a:schemeClr val="accent2">
                                                              <a:lumMod val="60000"/>
                                                              <a:lumOff val="40000"/>
                                                            </a:schemeClr>
                                                          </a:solidFill>
                                                          <a:latin typeface="Cambria Math" panose="02040503050406030204" pitchFamily="18" charset="0"/>
                                                        </a:rPr>
                                                        <m:t>2</m:t>
                                                      </m:r>
                                                    </m:sup>
                                                  </m:sSubSup>
                                                </m:e>
                                              </m:d>
                                            </m:num>
                                            <m:den>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den>
                                          </m:f>
                                        </m:e>
                                      </m:d>
                                    </m:e>
                                  </m:func>
                                </m:e>
                              </m:groupChr>
                            </m:e>
                            <m:lim/>
                          </m:limLow>
                          <m:r>
                            <a:rPr lang="en-VN" sz="1400" i="0">
                              <a:latin typeface="Cambria Math" panose="02040503050406030204" pitchFamily="18" charset="0"/>
                            </a:rPr>
                            <m:t>+</m:t>
                          </m:r>
                          <m:limLow>
                            <m:limLowPr>
                              <m:ctrlPr>
                                <a:rPr lang="en-VN" sz="1400" i="1">
                                  <a:solidFill>
                                    <a:srgbClr val="00B050"/>
                                  </a:solidFill>
                                  <a:latin typeface="Cambria Math" panose="02040503050406030204" pitchFamily="18" charset="0"/>
                                </a:rPr>
                              </m:ctrlPr>
                            </m:limLowPr>
                            <m:e>
                              <m:groupChr>
                                <m:groupChrPr>
                                  <m:chr m:val="⏟"/>
                                  <m:pos m:val="bot"/>
                                  <m:vertJc m:val="top"/>
                                  <m:ctrlPr>
                                    <a:rPr lang="en-VN" sz="1400" i="1">
                                      <a:solidFill>
                                        <a:srgbClr val="00B050"/>
                                      </a:solidFill>
                                      <a:latin typeface="Cambria Math" panose="02040503050406030204" pitchFamily="18" charset="0"/>
                                    </a:rPr>
                                  </m:ctrlPr>
                                </m:groupChrPr>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𝑛</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𝑁</m:t>
                                      </m:r>
                                    </m:sup>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𝐾</m:t>
                                          </m:r>
                                        </m:sup>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e>
                                      </m:nary>
                                    </m:e>
                                  </m:nary>
                                  <m:func>
                                    <m:funcPr>
                                      <m:ctrlPr>
                                        <a:rPr lang="en-VN" sz="1400" i="0">
                                          <a:solidFill>
                                            <a:srgbClr val="00B050"/>
                                          </a:solidFill>
                                          <a:latin typeface="Cambria Math" panose="02040503050406030204" pitchFamily="18" charset="0"/>
                                        </a:rPr>
                                      </m:ctrlPr>
                                    </m:funcPr>
                                    <m:fName>
                                      <m:r>
                                        <m:rPr>
                                          <m:sty m:val="p"/>
                                        </m:rPr>
                                        <a:rPr lang="en-VN" sz="1400" i="0">
                                          <a:solidFill>
                                            <a:srgbClr val="00B050"/>
                                          </a:solidFill>
                                          <a:latin typeface="Cambria Math" panose="02040503050406030204" pitchFamily="18" charset="0"/>
                                        </a:rPr>
                                        <m:t>ln</m:t>
                                      </m:r>
                                    </m:fName>
                                    <m:e>
                                      <m:d>
                                        <m:dPr>
                                          <m:ctrlPr>
                                            <a:rPr lang="en-VN" sz="1400" i="1">
                                              <a:solidFill>
                                                <a:srgbClr val="00B050"/>
                                              </a:solidFill>
                                              <a:latin typeface="Cambria Math" panose="02040503050406030204" pitchFamily="18" charset="0"/>
                                            </a:rPr>
                                          </m:ctrlPr>
                                        </m:dPr>
                                        <m:e>
                                          <m:f>
                                            <m:fPr>
                                              <m:ctrlPr>
                                                <a:rPr lang="en-VN" sz="1400" i="1">
                                                  <a:solidFill>
                                                    <a:srgbClr val="00B050"/>
                                                  </a:solidFill>
                                                  <a:latin typeface="Cambria Math" panose="02040503050406030204" pitchFamily="18" charset="0"/>
                                                </a:rPr>
                                              </m:ctrlPr>
                                            </m:fPr>
                                            <m:num>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num>
                                            <m:den>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𝑧</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𝑥</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den>
                                          </m:f>
                                        </m:e>
                                      </m:d>
                                    </m:e>
                                  </m:func>
                                </m:e>
                              </m:groupChr>
                            </m:e>
                            <m:lim/>
                          </m:limLow>
                        </m:e>
                      </m:borderBox>
                    </m:oMath>
                  </m:oMathPara>
                </a14:m>
                <a:endParaRPr lang="en-VN" sz="1400" dirty="0"/>
              </a:p>
            </p:txBody>
          </p:sp>
        </mc:Choice>
        <mc:Fallback xmlns="">
          <p:sp>
            <p:nvSpPr>
              <p:cNvPr id="11" name="TextBox 10">
                <a:extLst>
                  <a:ext uri="{FF2B5EF4-FFF2-40B4-BE49-F238E27FC236}">
                    <a16:creationId xmlns:a16="http://schemas.microsoft.com/office/drawing/2014/main" id="{171FCA69-526D-B23D-FE13-82E609A1CD4A}"/>
                  </a:ext>
                </a:extLst>
              </p:cNvPr>
              <p:cNvSpPr txBox="1">
                <a:spLocks noRot="1" noChangeAspect="1" noMove="1" noResize="1" noEditPoints="1" noAdjustHandles="1" noChangeArrowheads="1" noChangeShapeType="1" noTextEdit="1"/>
              </p:cNvSpPr>
              <p:nvPr/>
            </p:nvSpPr>
            <p:spPr>
              <a:xfrm>
                <a:off x="430967" y="3179064"/>
                <a:ext cx="6901390" cy="985334"/>
              </a:xfrm>
              <a:prstGeom prst="rect">
                <a:avLst/>
              </a:prstGeom>
              <a:blipFill>
                <a:blip r:embed="rId4"/>
                <a:stretch>
                  <a:fillRect t="-61538" b="-8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4788EEA-B24C-FEC0-D0FA-17BDFFD737FE}"/>
                  </a:ext>
                </a:extLst>
              </p:cNvPr>
              <p:cNvSpPr txBox="1"/>
              <p:nvPr/>
            </p:nvSpPr>
            <p:spPr>
              <a:xfrm>
                <a:off x="406399" y="2725096"/>
                <a:ext cx="4518023" cy="335476"/>
              </a:xfrm>
              <a:prstGeom prst="rect">
                <a:avLst/>
              </a:prstGeom>
              <a:noFill/>
            </p:spPr>
            <p:txBody>
              <a:bodyPr wrap="square">
                <a:spAutoFit/>
              </a:bodyPr>
              <a:lstStyle/>
              <a:p>
                <a:pPr/>
                <a14:m>
                  <m:oMathPara xmlns:m="http://schemas.openxmlformats.org/officeDocument/2006/math">
                    <m:oMath>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r>
                        <a:rPr lang="en-VN" sz="1400" i="0" smtClean="0">
                          <a:solidFill>
                            <a:schemeClr val="accent2">
                              <a:lumMod val="60000"/>
                              <a:lumOff val="40000"/>
                            </a:schemeClr>
                          </a:solidFill>
                          <a:latin typeface="Cambria Math" panose="02040503050406030204" pitchFamily="18" charset="0"/>
                        </a:rPr>
                        <m:t>ℒ</m:t>
                      </m:r>
                      <m:d>
                        <m:dPr>
                          <m:ctrlPr>
                            <a:rPr lang="en-VN" sz="1400" i="1">
                              <a:solidFill>
                                <a:schemeClr val="accent2">
                                  <a:lumMod val="60000"/>
                                  <a:lumOff val="40000"/>
                                </a:schemeClr>
                              </a:solidFill>
                              <a:latin typeface="Cambria Math" panose="02040503050406030204" pitchFamily="18" charset="0"/>
                            </a:rPr>
                          </m:ctrlPr>
                        </m:dPr>
                        <m:e>
                          <m:r>
                            <a:rPr lang="en-VN" sz="1400" i="1">
                              <a:solidFill>
                                <a:schemeClr val="accent2">
                                  <a:lumMod val="60000"/>
                                  <a:lumOff val="40000"/>
                                </a:schemeClr>
                              </a:solidFill>
                              <a:latin typeface="Cambria Math" panose="02040503050406030204" pitchFamily="18" charset="0"/>
                            </a:rPr>
                            <m:t>𝑞</m:t>
                          </m:r>
                          <m:r>
                            <a:rPr lang="en-VN" sz="1400" i="0">
                              <a:solidFill>
                                <a:schemeClr val="accent2">
                                  <a:lumMod val="60000"/>
                                  <a:lumOff val="40000"/>
                                </a:schemeClr>
                              </a:solidFill>
                              <a:latin typeface="Cambria Math" panose="02040503050406030204" pitchFamily="18" charset="0"/>
                            </a:rPr>
                            <m:t>,</m:t>
                          </m:r>
                          <m:r>
                            <a:rPr lang="en-VN" sz="1400" i="1">
                              <a:solidFill>
                                <a:schemeClr val="accent2">
                                  <a:lumMod val="60000"/>
                                  <a:lumOff val="40000"/>
                                </a:schemeClr>
                              </a:solidFill>
                              <a:latin typeface="Cambria Math" panose="02040503050406030204" pitchFamily="18" charset="0"/>
                            </a:rPr>
                            <m:t>𝜃</m:t>
                          </m:r>
                        </m:e>
                      </m:d>
                      <m:r>
                        <a:rPr lang="en-VN" sz="1400" i="0">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𝑞</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e>
                          </m:d>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e>
                      </m:d>
                    </m:oMath>
                  </m:oMathPara>
                </a14:m>
                <a:endParaRPr lang="en-VN" sz="1400" dirty="0">
                  <a:solidFill>
                    <a:srgbClr val="00B050"/>
                  </a:solidFill>
                </a:endParaRPr>
              </a:p>
            </p:txBody>
          </p:sp>
        </mc:Choice>
        <mc:Fallback xmlns="">
          <p:sp>
            <p:nvSpPr>
              <p:cNvPr id="23" name="TextBox 22">
                <a:extLst>
                  <a:ext uri="{FF2B5EF4-FFF2-40B4-BE49-F238E27FC236}">
                    <a16:creationId xmlns:a16="http://schemas.microsoft.com/office/drawing/2014/main" id="{54788EEA-B24C-FEC0-D0FA-17BDFFD737FE}"/>
                  </a:ext>
                </a:extLst>
              </p:cNvPr>
              <p:cNvSpPr txBox="1">
                <a:spLocks noRot="1" noChangeAspect="1" noMove="1" noResize="1" noEditPoints="1" noAdjustHandles="1" noChangeArrowheads="1" noChangeShapeType="1" noTextEdit="1"/>
              </p:cNvSpPr>
              <p:nvPr/>
            </p:nvSpPr>
            <p:spPr>
              <a:xfrm>
                <a:off x="406399" y="2725096"/>
                <a:ext cx="4518023" cy="335476"/>
              </a:xfrm>
              <a:prstGeom prst="rect">
                <a:avLst/>
              </a:prstGeom>
              <a:blipFill>
                <a:blip r:embed="rId5"/>
                <a:stretch>
                  <a:fillRect b="-3704"/>
                </a:stretch>
              </a:blipFill>
            </p:spPr>
            <p:txBody>
              <a:bodyPr/>
              <a:lstStyle/>
              <a:p>
                <a:r>
                  <a:rPr lang="en-VN">
                    <a:noFill/>
                  </a:rPr>
                  <a:t> </a:t>
                </a:r>
              </a:p>
            </p:txBody>
          </p:sp>
        </mc:Fallback>
      </mc:AlternateContent>
    </p:spTree>
    <p:extLst>
      <p:ext uri="{BB962C8B-B14F-4D97-AF65-F5344CB8AC3E}">
        <p14:creationId xmlns:p14="http://schemas.microsoft.com/office/powerpoint/2010/main" val="1105451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55EF-E117-C896-72AD-216D9EB569F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09F76D-C086-5B5C-EA47-5088780846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7A20DE5B-5622-6B8E-2959-B4A6F23DF1AF}"/>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p:txBody>
      </p:sp>
      <p:pic>
        <p:nvPicPr>
          <p:cNvPr id="27" name="Picture 26">
            <a:extLst>
              <a:ext uri="{FF2B5EF4-FFF2-40B4-BE49-F238E27FC236}">
                <a16:creationId xmlns:a16="http://schemas.microsoft.com/office/drawing/2014/main" id="{B2E0D67B-9748-C6C3-8125-94495D293987}"/>
              </a:ext>
            </a:extLst>
          </p:cNvPr>
          <p:cNvPicPr>
            <a:picLocks noChangeAspect="1"/>
          </p:cNvPicPr>
          <p:nvPr/>
        </p:nvPicPr>
        <p:blipFill>
          <a:blip r:embed="rId3"/>
          <a:stretch>
            <a:fillRect/>
          </a:stretch>
        </p:blipFill>
        <p:spPr>
          <a:xfrm>
            <a:off x="1346047" y="1867936"/>
            <a:ext cx="9499600" cy="4744444"/>
          </a:xfrm>
          <a:prstGeom prst="rect">
            <a:avLst/>
          </a:prstGeom>
        </p:spPr>
      </p:pic>
    </p:spTree>
    <p:extLst>
      <p:ext uri="{BB962C8B-B14F-4D97-AF65-F5344CB8AC3E}">
        <p14:creationId xmlns:p14="http://schemas.microsoft.com/office/powerpoint/2010/main" val="23982442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9793B-8759-77D2-9313-B222115FE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8A14FB3-116D-B615-AE57-EB720EC88C6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D6EAD69-B6B2-D67E-9743-379D5E5386DA}"/>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p:txBody>
      </p:sp>
    </p:spTree>
    <p:extLst>
      <p:ext uri="{BB962C8B-B14F-4D97-AF65-F5344CB8AC3E}">
        <p14:creationId xmlns:p14="http://schemas.microsoft.com/office/powerpoint/2010/main" val="25223241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C4FDF-DCEE-ABAA-9CC8-177BDB50634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6FE89F5-01DB-5F93-3F06-C5682221222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92DC23-8084-A0E8-399D-F362C4825BF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Tree>
    <p:extLst>
      <p:ext uri="{BB962C8B-B14F-4D97-AF65-F5344CB8AC3E}">
        <p14:creationId xmlns:p14="http://schemas.microsoft.com/office/powerpoint/2010/main" val="24948273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A7B44-A0D3-8C74-6D45-A5D6A141D5A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60AFA5E-8BC0-9C19-FD21-5EE193747B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93928A9A-E096-0DD5-2B0D-084F1709AAC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
        <p:nvSpPr>
          <p:cNvPr id="5" name="TextBox 4">
            <a:extLst>
              <a:ext uri="{FF2B5EF4-FFF2-40B4-BE49-F238E27FC236}">
                <a16:creationId xmlns:a16="http://schemas.microsoft.com/office/drawing/2014/main" id="{9288E3CE-F83A-6930-59A7-4ADAAEFEE27C}"/>
              </a:ext>
            </a:extLst>
          </p:cNvPr>
          <p:cNvSpPr txBox="1"/>
          <p:nvPr/>
        </p:nvSpPr>
        <p:spPr>
          <a:xfrm>
            <a:off x="364066" y="2593986"/>
            <a:ext cx="6138332" cy="307777"/>
          </a:xfrm>
          <a:prstGeom prst="rect">
            <a:avLst/>
          </a:prstGeom>
          <a:noFill/>
        </p:spPr>
        <p:txBody>
          <a:bodyPr wrap="square">
            <a:spAutoFit/>
          </a:bodyPr>
          <a:lstStyle/>
          <a:p>
            <a:pPr>
              <a:buNone/>
            </a:pPr>
            <a:r>
              <a:rPr lang="en-VN" sz="1400" b="1" dirty="0"/>
              <a:t>Tiêu chí Bayesian - BIC (Bayesian Information Criterion)</a:t>
            </a:r>
            <a:r>
              <a:rPr lang="en-VN" sz="1400" dirty="0"/>
              <a:t>:</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E79DAA2-DFA7-DCE1-E87A-FF81679F5421}"/>
                  </a:ext>
                </a:extLst>
              </p:cNvPr>
              <p:cNvSpPr txBox="1"/>
              <p:nvPr/>
            </p:nvSpPr>
            <p:spPr>
              <a:xfrm>
                <a:off x="4506383" y="2294593"/>
                <a:ext cx="2247898"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latin typeface="Cambria Math" panose="02040503050406030204" pitchFamily="18" charset="0"/>
                        </a:rPr>
                        <m:t>A</m:t>
                      </m:r>
                      <m:r>
                        <m:rPr>
                          <m:sty m:val="p"/>
                        </m:rPr>
                        <a:rPr lang="en-VN" sz="1400" i="0">
                          <a:solidFill>
                            <a:schemeClr val="tx2">
                              <a:lumMod val="60000"/>
                              <a:lumOff val="40000"/>
                            </a:schemeClr>
                          </a:solidFill>
                          <a:latin typeface="Cambria Math" panose="02040503050406030204" pitchFamily="18" charset="0"/>
                        </a:rPr>
                        <m:t>IC</m:t>
                      </m:r>
                      <m:r>
                        <a:rPr lang="en-VN" sz="1400" i="0">
                          <a:latin typeface="Cambria Math" panose="02040503050406030204" pitchFamily="18" charset="0"/>
                        </a:rPr>
                        <m:t>=−2</m:t>
                      </m:r>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ln</m:t>
                          </m:r>
                        </m:fName>
                        <m:e>
                          <m:r>
                            <a:rPr lang="en-VN" sz="1400" i="1">
                              <a:latin typeface="Cambria Math" panose="02040503050406030204" pitchFamily="18" charset="0"/>
                            </a:rPr>
                            <m:t>𝐿</m:t>
                          </m:r>
                        </m:e>
                      </m:func>
                      <m:d>
                        <m:dPr>
                          <m:ctrlPr>
                            <a:rPr lang="en-VN" sz="1400" i="1">
                              <a:solidFill>
                                <a:schemeClr val="accent5">
                                  <a:lumMod val="75000"/>
                                </a:schemeClr>
                              </a:solidFill>
                              <a:latin typeface="Cambria Math" panose="02040503050406030204" pitchFamily="18" charset="0"/>
                            </a:rPr>
                          </m:ctrlPr>
                        </m:dPr>
                        <m:e>
                          <m:acc>
                            <m:accPr>
                              <m:chr m:val="ˆ"/>
                              <m:ctrlPr>
                                <a:rPr lang="en-VN" sz="1400" i="1">
                                  <a:solidFill>
                                    <a:schemeClr val="accent5">
                                      <a:lumMod val="75000"/>
                                    </a:schemeClr>
                                  </a:solidFill>
                                  <a:latin typeface="Cambria Math" panose="02040503050406030204" pitchFamily="18" charset="0"/>
                                </a:rPr>
                              </m:ctrlPr>
                            </m:accPr>
                            <m:e>
                              <m:r>
                                <a:rPr lang="en-VN" sz="1400" i="1">
                                  <a:solidFill>
                                    <a:schemeClr val="accent5">
                                      <a:lumMod val="75000"/>
                                    </a:schemeClr>
                                  </a:solidFill>
                                  <a:latin typeface="Cambria Math" panose="02040503050406030204" pitchFamily="18" charset="0"/>
                                </a:rPr>
                                <m:t>𝜃</m:t>
                              </m:r>
                            </m:e>
                          </m:acc>
                          <m:r>
                            <a:rPr lang="en-VN" sz="1400" i="0">
                              <a:latin typeface="Cambria Math" panose="02040503050406030204" pitchFamily="18" charset="0"/>
                            </a:rPr>
                            <m:t>∣</m:t>
                          </m:r>
                          <m:r>
                            <a:rPr lang="en-VN" sz="1400" i="1">
                              <a:latin typeface="Cambria Math" panose="02040503050406030204" pitchFamily="18" charset="0"/>
                            </a:rPr>
                            <m:t>𝑋</m:t>
                          </m:r>
                        </m:e>
                      </m:d>
                      <m:r>
                        <a:rPr lang="en-VN" sz="1400" i="0">
                          <a:latin typeface="Cambria Math" panose="02040503050406030204" pitchFamily="18" charset="0"/>
                        </a:rPr>
                        <m:t>+2</m:t>
                      </m:r>
                      <m:r>
                        <a:rPr lang="en-VN" sz="1400" i="1" smtClean="0">
                          <a:solidFill>
                            <a:schemeClr val="accent6">
                              <a:lumMod val="75000"/>
                            </a:schemeClr>
                          </a:solidFill>
                          <a:latin typeface="Cambria Math" panose="02040503050406030204" pitchFamily="18" charset="0"/>
                        </a:rPr>
                        <m:t>𝑝</m:t>
                      </m:r>
                    </m:oMath>
                  </m:oMathPara>
                </a14:m>
                <a:endParaRPr lang="en-VN" sz="1400" dirty="0"/>
              </a:p>
            </p:txBody>
          </p:sp>
        </mc:Choice>
        <mc:Fallback xmlns="">
          <p:sp>
            <p:nvSpPr>
              <p:cNvPr id="8" name="TextBox 7">
                <a:extLst>
                  <a:ext uri="{FF2B5EF4-FFF2-40B4-BE49-F238E27FC236}">
                    <a16:creationId xmlns:a16="http://schemas.microsoft.com/office/drawing/2014/main" id="{3E79DAA2-DFA7-DCE1-E87A-FF81679F5421}"/>
                  </a:ext>
                </a:extLst>
              </p:cNvPr>
              <p:cNvSpPr txBox="1">
                <a:spLocks noRot="1" noChangeAspect="1" noMove="1" noResize="1" noEditPoints="1" noAdjustHandles="1" noChangeArrowheads="1" noChangeShapeType="1" noTextEdit="1"/>
              </p:cNvSpPr>
              <p:nvPr/>
            </p:nvSpPr>
            <p:spPr>
              <a:xfrm>
                <a:off x="4506383" y="2294593"/>
                <a:ext cx="2247898" cy="339517"/>
              </a:xfrm>
              <a:prstGeom prst="rect">
                <a:avLst/>
              </a:prstGeom>
              <a:blipFill>
                <a:blip r:embed="rId3"/>
                <a:stretch>
                  <a:fillRect t="-357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F61AD78-2BC8-CCEB-1E0E-B8A5923CFE9F}"/>
              </a:ext>
            </a:extLst>
          </p:cNvPr>
          <p:cNvSpPr txBox="1"/>
          <p:nvPr/>
        </p:nvSpPr>
        <p:spPr>
          <a:xfrm>
            <a:off x="364066" y="2303721"/>
            <a:ext cx="3979334" cy="307777"/>
          </a:xfrm>
          <a:prstGeom prst="rect">
            <a:avLst/>
          </a:prstGeom>
          <a:noFill/>
        </p:spPr>
        <p:txBody>
          <a:bodyPr wrap="square">
            <a:spAutoFit/>
          </a:bodyPr>
          <a:lstStyle/>
          <a:p>
            <a:pPr>
              <a:buNone/>
            </a:pPr>
            <a:r>
              <a:rPr lang="en-VN" sz="1400" b="1" dirty="0"/>
              <a:t>Tiêu chí Akaike - AIC (Akaike Information Criterion)</a:t>
            </a:r>
            <a:r>
              <a:rPr lang="en-VN" sz="1400" dirty="0"/>
              <a:t>:</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F3321FC-231B-F561-AAC5-BBA50F7AB7A4}"/>
                  </a:ext>
                </a:extLst>
              </p:cNvPr>
              <p:cNvSpPr txBox="1"/>
              <p:nvPr/>
            </p:nvSpPr>
            <p:spPr>
              <a:xfrm>
                <a:off x="4131581" y="2585136"/>
                <a:ext cx="3255434"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latin typeface="Cambria Math" panose="02040503050406030204" pitchFamily="18" charset="0"/>
                        </a:rPr>
                        <m:t>B</m:t>
                      </m:r>
                      <m:r>
                        <m:rPr>
                          <m:sty m:val="p"/>
                        </m:rPr>
                        <a:rPr lang="en-VN" sz="1400" i="0">
                          <a:solidFill>
                            <a:schemeClr val="tx2">
                              <a:lumMod val="60000"/>
                              <a:lumOff val="40000"/>
                            </a:schemeClr>
                          </a:solidFill>
                          <a:latin typeface="Cambria Math" panose="02040503050406030204" pitchFamily="18" charset="0"/>
                        </a:rPr>
                        <m:t>IC</m:t>
                      </m:r>
                      <m:r>
                        <a:rPr lang="en-VN" sz="1400" i="0">
                          <a:latin typeface="Cambria Math" panose="02040503050406030204" pitchFamily="18" charset="0"/>
                        </a:rPr>
                        <m:t>=−2</m:t>
                      </m:r>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ln</m:t>
                          </m:r>
                        </m:fName>
                        <m:e>
                          <m:r>
                            <a:rPr lang="en-VN" sz="1400" i="1">
                              <a:latin typeface="Cambria Math" panose="02040503050406030204" pitchFamily="18" charset="0"/>
                            </a:rPr>
                            <m:t>𝐿</m:t>
                          </m:r>
                        </m:e>
                      </m:func>
                      <m:d>
                        <m:dPr>
                          <m:ctrlPr>
                            <a:rPr lang="en-VN" sz="1400" i="1" smtClean="0">
                              <a:solidFill>
                                <a:schemeClr val="accent5">
                                  <a:lumMod val="75000"/>
                                </a:schemeClr>
                              </a:solidFill>
                              <a:latin typeface="Cambria Math" panose="02040503050406030204" pitchFamily="18" charset="0"/>
                            </a:rPr>
                          </m:ctrlPr>
                        </m:dPr>
                        <m:e>
                          <m:acc>
                            <m:accPr>
                              <m:chr m:val="ˆ"/>
                              <m:ctrlPr>
                                <a:rPr lang="en-VN" sz="1400" i="1" smtClean="0">
                                  <a:solidFill>
                                    <a:schemeClr val="accent5">
                                      <a:lumMod val="75000"/>
                                    </a:schemeClr>
                                  </a:solidFill>
                                  <a:latin typeface="Cambria Math" panose="02040503050406030204" pitchFamily="18" charset="0"/>
                                </a:rPr>
                              </m:ctrlPr>
                            </m:accPr>
                            <m:e>
                              <m:r>
                                <a:rPr lang="en-VN" sz="1400" i="1" smtClean="0">
                                  <a:solidFill>
                                    <a:schemeClr val="accent5">
                                      <a:lumMod val="75000"/>
                                    </a:schemeClr>
                                  </a:solidFill>
                                  <a:latin typeface="Cambria Math" panose="02040503050406030204" pitchFamily="18" charset="0"/>
                                </a:rPr>
                                <m:t>𝜃</m:t>
                              </m:r>
                            </m:e>
                          </m:acc>
                          <m:r>
                            <a:rPr lang="en-VN" sz="1400" i="0">
                              <a:latin typeface="Cambria Math" panose="02040503050406030204" pitchFamily="18" charset="0"/>
                            </a:rPr>
                            <m:t>∣</m:t>
                          </m:r>
                          <m:r>
                            <a:rPr lang="en-VN" sz="1400" i="1">
                              <a:latin typeface="Cambria Math" panose="02040503050406030204" pitchFamily="18" charset="0"/>
                            </a:rPr>
                            <m:t>𝑋</m:t>
                          </m:r>
                        </m:e>
                      </m:d>
                      <m:r>
                        <a:rPr lang="en-VN" sz="1400" i="0">
                          <a:latin typeface="Cambria Math" panose="02040503050406030204" pitchFamily="18" charset="0"/>
                        </a:rPr>
                        <m:t>+</m:t>
                      </m:r>
                      <m:r>
                        <a:rPr lang="en-VN" sz="1400" i="1" smtClean="0">
                          <a:solidFill>
                            <a:schemeClr val="accent6">
                              <a:lumMod val="75000"/>
                            </a:schemeClr>
                          </a:solidFill>
                          <a:latin typeface="Cambria Math" panose="02040503050406030204" pitchFamily="18" charset="0"/>
                        </a:rPr>
                        <m:t>𝑝</m:t>
                      </m:r>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ln</m:t>
                          </m:r>
                        </m:fName>
                        <m:e>
                          <m:r>
                            <a:rPr lang="en-VN" sz="1400" i="1">
                              <a:latin typeface="Cambria Math" panose="02040503050406030204" pitchFamily="18" charset="0"/>
                            </a:rPr>
                            <m:t>𝑁</m:t>
                          </m:r>
                        </m:e>
                      </m:func>
                    </m:oMath>
                  </m:oMathPara>
                </a14:m>
                <a:endParaRPr lang="en-VN" sz="1400" dirty="0"/>
              </a:p>
            </p:txBody>
          </p:sp>
        </mc:Choice>
        <mc:Fallback xmlns="">
          <p:sp>
            <p:nvSpPr>
              <p:cNvPr id="14" name="TextBox 13">
                <a:extLst>
                  <a:ext uri="{FF2B5EF4-FFF2-40B4-BE49-F238E27FC236}">
                    <a16:creationId xmlns:a16="http://schemas.microsoft.com/office/drawing/2014/main" id="{5F3321FC-231B-F561-AAC5-BBA50F7AB7A4}"/>
                  </a:ext>
                </a:extLst>
              </p:cNvPr>
              <p:cNvSpPr txBox="1">
                <a:spLocks noRot="1" noChangeAspect="1" noMove="1" noResize="1" noEditPoints="1" noAdjustHandles="1" noChangeArrowheads="1" noChangeShapeType="1" noTextEdit="1"/>
              </p:cNvSpPr>
              <p:nvPr/>
            </p:nvSpPr>
            <p:spPr>
              <a:xfrm>
                <a:off x="4131581" y="2585136"/>
                <a:ext cx="3255434" cy="339517"/>
              </a:xfrm>
              <a:prstGeom prst="rect">
                <a:avLst/>
              </a:prstGeom>
              <a:blipFill>
                <a:blip r:embed="rId4"/>
                <a:stretch>
                  <a:fillRect t="-357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9A7E84E-79E2-72A0-1BE2-D6A0B1F11B7B}"/>
                  </a:ext>
                </a:extLst>
              </p:cNvPr>
              <p:cNvSpPr txBox="1"/>
              <p:nvPr/>
            </p:nvSpPr>
            <p:spPr>
              <a:xfrm>
                <a:off x="436034" y="3218765"/>
                <a:ext cx="4237566" cy="614655"/>
              </a:xfrm>
              <a:prstGeom prst="rect">
                <a:avLst/>
              </a:prstGeom>
              <a:noFill/>
            </p:spPr>
            <p:txBody>
              <a:bodyPr wrap="square">
                <a:spAutoFit/>
              </a:bodyPr>
              <a:lstStyle/>
              <a:p>
                <a:pPr>
                  <a:spcAft>
                    <a:spcPts val="600"/>
                  </a:spcAft>
                </a:pPr>
                <a14:m>
                  <m:oMath xmlns:m="http://schemas.openxmlformats.org/officeDocument/2006/math">
                    <m:r>
                      <a:rPr lang="en-VN" sz="1400" i="1">
                        <a:solidFill>
                          <a:schemeClr val="accent6">
                            <a:lumMod val="75000"/>
                          </a:schemeClr>
                        </a:solidFill>
                        <a:latin typeface="Cambria Math" panose="02040503050406030204" pitchFamily="18" charset="0"/>
                      </a:rPr>
                      <m:t>𝑝</m:t>
                    </m:r>
                  </m:oMath>
                </a14:m>
                <a:r>
                  <a:rPr lang="vi-VN" sz="1400" dirty="0">
                    <a:solidFill>
                      <a:srgbClr val="444B52"/>
                    </a:solidFill>
                    <a:latin typeface="Arial"/>
                  </a:rPr>
                  <a:t> là số lượng tham số tự do</a:t>
                </a:r>
              </a:p>
              <a:p>
                <a:pPr>
                  <a:spcAft>
                    <a:spcPts val="600"/>
                  </a:spcAft>
                </a:pPr>
                <a14:m>
                  <m:oMath xmlns:m="http://schemas.openxmlformats.org/officeDocument/2006/math">
                    <m:acc>
                      <m:accPr>
                        <m:chr m:val="ˆ"/>
                        <m:ctrlPr>
                          <a:rPr lang="en-VN" sz="1400" i="1">
                            <a:solidFill>
                              <a:schemeClr val="accent5">
                                <a:lumMod val="75000"/>
                              </a:schemeClr>
                            </a:solidFill>
                            <a:latin typeface="Cambria Math" panose="02040503050406030204" pitchFamily="18" charset="0"/>
                          </a:rPr>
                        </m:ctrlPr>
                      </m:accPr>
                      <m:e>
                        <m:r>
                          <a:rPr lang="en-VN" sz="1400" i="1">
                            <a:solidFill>
                              <a:schemeClr val="accent5">
                                <a:lumMod val="75000"/>
                              </a:schemeClr>
                            </a:solidFill>
                            <a:latin typeface="Cambria Math" panose="02040503050406030204" pitchFamily="18" charset="0"/>
                          </a:rPr>
                          <m:t>𝜃</m:t>
                        </m:r>
                      </m:e>
                    </m:acc>
                  </m:oMath>
                </a14:m>
                <a:r>
                  <a:rPr lang="vi-VN" sz="1400" dirty="0">
                    <a:solidFill>
                      <a:srgbClr val="444B52"/>
                    </a:solidFill>
                    <a:latin typeface="Arial"/>
                  </a:rPr>
                  <a:t> là bộ tham số cuối cùng sau khi train mô hình</a:t>
                </a:r>
              </a:p>
            </p:txBody>
          </p:sp>
        </mc:Choice>
        <mc:Fallback>
          <p:sp>
            <p:nvSpPr>
              <p:cNvPr id="36" name="TextBox 35">
                <a:extLst>
                  <a:ext uri="{FF2B5EF4-FFF2-40B4-BE49-F238E27FC236}">
                    <a16:creationId xmlns:a16="http://schemas.microsoft.com/office/drawing/2014/main" id="{59A7E84E-79E2-72A0-1BE2-D6A0B1F11B7B}"/>
                  </a:ext>
                </a:extLst>
              </p:cNvPr>
              <p:cNvSpPr txBox="1">
                <a:spLocks noRot="1" noChangeAspect="1" noMove="1" noResize="1" noEditPoints="1" noAdjustHandles="1" noChangeArrowheads="1" noChangeShapeType="1" noTextEdit="1"/>
              </p:cNvSpPr>
              <p:nvPr/>
            </p:nvSpPr>
            <p:spPr>
              <a:xfrm>
                <a:off x="436034" y="3218765"/>
                <a:ext cx="4237566" cy="614655"/>
              </a:xfrm>
              <a:prstGeom prst="rect">
                <a:avLst/>
              </a:prstGeom>
              <a:blipFill>
                <a:blip r:embed="rId5"/>
                <a:stretch>
                  <a:fillRect t="-2041" b="-10204"/>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F11D46BE-2F80-2034-F923-95F9691C0E2D}"/>
                  </a:ext>
                </a:extLst>
              </p:cNvPr>
              <p:cNvSpPr txBox="1"/>
              <p:nvPr/>
            </p:nvSpPr>
            <p:spPr>
              <a:xfrm>
                <a:off x="693966" y="4642210"/>
                <a:ext cx="1934633" cy="371640"/>
              </a:xfrm>
              <a:prstGeom prst="rect">
                <a:avLst/>
              </a:prstGeom>
              <a:noFill/>
            </p:spPr>
            <p:txBody>
              <a:bodyPr wrap="square">
                <a:spAutoFit/>
              </a:bodyPr>
              <a:lstStyle/>
              <a:p>
                <a:pPr/>
                <a14:m>
                  <m:oMathPara xmlns:m="http://schemas.openxmlformats.org/officeDocument/2006/math">
                    <m:oMath>
                      <m:sSubSup>
                        <m:sSubSupPr>
                          <m:ctrlPr>
                            <a:rPr lang="en-VN" sz="1400" i="1">
                              <a:latin typeface="Cambria Math" panose="02040503050406030204" pitchFamily="18" charset="0"/>
                            </a:rPr>
                          </m:ctrlPr>
                        </m:sSubSupPr>
                        <m:e>
                          <m:r>
                            <a:rPr lang="en-VN" sz="1400" i="1">
                              <a:latin typeface="Cambria Math" panose="02040503050406030204" pitchFamily="18" charset="0"/>
                            </a:rPr>
                            <m:t>𝐾</m:t>
                          </m:r>
                        </m:e>
                        <m:sub>
                          <m:r>
                            <m:rPr>
                              <m:sty m:val="p"/>
                            </m:rPr>
                            <a:rPr lang="en-VN" sz="1400" i="0">
                              <a:latin typeface="Cambria Math" panose="02040503050406030204" pitchFamily="18" charset="0"/>
                            </a:rPr>
                            <m:t>AIC</m:t>
                          </m:r>
                        </m:sub>
                        <m:sup>
                          <m:r>
                            <a:rPr lang="en-VN" sz="1400" i="0">
                              <a:latin typeface="Cambria Math" panose="02040503050406030204" pitchFamily="18" charset="0"/>
                            </a:rPr>
                            <m:t>∗</m:t>
                          </m:r>
                        </m:sup>
                      </m:sSubSup>
                      <m:r>
                        <a:rPr lang="en-VN" sz="1400" i="0">
                          <a:latin typeface="Cambria Math" panose="02040503050406030204" pitchFamily="18" charset="0"/>
                        </a:rPr>
                        <m:t>=</m:t>
                      </m:r>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arg</m:t>
                          </m:r>
                        </m:fName>
                        <m:e>
                          <m:func>
                            <m:funcPr>
                              <m:ctrlPr>
                                <a:rPr lang="en-VN" sz="1400" i="1">
                                  <a:latin typeface="Cambria Math" panose="02040503050406030204" pitchFamily="18" charset="0"/>
                                </a:rPr>
                              </m:ctrlPr>
                            </m:funcPr>
                            <m:fName>
                              <m:limLow>
                                <m:limLowPr>
                                  <m:ctrlPr>
                                    <a:rPr lang="en-VN" sz="1400" i="0">
                                      <a:latin typeface="Cambria Math" panose="02040503050406030204" pitchFamily="18" charset="0"/>
                                    </a:rPr>
                                  </m:ctrlPr>
                                </m:limLowPr>
                                <m:e>
                                  <m:r>
                                    <m:rPr>
                                      <m:sty m:val="p"/>
                                    </m:rPr>
                                    <a:rPr lang="en-VN" sz="1400" i="0">
                                      <a:latin typeface="Cambria Math" panose="02040503050406030204" pitchFamily="18" charset="0"/>
                                    </a:rPr>
                                    <m:t>min</m:t>
                                  </m:r>
                                </m:e>
                                <m:lim>
                                  <m:r>
                                    <a:rPr lang="en-VN" sz="1400" i="1">
                                      <a:latin typeface="Cambria Math" panose="02040503050406030204" pitchFamily="18" charset="0"/>
                                    </a:rPr>
                                    <m:t>𝐾</m:t>
                                  </m:r>
                                </m:lim>
                              </m:limLow>
                            </m:fName>
                            <m:e>
                              <m:r>
                                <m:rPr>
                                  <m:sty m:val="p"/>
                                </m:rPr>
                                <a:rPr lang="en-VN" sz="1400" i="0">
                                  <a:latin typeface="Cambria Math" panose="02040503050406030204" pitchFamily="18" charset="0"/>
                                </a:rPr>
                                <m:t>AIC</m:t>
                              </m:r>
                              <m:d>
                                <m:dPr>
                                  <m:ctrlPr>
                                    <a:rPr lang="en-VN" sz="1400" i="1">
                                      <a:latin typeface="Cambria Math" panose="02040503050406030204" pitchFamily="18" charset="0"/>
                                    </a:rPr>
                                  </m:ctrlPr>
                                </m:dPr>
                                <m:e>
                                  <m:r>
                                    <a:rPr lang="en-VN" sz="1400" i="1">
                                      <a:latin typeface="Cambria Math" panose="02040503050406030204" pitchFamily="18" charset="0"/>
                                    </a:rPr>
                                    <m:t>𝐾</m:t>
                                  </m:r>
                                </m:e>
                              </m:d>
                            </m:e>
                          </m:func>
                        </m:e>
                      </m:func>
                    </m:oMath>
                  </m:oMathPara>
                </a14:m>
                <a:endParaRPr lang="en-VN" sz="1400" dirty="0"/>
              </a:p>
            </p:txBody>
          </p:sp>
        </mc:Choice>
        <mc:Fallback xmlns="">
          <p:sp>
            <p:nvSpPr>
              <p:cNvPr id="40" name="TextBox 39">
                <a:extLst>
                  <a:ext uri="{FF2B5EF4-FFF2-40B4-BE49-F238E27FC236}">
                    <a16:creationId xmlns:a16="http://schemas.microsoft.com/office/drawing/2014/main" id="{F11D46BE-2F80-2034-F923-95F9691C0E2D}"/>
                  </a:ext>
                </a:extLst>
              </p:cNvPr>
              <p:cNvSpPr txBox="1">
                <a:spLocks noRot="1" noChangeAspect="1" noMove="1" noResize="1" noEditPoints="1" noAdjustHandles="1" noChangeArrowheads="1" noChangeShapeType="1" noTextEdit="1"/>
              </p:cNvSpPr>
              <p:nvPr/>
            </p:nvSpPr>
            <p:spPr>
              <a:xfrm>
                <a:off x="693966" y="4642210"/>
                <a:ext cx="1934633" cy="371640"/>
              </a:xfrm>
              <a:prstGeom prst="rect">
                <a:avLst/>
              </a:prstGeom>
              <a:blipFill>
                <a:blip r:embed="rId6"/>
                <a:stretch>
                  <a:fillRect/>
                </a:stretch>
              </a:blipFill>
            </p:spPr>
            <p:txBody>
              <a:bodyPr/>
              <a:lstStyle/>
              <a:p>
                <a:r>
                  <a:rPr lang="en-VN">
                    <a:noFill/>
                  </a:rPr>
                  <a:t> </a:t>
                </a:r>
              </a:p>
            </p:txBody>
          </p:sp>
        </mc:Fallback>
      </mc:AlternateContent>
      <p:sp>
        <p:nvSpPr>
          <p:cNvPr id="42" name="TextBox 41">
            <a:extLst>
              <a:ext uri="{FF2B5EF4-FFF2-40B4-BE49-F238E27FC236}">
                <a16:creationId xmlns:a16="http://schemas.microsoft.com/office/drawing/2014/main" id="{59F3A933-CF2F-EF84-8C3F-42A948AD3F9A}"/>
              </a:ext>
            </a:extLst>
          </p:cNvPr>
          <p:cNvSpPr txBox="1"/>
          <p:nvPr/>
        </p:nvSpPr>
        <p:spPr>
          <a:xfrm>
            <a:off x="436034" y="4334433"/>
            <a:ext cx="2040466" cy="307777"/>
          </a:xfrm>
          <a:prstGeom prst="rect">
            <a:avLst/>
          </a:prstGeom>
          <a:noFill/>
        </p:spPr>
        <p:txBody>
          <a:bodyPr wrap="square">
            <a:spAutoFit/>
          </a:bodyPr>
          <a:lstStyle/>
          <a:p>
            <a:pPr>
              <a:spcAft>
                <a:spcPts val="600"/>
              </a:spcAft>
            </a:pPr>
            <a:r>
              <a:rPr lang="vi-VN" sz="1400" dirty="0">
                <a:solidFill>
                  <a:srgbClr val="444B52"/>
                </a:solidFill>
                <a:latin typeface="Arial"/>
              </a:rPr>
              <a:t>Thử nhiều K và chọn:</a:t>
            </a: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F60DE6F-9AD4-8F9B-7C86-376E4D76174B}"/>
                  </a:ext>
                </a:extLst>
              </p:cNvPr>
              <p:cNvSpPr txBox="1"/>
              <p:nvPr/>
            </p:nvSpPr>
            <p:spPr>
              <a:xfrm>
                <a:off x="641049" y="5013850"/>
                <a:ext cx="2040466" cy="371640"/>
              </a:xfrm>
              <a:prstGeom prst="rect">
                <a:avLst/>
              </a:prstGeom>
              <a:noFill/>
            </p:spPr>
            <p:txBody>
              <a:bodyPr wrap="square">
                <a:spAutoFit/>
              </a:bodyPr>
              <a:lstStyle/>
              <a:p>
                <a:pPr/>
                <a14:m>
                  <m:oMathPara xmlns:m="http://schemas.openxmlformats.org/officeDocument/2006/math">
                    <m:oMath>
                      <m:sSubSup>
                        <m:sSubSupPr>
                          <m:ctrlPr>
                            <a:rPr lang="en-VN" sz="1400" i="1">
                              <a:latin typeface="Cambria Math" panose="02040503050406030204" pitchFamily="18" charset="0"/>
                            </a:rPr>
                          </m:ctrlPr>
                        </m:sSubSupPr>
                        <m:e>
                          <m:r>
                            <a:rPr lang="en-VN" sz="1400" i="1">
                              <a:latin typeface="Cambria Math" panose="02040503050406030204" pitchFamily="18" charset="0"/>
                            </a:rPr>
                            <m:t>𝐾</m:t>
                          </m:r>
                        </m:e>
                        <m:sub>
                          <m:r>
                            <m:rPr>
                              <m:sty m:val="p"/>
                            </m:rPr>
                            <a:rPr lang="en-VN" sz="1400" i="0">
                              <a:latin typeface="Cambria Math" panose="02040503050406030204" pitchFamily="18" charset="0"/>
                            </a:rPr>
                            <m:t>BIC</m:t>
                          </m:r>
                        </m:sub>
                        <m:sup>
                          <m:r>
                            <a:rPr lang="en-VN" sz="1400" i="0">
                              <a:latin typeface="Cambria Math" panose="02040503050406030204" pitchFamily="18" charset="0"/>
                            </a:rPr>
                            <m:t>∗</m:t>
                          </m:r>
                        </m:sup>
                      </m:sSubSup>
                      <m:r>
                        <a:rPr lang="en-VN" sz="1400" i="0">
                          <a:latin typeface="Cambria Math" panose="02040503050406030204" pitchFamily="18" charset="0"/>
                        </a:rPr>
                        <m:t>=</m:t>
                      </m:r>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arg</m:t>
                          </m:r>
                        </m:fName>
                        <m:e>
                          <m:func>
                            <m:funcPr>
                              <m:ctrlPr>
                                <a:rPr lang="en-VN" sz="1400" i="1">
                                  <a:latin typeface="Cambria Math" panose="02040503050406030204" pitchFamily="18" charset="0"/>
                                </a:rPr>
                              </m:ctrlPr>
                            </m:funcPr>
                            <m:fName>
                              <m:limLow>
                                <m:limLowPr>
                                  <m:ctrlPr>
                                    <a:rPr lang="en-VN" sz="1400" i="0">
                                      <a:latin typeface="Cambria Math" panose="02040503050406030204" pitchFamily="18" charset="0"/>
                                    </a:rPr>
                                  </m:ctrlPr>
                                </m:limLowPr>
                                <m:e>
                                  <m:r>
                                    <m:rPr>
                                      <m:sty m:val="p"/>
                                    </m:rPr>
                                    <a:rPr lang="en-VN" sz="1400" i="0">
                                      <a:latin typeface="Cambria Math" panose="02040503050406030204" pitchFamily="18" charset="0"/>
                                    </a:rPr>
                                    <m:t>min</m:t>
                                  </m:r>
                                </m:e>
                                <m:lim>
                                  <m:r>
                                    <a:rPr lang="en-VN" sz="1400" i="1">
                                      <a:latin typeface="Cambria Math" panose="02040503050406030204" pitchFamily="18" charset="0"/>
                                    </a:rPr>
                                    <m:t>𝐾</m:t>
                                  </m:r>
                                </m:lim>
                              </m:limLow>
                            </m:fName>
                            <m:e>
                              <m:r>
                                <m:rPr>
                                  <m:sty m:val="p"/>
                                </m:rPr>
                                <a:rPr lang="en-VN" sz="1400" i="0">
                                  <a:latin typeface="Cambria Math" panose="02040503050406030204" pitchFamily="18" charset="0"/>
                                </a:rPr>
                                <m:t>BIC</m:t>
                              </m:r>
                              <m:d>
                                <m:dPr>
                                  <m:ctrlPr>
                                    <a:rPr lang="en-VN" sz="1400" i="1">
                                      <a:latin typeface="Cambria Math" panose="02040503050406030204" pitchFamily="18" charset="0"/>
                                    </a:rPr>
                                  </m:ctrlPr>
                                </m:dPr>
                                <m:e>
                                  <m:r>
                                    <a:rPr lang="en-VN" sz="1400" i="1">
                                      <a:latin typeface="Cambria Math" panose="02040503050406030204" pitchFamily="18" charset="0"/>
                                    </a:rPr>
                                    <m:t>𝐾</m:t>
                                  </m:r>
                                </m:e>
                              </m:d>
                            </m:e>
                          </m:func>
                        </m:e>
                      </m:func>
                    </m:oMath>
                  </m:oMathPara>
                </a14:m>
                <a:endParaRPr lang="en-VN" dirty="0"/>
              </a:p>
            </p:txBody>
          </p:sp>
        </mc:Choice>
        <mc:Fallback xmlns="">
          <p:sp>
            <p:nvSpPr>
              <p:cNvPr id="44" name="TextBox 43">
                <a:extLst>
                  <a:ext uri="{FF2B5EF4-FFF2-40B4-BE49-F238E27FC236}">
                    <a16:creationId xmlns:a16="http://schemas.microsoft.com/office/drawing/2014/main" id="{6F60DE6F-9AD4-8F9B-7C86-376E4D76174B}"/>
                  </a:ext>
                </a:extLst>
              </p:cNvPr>
              <p:cNvSpPr txBox="1">
                <a:spLocks noRot="1" noChangeAspect="1" noMove="1" noResize="1" noEditPoints="1" noAdjustHandles="1" noChangeArrowheads="1" noChangeShapeType="1" noTextEdit="1"/>
              </p:cNvSpPr>
              <p:nvPr/>
            </p:nvSpPr>
            <p:spPr>
              <a:xfrm>
                <a:off x="641049" y="5013850"/>
                <a:ext cx="2040466" cy="371640"/>
              </a:xfrm>
              <a:prstGeom prst="rect">
                <a:avLst/>
              </a:prstGeom>
              <a:blipFill>
                <a:blip r:embed="rId7"/>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9078532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D707-C5CE-2CB1-A077-FA8DD5B3E7F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D5AAA05-4E56-7E94-8276-E3AEF528DD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FE5F861-9B78-5FF9-0264-7FB9F1ECEACD}"/>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2EDBC8B-5DC2-8BBA-147A-6404E0DAFAF9}"/>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hiệp phương sai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D2EDBC8B-5DC2-8BBA-147A-6404E0DAFAF9}"/>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p:spTree>
    <p:extLst>
      <p:ext uri="{BB962C8B-B14F-4D97-AF65-F5344CB8AC3E}">
        <p14:creationId xmlns:p14="http://schemas.microsoft.com/office/powerpoint/2010/main" val="38041764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AC095-C383-DEA5-F58F-64F576BEF4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80B0569-2D1F-2F6B-0479-4B7FF7512CF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D6DE2F6E-A705-60EA-1794-F170DBB05D29}"/>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8508172-EBD8-CFB1-E4BC-C8C36B7D6054}"/>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\(\Sigma_k\)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E8508172-EBD8-CFB1-E4BC-C8C36B7D6054}"/>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501B276-6A1F-6C7D-890A-E877F977F0C8}"/>
                  </a:ext>
                </a:extLst>
              </p:cNvPr>
              <p:cNvSpPr txBox="1"/>
              <p:nvPr/>
            </p:nvSpPr>
            <p:spPr>
              <a:xfrm>
                <a:off x="609601" y="5067008"/>
                <a:ext cx="6138332" cy="523220"/>
              </a:xfrm>
              <a:prstGeom prst="rect">
                <a:avLst/>
              </a:prstGeom>
              <a:noFill/>
            </p:spPr>
            <p:txBody>
              <a:bodyPr wrap="square">
                <a:spAutoFit/>
              </a:bodyPr>
              <a:lstStyle/>
              <a:p>
                <a:pPr lvl="0"/>
                <a:r>
                  <a:rPr lang="vi-VN" sz="1400" dirty="0"/>
                  <a:t>Trong đó, để mắt đến </a:t>
                </a:r>
                <a14:m>
                  <m:oMath xmlns:m="http://schemas.openxmlformats.org/officeDocument/2006/math">
                    <m:r>
                      <a:rPr lang="vi-VN" sz="1400" b="1" i="1" dirty="0">
                        <a:solidFill>
                          <a:schemeClr val="accent3">
                            <a:lumMod val="75000"/>
                          </a:schemeClr>
                        </a:solidFill>
                        <a:latin typeface="Cambria Math" panose="02040503050406030204" pitchFamily="18" charset="0"/>
                      </a:rPr>
                      <m:t>𝑲</m:t>
                    </m:r>
                  </m:oMath>
                </a14:m>
                <a:r>
                  <a:rPr lang="vi-VN" sz="1400" dirty="0"/>
                  <a:t> và </a:t>
                </a:r>
                <a:r>
                  <a:rPr lang="vi-VN" sz="1400" b="1" i="1" dirty="0">
                    <a:solidFill>
                      <a:schemeClr val="accent3">
                        <a:lumMod val="75000"/>
                      </a:schemeClr>
                    </a:solidFill>
                  </a:rPr>
                  <a:t>covariance_type</a:t>
                </a:r>
                <a:r>
                  <a:rPr lang="vi-VN" sz="1400" dirty="0"/>
                  <a:t> và </a:t>
                </a:r>
                <a14:m>
                  <m:oMath xmlns:m="http://schemas.openxmlformats.org/officeDocument/2006/math">
                    <m:r>
                      <a:rPr lang="vi-VN" sz="1400" b="1" i="1">
                        <a:solidFill>
                          <a:schemeClr val="accent3">
                            <a:lumMod val="75000"/>
                          </a:schemeClr>
                        </a:solidFill>
                        <a:latin typeface="Cambria Math" panose="02040503050406030204" pitchFamily="18" charset="0"/>
                      </a:rPr>
                      <m:t>𝜺</m:t>
                    </m:r>
                  </m:oMath>
                </a14:m>
                <a:r>
                  <a:rPr lang="vi-VN" sz="1400" dirty="0"/>
                  <a:t> và </a:t>
                </a:r>
                <a:r>
                  <a:rPr lang="vi-VN" sz="1400" b="1" i="1" dirty="0">
                    <a:solidFill>
                      <a:schemeClr val="accent3">
                        <a:lumMod val="75000"/>
                      </a:schemeClr>
                    </a:solidFill>
                  </a:rPr>
                  <a:t>reg_covar </a:t>
                </a:r>
                <a:r>
                  <a:rPr lang="vi-VN" sz="1400" dirty="0"/>
                  <a:t>vì chúng ảnh hưởng trực tiếp đến kết quả cuối của mô hình và điều kiện hội tụ</a:t>
                </a:r>
              </a:p>
            </p:txBody>
          </p:sp>
        </mc:Choice>
        <mc:Fallback xmlns="">
          <p:sp>
            <p:nvSpPr>
              <p:cNvPr id="9" name="TextBox 8">
                <a:extLst>
                  <a:ext uri="{FF2B5EF4-FFF2-40B4-BE49-F238E27FC236}">
                    <a16:creationId xmlns:a16="http://schemas.microsoft.com/office/drawing/2014/main" id="{5501B276-6A1F-6C7D-890A-E877F977F0C8}"/>
                  </a:ext>
                </a:extLst>
              </p:cNvPr>
              <p:cNvSpPr txBox="1">
                <a:spLocks noRot="1" noChangeAspect="1" noMove="1" noResize="1" noEditPoints="1" noAdjustHandles="1" noChangeArrowheads="1" noChangeShapeType="1" noTextEdit="1"/>
              </p:cNvSpPr>
              <p:nvPr/>
            </p:nvSpPr>
            <p:spPr>
              <a:xfrm>
                <a:off x="609601" y="5067008"/>
                <a:ext cx="6138332" cy="523220"/>
              </a:xfrm>
              <a:prstGeom prst="rect">
                <a:avLst/>
              </a:prstGeom>
              <a:blipFill>
                <a:blip r:embed="rId4"/>
                <a:stretch>
                  <a:fillRect l="-413" t="-2326" b="-9302"/>
                </a:stretch>
              </a:blipFill>
            </p:spPr>
            <p:txBody>
              <a:bodyPr/>
              <a:lstStyle/>
              <a:p>
                <a:r>
                  <a:rPr lang="en-VN">
                    <a:noFill/>
                  </a:rPr>
                  <a:t> </a:t>
                </a:r>
              </a:p>
            </p:txBody>
          </p:sp>
        </mc:Fallback>
      </mc:AlternateContent>
    </p:spTree>
    <p:extLst>
      <p:ext uri="{BB962C8B-B14F-4D97-AF65-F5344CB8AC3E}">
        <p14:creationId xmlns:p14="http://schemas.microsoft.com/office/powerpoint/2010/main" val="1467278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AF887-6340-6FC1-BF60-764891ED24B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C718377-7646-8773-AC4A-BD99BFA0F08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1EB255C-7859-B9A9-468F-CC1A1FB6190F}"/>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Vấn đề xung quanh GMM: Ma trận hiệp phương sai </a:t>
                </a:r>
                <a14:m>
                  <m:oMath xmlns:m="http://schemas.openxmlformats.org/officeDocument/2006/math">
                    <m:r>
                      <a:rPr lang="en-US" sz="1400" i="1">
                        <a:latin typeface="Cambria Math" panose="02040503050406030204" pitchFamily="18" charset="0"/>
                      </a:rPr>
                      <m:t>𝛴</m:t>
                    </m:r>
                  </m:oMath>
                </a14:m>
                <a:r>
                  <a:rPr lang="vi-VN" sz="1400" b="1" dirty="0">
                    <a:solidFill>
                      <a:srgbClr val="1B8A7A"/>
                    </a:solidFill>
                    <a:latin typeface="Arial"/>
                  </a:rPr>
                  <a:t> bị suy biến (định thức = 0)</a:t>
                </a:r>
              </a:p>
            </p:txBody>
          </p:sp>
        </mc:Choice>
        <mc:Fallback xmlns="">
          <p:sp>
            <p:nvSpPr>
              <p:cNvPr id="4" name="TextBox 3">
                <a:extLst>
                  <a:ext uri="{FF2B5EF4-FFF2-40B4-BE49-F238E27FC236}">
                    <a16:creationId xmlns:a16="http://schemas.microsoft.com/office/drawing/2014/main" id="{31EB255C-7859-B9A9-468F-CC1A1FB6190F}"/>
                  </a:ext>
                </a:extLst>
              </p:cNvPr>
              <p:cNvSpPr txBox="1">
                <a:spLocks noRot="1" noChangeAspect="1" noMove="1" noResize="1" noEditPoints="1" noAdjustHandles="1" noChangeArrowheads="1" noChangeShapeType="1" noTextEdit="1"/>
              </p:cNvSpPr>
              <p:nvPr/>
            </p:nvSpPr>
            <p:spPr>
              <a:xfrm>
                <a:off x="364066" y="1267772"/>
                <a:ext cx="10961159" cy="307777"/>
              </a:xfrm>
              <a:prstGeom prst="rect">
                <a:avLst/>
              </a:prstGeom>
              <a:blipFill>
                <a:blip r:embed="rId3"/>
                <a:stretch>
                  <a:fillRect l="-116"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3AAB547-810D-A33D-B6CF-7EFEBBE17D98}"/>
                  </a:ext>
                </a:extLst>
              </p:cNvPr>
              <p:cNvSpPr txBox="1"/>
              <p:nvPr/>
            </p:nvSpPr>
            <p:spPr>
              <a:xfrm>
                <a:off x="609602" y="1798226"/>
                <a:ext cx="4478865" cy="523220"/>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Hậu quả nếu </a:t>
                </a:r>
                <a:r>
                  <a:rPr lang="vi-VN" sz="1400" dirty="0">
                    <a:cs typeface="Arial" panose="020B0604020202020204" pitchFamily="34" charset="0"/>
                  </a:rPr>
                  <a:t>ma trận </a:t>
                </a:r>
                <a14:m>
                  <m:oMath xmlns:m="http://schemas.openxmlformats.org/officeDocument/2006/math">
                    <m:r>
                      <a:rPr lang="en-US" sz="1400" i="1">
                        <a:latin typeface="Cambria Math" panose="02040503050406030204" pitchFamily="18" charset="0"/>
                      </a:rPr>
                      <m:t>𝛴</m:t>
                    </m:r>
                  </m:oMath>
                </a14:m>
                <a:r>
                  <a:rPr lang="vi-VN" sz="1400" dirty="0">
                    <a:cs typeface="Arial" panose="020B0604020202020204" pitchFamily="34" charset="0"/>
                  </a:rPr>
                  <a:t> bị suy biến</a:t>
                </a:r>
                <a:r>
                  <a:rPr lang="vi-VN" sz="1400" dirty="0">
                    <a:latin typeface="Arial" panose="020B0604020202020204" pitchFamily="34" charset="0"/>
                    <a:cs typeface="Arial" panose="020B0604020202020204" pitchFamily="34" charset="0"/>
                  </a:rPr>
                  <a:t>:</a:t>
                </a:r>
              </a:p>
              <a:p>
                <a:pPr lvl="0"/>
                <a:r>
                  <a:rPr lang="vi-VN" sz="1400" dirty="0">
                    <a:latin typeface="Arial" panose="020B0604020202020204" pitchFamily="34" charset="0"/>
                    <a:cs typeface="Arial" panose="020B0604020202020204" pitchFamily="34" charset="0"/>
                  </a:rPr>
                  <a:t>Sập </a:t>
                </a:r>
                <a:r>
                  <a:rPr lang="vi-VN" sz="1400" dirty="0">
                    <a:cs typeface="Arial" panose="020B0604020202020204" pitchFamily="34" charset="0"/>
                  </a:rPr>
                  <a:t>(không thể vẽ) </a:t>
                </a:r>
                <a:r>
                  <a:rPr lang="vi-VN" sz="1400" dirty="0">
                    <a:latin typeface="Arial" panose="020B0604020202020204" pitchFamily="34" charset="0"/>
                    <a:cs typeface="Arial" panose="020B0604020202020204" pitchFamily="34" charset="0"/>
                  </a:rPr>
                  <a:t>mô hình GMM vì 2 lý do:</a:t>
                </a:r>
              </a:p>
            </p:txBody>
          </p:sp>
        </mc:Choice>
        <mc:Fallback xmlns="">
          <p:sp>
            <p:nvSpPr>
              <p:cNvPr id="7" name="TextBox 6">
                <a:extLst>
                  <a:ext uri="{FF2B5EF4-FFF2-40B4-BE49-F238E27FC236}">
                    <a16:creationId xmlns:a16="http://schemas.microsoft.com/office/drawing/2014/main" id="{E3AAB547-810D-A33D-B6CF-7EFEBBE17D98}"/>
                  </a:ext>
                </a:extLst>
              </p:cNvPr>
              <p:cNvSpPr txBox="1">
                <a:spLocks noRot="1" noChangeAspect="1" noMove="1" noResize="1" noEditPoints="1" noAdjustHandles="1" noChangeArrowheads="1" noChangeShapeType="1" noTextEdit="1"/>
              </p:cNvSpPr>
              <p:nvPr/>
            </p:nvSpPr>
            <p:spPr>
              <a:xfrm>
                <a:off x="609602" y="1798226"/>
                <a:ext cx="4478865" cy="523220"/>
              </a:xfrm>
              <a:prstGeom prst="rect">
                <a:avLst/>
              </a:prstGeom>
              <a:blipFill>
                <a:blip r:embed="rId4"/>
                <a:stretch>
                  <a:fillRect l="-567" t="-2381" b="-9524"/>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332B134-0312-21DD-349D-568677A946B8}"/>
                  </a:ext>
                </a:extLst>
              </p:cNvPr>
              <p:cNvSpPr txBox="1"/>
              <p:nvPr/>
            </p:nvSpPr>
            <p:spPr>
              <a:xfrm>
                <a:off x="6095847" y="2094574"/>
                <a:ext cx="5373202" cy="610039"/>
              </a:xfrm>
              <a:prstGeom prst="rect">
                <a:avLst/>
              </a:prstGeom>
              <a:noFill/>
            </p:spPr>
            <p:txBody>
              <a:bodyPr wrap="none" lIns="0" tIns="0" rIns="0" bIns="0" rtlCol="0">
                <a:spAutoFit/>
              </a:bodyPr>
              <a:lstStyle/>
              <a:p>
                <a:pPr/>
                <a14:m>
                  <m:oMathPara xmlns:m="http://schemas.openxmlformats.org/officeDocument/2006/math">
                    <m:oMath>
                      <m:r>
                        <m:rPr>
                          <m:nor/>
                        </m:rPr>
                        <a:rPr lang="en-US" sz="1400" i="0" smtClean="0">
                          <a:latin typeface="Cambria Math" panose="02040503050406030204" pitchFamily="18" charset="0"/>
                        </a:rPr>
                        <m:t>GMM</m:t>
                      </m:r>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a:latin typeface="Cambria Math" panose="02040503050406030204" pitchFamily="18" charset="0"/>
                            </a:rPr>
                            <m:t>𝜋</m:t>
                          </m:r>
                          <m:r>
                            <a:rPr lang="en-US" sz="1400" b="0" i="1">
                              <a:latin typeface="Cambria Math" panose="02040503050406030204" pitchFamily="18" charset="0"/>
                            </a:rPr>
                            <m:t>,</m:t>
                          </m:r>
                          <m:r>
                            <a:rPr lang="en-US" sz="1400" b="0" i="1">
                              <a:latin typeface="Cambria Math" panose="02040503050406030204" pitchFamily="18" charset="0"/>
                            </a:rPr>
                            <m:t>𝜇</m:t>
                          </m:r>
                          <m:r>
                            <a:rPr lang="en-US" sz="1400" b="0" i="1">
                              <a:latin typeface="Cambria Math" panose="02040503050406030204" pitchFamily="18" charset="0"/>
                            </a:rPr>
                            <m:t>,</m:t>
                          </m:r>
                          <m:r>
                            <a:rPr lang="en-US" sz="1400" b="0" i="1">
                              <a:latin typeface="Cambria Math" panose="02040503050406030204" pitchFamily="18" charset="0"/>
                            </a:rPr>
                            <m:t>𝛴</m:t>
                          </m:r>
                        </m:e>
                      </m:d>
                      <m:r>
                        <a:rPr lang="en-US" sz="1400" b="0" i="1">
                          <a:latin typeface="Cambria Math" panose="02040503050406030204" pitchFamily="18" charset="0"/>
                        </a:rPr>
                        <m:t>=</m:t>
                      </m:r>
                      <m:nary>
                        <m:naryPr>
                          <m:chr m:val="∑"/>
                          <m:limLoc m:val="undOvr"/>
                          <m:ctrlPr>
                            <a:rPr lang="en-US" sz="1400" b="0" i="1">
                              <a:latin typeface="Cambria Math" panose="02040503050406030204" pitchFamily="18" charset="0"/>
                            </a:rPr>
                          </m:ctrlPr>
                        </m:naryPr>
                        <m:sub>
                          <m:r>
                            <a:rPr lang="en-US" sz="1400" b="0" i="1">
                              <a:latin typeface="Cambria Math" panose="02040503050406030204" pitchFamily="18" charset="0"/>
                            </a:rPr>
                            <m:t>𝑘</m:t>
                          </m:r>
                          <m:r>
                            <a:rPr lang="en-US" sz="1400" b="0" i="1">
                              <a:latin typeface="Cambria Math" panose="02040503050406030204" pitchFamily="18" charset="0"/>
                            </a:rPr>
                            <m:t>=1</m:t>
                          </m:r>
                        </m:sub>
                        <m:sup>
                          <m:r>
                            <a:rPr lang="en-US" sz="1400" b="0" i="1">
                              <a:latin typeface="Cambria Math" panose="02040503050406030204" pitchFamily="18" charset="0"/>
                            </a:rPr>
                            <m:t>𝐾</m:t>
                          </m:r>
                        </m:sup>
                        <m:e>
                          <m:f>
                            <m:fPr>
                              <m:ctrlPr>
                                <a:rPr lang="en-US" sz="1400" b="0" i="1">
                                  <a:latin typeface="Cambria Math" panose="02040503050406030204" pitchFamily="18" charset="0"/>
                                </a:rPr>
                              </m:ctrlPr>
                            </m:fPr>
                            <m:num>
                              <m:sSub>
                                <m:sSubPr>
                                  <m:ctrlPr>
                                    <a:rPr lang="en-US" sz="1400" b="0" i="1">
                                      <a:latin typeface="Cambria Math" panose="02040503050406030204" pitchFamily="18" charset="0"/>
                                    </a:rPr>
                                  </m:ctrlPr>
                                </m:sSubPr>
                                <m:e>
                                  <m:r>
                                    <a:rPr lang="en-US" sz="1400" b="0" i="1">
                                      <a:latin typeface="Cambria Math" panose="02040503050406030204" pitchFamily="18" charset="0"/>
                                    </a:rPr>
                                    <m:t>𝜋</m:t>
                                  </m:r>
                                </m:e>
                                <m:sub>
                                  <m:r>
                                    <a:rPr lang="en-US" sz="1400" b="0" i="1">
                                      <a:latin typeface="Cambria Math" panose="02040503050406030204" pitchFamily="18" charset="0"/>
                                    </a:rPr>
                                    <m:t>𝑘</m:t>
                                  </m:r>
                                </m:sub>
                              </m:sSub>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𝑑</m:t>
                                      </m:r>
                                    </m:sup>
                                  </m:sSup>
                                  <m:d>
                                    <m:dPr>
                                      <m:begChr m:val="|"/>
                                      <m:endChr m:val="|"/>
                                      <m:ctrlPr>
                                        <a:rPr lang="en-US" sz="1400" b="0" i="1">
                                          <a:solidFill>
                                            <a:schemeClr val="tx1"/>
                                          </a:solidFill>
                                          <a:latin typeface="Cambria Math" panose="02040503050406030204" pitchFamily="18" charset="0"/>
                                        </a:rPr>
                                      </m:ctrlPr>
                                    </m:dPr>
                                    <m:e>
                                      <m:sSub>
                                        <m:sSubPr>
                                          <m:ctrlPr>
                                            <a:rPr lang="en-US" sz="1400" b="0" i="1">
                                              <a:solidFill>
                                                <a:schemeClr val="tx1"/>
                                              </a:solidFill>
                                              <a:latin typeface="Cambria Math" panose="02040503050406030204" pitchFamily="18" charset="0"/>
                                            </a:rPr>
                                          </m:ctrlPr>
                                        </m:sSubPr>
                                        <m:e>
                                          <m:r>
                                            <a:rPr lang="en-US" sz="1400" b="0" i="1">
                                              <a:solidFill>
                                                <a:schemeClr val="tx1"/>
                                              </a:solidFill>
                                              <a:latin typeface="Cambria Math" panose="02040503050406030204" pitchFamily="18" charset="0"/>
                                            </a:rPr>
                                            <m:t>𝛴</m:t>
                                          </m:r>
                                        </m:e>
                                        <m:sub>
                                          <m:r>
                                            <a:rPr lang="en-US" sz="1400" b="0" i="1">
                                              <a:solidFill>
                                                <a:schemeClr val="tx1"/>
                                              </a:solidFill>
                                              <a:latin typeface="Cambria Math" panose="02040503050406030204" pitchFamily="18" charset="0"/>
                                            </a:rPr>
                                            <m:t>𝑘</m:t>
                                          </m:r>
                                        </m:sub>
                                      </m:sSub>
                                    </m:e>
                                  </m:d>
                                </m:e>
                              </m:rad>
                            </m:den>
                          </m:f>
                        </m:e>
                      </m:nary>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sup>
                                  <m:r>
                                    <a:rPr lang="en-US" sz="1400" b="0" i="1">
                                      <a:latin typeface="Cambria Math" panose="02040503050406030204" pitchFamily="18" charset="0"/>
                                    </a:rPr>
                                    <m:t>𝑇</m:t>
                                  </m:r>
                                </m:sup>
                              </m:sSup>
                              <m:sSubSup>
                                <m:sSubSupPr>
                                  <m:ctrlPr>
                                    <a:rPr lang="en-US" sz="1400" b="0" i="1">
                                      <a:solidFill>
                                        <a:schemeClr val="tx1"/>
                                      </a:solidFill>
                                      <a:latin typeface="Cambria Math" panose="02040503050406030204" pitchFamily="18" charset="0"/>
                                    </a:rPr>
                                  </m:ctrlPr>
                                </m:sSubSupPr>
                                <m:e>
                                  <m:r>
                                    <a:rPr lang="en-US" sz="1400" b="0" i="1">
                                      <a:solidFill>
                                        <a:schemeClr val="tx1"/>
                                      </a:solidFill>
                                      <a:latin typeface="Cambria Math" panose="02040503050406030204" pitchFamily="18" charset="0"/>
                                    </a:rPr>
                                    <m:t>𝛴</m:t>
                                  </m:r>
                                </m:e>
                                <m:sub>
                                  <m:r>
                                    <a:rPr lang="en-US" sz="1400" b="0" i="1">
                                      <a:solidFill>
                                        <a:schemeClr val="tx1"/>
                                      </a:solidFill>
                                      <a:latin typeface="Cambria Math" panose="02040503050406030204" pitchFamily="18" charset="0"/>
                                    </a:rPr>
                                    <m:t>𝑘</m:t>
                                  </m:r>
                                </m:sub>
                                <m:sup>
                                  <m:r>
                                    <a:rPr lang="en-US" sz="1400" b="0" i="1">
                                      <a:solidFill>
                                        <a:schemeClr val="tx1"/>
                                      </a:solidFill>
                                      <a:latin typeface="Cambria Math" panose="02040503050406030204" pitchFamily="18" charset="0"/>
                                    </a:rPr>
                                    <m:t>−1</m:t>
                                  </m:r>
                                </m:sup>
                              </m:sSub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d>
                        </m:e>
                      </m:func>
                    </m:oMath>
                  </m:oMathPara>
                </a14:m>
                <a:endParaRPr lang="en-VN" dirty="0"/>
              </a:p>
            </p:txBody>
          </p:sp>
        </mc:Choice>
        <mc:Fallback xmlns="">
          <p:sp>
            <p:nvSpPr>
              <p:cNvPr id="12" name="TextBox 11">
                <a:extLst>
                  <a:ext uri="{FF2B5EF4-FFF2-40B4-BE49-F238E27FC236}">
                    <a16:creationId xmlns:a16="http://schemas.microsoft.com/office/drawing/2014/main" id="{2332B134-0312-21DD-349D-568677A946B8}"/>
                  </a:ext>
                </a:extLst>
              </p:cNvPr>
              <p:cNvSpPr txBox="1">
                <a:spLocks noRot="1" noChangeAspect="1" noMove="1" noResize="1" noEditPoints="1" noAdjustHandles="1" noChangeArrowheads="1" noChangeShapeType="1" noTextEdit="1"/>
              </p:cNvSpPr>
              <p:nvPr/>
            </p:nvSpPr>
            <p:spPr>
              <a:xfrm>
                <a:off x="6095847" y="2094574"/>
                <a:ext cx="5373202" cy="610039"/>
              </a:xfrm>
              <a:prstGeom prst="rect">
                <a:avLst/>
              </a:prstGeom>
              <a:blipFill>
                <a:blip r:embed="rId5"/>
                <a:stretch>
                  <a:fillRect t="-114286" b="-175510"/>
                </a:stretch>
              </a:blipFill>
            </p:spPr>
            <p:txBody>
              <a:bodyPr/>
              <a:lstStyle/>
              <a:p>
                <a:r>
                  <a:rPr lang="en-VN">
                    <a:noFill/>
                  </a:rPr>
                  <a:t> </a:t>
                </a:r>
              </a:p>
            </p:txBody>
          </p:sp>
        </mc:Fallback>
      </mc:AlternateContent>
    </p:spTree>
    <p:extLst>
      <p:ext uri="{BB962C8B-B14F-4D97-AF65-F5344CB8AC3E}">
        <p14:creationId xmlns:p14="http://schemas.microsoft.com/office/powerpoint/2010/main" val="16037500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3C1E-D3BF-2DFA-9C5B-6135952FA9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847092-2110-3836-D391-803DA179BA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875C176-1F5D-32AA-9698-57A0A708E123}"/>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Vấn đề xung quanh GMM: Ma trận hiệp phương sai </a:t>
                </a:r>
                <a14:m>
                  <m:oMath xmlns:m="http://schemas.openxmlformats.org/officeDocument/2006/math">
                    <m:r>
                      <a:rPr lang="en-US" sz="1400" i="1">
                        <a:latin typeface="Cambria Math" panose="02040503050406030204" pitchFamily="18" charset="0"/>
                      </a:rPr>
                      <m:t>𝛴</m:t>
                    </m:r>
                  </m:oMath>
                </a14:m>
                <a:r>
                  <a:rPr lang="vi-VN" sz="1400" b="1" dirty="0">
                    <a:solidFill>
                      <a:srgbClr val="1B8A7A"/>
                    </a:solidFill>
                    <a:latin typeface="Arial"/>
                  </a:rPr>
                  <a:t> bị suy biến (định thức = 0)</a:t>
                </a:r>
              </a:p>
            </p:txBody>
          </p:sp>
        </mc:Choice>
        <mc:Fallback xmlns="">
          <p:sp>
            <p:nvSpPr>
              <p:cNvPr id="4" name="TextBox 3">
                <a:extLst>
                  <a:ext uri="{FF2B5EF4-FFF2-40B4-BE49-F238E27FC236}">
                    <a16:creationId xmlns:a16="http://schemas.microsoft.com/office/drawing/2014/main" id="{2875C176-1F5D-32AA-9698-57A0A708E123}"/>
                  </a:ext>
                </a:extLst>
              </p:cNvPr>
              <p:cNvSpPr txBox="1">
                <a:spLocks noRot="1" noChangeAspect="1" noMove="1" noResize="1" noEditPoints="1" noAdjustHandles="1" noChangeArrowheads="1" noChangeShapeType="1" noTextEdit="1"/>
              </p:cNvSpPr>
              <p:nvPr/>
            </p:nvSpPr>
            <p:spPr>
              <a:xfrm>
                <a:off x="364066" y="1267772"/>
                <a:ext cx="10961159" cy="307777"/>
              </a:xfrm>
              <a:prstGeom prst="rect">
                <a:avLst/>
              </a:prstGeom>
              <a:blipFill>
                <a:blip r:embed="rId3"/>
                <a:stretch>
                  <a:fillRect l="-116"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DB58DA3-9AFC-051D-3BC7-8DC81FD7B6A4}"/>
                  </a:ext>
                </a:extLst>
              </p:cNvPr>
              <p:cNvSpPr txBox="1"/>
              <p:nvPr/>
            </p:nvSpPr>
            <p:spPr>
              <a:xfrm>
                <a:off x="609602" y="1798226"/>
                <a:ext cx="4478865" cy="738664"/>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Hậu quả nếu </a:t>
                </a:r>
                <a:r>
                  <a:rPr lang="vi-VN" sz="1400" dirty="0">
                    <a:cs typeface="Arial" panose="020B0604020202020204" pitchFamily="34" charset="0"/>
                  </a:rPr>
                  <a:t>ma trận </a:t>
                </a:r>
                <a14:m>
                  <m:oMath xmlns:m="http://schemas.openxmlformats.org/officeDocument/2006/math">
                    <m:r>
                      <a:rPr lang="en-US" sz="1400" i="1">
                        <a:latin typeface="Cambria Math" panose="02040503050406030204" pitchFamily="18" charset="0"/>
                      </a:rPr>
                      <m:t>𝛴</m:t>
                    </m:r>
                  </m:oMath>
                </a14:m>
                <a:r>
                  <a:rPr lang="vi-VN" sz="1400" dirty="0">
                    <a:cs typeface="Arial" panose="020B0604020202020204" pitchFamily="34" charset="0"/>
                  </a:rPr>
                  <a:t> bị suy biến</a:t>
                </a:r>
                <a:r>
                  <a:rPr lang="vi-VN" sz="1400" dirty="0">
                    <a:latin typeface="Arial" panose="020B0604020202020204" pitchFamily="34" charset="0"/>
                    <a:cs typeface="Arial" panose="020B0604020202020204" pitchFamily="34" charset="0"/>
                  </a:rPr>
                  <a:t>:</a:t>
                </a:r>
              </a:p>
              <a:p>
                <a:pPr lvl="0"/>
                <a:r>
                  <a:rPr lang="vi-VN" sz="1400" dirty="0">
                    <a:latin typeface="Arial" panose="020B0604020202020204" pitchFamily="34" charset="0"/>
                    <a:cs typeface="Arial" panose="020B0604020202020204" pitchFamily="34" charset="0"/>
                  </a:rPr>
                  <a:t>Sập </a:t>
                </a:r>
                <a:r>
                  <a:rPr lang="vi-VN" sz="1400" dirty="0">
                    <a:cs typeface="Arial" panose="020B0604020202020204" pitchFamily="34" charset="0"/>
                  </a:rPr>
                  <a:t>(không thể vẽ) </a:t>
                </a:r>
                <a:r>
                  <a:rPr lang="vi-VN" sz="1400" dirty="0">
                    <a:latin typeface="Arial" panose="020B0604020202020204" pitchFamily="34" charset="0"/>
                    <a:cs typeface="Arial" panose="020B0604020202020204" pitchFamily="34" charset="0"/>
                  </a:rPr>
                  <a:t>mô hình GMM vì 2 lý do:</a:t>
                </a:r>
              </a:p>
              <a:p>
                <a:pPr lvl="0"/>
                <a:r>
                  <a:rPr lang="vi-VN" sz="1400" dirty="0">
                    <a:latin typeface="Arial" panose="020B0604020202020204" pitchFamily="34" charset="0"/>
                    <a:cs typeface="Arial" panose="020B0604020202020204" pitchFamily="34" charset="0"/>
                  </a:rPr>
                  <a:t>- Mẫu số bằng 0</a:t>
                </a:r>
              </a:p>
            </p:txBody>
          </p:sp>
        </mc:Choice>
        <mc:Fallback xmlns="">
          <p:sp>
            <p:nvSpPr>
              <p:cNvPr id="7" name="TextBox 6">
                <a:extLst>
                  <a:ext uri="{FF2B5EF4-FFF2-40B4-BE49-F238E27FC236}">
                    <a16:creationId xmlns:a16="http://schemas.microsoft.com/office/drawing/2014/main" id="{FDB58DA3-9AFC-051D-3BC7-8DC81FD7B6A4}"/>
                  </a:ext>
                </a:extLst>
              </p:cNvPr>
              <p:cNvSpPr txBox="1">
                <a:spLocks noRot="1" noChangeAspect="1" noMove="1" noResize="1" noEditPoints="1" noAdjustHandles="1" noChangeArrowheads="1" noChangeShapeType="1" noTextEdit="1"/>
              </p:cNvSpPr>
              <p:nvPr/>
            </p:nvSpPr>
            <p:spPr>
              <a:xfrm>
                <a:off x="609602" y="1798226"/>
                <a:ext cx="4478865" cy="738664"/>
              </a:xfrm>
              <a:prstGeom prst="rect">
                <a:avLst/>
              </a:prstGeom>
              <a:blipFill>
                <a:blip r:embed="rId4"/>
                <a:stretch>
                  <a:fillRect l="-567" t="-1695" b="-847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312C83-2258-1C55-1E3D-58464D2DD376}"/>
                  </a:ext>
                </a:extLst>
              </p:cNvPr>
              <p:cNvSpPr txBox="1"/>
              <p:nvPr/>
            </p:nvSpPr>
            <p:spPr>
              <a:xfrm>
                <a:off x="6095847" y="2094574"/>
                <a:ext cx="5373202" cy="610039"/>
              </a:xfrm>
              <a:prstGeom prst="rect">
                <a:avLst/>
              </a:prstGeom>
              <a:noFill/>
            </p:spPr>
            <p:txBody>
              <a:bodyPr wrap="none" lIns="0" tIns="0" rIns="0" bIns="0" rtlCol="0">
                <a:spAutoFit/>
              </a:bodyPr>
              <a:lstStyle/>
              <a:p>
                <a:pPr/>
                <a14:m>
                  <m:oMathPara xmlns:m="http://schemas.openxmlformats.org/officeDocument/2006/math">
                    <m:oMath>
                      <m:r>
                        <m:rPr>
                          <m:nor/>
                        </m:rPr>
                        <a:rPr lang="en-US" sz="1400" i="0" smtClean="0">
                          <a:latin typeface="Cambria Math" panose="02040503050406030204" pitchFamily="18" charset="0"/>
                        </a:rPr>
                        <m:t>GMM</m:t>
                      </m:r>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a:latin typeface="Cambria Math" panose="02040503050406030204" pitchFamily="18" charset="0"/>
                            </a:rPr>
                            <m:t>𝜋</m:t>
                          </m:r>
                          <m:r>
                            <a:rPr lang="en-US" sz="1400" b="0" i="1">
                              <a:latin typeface="Cambria Math" panose="02040503050406030204" pitchFamily="18" charset="0"/>
                            </a:rPr>
                            <m:t>,</m:t>
                          </m:r>
                          <m:r>
                            <a:rPr lang="en-US" sz="1400" b="0" i="1">
                              <a:latin typeface="Cambria Math" panose="02040503050406030204" pitchFamily="18" charset="0"/>
                            </a:rPr>
                            <m:t>𝜇</m:t>
                          </m:r>
                          <m:r>
                            <a:rPr lang="en-US" sz="1400" b="0" i="1">
                              <a:latin typeface="Cambria Math" panose="02040503050406030204" pitchFamily="18" charset="0"/>
                            </a:rPr>
                            <m:t>,</m:t>
                          </m:r>
                          <m:r>
                            <a:rPr lang="en-US" sz="1400" b="0" i="1">
                              <a:latin typeface="Cambria Math" panose="02040503050406030204" pitchFamily="18" charset="0"/>
                            </a:rPr>
                            <m:t>𝛴</m:t>
                          </m:r>
                        </m:e>
                      </m:d>
                      <m:r>
                        <a:rPr lang="en-US" sz="1400" b="0" i="1">
                          <a:latin typeface="Cambria Math" panose="02040503050406030204" pitchFamily="18" charset="0"/>
                        </a:rPr>
                        <m:t>=</m:t>
                      </m:r>
                      <m:nary>
                        <m:naryPr>
                          <m:chr m:val="∑"/>
                          <m:limLoc m:val="undOvr"/>
                          <m:ctrlPr>
                            <a:rPr lang="en-US" sz="1400" b="0" i="1">
                              <a:latin typeface="Cambria Math" panose="02040503050406030204" pitchFamily="18" charset="0"/>
                            </a:rPr>
                          </m:ctrlPr>
                        </m:naryPr>
                        <m:sub>
                          <m:r>
                            <a:rPr lang="en-US" sz="1400" b="0" i="1">
                              <a:latin typeface="Cambria Math" panose="02040503050406030204" pitchFamily="18" charset="0"/>
                            </a:rPr>
                            <m:t>𝑘</m:t>
                          </m:r>
                          <m:r>
                            <a:rPr lang="en-US" sz="1400" b="0" i="1">
                              <a:latin typeface="Cambria Math" panose="02040503050406030204" pitchFamily="18" charset="0"/>
                            </a:rPr>
                            <m:t>=1</m:t>
                          </m:r>
                        </m:sub>
                        <m:sup>
                          <m:r>
                            <a:rPr lang="en-US" sz="1400" b="0" i="1">
                              <a:latin typeface="Cambria Math" panose="02040503050406030204" pitchFamily="18" charset="0"/>
                            </a:rPr>
                            <m:t>𝐾</m:t>
                          </m:r>
                        </m:sup>
                        <m:e>
                          <m:f>
                            <m:fPr>
                              <m:ctrlPr>
                                <a:rPr lang="en-US" sz="1400" b="0" i="1">
                                  <a:latin typeface="Cambria Math" panose="02040503050406030204" pitchFamily="18" charset="0"/>
                                </a:rPr>
                              </m:ctrlPr>
                            </m:fPr>
                            <m:num>
                              <m:sSub>
                                <m:sSubPr>
                                  <m:ctrlPr>
                                    <a:rPr lang="en-US" sz="1400" b="0" i="1">
                                      <a:latin typeface="Cambria Math" panose="02040503050406030204" pitchFamily="18" charset="0"/>
                                    </a:rPr>
                                  </m:ctrlPr>
                                </m:sSubPr>
                                <m:e>
                                  <m:r>
                                    <a:rPr lang="en-US" sz="1400" b="0" i="1">
                                      <a:latin typeface="Cambria Math" panose="02040503050406030204" pitchFamily="18" charset="0"/>
                                    </a:rPr>
                                    <m:t>𝜋</m:t>
                                  </m:r>
                                </m:e>
                                <m:sub>
                                  <m:r>
                                    <a:rPr lang="en-US" sz="1400" b="0" i="1">
                                      <a:latin typeface="Cambria Math" panose="02040503050406030204" pitchFamily="18" charset="0"/>
                                    </a:rPr>
                                    <m:t>𝑘</m:t>
                                  </m:r>
                                </m:sub>
                              </m:sSub>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𝑑</m:t>
                                      </m:r>
                                    </m:sup>
                                  </m:sSup>
                                  <m:d>
                                    <m:dPr>
                                      <m:begChr m:val="|"/>
                                      <m:endChr m:val="|"/>
                                      <m:ctrlPr>
                                        <a:rPr lang="en-US" sz="1400" b="0" i="1">
                                          <a:solidFill>
                                            <a:srgbClr val="FF0000"/>
                                          </a:solidFill>
                                          <a:latin typeface="Cambria Math" panose="02040503050406030204" pitchFamily="18" charset="0"/>
                                        </a:rPr>
                                      </m:ctrlPr>
                                    </m:dPr>
                                    <m:e>
                                      <m:sSub>
                                        <m:sSubPr>
                                          <m:ctrlPr>
                                            <a:rPr lang="en-US" sz="1400" b="0" i="1">
                                              <a:solidFill>
                                                <a:srgbClr val="FF0000"/>
                                              </a:solidFill>
                                              <a:latin typeface="Cambria Math" panose="02040503050406030204" pitchFamily="18" charset="0"/>
                                            </a:rPr>
                                          </m:ctrlPr>
                                        </m:sSub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Sub>
                                    </m:e>
                                  </m:d>
                                </m:e>
                              </m:rad>
                            </m:den>
                          </m:f>
                        </m:e>
                      </m:nary>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sup>
                                  <m:r>
                                    <a:rPr lang="en-US" sz="1400" b="0" i="1">
                                      <a:latin typeface="Cambria Math" panose="02040503050406030204" pitchFamily="18" charset="0"/>
                                    </a:rPr>
                                    <m:t>𝑇</m:t>
                                  </m:r>
                                </m:sup>
                              </m:sSup>
                              <m:sSubSup>
                                <m:sSubSupPr>
                                  <m:ctrlPr>
                                    <a:rPr lang="en-US" sz="1400" b="0" i="1">
                                      <a:solidFill>
                                        <a:schemeClr val="tx1"/>
                                      </a:solidFill>
                                      <a:latin typeface="Cambria Math" panose="02040503050406030204" pitchFamily="18" charset="0"/>
                                    </a:rPr>
                                  </m:ctrlPr>
                                </m:sSubSupPr>
                                <m:e>
                                  <m:r>
                                    <a:rPr lang="en-US" sz="1400" b="0" i="1">
                                      <a:solidFill>
                                        <a:schemeClr val="tx1"/>
                                      </a:solidFill>
                                      <a:latin typeface="Cambria Math" panose="02040503050406030204" pitchFamily="18" charset="0"/>
                                    </a:rPr>
                                    <m:t>𝛴</m:t>
                                  </m:r>
                                </m:e>
                                <m:sub>
                                  <m:r>
                                    <a:rPr lang="en-US" sz="1400" b="0" i="1">
                                      <a:solidFill>
                                        <a:schemeClr val="tx1"/>
                                      </a:solidFill>
                                      <a:latin typeface="Cambria Math" panose="02040503050406030204" pitchFamily="18" charset="0"/>
                                    </a:rPr>
                                    <m:t>𝑘</m:t>
                                  </m:r>
                                </m:sub>
                                <m:sup>
                                  <m:r>
                                    <a:rPr lang="en-US" sz="1400" b="0" i="1">
                                      <a:solidFill>
                                        <a:schemeClr val="tx1"/>
                                      </a:solidFill>
                                      <a:latin typeface="Cambria Math" panose="02040503050406030204" pitchFamily="18" charset="0"/>
                                    </a:rPr>
                                    <m:t>−1</m:t>
                                  </m:r>
                                </m:sup>
                              </m:sSub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d>
                        </m:e>
                      </m:func>
                    </m:oMath>
                  </m:oMathPara>
                </a14:m>
                <a:endParaRPr lang="en-VN" dirty="0"/>
              </a:p>
            </p:txBody>
          </p:sp>
        </mc:Choice>
        <mc:Fallback xmlns="">
          <p:sp>
            <p:nvSpPr>
              <p:cNvPr id="12" name="TextBox 11">
                <a:extLst>
                  <a:ext uri="{FF2B5EF4-FFF2-40B4-BE49-F238E27FC236}">
                    <a16:creationId xmlns:a16="http://schemas.microsoft.com/office/drawing/2014/main" id="{59312C83-2258-1C55-1E3D-58464D2DD376}"/>
                  </a:ext>
                </a:extLst>
              </p:cNvPr>
              <p:cNvSpPr txBox="1">
                <a:spLocks noRot="1" noChangeAspect="1" noMove="1" noResize="1" noEditPoints="1" noAdjustHandles="1" noChangeArrowheads="1" noChangeShapeType="1" noTextEdit="1"/>
              </p:cNvSpPr>
              <p:nvPr/>
            </p:nvSpPr>
            <p:spPr>
              <a:xfrm>
                <a:off x="6095847" y="2094574"/>
                <a:ext cx="5373202" cy="610039"/>
              </a:xfrm>
              <a:prstGeom prst="rect">
                <a:avLst/>
              </a:prstGeom>
              <a:blipFill>
                <a:blip r:embed="rId5"/>
                <a:stretch>
                  <a:fillRect t="-114286" b="-175510"/>
                </a:stretch>
              </a:blipFill>
            </p:spPr>
            <p:txBody>
              <a:bodyPr/>
              <a:lstStyle/>
              <a:p>
                <a:r>
                  <a:rPr lang="en-VN">
                    <a:noFill/>
                  </a:rPr>
                  <a:t> </a:t>
                </a:r>
              </a:p>
            </p:txBody>
          </p:sp>
        </mc:Fallback>
      </mc:AlternateContent>
    </p:spTree>
    <p:extLst>
      <p:ext uri="{BB962C8B-B14F-4D97-AF65-F5344CB8AC3E}">
        <p14:creationId xmlns:p14="http://schemas.microsoft.com/office/powerpoint/2010/main" val="36764223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C846E-5D6D-FB40-4A70-DB9BB3916D5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33FC04F-260F-8BA1-30E1-FA4EC61F89E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9B413C1-00F0-D3E0-5F3D-291DDDC33BC4}"/>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Vấn đề xung quanh GMM: Ma trận hiệp phương sai </a:t>
                </a:r>
                <a14:m>
                  <m:oMath xmlns:m="http://schemas.openxmlformats.org/officeDocument/2006/math">
                    <m:r>
                      <a:rPr lang="en-US" sz="1400" i="1">
                        <a:latin typeface="Cambria Math" panose="02040503050406030204" pitchFamily="18" charset="0"/>
                      </a:rPr>
                      <m:t>𝛴</m:t>
                    </m:r>
                  </m:oMath>
                </a14:m>
                <a:r>
                  <a:rPr lang="vi-VN" sz="1400" b="1" dirty="0">
                    <a:solidFill>
                      <a:srgbClr val="1B8A7A"/>
                    </a:solidFill>
                    <a:latin typeface="Arial"/>
                  </a:rPr>
                  <a:t> bị suy biến (định thức = 0)</a:t>
                </a:r>
              </a:p>
            </p:txBody>
          </p:sp>
        </mc:Choice>
        <mc:Fallback xmlns="">
          <p:sp>
            <p:nvSpPr>
              <p:cNvPr id="4" name="TextBox 3">
                <a:extLst>
                  <a:ext uri="{FF2B5EF4-FFF2-40B4-BE49-F238E27FC236}">
                    <a16:creationId xmlns:a16="http://schemas.microsoft.com/office/drawing/2014/main" id="{39B413C1-00F0-D3E0-5F3D-291DDDC33BC4}"/>
                  </a:ext>
                </a:extLst>
              </p:cNvPr>
              <p:cNvSpPr txBox="1">
                <a:spLocks noRot="1" noChangeAspect="1" noMove="1" noResize="1" noEditPoints="1" noAdjustHandles="1" noChangeArrowheads="1" noChangeShapeType="1" noTextEdit="1"/>
              </p:cNvSpPr>
              <p:nvPr/>
            </p:nvSpPr>
            <p:spPr>
              <a:xfrm>
                <a:off x="364066" y="1267772"/>
                <a:ext cx="10961159" cy="307777"/>
              </a:xfrm>
              <a:prstGeom prst="rect">
                <a:avLst/>
              </a:prstGeom>
              <a:blipFill>
                <a:blip r:embed="rId3"/>
                <a:stretch>
                  <a:fillRect l="-116"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4397FAD-63EE-588A-E30C-8D8CEE9EE5B3}"/>
                  </a:ext>
                </a:extLst>
              </p:cNvPr>
              <p:cNvSpPr txBox="1"/>
              <p:nvPr/>
            </p:nvSpPr>
            <p:spPr>
              <a:xfrm>
                <a:off x="609602" y="1798226"/>
                <a:ext cx="4478865" cy="954107"/>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Hậu quả nếu </a:t>
                </a:r>
                <a:r>
                  <a:rPr lang="vi-VN" sz="1400" dirty="0">
                    <a:cs typeface="Arial" panose="020B0604020202020204" pitchFamily="34" charset="0"/>
                  </a:rPr>
                  <a:t>ma trận </a:t>
                </a:r>
                <a14:m>
                  <m:oMath xmlns:m="http://schemas.openxmlformats.org/officeDocument/2006/math">
                    <m:r>
                      <a:rPr lang="en-US" sz="1400" i="1">
                        <a:latin typeface="Cambria Math" panose="02040503050406030204" pitchFamily="18" charset="0"/>
                      </a:rPr>
                      <m:t>𝛴</m:t>
                    </m:r>
                  </m:oMath>
                </a14:m>
                <a:r>
                  <a:rPr lang="vi-VN" sz="1400" dirty="0">
                    <a:cs typeface="Arial" panose="020B0604020202020204" pitchFamily="34" charset="0"/>
                  </a:rPr>
                  <a:t> bị suy biến</a:t>
                </a:r>
                <a:r>
                  <a:rPr lang="vi-VN" sz="1400" dirty="0">
                    <a:latin typeface="Arial" panose="020B0604020202020204" pitchFamily="34" charset="0"/>
                    <a:cs typeface="Arial" panose="020B0604020202020204" pitchFamily="34" charset="0"/>
                  </a:rPr>
                  <a:t>:</a:t>
                </a:r>
              </a:p>
              <a:p>
                <a:pPr lvl="0"/>
                <a:r>
                  <a:rPr lang="vi-VN" sz="1400" dirty="0">
                    <a:latin typeface="Arial" panose="020B0604020202020204" pitchFamily="34" charset="0"/>
                    <a:cs typeface="Arial" panose="020B0604020202020204" pitchFamily="34" charset="0"/>
                  </a:rPr>
                  <a:t>Sập </a:t>
                </a:r>
                <a:r>
                  <a:rPr lang="vi-VN" sz="1400" dirty="0">
                    <a:cs typeface="Arial" panose="020B0604020202020204" pitchFamily="34" charset="0"/>
                  </a:rPr>
                  <a:t>(không thể vẽ) </a:t>
                </a:r>
                <a:r>
                  <a:rPr lang="vi-VN" sz="1400" dirty="0">
                    <a:latin typeface="Arial" panose="020B0604020202020204" pitchFamily="34" charset="0"/>
                    <a:cs typeface="Arial" panose="020B0604020202020204" pitchFamily="34" charset="0"/>
                  </a:rPr>
                  <a:t>mô hình GMM vì 2 lý do:</a:t>
                </a:r>
              </a:p>
              <a:p>
                <a:pPr lvl="0"/>
                <a:r>
                  <a:rPr lang="vi-VN" sz="1400" dirty="0">
                    <a:latin typeface="Arial" panose="020B0604020202020204" pitchFamily="34" charset="0"/>
                    <a:cs typeface="Arial" panose="020B0604020202020204" pitchFamily="34" charset="0"/>
                  </a:rPr>
                  <a:t>- Mẫu số bằng 0</a:t>
                </a:r>
                <a:br>
                  <a:rPr lang="vi-VN" sz="1400" dirty="0">
                    <a:latin typeface="Arial" panose="020B0604020202020204" pitchFamily="34" charset="0"/>
                    <a:cs typeface="Arial" panose="020B0604020202020204" pitchFamily="34" charset="0"/>
                  </a:rPr>
                </a:br>
                <a:r>
                  <a:rPr lang="vi-VN" sz="1400" dirty="0">
                    <a:latin typeface="Arial" panose="020B0604020202020204" pitchFamily="34" charset="0"/>
                    <a:cs typeface="Arial" panose="020B0604020202020204" pitchFamily="34" charset="0"/>
                  </a:rPr>
                  <a:t>- Không thể nghịch đảo ma trận </a:t>
                </a:r>
                <a14:m>
                  <m:oMath xmlns:m="http://schemas.openxmlformats.org/officeDocument/2006/math">
                    <m:r>
                      <a:rPr lang="en-US" sz="1400" i="1">
                        <a:latin typeface="Cambria Math" panose="02040503050406030204" pitchFamily="18" charset="0"/>
                      </a:rPr>
                      <m:t>𝛴</m:t>
                    </m:r>
                  </m:oMath>
                </a14:m>
                <a:endParaRPr lang="vi-VN" sz="14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A4397FAD-63EE-588A-E30C-8D8CEE9EE5B3}"/>
                  </a:ext>
                </a:extLst>
              </p:cNvPr>
              <p:cNvSpPr txBox="1">
                <a:spLocks noRot="1" noChangeAspect="1" noMove="1" noResize="1" noEditPoints="1" noAdjustHandles="1" noChangeArrowheads="1" noChangeShapeType="1" noTextEdit="1"/>
              </p:cNvSpPr>
              <p:nvPr/>
            </p:nvSpPr>
            <p:spPr>
              <a:xfrm>
                <a:off x="609602" y="1798226"/>
                <a:ext cx="4478865" cy="954107"/>
              </a:xfrm>
              <a:prstGeom prst="rect">
                <a:avLst/>
              </a:prstGeom>
              <a:blipFill>
                <a:blip r:embed="rId4"/>
                <a:stretch>
                  <a:fillRect l="-567" t="-1316" b="-526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F508E2-2F6F-FCE9-6007-03E341F1DCE0}"/>
                  </a:ext>
                </a:extLst>
              </p:cNvPr>
              <p:cNvSpPr txBox="1"/>
              <p:nvPr/>
            </p:nvSpPr>
            <p:spPr>
              <a:xfrm>
                <a:off x="6095847" y="2094574"/>
                <a:ext cx="5373202" cy="610039"/>
              </a:xfrm>
              <a:prstGeom prst="rect">
                <a:avLst/>
              </a:prstGeom>
              <a:noFill/>
            </p:spPr>
            <p:txBody>
              <a:bodyPr wrap="none" lIns="0" tIns="0" rIns="0" bIns="0" rtlCol="0">
                <a:spAutoFit/>
              </a:bodyPr>
              <a:lstStyle/>
              <a:p>
                <a:pPr/>
                <a14:m>
                  <m:oMathPara xmlns:m="http://schemas.openxmlformats.org/officeDocument/2006/math">
                    <m:oMath>
                      <m:r>
                        <m:rPr>
                          <m:nor/>
                        </m:rPr>
                        <a:rPr lang="en-US" sz="1400" i="0" smtClean="0">
                          <a:latin typeface="Cambria Math" panose="02040503050406030204" pitchFamily="18" charset="0"/>
                        </a:rPr>
                        <m:t>GMM</m:t>
                      </m:r>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a:latin typeface="Cambria Math" panose="02040503050406030204" pitchFamily="18" charset="0"/>
                            </a:rPr>
                            <m:t>𝜋</m:t>
                          </m:r>
                          <m:r>
                            <a:rPr lang="en-US" sz="1400" b="0" i="1">
                              <a:latin typeface="Cambria Math" panose="02040503050406030204" pitchFamily="18" charset="0"/>
                            </a:rPr>
                            <m:t>,</m:t>
                          </m:r>
                          <m:r>
                            <a:rPr lang="en-US" sz="1400" b="0" i="1">
                              <a:latin typeface="Cambria Math" panose="02040503050406030204" pitchFamily="18" charset="0"/>
                            </a:rPr>
                            <m:t>𝜇</m:t>
                          </m:r>
                          <m:r>
                            <a:rPr lang="en-US" sz="1400" b="0" i="1">
                              <a:latin typeface="Cambria Math" panose="02040503050406030204" pitchFamily="18" charset="0"/>
                            </a:rPr>
                            <m:t>,</m:t>
                          </m:r>
                          <m:r>
                            <a:rPr lang="en-US" sz="1400" b="0" i="1">
                              <a:latin typeface="Cambria Math" panose="02040503050406030204" pitchFamily="18" charset="0"/>
                            </a:rPr>
                            <m:t>𝛴</m:t>
                          </m:r>
                        </m:e>
                      </m:d>
                      <m:r>
                        <a:rPr lang="en-US" sz="1400" b="0" i="1">
                          <a:latin typeface="Cambria Math" panose="02040503050406030204" pitchFamily="18" charset="0"/>
                        </a:rPr>
                        <m:t>=</m:t>
                      </m:r>
                      <m:nary>
                        <m:naryPr>
                          <m:chr m:val="∑"/>
                          <m:limLoc m:val="undOvr"/>
                          <m:ctrlPr>
                            <a:rPr lang="en-US" sz="1400" b="0" i="1">
                              <a:latin typeface="Cambria Math" panose="02040503050406030204" pitchFamily="18" charset="0"/>
                            </a:rPr>
                          </m:ctrlPr>
                        </m:naryPr>
                        <m:sub>
                          <m:r>
                            <a:rPr lang="en-US" sz="1400" b="0" i="1">
                              <a:latin typeface="Cambria Math" panose="02040503050406030204" pitchFamily="18" charset="0"/>
                            </a:rPr>
                            <m:t>𝑘</m:t>
                          </m:r>
                          <m:r>
                            <a:rPr lang="en-US" sz="1400" b="0" i="1">
                              <a:latin typeface="Cambria Math" panose="02040503050406030204" pitchFamily="18" charset="0"/>
                            </a:rPr>
                            <m:t>=1</m:t>
                          </m:r>
                        </m:sub>
                        <m:sup>
                          <m:r>
                            <a:rPr lang="en-US" sz="1400" b="0" i="1">
                              <a:latin typeface="Cambria Math" panose="02040503050406030204" pitchFamily="18" charset="0"/>
                            </a:rPr>
                            <m:t>𝐾</m:t>
                          </m:r>
                        </m:sup>
                        <m:e>
                          <m:f>
                            <m:fPr>
                              <m:ctrlPr>
                                <a:rPr lang="en-US" sz="1400" b="0" i="1">
                                  <a:latin typeface="Cambria Math" panose="02040503050406030204" pitchFamily="18" charset="0"/>
                                </a:rPr>
                              </m:ctrlPr>
                            </m:fPr>
                            <m:num>
                              <m:sSub>
                                <m:sSubPr>
                                  <m:ctrlPr>
                                    <a:rPr lang="en-US" sz="1400" b="0" i="1">
                                      <a:latin typeface="Cambria Math" panose="02040503050406030204" pitchFamily="18" charset="0"/>
                                    </a:rPr>
                                  </m:ctrlPr>
                                </m:sSubPr>
                                <m:e>
                                  <m:r>
                                    <a:rPr lang="en-US" sz="1400" b="0" i="1">
                                      <a:latin typeface="Cambria Math" panose="02040503050406030204" pitchFamily="18" charset="0"/>
                                    </a:rPr>
                                    <m:t>𝜋</m:t>
                                  </m:r>
                                </m:e>
                                <m:sub>
                                  <m:r>
                                    <a:rPr lang="en-US" sz="1400" b="0" i="1">
                                      <a:latin typeface="Cambria Math" panose="02040503050406030204" pitchFamily="18" charset="0"/>
                                    </a:rPr>
                                    <m:t>𝑘</m:t>
                                  </m:r>
                                </m:sub>
                              </m:sSub>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𝑑</m:t>
                                      </m:r>
                                    </m:sup>
                                  </m:sSup>
                                  <m:d>
                                    <m:dPr>
                                      <m:begChr m:val="|"/>
                                      <m:endChr m:val="|"/>
                                      <m:ctrlPr>
                                        <a:rPr lang="en-US" sz="1400" b="0" i="1">
                                          <a:solidFill>
                                            <a:srgbClr val="FF0000"/>
                                          </a:solidFill>
                                          <a:latin typeface="Cambria Math" panose="02040503050406030204" pitchFamily="18" charset="0"/>
                                        </a:rPr>
                                      </m:ctrlPr>
                                    </m:dPr>
                                    <m:e>
                                      <m:sSub>
                                        <m:sSubPr>
                                          <m:ctrlPr>
                                            <a:rPr lang="en-US" sz="1400" b="0" i="1">
                                              <a:solidFill>
                                                <a:srgbClr val="FF0000"/>
                                              </a:solidFill>
                                              <a:latin typeface="Cambria Math" panose="02040503050406030204" pitchFamily="18" charset="0"/>
                                            </a:rPr>
                                          </m:ctrlPr>
                                        </m:sSub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Sub>
                                    </m:e>
                                  </m:d>
                                </m:e>
                              </m:rad>
                            </m:den>
                          </m:f>
                        </m:e>
                      </m:nary>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sup>
                                  <m:r>
                                    <a:rPr lang="en-US" sz="1400" b="0" i="1">
                                      <a:latin typeface="Cambria Math" panose="02040503050406030204" pitchFamily="18" charset="0"/>
                                    </a:rPr>
                                    <m:t>𝑇</m:t>
                                  </m:r>
                                </m:sup>
                              </m:sSup>
                              <m:sSubSup>
                                <m:sSubSupPr>
                                  <m:ctrlPr>
                                    <a:rPr lang="en-US" sz="1400" b="0" i="1">
                                      <a:solidFill>
                                        <a:srgbClr val="FF0000"/>
                                      </a:solidFill>
                                      <a:latin typeface="Cambria Math" panose="02040503050406030204" pitchFamily="18" charset="0"/>
                                    </a:rPr>
                                  </m:ctrlPr>
                                </m:sSubSup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up>
                                  <m:r>
                                    <a:rPr lang="en-US" sz="1400" b="0" i="1">
                                      <a:solidFill>
                                        <a:srgbClr val="FF0000"/>
                                      </a:solidFill>
                                      <a:latin typeface="Cambria Math" panose="02040503050406030204" pitchFamily="18" charset="0"/>
                                    </a:rPr>
                                    <m:t>−1</m:t>
                                  </m:r>
                                </m:sup>
                              </m:sSub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d>
                        </m:e>
                      </m:func>
                    </m:oMath>
                  </m:oMathPara>
                </a14:m>
                <a:endParaRPr lang="en-VN" dirty="0"/>
              </a:p>
            </p:txBody>
          </p:sp>
        </mc:Choice>
        <mc:Fallback xmlns="">
          <p:sp>
            <p:nvSpPr>
              <p:cNvPr id="12" name="TextBox 11">
                <a:extLst>
                  <a:ext uri="{FF2B5EF4-FFF2-40B4-BE49-F238E27FC236}">
                    <a16:creationId xmlns:a16="http://schemas.microsoft.com/office/drawing/2014/main" id="{EAF508E2-2F6F-FCE9-6007-03E341F1DCE0}"/>
                  </a:ext>
                </a:extLst>
              </p:cNvPr>
              <p:cNvSpPr txBox="1">
                <a:spLocks noRot="1" noChangeAspect="1" noMove="1" noResize="1" noEditPoints="1" noAdjustHandles="1" noChangeArrowheads="1" noChangeShapeType="1" noTextEdit="1"/>
              </p:cNvSpPr>
              <p:nvPr/>
            </p:nvSpPr>
            <p:spPr>
              <a:xfrm>
                <a:off x="6095847" y="2094574"/>
                <a:ext cx="5373202" cy="610039"/>
              </a:xfrm>
              <a:prstGeom prst="rect">
                <a:avLst/>
              </a:prstGeom>
              <a:blipFill>
                <a:blip r:embed="rId5"/>
                <a:stretch>
                  <a:fillRect t="-114286" b="-175510"/>
                </a:stretch>
              </a:blipFill>
            </p:spPr>
            <p:txBody>
              <a:bodyPr/>
              <a:lstStyle/>
              <a:p>
                <a:r>
                  <a:rPr lang="en-VN">
                    <a:noFill/>
                  </a:rPr>
                  <a:t> </a:t>
                </a:r>
              </a:p>
            </p:txBody>
          </p:sp>
        </mc:Fallback>
      </mc:AlternateContent>
    </p:spTree>
    <p:extLst>
      <p:ext uri="{BB962C8B-B14F-4D97-AF65-F5344CB8AC3E}">
        <p14:creationId xmlns:p14="http://schemas.microsoft.com/office/powerpoint/2010/main" val="37870678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4008E-945F-47A7-5432-BCE26937EEE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2F30027-D74E-2A92-56DA-52883FCDD1F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1C2A7F4-9E29-E1EC-A204-252446795900}"/>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Vấn đề xung quanh GMM: Ma trận hiệp phương sai </a:t>
                </a:r>
                <a14:m>
                  <m:oMath xmlns:m="http://schemas.openxmlformats.org/officeDocument/2006/math">
                    <m:r>
                      <a:rPr lang="en-US" sz="1400" i="1">
                        <a:latin typeface="Cambria Math" panose="02040503050406030204" pitchFamily="18" charset="0"/>
                      </a:rPr>
                      <m:t>𝛴</m:t>
                    </m:r>
                  </m:oMath>
                </a14:m>
                <a:r>
                  <a:rPr lang="vi-VN" sz="1400" b="1" dirty="0">
                    <a:solidFill>
                      <a:srgbClr val="1B8A7A"/>
                    </a:solidFill>
                    <a:latin typeface="Arial"/>
                  </a:rPr>
                  <a:t> bị suy biến (định thức = 0)</a:t>
                </a:r>
              </a:p>
            </p:txBody>
          </p:sp>
        </mc:Choice>
        <mc:Fallback xmlns="">
          <p:sp>
            <p:nvSpPr>
              <p:cNvPr id="4" name="TextBox 3">
                <a:extLst>
                  <a:ext uri="{FF2B5EF4-FFF2-40B4-BE49-F238E27FC236}">
                    <a16:creationId xmlns:a16="http://schemas.microsoft.com/office/drawing/2014/main" id="{41C2A7F4-9E29-E1EC-A204-252446795900}"/>
                  </a:ext>
                </a:extLst>
              </p:cNvPr>
              <p:cNvSpPr txBox="1">
                <a:spLocks noRot="1" noChangeAspect="1" noMove="1" noResize="1" noEditPoints="1" noAdjustHandles="1" noChangeArrowheads="1" noChangeShapeType="1" noTextEdit="1"/>
              </p:cNvSpPr>
              <p:nvPr/>
            </p:nvSpPr>
            <p:spPr>
              <a:xfrm>
                <a:off x="364066" y="1267772"/>
                <a:ext cx="10961159" cy="307777"/>
              </a:xfrm>
              <a:prstGeom prst="rect">
                <a:avLst/>
              </a:prstGeom>
              <a:blipFill>
                <a:blip r:embed="rId3"/>
                <a:stretch>
                  <a:fillRect l="-116"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849FE5F-AE17-BF30-FE0A-627BFA0A8022}"/>
                  </a:ext>
                </a:extLst>
              </p:cNvPr>
              <p:cNvSpPr txBox="1"/>
              <p:nvPr/>
            </p:nvSpPr>
            <p:spPr>
              <a:xfrm>
                <a:off x="609601" y="3199281"/>
                <a:ext cx="10320865" cy="2893100"/>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Dữ liệu train có đặc điểm sau đây sẽ khiến ma trận </a:t>
                </a:r>
                <a14:m>
                  <m:oMath xmlns:m="http://schemas.openxmlformats.org/officeDocument/2006/math">
                    <m:r>
                      <a:rPr lang="en-US" sz="1400" i="1">
                        <a:latin typeface="Cambria Math" panose="02040503050406030204" pitchFamily="18" charset="0"/>
                      </a:rPr>
                      <m:t>𝛴</m:t>
                    </m:r>
                  </m:oMath>
                </a14:m>
                <a:r>
                  <a:rPr lang="vi-VN" sz="1400" dirty="0">
                    <a:latin typeface="Arial" panose="020B0604020202020204" pitchFamily="34" charset="0"/>
                    <a:cs typeface="Arial" panose="020B0604020202020204" pitchFamily="34" charset="0"/>
                  </a:rPr>
                  <a:t> bị suy biến:</a:t>
                </a:r>
                <a:endParaRPr lang="en-VN" sz="1400" dirty="0">
                  <a:latin typeface="Arial" panose="020B0604020202020204" pitchFamily="34" charset="0"/>
                  <a:cs typeface="Arial" panose="020B0604020202020204" pitchFamily="34" charset="0"/>
                </a:endParaRP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1 - Có các đặc trưng trùng lặp hoặc phụ thuộc tuyến tính (vấn đề cộng tuyến)</a:t>
                </a:r>
              </a:p>
              <a:p>
                <a:pPr lvl="0"/>
                <a:r>
                  <a:rPr lang="en-VN" sz="1400" dirty="0">
                    <a:latin typeface="Arial" panose="020B0604020202020204" pitchFamily="34" charset="0"/>
                    <a:cs typeface="Arial" panose="020B0604020202020204" pitchFamily="34" charset="0"/>
                  </a:rPr>
                  <a:t>	</a:t>
                </a: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2 - Một đặc trưng bất kỳ có giá trị không đổi (phương sai bằng 0) (khiến đường chéo chính ma trận hiệp phương sai chứa số 0)</a:t>
                </a:r>
              </a:p>
              <a:p>
                <a:pPr lvl="0"/>
                <a:r>
                  <a:rPr lang="en-VN" sz="1400" dirty="0">
                    <a:latin typeface="Arial" panose="020B0604020202020204" pitchFamily="34" charset="0"/>
                    <a:cs typeface="Arial" panose="020B0604020202020204" pitchFamily="34" charset="0"/>
                  </a:rPr>
                  <a:t>	</a:t>
                </a: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3 - </a:t>
                </a:r>
                <a:r>
                  <a:rPr lang="vi-VN" sz="1400" dirty="0">
                    <a:latin typeface="Arial" panose="020B0604020202020204" pitchFamily="34" charset="0"/>
                    <a:cs typeface="Arial" panose="020B0604020202020204" pitchFamily="34" charset="0"/>
                  </a:rPr>
                  <a:t>Số lượng mẫu dữ liệu ít hơn số chiều (Số dòng &lt; Số cột)</a:t>
                </a:r>
              </a:p>
              <a:p>
                <a:pPr lvl="0"/>
                <a:r>
                  <a:rPr lang="vi-VN" sz="1400" dirty="0">
                    <a:latin typeface="Arial" panose="020B0604020202020204" pitchFamily="34" charset="0"/>
                    <a:cs typeface="Arial" panose="020B0604020202020204" pitchFamily="34" charset="0"/>
                  </a:rPr>
                  <a:t>	</a:t>
                </a:r>
              </a:p>
              <a:p>
                <a:pPr lvl="0"/>
                <a:endParaRPr lang="vi-VN" sz="1400" dirty="0">
                  <a:latin typeface="Arial" panose="020B0604020202020204" pitchFamily="34" charset="0"/>
                  <a:cs typeface="Arial" panose="020B0604020202020204" pitchFamily="34" charset="0"/>
                </a:endParaRPr>
              </a:p>
              <a:p>
                <a:pPr lvl="0"/>
                <a:r>
                  <a:rPr lang="vi-VN" sz="1400" dirty="0">
                    <a:latin typeface="Arial" panose="020B0604020202020204" pitchFamily="34" charset="0"/>
                    <a:cs typeface="Arial" panose="020B0604020202020204" pitchFamily="34" charset="0"/>
                  </a:rPr>
                  <a:t>4 - Nhiều điểm dữ liệu trùng lặp hoàn toàn</a:t>
                </a:r>
              </a:p>
              <a:p>
                <a:pPr lvl="0"/>
                <a:r>
                  <a:rPr lang="vi-VN" sz="1400" dirty="0">
                    <a:latin typeface="Arial" panose="020B0604020202020204" pitchFamily="34" charset="0"/>
                    <a:cs typeface="Arial" panose="020B0604020202020204" pitchFamily="34" charset="0"/>
                  </a:rPr>
                  <a:t>	</a:t>
                </a:r>
              </a:p>
            </p:txBody>
          </p:sp>
        </mc:Choice>
        <mc:Fallback xmlns="">
          <p:sp>
            <p:nvSpPr>
              <p:cNvPr id="3" name="TextBox 2">
                <a:extLst>
                  <a:ext uri="{FF2B5EF4-FFF2-40B4-BE49-F238E27FC236}">
                    <a16:creationId xmlns:a16="http://schemas.microsoft.com/office/drawing/2014/main" id="{B849FE5F-AE17-BF30-FE0A-627BFA0A8022}"/>
                  </a:ext>
                </a:extLst>
              </p:cNvPr>
              <p:cNvSpPr txBox="1">
                <a:spLocks noRot="1" noChangeAspect="1" noMove="1" noResize="1" noEditPoints="1" noAdjustHandles="1" noChangeArrowheads="1" noChangeShapeType="1" noTextEdit="1"/>
              </p:cNvSpPr>
              <p:nvPr/>
            </p:nvSpPr>
            <p:spPr>
              <a:xfrm>
                <a:off x="609601" y="3199281"/>
                <a:ext cx="10320865" cy="2893100"/>
              </a:xfrm>
              <a:prstGeom prst="rect">
                <a:avLst/>
              </a:prstGeom>
              <a:blipFill>
                <a:blip r:embed="rId4"/>
                <a:stretch>
                  <a:fillRect l="-246" t="-43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6D51623-B564-C226-77DC-04EFA53D4F21}"/>
                  </a:ext>
                </a:extLst>
              </p:cNvPr>
              <p:cNvSpPr txBox="1"/>
              <p:nvPr/>
            </p:nvSpPr>
            <p:spPr>
              <a:xfrm>
                <a:off x="6095847" y="2094574"/>
                <a:ext cx="5373202" cy="610039"/>
              </a:xfrm>
              <a:prstGeom prst="rect">
                <a:avLst/>
              </a:prstGeom>
              <a:noFill/>
            </p:spPr>
            <p:txBody>
              <a:bodyPr wrap="none" lIns="0" tIns="0" rIns="0" bIns="0" rtlCol="0">
                <a:spAutoFit/>
              </a:bodyPr>
              <a:lstStyle/>
              <a:p>
                <a:pPr/>
                <a14:m>
                  <m:oMathPara xmlns:m="http://schemas.openxmlformats.org/officeDocument/2006/math">
                    <m:oMath>
                      <m:r>
                        <m:rPr>
                          <m:nor/>
                        </m:rPr>
                        <a:rPr lang="en-US" sz="1400" i="0" smtClean="0">
                          <a:latin typeface="Cambria Math" panose="02040503050406030204" pitchFamily="18" charset="0"/>
                        </a:rPr>
                        <m:t>GMM</m:t>
                      </m:r>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a:latin typeface="Cambria Math" panose="02040503050406030204" pitchFamily="18" charset="0"/>
                            </a:rPr>
                            <m:t>𝜋</m:t>
                          </m:r>
                          <m:r>
                            <a:rPr lang="en-US" sz="1400" b="0" i="1">
                              <a:latin typeface="Cambria Math" panose="02040503050406030204" pitchFamily="18" charset="0"/>
                            </a:rPr>
                            <m:t>,</m:t>
                          </m:r>
                          <m:r>
                            <a:rPr lang="en-US" sz="1400" b="0" i="1">
                              <a:latin typeface="Cambria Math" panose="02040503050406030204" pitchFamily="18" charset="0"/>
                            </a:rPr>
                            <m:t>𝜇</m:t>
                          </m:r>
                          <m:r>
                            <a:rPr lang="en-US" sz="1400" b="0" i="1">
                              <a:latin typeface="Cambria Math" panose="02040503050406030204" pitchFamily="18" charset="0"/>
                            </a:rPr>
                            <m:t>,</m:t>
                          </m:r>
                          <m:r>
                            <a:rPr lang="en-US" sz="1400" b="0" i="1">
                              <a:latin typeface="Cambria Math" panose="02040503050406030204" pitchFamily="18" charset="0"/>
                            </a:rPr>
                            <m:t>𝛴</m:t>
                          </m:r>
                        </m:e>
                      </m:d>
                      <m:r>
                        <a:rPr lang="en-US" sz="1400" b="0" i="1">
                          <a:latin typeface="Cambria Math" panose="02040503050406030204" pitchFamily="18" charset="0"/>
                        </a:rPr>
                        <m:t>=</m:t>
                      </m:r>
                      <m:nary>
                        <m:naryPr>
                          <m:chr m:val="∑"/>
                          <m:limLoc m:val="undOvr"/>
                          <m:ctrlPr>
                            <a:rPr lang="en-US" sz="1400" b="0" i="1">
                              <a:latin typeface="Cambria Math" panose="02040503050406030204" pitchFamily="18" charset="0"/>
                            </a:rPr>
                          </m:ctrlPr>
                        </m:naryPr>
                        <m:sub>
                          <m:r>
                            <a:rPr lang="en-US" sz="1400" b="0" i="1">
                              <a:latin typeface="Cambria Math" panose="02040503050406030204" pitchFamily="18" charset="0"/>
                            </a:rPr>
                            <m:t>𝑘</m:t>
                          </m:r>
                          <m:r>
                            <a:rPr lang="en-US" sz="1400" b="0" i="1">
                              <a:latin typeface="Cambria Math" panose="02040503050406030204" pitchFamily="18" charset="0"/>
                            </a:rPr>
                            <m:t>=1</m:t>
                          </m:r>
                        </m:sub>
                        <m:sup>
                          <m:r>
                            <a:rPr lang="en-US" sz="1400" b="0" i="1">
                              <a:latin typeface="Cambria Math" panose="02040503050406030204" pitchFamily="18" charset="0"/>
                            </a:rPr>
                            <m:t>𝐾</m:t>
                          </m:r>
                        </m:sup>
                        <m:e>
                          <m:f>
                            <m:fPr>
                              <m:ctrlPr>
                                <a:rPr lang="en-US" sz="1400" b="0" i="1">
                                  <a:latin typeface="Cambria Math" panose="02040503050406030204" pitchFamily="18" charset="0"/>
                                </a:rPr>
                              </m:ctrlPr>
                            </m:fPr>
                            <m:num>
                              <m:sSub>
                                <m:sSubPr>
                                  <m:ctrlPr>
                                    <a:rPr lang="en-US" sz="1400" b="0" i="1">
                                      <a:latin typeface="Cambria Math" panose="02040503050406030204" pitchFamily="18" charset="0"/>
                                    </a:rPr>
                                  </m:ctrlPr>
                                </m:sSubPr>
                                <m:e>
                                  <m:r>
                                    <a:rPr lang="en-US" sz="1400" b="0" i="1">
                                      <a:latin typeface="Cambria Math" panose="02040503050406030204" pitchFamily="18" charset="0"/>
                                    </a:rPr>
                                    <m:t>𝜋</m:t>
                                  </m:r>
                                </m:e>
                                <m:sub>
                                  <m:r>
                                    <a:rPr lang="en-US" sz="1400" b="0" i="1">
                                      <a:latin typeface="Cambria Math" panose="02040503050406030204" pitchFamily="18" charset="0"/>
                                    </a:rPr>
                                    <m:t>𝑘</m:t>
                                  </m:r>
                                </m:sub>
                              </m:sSub>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𝑑</m:t>
                                      </m:r>
                                    </m:sup>
                                  </m:sSup>
                                  <m:d>
                                    <m:dPr>
                                      <m:begChr m:val="|"/>
                                      <m:endChr m:val="|"/>
                                      <m:ctrlPr>
                                        <a:rPr lang="en-US" sz="1400" b="0" i="1">
                                          <a:solidFill>
                                            <a:srgbClr val="FF0000"/>
                                          </a:solidFill>
                                          <a:latin typeface="Cambria Math" panose="02040503050406030204" pitchFamily="18" charset="0"/>
                                        </a:rPr>
                                      </m:ctrlPr>
                                    </m:dPr>
                                    <m:e>
                                      <m:sSub>
                                        <m:sSubPr>
                                          <m:ctrlPr>
                                            <a:rPr lang="en-US" sz="1400" b="0" i="1">
                                              <a:solidFill>
                                                <a:srgbClr val="FF0000"/>
                                              </a:solidFill>
                                              <a:latin typeface="Cambria Math" panose="02040503050406030204" pitchFamily="18" charset="0"/>
                                            </a:rPr>
                                          </m:ctrlPr>
                                        </m:sSub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Sub>
                                    </m:e>
                                  </m:d>
                                </m:e>
                              </m:rad>
                            </m:den>
                          </m:f>
                        </m:e>
                      </m:nary>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sup>
                                  <m:r>
                                    <a:rPr lang="en-US" sz="1400" b="0" i="1">
                                      <a:latin typeface="Cambria Math" panose="02040503050406030204" pitchFamily="18" charset="0"/>
                                    </a:rPr>
                                    <m:t>𝑇</m:t>
                                  </m:r>
                                </m:sup>
                              </m:sSup>
                              <m:sSubSup>
                                <m:sSubSupPr>
                                  <m:ctrlPr>
                                    <a:rPr lang="en-US" sz="1400" b="0" i="1">
                                      <a:solidFill>
                                        <a:srgbClr val="FF0000"/>
                                      </a:solidFill>
                                      <a:latin typeface="Cambria Math" panose="02040503050406030204" pitchFamily="18" charset="0"/>
                                    </a:rPr>
                                  </m:ctrlPr>
                                </m:sSubSup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up>
                                  <m:r>
                                    <a:rPr lang="en-US" sz="1400" b="0" i="1">
                                      <a:solidFill>
                                        <a:srgbClr val="FF0000"/>
                                      </a:solidFill>
                                      <a:latin typeface="Cambria Math" panose="02040503050406030204" pitchFamily="18" charset="0"/>
                                    </a:rPr>
                                    <m:t>−1</m:t>
                                  </m:r>
                                </m:sup>
                              </m:sSub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d>
                        </m:e>
                      </m:func>
                    </m:oMath>
                  </m:oMathPara>
                </a14:m>
                <a:endParaRPr lang="en-VN" dirty="0"/>
              </a:p>
            </p:txBody>
          </p:sp>
        </mc:Choice>
        <mc:Fallback xmlns="">
          <p:sp>
            <p:nvSpPr>
              <p:cNvPr id="12" name="TextBox 11">
                <a:extLst>
                  <a:ext uri="{FF2B5EF4-FFF2-40B4-BE49-F238E27FC236}">
                    <a16:creationId xmlns:a16="http://schemas.microsoft.com/office/drawing/2014/main" id="{36D51623-B564-C226-77DC-04EFA53D4F21}"/>
                  </a:ext>
                </a:extLst>
              </p:cNvPr>
              <p:cNvSpPr txBox="1">
                <a:spLocks noRot="1" noChangeAspect="1" noMove="1" noResize="1" noEditPoints="1" noAdjustHandles="1" noChangeArrowheads="1" noChangeShapeType="1" noTextEdit="1"/>
              </p:cNvSpPr>
              <p:nvPr/>
            </p:nvSpPr>
            <p:spPr>
              <a:xfrm>
                <a:off x="6095847" y="2094574"/>
                <a:ext cx="5373202" cy="610039"/>
              </a:xfrm>
              <a:prstGeom prst="rect">
                <a:avLst/>
              </a:prstGeom>
              <a:blipFill>
                <a:blip r:embed="rId5"/>
                <a:stretch>
                  <a:fillRect t="-114286" b="-17551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FE89A71-B030-026F-D8D4-BF17337475BD}"/>
                  </a:ext>
                </a:extLst>
              </p:cNvPr>
              <p:cNvSpPr txBox="1"/>
              <p:nvPr/>
            </p:nvSpPr>
            <p:spPr>
              <a:xfrm>
                <a:off x="609602" y="1798226"/>
                <a:ext cx="4478865" cy="954107"/>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Hậu quả nếu </a:t>
                </a:r>
                <a:r>
                  <a:rPr lang="vi-VN" sz="1400" dirty="0">
                    <a:cs typeface="Arial" panose="020B0604020202020204" pitchFamily="34" charset="0"/>
                  </a:rPr>
                  <a:t>ma trận </a:t>
                </a:r>
                <a14:m>
                  <m:oMath xmlns:m="http://schemas.openxmlformats.org/officeDocument/2006/math">
                    <m:r>
                      <a:rPr lang="en-US" sz="1400" i="1">
                        <a:latin typeface="Cambria Math" panose="02040503050406030204" pitchFamily="18" charset="0"/>
                      </a:rPr>
                      <m:t>𝛴</m:t>
                    </m:r>
                  </m:oMath>
                </a14:m>
                <a:r>
                  <a:rPr lang="vi-VN" sz="1400" dirty="0">
                    <a:cs typeface="Arial" panose="020B0604020202020204" pitchFamily="34" charset="0"/>
                  </a:rPr>
                  <a:t> bị suy biến</a:t>
                </a:r>
                <a:r>
                  <a:rPr lang="vi-VN" sz="1400" dirty="0">
                    <a:latin typeface="Arial" panose="020B0604020202020204" pitchFamily="34" charset="0"/>
                    <a:cs typeface="Arial" panose="020B0604020202020204" pitchFamily="34" charset="0"/>
                  </a:rPr>
                  <a:t>:</a:t>
                </a:r>
              </a:p>
              <a:p>
                <a:pPr lvl="0"/>
                <a:r>
                  <a:rPr lang="vi-VN" sz="1400" dirty="0">
                    <a:latin typeface="Arial" panose="020B0604020202020204" pitchFamily="34" charset="0"/>
                    <a:cs typeface="Arial" panose="020B0604020202020204" pitchFamily="34" charset="0"/>
                  </a:rPr>
                  <a:t>Sập </a:t>
                </a:r>
                <a:r>
                  <a:rPr lang="vi-VN" sz="1400" dirty="0">
                    <a:cs typeface="Arial" panose="020B0604020202020204" pitchFamily="34" charset="0"/>
                  </a:rPr>
                  <a:t>(không thể vẽ) </a:t>
                </a:r>
                <a:r>
                  <a:rPr lang="vi-VN" sz="1400" dirty="0">
                    <a:latin typeface="Arial" panose="020B0604020202020204" pitchFamily="34" charset="0"/>
                    <a:cs typeface="Arial" panose="020B0604020202020204" pitchFamily="34" charset="0"/>
                  </a:rPr>
                  <a:t>mô hình GMM vì 2 lý do:</a:t>
                </a:r>
              </a:p>
              <a:p>
                <a:pPr lvl="0"/>
                <a:r>
                  <a:rPr lang="vi-VN" sz="1400" dirty="0">
                    <a:latin typeface="Arial" panose="020B0604020202020204" pitchFamily="34" charset="0"/>
                    <a:cs typeface="Arial" panose="020B0604020202020204" pitchFamily="34" charset="0"/>
                  </a:rPr>
                  <a:t>- Mẫu số bằng 0</a:t>
                </a:r>
                <a:br>
                  <a:rPr lang="vi-VN" sz="1400" dirty="0">
                    <a:latin typeface="Arial" panose="020B0604020202020204" pitchFamily="34" charset="0"/>
                    <a:cs typeface="Arial" panose="020B0604020202020204" pitchFamily="34" charset="0"/>
                  </a:rPr>
                </a:br>
                <a:r>
                  <a:rPr lang="vi-VN" sz="1400" dirty="0">
                    <a:latin typeface="Arial" panose="020B0604020202020204" pitchFamily="34" charset="0"/>
                    <a:cs typeface="Arial" panose="020B0604020202020204" pitchFamily="34" charset="0"/>
                  </a:rPr>
                  <a:t>- Không thể nghịch đảo ma trận </a:t>
                </a:r>
                <a14:m>
                  <m:oMath xmlns:m="http://schemas.openxmlformats.org/officeDocument/2006/math">
                    <m:r>
                      <a:rPr lang="en-US" sz="1400" i="1">
                        <a:latin typeface="Cambria Math" panose="02040503050406030204" pitchFamily="18" charset="0"/>
                      </a:rPr>
                      <m:t>𝛴</m:t>
                    </m:r>
                  </m:oMath>
                </a14:m>
                <a:endParaRPr lang="vi-VN" sz="1400"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6FE89A71-B030-026F-D8D4-BF17337475BD}"/>
                  </a:ext>
                </a:extLst>
              </p:cNvPr>
              <p:cNvSpPr txBox="1">
                <a:spLocks noRot="1" noChangeAspect="1" noMove="1" noResize="1" noEditPoints="1" noAdjustHandles="1" noChangeArrowheads="1" noChangeShapeType="1" noTextEdit="1"/>
              </p:cNvSpPr>
              <p:nvPr/>
            </p:nvSpPr>
            <p:spPr>
              <a:xfrm>
                <a:off x="609602" y="1798226"/>
                <a:ext cx="4478865" cy="954107"/>
              </a:xfrm>
              <a:prstGeom prst="rect">
                <a:avLst/>
              </a:prstGeom>
              <a:blipFill>
                <a:blip r:embed="rId6"/>
                <a:stretch>
                  <a:fillRect l="-567" t="-1316" b="-5263"/>
                </a:stretch>
              </a:blipFill>
            </p:spPr>
            <p:txBody>
              <a:bodyPr/>
              <a:lstStyle/>
              <a:p>
                <a:r>
                  <a:rPr lang="en-VN">
                    <a:noFill/>
                  </a:rPr>
                  <a:t> </a:t>
                </a:r>
              </a:p>
            </p:txBody>
          </p:sp>
        </mc:Fallback>
      </mc:AlternateContent>
    </p:spTree>
    <p:extLst>
      <p:ext uri="{BB962C8B-B14F-4D97-AF65-F5344CB8AC3E}">
        <p14:creationId xmlns:p14="http://schemas.microsoft.com/office/powerpoint/2010/main" val="24897814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8B30-168C-9236-4F2C-6E85F28A758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29CC7D-4E5D-671A-5B66-CB9460BA1A5D}"/>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656531A-C30F-7B06-C26E-AA406DE0F69A}"/>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Vấn đề xung quanh GMM: Ma trận hiệp phương sai </a:t>
                </a:r>
                <a14:m>
                  <m:oMath xmlns:m="http://schemas.openxmlformats.org/officeDocument/2006/math">
                    <m:r>
                      <a:rPr lang="en-US" sz="1400" i="1">
                        <a:latin typeface="Cambria Math" panose="02040503050406030204" pitchFamily="18" charset="0"/>
                      </a:rPr>
                      <m:t>𝛴</m:t>
                    </m:r>
                  </m:oMath>
                </a14:m>
                <a:r>
                  <a:rPr lang="vi-VN" sz="1400" b="1" dirty="0">
                    <a:solidFill>
                      <a:srgbClr val="1B8A7A"/>
                    </a:solidFill>
                    <a:latin typeface="Arial"/>
                  </a:rPr>
                  <a:t> bị suy biến (định thức = 0)</a:t>
                </a:r>
              </a:p>
            </p:txBody>
          </p:sp>
        </mc:Choice>
        <mc:Fallback xmlns="">
          <p:sp>
            <p:nvSpPr>
              <p:cNvPr id="4" name="TextBox 3">
                <a:extLst>
                  <a:ext uri="{FF2B5EF4-FFF2-40B4-BE49-F238E27FC236}">
                    <a16:creationId xmlns:a16="http://schemas.microsoft.com/office/drawing/2014/main" id="{9656531A-C30F-7B06-C26E-AA406DE0F69A}"/>
                  </a:ext>
                </a:extLst>
              </p:cNvPr>
              <p:cNvSpPr txBox="1">
                <a:spLocks noRot="1" noChangeAspect="1" noMove="1" noResize="1" noEditPoints="1" noAdjustHandles="1" noChangeArrowheads="1" noChangeShapeType="1" noTextEdit="1"/>
              </p:cNvSpPr>
              <p:nvPr/>
            </p:nvSpPr>
            <p:spPr>
              <a:xfrm>
                <a:off x="364066" y="1267772"/>
                <a:ext cx="10961159" cy="307777"/>
              </a:xfrm>
              <a:prstGeom prst="rect">
                <a:avLst/>
              </a:prstGeom>
              <a:blipFill>
                <a:blip r:embed="rId3"/>
                <a:stretch>
                  <a:fillRect l="-116"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4A3CFF6-3A1C-C4A9-C909-76C15B73D438}"/>
                  </a:ext>
                </a:extLst>
              </p:cNvPr>
              <p:cNvSpPr txBox="1"/>
              <p:nvPr/>
            </p:nvSpPr>
            <p:spPr>
              <a:xfrm>
                <a:off x="609601" y="3199281"/>
                <a:ext cx="10320865" cy="2893100"/>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Dữ liệu train có đặc điểm sau đây sẽ khiến ma trận </a:t>
                </a:r>
                <a14:m>
                  <m:oMath xmlns:m="http://schemas.openxmlformats.org/officeDocument/2006/math">
                    <m:r>
                      <a:rPr lang="en-US" sz="1400" i="1">
                        <a:latin typeface="Cambria Math" panose="02040503050406030204" pitchFamily="18" charset="0"/>
                      </a:rPr>
                      <m:t>𝛴</m:t>
                    </m:r>
                  </m:oMath>
                </a14:m>
                <a:r>
                  <a:rPr lang="vi-VN" sz="1400" dirty="0">
                    <a:latin typeface="Arial" panose="020B0604020202020204" pitchFamily="34" charset="0"/>
                    <a:cs typeface="Arial" panose="020B0604020202020204" pitchFamily="34" charset="0"/>
                  </a:rPr>
                  <a:t> bị suy biến:</a:t>
                </a:r>
                <a:endParaRPr lang="en-VN" sz="1400" dirty="0">
                  <a:latin typeface="Arial" panose="020B0604020202020204" pitchFamily="34" charset="0"/>
                  <a:cs typeface="Arial" panose="020B0604020202020204" pitchFamily="34" charset="0"/>
                </a:endParaRP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1 - Có các đặc trưng trùng lặp hoặc phụ thuộc tuyến tính (vấn đề cộng tuyến)</a:t>
                </a:r>
              </a:p>
              <a:p>
                <a:pPr lvl="0"/>
                <a:r>
                  <a:rPr lang="en-VN" sz="1400" dirty="0">
                    <a:latin typeface="Arial" panose="020B0604020202020204" pitchFamily="34" charset="0"/>
                    <a:cs typeface="Arial" panose="020B0604020202020204" pitchFamily="34" charset="0"/>
                  </a:rPr>
                  <a:t>	</a:t>
                </a:r>
                <a:r>
                  <a:rPr lang="en-VN" sz="1400" dirty="0">
                    <a:solidFill>
                      <a:schemeClr val="accent6">
                        <a:lumMod val="75000"/>
                      </a:schemeClr>
                    </a:solidFill>
                    <a:latin typeface="Arial" panose="020B0604020202020204" pitchFamily="34" charset="0"/>
                    <a:cs typeface="Arial" panose="020B0604020202020204" pitchFamily="34" charset="0"/>
                  </a:rPr>
                  <a:t>=&gt; Lọc đặc trưng thủ công hoặc PCA</a:t>
                </a: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2 - Một đặc trưng bất kỳ có giá trị không đổi (phương sai bằng 0) (khiến đường chéo chính ma trận hiệp phương sai chứa số 0)</a:t>
                </a:r>
              </a:p>
              <a:p>
                <a:pPr lvl="0"/>
                <a:r>
                  <a:rPr lang="en-VN" sz="1400" dirty="0">
                    <a:latin typeface="Arial" panose="020B0604020202020204" pitchFamily="34" charset="0"/>
                    <a:cs typeface="Arial" panose="020B0604020202020204" pitchFamily="34" charset="0"/>
                  </a:rPr>
                  <a:t>	</a:t>
                </a:r>
                <a:r>
                  <a:rPr lang="en-VN" sz="1400" dirty="0">
                    <a:solidFill>
                      <a:schemeClr val="accent6">
                        <a:lumMod val="75000"/>
                      </a:schemeClr>
                    </a:solidFill>
                    <a:latin typeface="Arial" panose="020B0604020202020204" pitchFamily="34" charset="0"/>
                    <a:cs typeface="Arial" panose="020B0604020202020204" pitchFamily="34" charset="0"/>
                  </a:rPr>
                  <a:t>=&gt; Bỏ hẳn đặc trưng này</a:t>
                </a:r>
              </a:p>
              <a:p>
                <a:pPr lvl="0"/>
                <a:endParaRPr lang="en-VN" sz="1400" dirty="0">
                  <a:latin typeface="Arial" panose="020B0604020202020204" pitchFamily="34" charset="0"/>
                  <a:cs typeface="Arial" panose="020B0604020202020204" pitchFamily="34" charset="0"/>
                </a:endParaRPr>
              </a:p>
              <a:p>
                <a:pPr lvl="0"/>
                <a:r>
                  <a:rPr lang="en-VN" sz="1400" dirty="0">
                    <a:latin typeface="Arial" panose="020B0604020202020204" pitchFamily="34" charset="0"/>
                    <a:cs typeface="Arial" panose="020B0604020202020204" pitchFamily="34" charset="0"/>
                  </a:rPr>
                  <a:t>3 - </a:t>
                </a:r>
                <a:r>
                  <a:rPr lang="vi-VN" sz="1400" dirty="0">
                    <a:latin typeface="Arial" panose="020B0604020202020204" pitchFamily="34" charset="0"/>
                    <a:cs typeface="Arial" panose="020B0604020202020204" pitchFamily="34" charset="0"/>
                  </a:rPr>
                  <a:t>Số lượng mẫu dữ liệu ít hơn số chiều (Số dòng &lt; Số cột)</a:t>
                </a:r>
              </a:p>
              <a:p>
                <a:pPr lvl="0"/>
                <a:r>
                  <a:rPr lang="vi-VN" sz="1400" dirty="0">
                    <a:latin typeface="Arial" panose="020B0604020202020204" pitchFamily="34" charset="0"/>
                    <a:cs typeface="Arial" panose="020B0604020202020204" pitchFamily="34" charset="0"/>
                  </a:rPr>
                  <a:t>	</a:t>
                </a:r>
                <a:r>
                  <a:rPr lang="vi-VN" sz="1400" dirty="0">
                    <a:solidFill>
                      <a:schemeClr val="accent6">
                        <a:lumMod val="75000"/>
                      </a:schemeClr>
                    </a:solidFill>
                    <a:latin typeface="Arial" panose="020B0604020202020204" pitchFamily="34" charset="0"/>
                    <a:cs typeface="Arial" panose="020B0604020202020204" pitchFamily="34" charset="0"/>
                  </a:rPr>
                  <a:t>=&gt; Dùng </a:t>
                </a:r>
                <a14:m>
                  <m:oMath xmlns:m="http://schemas.openxmlformats.org/officeDocument/2006/math">
                    <m:r>
                      <a:rPr lang="en-US" sz="1400" i="1">
                        <a:solidFill>
                          <a:schemeClr val="accent6">
                            <a:lumMod val="75000"/>
                          </a:schemeClr>
                        </a:solidFill>
                        <a:latin typeface="Cambria Math" panose="02040503050406030204" pitchFamily="18" charset="0"/>
                      </a:rPr>
                      <m:t>𝛴</m:t>
                    </m:r>
                  </m:oMath>
                </a14:m>
                <a:r>
                  <a:rPr lang="vi-VN" sz="1400" dirty="0">
                    <a:solidFill>
                      <a:schemeClr val="accent6">
                        <a:lumMod val="75000"/>
                      </a:schemeClr>
                    </a:solidFill>
                    <a:latin typeface="Arial" panose="020B0604020202020204" pitchFamily="34" charset="0"/>
                    <a:cs typeface="Arial" panose="020B0604020202020204" pitchFamily="34" charset="0"/>
                  </a:rPr>
                  <a:t> dạng đường chéo hoặc hình cầu thay vì dùng dạng full</a:t>
                </a:r>
                <a:endParaRPr lang="vi-VN" sz="1400" dirty="0">
                  <a:latin typeface="Arial" panose="020B0604020202020204" pitchFamily="34" charset="0"/>
                  <a:cs typeface="Arial" panose="020B0604020202020204" pitchFamily="34" charset="0"/>
                </a:endParaRPr>
              </a:p>
              <a:p>
                <a:pPr lvl="0"/>
                <a:endParaRPr lang="vi-VN" sz="1400" dirty="0">
                  <a:latin typeface="Arial" panose="020B0604020202020204" pitchFamily="34" charset="0"/>
                  <a:cs typeface="Arial" panose="020B0604020202020204" pitchFamily="34" charset="0"/>
                </a:endParaRPr>
              </a:p>
              <a:p>
                <a:pPr lvl="0"/>
                <a:r>
                  <a:rPr lang="vi-VN" sz="1400" dirty="0">
                    <a:latin typeface="Arial" panose="020B0604020202020204" pitchFamily="34" charset="0"/>
                    <a:cs typeface="Arial" panose="020B0604020202020204" pitchFamily="34" charset="0"/>
                  </a:rPr>
                  <a:t>4 - Nhiều điểm dữ liệu trùng lặp hoàn toàn</a:t>
                </a:r>
              </a:p>
              <a:p>
                <a:pPr lvl="0"/>
                <a:r>
                  <a:rPr lang="vi-VN" sz="1400" dirty="0">
                    <a:latin typeface="Arial" panose="020B0604020202020204" pitchFamily="34" charset="0"/>
                    <a:cs typeface="Arial" panose="020B0604020202020204" pitchFamily="34" charset="0"/>
                  </a:rPr>
                  <a:t>	</a:t>
                </a:r>
                <a:r>
                  <a:rPr lang="vi-VN" sz="1400" dirty="0">
                    <a:solidFill>
                      <a:schemeClr val="accent6">
                        <a:lumMod val="75000"/>
                      </a:schemeClr>
                    </a:solidFill>
                    <a:latin typeface="Arial" panose="020B0604020202020204" pitchFamily="34" charset="0"/>
                    <a:cs typeface="Arial" panose="020B0604020202020204" pitchFamily="34" charset="0"/>
                  </a:rPr>
                  <a:t>=&gt; Loại bỏ trùng lặp hoặc set siêu tham số reg_covar để cộng 1 lượng nhỏ vào đường chéo chính </a:t>
                </a:r>
                <a14:m>
                  <m:oMath xmlns:m="http://schemas.openxmlformats.org/officeDocument/2006/math">
                    <m:r>
                      <a:rPr lang="en-US" sz="1400" i="1">
                        <a:solidFill>
                          <a:schemeClr val="accent6">
                            <a:lumMod val="75000"/>
                          </a:schemeClr>
                        </a:solidFill>
                        <a:latin typeface="Cambria Math" panose="02040503050406030204" pitchFamily="18" charset="0"/>
                      </a:rPr>
                      <m:t>𝛴</m:t>
                    </m:r>
                  </m:oMath>
                </a14:m>
                <a:endParaRPr lang="vi-VN" sz="1400"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F4A3CFF6-3A1C-C4A9-C909-76C15B73D438}"/>
                  </a:ext>
                </a:extLst>
              </p:cNvPr>
              <p:cNvSpPr txBox="1">
                <a:spLocks noRot="1" noChangeAspect="1" noMove="1" noResize="1" noEditPoints="1" noAdjustHandles="1" noChangeArrowheads="1" noChangeShapeType="1" noTextEdit="1"/>
              </p:cNvSpPr>
              <p:nvPr/>
            </p:nvSpPr>
            <p:spPr>
              <a:xfrm>
                <a:off x="609601" y="3199281"/>
                <a:ext cx="10320865" cy="2893100"/>
              </a:xfrm>
              <a:prstGeom prst="rect">
                <a:avLst/>
              </a:prstGeom>
              <a:blipFill>
                <a:blip r:embed="rId4"/>
                <a:stretch>
                  <a:fillRect l="-246" t="-439" b="-1316"/>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B1849B9-DEE8-6173-F0BC-C79CDC644FA9}"/>
                  </a:ext>
                </a:extLst>
              </p:cNvPr>
              <p:cNvSpPr txBox="1"/>
              <p:nvPr/>
            </p:nvSpPr>
            <p:spPr>
              <a:xfrm>
                <a:off x="6095847" y="2094574"/>
                <a:ext cx="5373202" cy="610039"/>
              </a:xfrm>
              <a:prstGeom prst="rect">
                <a:avLst/>
              </a:prstGeom>
              <a:noFill/>
            </p:spPr>
            <p:txBody>
              <a:bodyPr wrap="none" lIns="0" tIns="0" rIns="0" bIns="0" rtlCol="0">
                <a:spAutoFit/>
              </a:bodyPr>
              <a:lstStyle/>
              <a:p>
                <a:pPr/>
                <a14:m>
                  <m:oMathPara xmlns:m="http://schemas.openxmlformats.org/officeDocument/2006/math">
                    <m:oMath>
                      <m:r>
                        <m:rPr>
                          <m:nor/>
                        </m:rPr>
                        <a:rPr lang="en-US" sz="1400" i="0" smtClean="0">
                          <a:latin typeface="Cambria Math" panose="02040503050406030204" pitchFamily="18" charset="0"/>
                        </a:rPr>
                        <m:t>GMM</m:t>
                      </m:r>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r>
                            <a:rPr lang="en-US" sz="1400" b="0" i="1">
                              <a:latin typeface="Cambria Math" panose="02040503050406030204" pitchFamily="18" charset="0"/>
                            </a:rPr>
                            <m:t>𝜋</m:t>
                          </m:r>
                          <m:r>
                            <a:rPr lang="en-US" sz="1400" b="0" i="1">
                              <a:latin typeface="Cambria Math" panose="02040503050406030204" pitchFamily="18" charset="0"/>
                            </a:rPr>
                            <m:t>,</m:t>
                          </m:r>
                          <m:r>
                            <a:rPr lang="en-US" sz="1400" b="0" i="1">
                              <a:latin typeface="Cambria Math" panose="02040503050406030204" pitchFamily="18" charset="0"/>
                            </a:rPr>
                            <m:t>𝜇</m:t>
                          </m:r>
                          <m:r>
                            <a:rPr lang="en-US" sz="1400" b="0" i="1">
                              <a:latin typeface="Cambria Math" panose="02040503050406030204" pitchFamily="18" charset="0"/>
                            </a:rPr>
                            <m:t>,</m:t>
                          </m:r>
                          <m:r>
                            <a:rPr lang="en-US" sz="1400" b="0" i="1">
                              <a:latin typeface="Cambria Math" panose="02040503050406030204" pitchFamily="18" charset="0"/>
                            </a:rPr>
                            <m:t>𝛴</m:t>
                          </m:r>
                        </m:e>
                      </m:d>
                      <m:r>
                        <a:rPr lang="en-US" sz="1400" b="0" i="1">
                          <a:latin typeface="Cambria Math" panose="02040503050406030204" pitchFamily="18" charset="0"/>
                        </a:rPr>
                        <m:t>=</m:t>
                      </m:r>
                      <m:nary>
                        <m:naryPr>
                          <m:chr m:val="∑"/>
                          <m:limLoc m:val="undOvr"/>
                          <m:ctrlPr>
                            <a:rPr lang="en-US" sz="1400" b="0" i="1">
                              <a:latin typeface="Cambria Math" panose="02040503050406030204" pitchFamily="18" charset="0"/>
                            </a:rPr>
                          </m:ctrlPr>
                        </m:naryPr>
                        <m:sub>
                          <m:r>
                            <a:rPr lang="en-US" sz="1400" b="0" i="1">
                              <a:latin typeface="Cambria Math" panose="02040503050406030204" pitchFamily="18" charset="0"/>
                            </a:rPr>
                            <m:t>𝑘</m:t>
                          </m:r>
                          <m:r>
                            <a:rPr lang="en-US" sz="1400" b="0" i="1">
                              <a:latin typeface="Cambria Math" panose="02040503050406030204" pitchFamily="18" charset="0"/>
                            </a:rPr>
                            <m:t>=1</m:t>
                          </m:r>
                        </m:sub>
                        <m:sup>
                          <m:r>
                            <a:rPr lang="en-US" sz="1400" b="0" i="1">
                              <a:latin typeface="Cambria Math" panose="02040503050406030204" pitchFamily="18" charset="0"/>
                            </a:rPr>
                            <m:t>𝐾</m:t>
                          </m:r>
                        </m:sup>
                        <m:e>
                          <m:f>
                            <m:fPr>
                              <m:ctrlPr>
                                <a:rPr lang="en-US" sz="1400" b="0" i="1">
                                  <a:latin typeface="Cambria Math" panose="02040503050406030204" pitchFamily="18" charset="0"/>
                                </a:rPr>
                              </m:ctrlPr>
                            </m:fPr>
                            <m:num>
                              <m:sSub>
                                <m:sSubPr>
                                  <m:ctrlPr>
                                    <a:rPr lang="en-US" sz="1400" b="0" i="1">
                                      <a:latin typeface="Cambria Math" panose="02040503050406030204" pitchFamily="18" charset="0"/>
                                    </a:rPr>
                                  </m:ctrlPr>
                                </m:sSubPr>
                                <m:e>
                                  <m:r>
                                    <a:rPr lang="en-US" sz="1400" b="0" i="1">
                                      <a:latin typeface="Cambria Math" panose="02040503050406030204" pitchFamily="18" charset="0"/>
                                    </a:rPr>
                                    <m:t>𝜋</m:t>
                                  </m:r>
                                </m:e>
                                <m:sub>
                                  <m:r>
                                    <a:rPr lang="en-US" sz="1400" b="0" i="1">
                                      <a:latin typeface="Cambria Math" panose="02040503050406030204" pitchFamily="18" charset="0"/>
                                    </a:rPr>
                                    <m:t>𝑘</m:t>
                                  </m:r>
                                </m:sub>
                              </m:sSub>
                            </m:num>
                            <m:den>
                              <m:rad>
                                <m:radPr>
                                  <m:degHide m:val="on"/>
                                  <m:ctrlPr>
                                    <a:rPr lang="en-US" sz="1400" i="1">
                                      <a:latin typeface="Cambria Math" panose="02040503050406030204" pitchFamily="18" charset="0"/>
                                    </a:rPr>
                                  </m:ctrlPr>
                                </m:radPr>
                                <m:deg/>
                                <m:e>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2</m:t>
                                          </m:r>
                                          <m:r>
                                            <a:rPr lang="en-US" sz="1400" b="0" i="1">
                                              <a:latin typeface="Cambria Math" panose="02040503050406030204" pitchFamily="18" charset="0"/>
                                            </a:rPr>
                                            <m:t>𝜋</m:t>
                                          </m:r>
                                        </m:e>
                                      </m:d>
                                    </m:e>
                                    <m:sup>
                                      <m:r>
                                        <a:rPr lang="en-US" sz="1400" b="0" i="1">
                                          <a:latin typeface="Cambria Math" panose="02040503050406030204" pitchFamily="18" charset="0"/>
                                        </a:rPr>
                                        <m:t>𝑑</m:t>
                                      </m:r>
                                    </m:sup>
                                  </m:sSup>
                                  <m:d>
                                    <m:dPr>
                                      <m:begChr m:val="|"/>
                                      <m:endChr m:val="|"/>
                                      <m:ctrlPr>
                                        <a:rPr lang="en-US" sz="1400" b="0" i="1">
                                          <a:solidFill>
                                            <a:srgbClr val="FF0000"/>
                                          </a:solidFill>
                                          <a:latin typeface="Cambria Math" panose="02040503050406030204" pitchFamily="18" charset="0"/>
                                        </a:rPr>
                                      </m:ctrlPr>
                                    </m:dPr>
                                    <m:e>
                                      <m:sSub>
                                        <m:sSubPr>
                                          <m:ctrlPr>
                                            <a:rPr lang="en-US" sz="1400" b="0" i="1">
                                              <a:solidFill>
                                                <a:srgbClr val="FF0000"/>
                                              </a:solidFill>
                                              <a:latin typeface="Cambria Math" panose="02040503050406030204" pitchFamily="18" charset="0"/>
                                            </a:rPr>
                                          </m:ctrlPr>
                                        </m:sSub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Sub>
                                    </m:e>
                                  </m:d>
                                </m:e>
                              </m:rad>
                            </m:den>
                          </m:f>
                        </m:e>
                      </m:nary>
                      <m:func>
                        <m:funcPr>
                          <m:ctrlPr>
                            <a:rPr lang="en-US" sz="1400" b="0" i="1">
                              <a:latin typeface="Cambria Math" panose="02040503050406030204" pitchFamily="18" charset="0"/>
                            </a:rPr>
                          </m:ctrlPr>
                        </m:funcPr>
                        <m:fName>
                          <m:r>
                            <a:rPr lang="en-US" sz="1400" b="0" i="1">
                              <a:latin typeface="Cambria Math" panose="02040503050406030204" pitchFamily="18" charset="0"/>
                            </a:rPr>
                            <m:t>𝑒𝑥𝑝</m:t>
                          </m:r>
                        </m:fName>
                        <m:e>
                          <m:d>
                            <m:dPr>
                              <m:ctrlPr>
                                <a:rPr lang="en-US" sz="1400" b="0" i="1">
                                  <a:latin typeface="Cambria Math" panose="02040503050406030204" pitchFamily="18" charset="0"/>
                                </a:rPr>
                              </m:ctrlPr>
                            </m:dPr>
                            <m:e>
                              <m:r>
                                <a:rPr lang="en-US" sz="1400" b="0" i="1">
                                  <a:latin typeface="Cambria Math" panose="02040503050406030204" pitchFamily="18" charset="0"/>
                                </a:rPr>
                                <m:t>−</m:t>
                              </m:r>
                              <m:f>
                                <m:fPr>
                                  <m:ctrlPr>
                                    <a:rPr lang="en-US" sz="1400" b="0" i="1">
                                      <a:latin typeface="Cambria Math" panose="02040503050406030204" pitchFamily="18" charset="0"/>
                                    </a:rPr>
                                  </m:ctrlPr>
                                </m:fPr>
                                <m:num>
                                  <m:r>
                                    <a:rPr lang="en-US" sz="1400" b="0" i="1">
                                      <a:latin typeface="Cambria Math" panose="02040503050406030204" pitchFamily="18" charset="0"/>
                                    </a:rPr>
                                    <m:t>1</m:t>
                                  </m:r>
                                </m:num>
                                <m:den>
                                  <m:r>
                                    <a:rPr lang="en-US" sz="1400" b="0" i="1">
                                      <a:latin typeface="Cambria Math" panose="02040503050406030204" pitchFamily="18" charset="0"/>
                                    </a:rPr>
                                    <m:t>2</m:t>
                                  </m:r>
                                </m:den>
                              </m:f>
                              <m:sSup>
                                <m:sSupPr>
                                  <m:ctrlPr>
                                    <a:rPr lang="en-US" sz="1400" b="0" i="1">
                                      <a:latin typeface="Cambria Math" panose="02040503050406030204" pitchFamily="18" charset="0"/>
                                    </a:rPr>
                                  </m:ctrlPr>
                                </m:sSupPr>
                                <m:e>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sup>
                                  <m:r>
                                    <a:rPr lang="en-US" sz="1400" b="0" i="1">
                                      <a:latin typeface="Cambria Math" panose="02040503050406030204" pitchFamily="18" charset="0"/>
                                    </a:rPr>
                                    <m:t>𝑇</m:t>
                                  </m:r>
                                </m:sup>
                              </m:sSup>
                              <m:sSubSup>
                                <m:sSubSupPr>
                                  <m:ctrlPr>
                                    <a:rPr lang="en-US" sz="1400" b="0" i="1">
                                      <a:solidFill>
                                        <a:srgbClr val="FF0000"/>
                                      </a:solidFill>
                                      <a:latin typeface="Cambria Math" panose="02040503050406030204" pitchFamily="18" charset="0"/>
                                    </a:rPr>
                                  </m:ctrlPr>
                                </m:sSubSupPr>
                                <m:e>
                                  <m:r>
                                    <a:rPr lang="en-US" sz="1400" b="0" i="1">
                                      <a:solidFill>
                                        <a:srgbClr val="FF0000"/>
                                      </a:solidFill>
                                      <a:latin typeface="Cambria Math" panose="02040503050406030204" pitchFamily="18" charset="0"/>
                                    </a:rPr>
                                    <m:t>𝛴</m:t>
                                  </m:r>
                                </m:e>
                                <m:sub>
                                  <m:r>
                                    <a:rPr lang="en-US" sz="1400" b="0" i="1">
                                      <a:solidFill>
                                        <a:srgbClr val="FF0000"/>
                                      </a:solidFill>
                                      <a:latin typeface="Cambria Math" panose="02040503050406030204" pitchFamily="18" charset="0"/>
                                    </a:rPr>
                                    <m:t>𝑘</m:t>
                                  </m:r>
                                </m:sub>
                                <m:sup>
                                  <m:r>
                                    <a:rPr lang="en-US" sz="1400" b="0" i="1">
                                      <a:solidFill>
                                        <a:srgbClr val="FF0000"/>
                                      </a:solidFill>
                                      <a:latin typeface="Cambria Math" panose="02040503050406030204" pitchFamily="18" charset="0"/>
                                    </a:rPr>
                                    <m:t>−1</m:t>
                                  </m:r>
                                </m:sup>
                              </m:sSubSup>
                              <m:d>
                                <m:dPr>
                                  <m:ctrlPr>
                                    <a:rPr lang="en-US" sz="1400" b="0" i="1">
                                      <a:latin typeface="Cambria Math" panose="02040503050406030204" pitchFamily="18" charset="0"/>
                                    </a:rPr>
                                  </m:ctrlPr>
                                </m:dPr>
                                <m:e>
                                  <m:r>
                                    <a:rPr lang="en-US" sz="1400" b="0" i="1">
                                      <a:latin typeface="Cambria Math" panose="02040503050406030204" pitchFamily="18" charset="0"/>
                                    </a:rPr>
                                    <m:t>𝑥</m:t>
                                  </m:r>
                                  <m:r>
                                    <a:rPr lang="en-US" sz="1400" b="0" i="1">
                                      <a:latin typeface="Cambria Math" panose="02040503050406030204" pitchFamily="18" charset="0"/>
                                    </a:rPr>
                                    <m:t>−</m:t>
                                  </m:r>
                                  <m:sSub>
                                    <m:sSubPr>
                                      <m:ctrlPr>
                                        <a:rPr lang="en-US" sz="1400" b="0" i="1">
                                          <a:latin typeface="Cambria Math" panose="02040503050406030204" pitchFamily="18" charset="0"/>
                                        </a:rPr>
                                      </m:ctrlPr>
                                    </m:sSubPr>
                                    <m:e>
                                      <m:r>
                                        <a:rPr lang="en-US" sz="1400" b="0" i="1">
                                          <a:latin typeface="Cambria Math" panose="02040503050406030204" pitchFamily="18" charset="0"/>
                                        </a:rPr>
                                        <m:t>𝜇</m:t>
                                      </m:r>
                                    </m:e>
                                    <m:sub>
                                      <m:r>
                                        <a:rPr lang="en-US" sz="1400" b="0" i="1">
                                          <a:latin typeface="Cambria Math" panose="02040503050406030204" pitchFamily="18" charset="0"/>
                                        </a:rPr>
                                        <m:t>𝑘</m:t>
                                      </m:r>
                                    </m:sub>
                                  </m:sSub>
                                </m:e>
                              </m:d>
                            </m:e>
                          </m:d>
                        </m:e>
                      </m:func>
                    </m:oMath>
                  </m:oMathPara>
                </a14:m>
                <a:endParaRPr lang="en-VN" dirty="0"/>
              </a:p>
            </p:txBody>
          </p:sp>
        </mc:Choice>
        <mc:Fallback xmlns="">
          <p:sp>
            <p:nvSpPr>
              <p:cNvPr id="12" name="TextBox 11">
                <a:extLst>
                  <a:ext uri="{FF2B5EF4-FFF2-40B4-BE49-F238E27FC236}">
                    <a16:creationId xmlns:a16="http://schemas.microsoft.com/office/drawing/2014/main" id="{6B1849B9-DEE8-6173-F0BC-C79CDC644FA9}"/>
                  </a:ext>
                </a:extLst>
              </p:cNvPr>
              <p:cNvSpPr txBox="1">
                <a:spLocks noRot="1" noChangeAspect="1" noMove="1" noResize="1" noEditPoints="1" noAdjustHandles="1" noChangeArrowheads="1" noChangeShapeType="1" noTextEdit="1"/>
              </p:cNvSpPr>
              <p:nvPr/>
            </p:nvSpPr>
            <p:spPr>
              <a:xfrm>
                <a:off x="6095847" y="2094574"/>
                <a:ext cx="5373202" cy="610039"/>
              </a:xfrm>
              <a:prstGeom prst="rect">
                <a:avLst/>
              </a:prstGeom>
              <a:blipFill>
                <a:blip r:embed="rId5"/>
                <a:stretch>
                  <a:fillRect t="-114286" b="-17551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DAC56A7-AB88-72AB-F895-BC46F9D5F9F8}"/>
                  </a:ext>
                </a:extLst>
              </p:cNvPr>
              <p:cNvSpPr txBox="1"/>
              <p:nvPr/>
            </p:nvSpPr>
            <p:spPr>
              <a:xfrm>
                <a:off x="609602" y="1798226"/>
                <a:ext cx="4478865" cy="954107"/>
              </a:xfrm>
              <a:prstGeom prst="rect">
                <a:avLst/>
              </a:prstGeom>
              <a:noFill/>
            </p:spPr>
            <p:txBody>
              <a:bodyPr wrap="square" rtlCol="0">
                <a:spAutoFit/>
              </a:bodyPr>
              <a:lstStyle/>
              <a:p>
                <a:pPr lvl="0"/>
                <a:r>
                  <a:rPr lang="vi-VN" sz="1400" dirty="0">
                    <a:latin typeface="Arial" panose="020B0604020202020204" pitchFamily="34" charset="0"/>
                    <a:cs typeface="Arial" panose="020B0604020202020204" pitchFamily="34" charset="0"/>
                  </a:rPr>
                  <a:t>Hậu quả nếu </a:t>
                </a:r>
                <a:r>
                  <a:rPr lang="vi-VN" sz="1400" dirty="0">
                    <a:cs typeface="Arial" panose="020B0604020202020204" pitchFamily="34" charset="0"/>
                  </a:rPr>
                  <a:t>ma trận </a:t>
                </a:r>
                <a14:m>
                  <m:oMath xmlns:m="http://schemas.openxmlformats.org/officeDocument/2006/math">
                    <m:r>
                      <a:rPr lang="en-US" sz="1400" i="1">
                        <a:latin typeface="Cambria Math" panose="02040503050406030204" pitchFamily="18" charset="0"/>
                      </a:rPr>
                      <m:t>𝛴</m:t>
                    </m:r>
                  </m:oMath>
                </a14:m>
                <a:r>
                  <a:rPr lang="vi-VN" sz="1400" dirty="0">
                    <a:cs typeface="Arial" panose="020B0604020202020204" pitchFamily="34" charset="0"/>
                  </a:rPr>
                  <a:t> bị suy biến</a:t>
                </a:r>
                <a:r>
                  <a:rPr lang="vi-VN" sz="1400" dirty="0">
                    <a:latin typeface="Arial" panose="020B0604020202020204" pitchFamily="34" charset="0"/>
                    <a:cs typeface="Arial" panose="020B0604020202020204" pitchFamily="34" charset="0"/>
                  </a:rPr>
                  <a:t>:</a:t>
                </a:r>
              </a:p>
              <a:p>
                <a:pPr lvl="0"/>
                <a:r>
                  <a:rPr lang="vi-VN" sz="1400" dirty="0">
                    <a:latin typeface="Arial" panose="020B0604020202020204" pitchFamily="34" charset="0"/>
                    <a:cs typeface="Arial" panose="020B0604020202020204" pitchFamily="34" charset="0"/>
                  </a:rPr>
                  <a:t>Sập </a:t>
                </a:r>
                <a:r>
                  <a:rPr lang="vi-VN" sz="1400" dirty="0">
                    <a:cs typeface="Arial" panose="020B0604020202020204" pitchFamily="34" charset="0"/>
                  </a:rPr>
                  <a:t>(không thể vẽ) </a:t>
                </a:r>
                <a:r>
                  <a:rPr lang="vi-VN" sz="1400" dirty="0">
                    <a:latin typeface="Arial" panose="020B0604020202020204" pitchFamily="34" charset="0"/>
                    <a:cs typeface="Arial" panose="020B0604020202020204" pitchFamily="34" charset="0"/>
                  </a:rPr>
                  <a:t>mô hình GMM vì 2 lý do:</a:t>
                </a:r>
              </a:p>
              <a:p>
                <a:pPr lvl="0"/>
                <a:r>
                  <a:rPr lang="vi-VN" sz="1400" dirty="0">
                    <a:latin typeface="Arial" panose="020B0604020202020204" pitchFamily="34" charset="0"/>
                    <a:cs typeface="Arial" panose="020B0604020202020204" pitchFamily="34" charset="0"/>
                  </a:rPr>
                  <a:t>- Mẫu số bằng 0</a:t>
                </a:r>
                <a:br>
                  <a:rPr lang="vi-VN" sz="1400" dirty="0">
                    <a:latin typeface="Arial" panose="020B0604020202020204" pitchFamily="34" charset="0"/>
                    <a:cs typeface="Arial" panose="020B0604020202020204" pitchFamily="34" charset="0"/>
                  </a:rPr>
                </a:br>
                <a:r>
                  <a:rPr lang="vi-VN" sz="1400" dirty="0">
                    <a:latin typeface="Arial" panose="020B0604020202020204" pitchFamily="34" charset="0"/>
                    <a:cs typeface="Arial" panose="020B0604020202020204" pitchFamily="34" charset="0"/>
                  </a:rPr>
                  <a:t>- Không thể nghịch đảo ma trận </a:t>
                </a:r>
                <a14:m>
                  <m:oMath xmlns:m="http://schemas.openxmlformats.org/officeDocument/2006/math">
                    <m:r>
                      <a:rPr lang="en-US" sz="1400" i="1">
                        <a:latin typeface="Cambria Math" panose="02040503050406030204" pitchFamily="18" charset="0"/>
                      </a:rPr>
                      <m:t>𝛴</m:t>
                    </m:r>
                  </m:oMath>
                </a14:m>
                <a:endParaRPr lang="vi-VN" sz="1400"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4DAC56A7-AB88-72AB-F895-BC46F9D5F9F8}"/>
                  </a:ext>
                </a:extLst>
              </p:cNvPr>
              <p:cNvSpPr txBox="1">
                <a:spLocks noRot="1" noChangeAspect="1" noMove="1" noResize="1" noEditPoints="1" noAdjustHandles="1" noChangeArrowheads="1" noChangeShapeType="1" noTextEdit="1"/>
              </p:cNvSpPr>
              <p:nvPr/>
            </p:nvSpPr>
            <p:spPr>
              <a:xfrm>
                <a:off x="609602" y="1798226"/>
                <a:ext cx="4478865" cy="954107"/>
              </a:xfrm>
              <a:prstGeom prst="rect">
                <a:avLst/>
              </a:prstGeom>
              <a:blipFill>
                <a:blip r:embed="rId6"/>
                <a:stretch>
                  <a:fillRect l="-567" t="-1316" b="-5263"/>
                </a:stretch>
              </a:blipFill>
            </p:spPr>
            <p:txBody>
              <a:bodyPr/>
              <a:lstStyle/>
              <a:p>
                <a:r>
                  <a:rPr lang="en-VN">
                    <a:noFill/>
                  </a:rPr>
                  <a:t> </a:t>
                </a:r>
              </a:p>
            </p:txBody>
          </p:sp>
        </mc:Fallback>
      </mc:AlternateContent>
    </p:spTree>
    <p:extLst>
      <p:ext uri="{BB962C8B-B14F-4D97-AF65-F5344CB8AC3E}">
        <p14:creationId xmlns:p14="http://schemas.microsoft.com/office/powerpoint/2010/main" val="42237980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8D59E-9908-596A-4CE1-AA3C2C05FF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ABDE782-27CE-9D4D-4B5B-00EB1737BD2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3EBA3003-0C0F-9A35-987D-B60715723BF4}"/>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Ưu điểm của GMM </a:t>
            </a:r>
          </a:p>
        </p:txBody>
      </p:sp>
      <p:sp>
        <p:nvSpPr>
          <p:cNvPr id="3" name="TextBox 2">
            <a:extLst>
              <a:ext uri="{FF2B5EF4-FFF2-40B4-BE49-F238E27FC236}">
                <a16:creationId xmlns:a16="http://schemas.microsoft.com/office/drawing/2014/main" id="{2A7406DB-4AD6-756B-7CDA-37CA78A4B9F8}"/>
              </a:ext>
            </a:extLst>
          </p:cNvPr>
          <p:cNvSpPr txBox="1"/>
          <p:nvPr/>
        </p:nvSpPr>
        <p:spPr>
          <a:xfrm>
            <a:off x="609602" y="1791761"/>
            <a:ext cx="9389532" cy="2031325"/>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Phân cụm mềm (Soft Clustering):</a:t>
            </a:r>
            <a:r>
              <a:rPr lang="en-VN" sz="1400" dirty="0">
                <a:latin typeface="Arial" panose="020B0604020202020204" pitchFamily="34" charset="0"/>
                <a:cs typeface="Arial" panose="020B0604020202020204" pitchFamily="34" charset="0"/>
              </a:rPr>
              <a:t> GMM gán cho mỗi điểm dữ liệu một xác suất thuộc về các cụm khác nhau thay vì ép buộc nó vào một cụm cố định, giúp đo lường mức độ không chắc chắn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Font typeface="+mj-lt"/>
              <a:buAutoNum type="arabicPeriod"/>
            </a:pPr>
            <a:r>
              <a:rPr lang="vi-VN" sz="1400" b="1" dirty="0">
                <a:latin typeface="Arial" panose="020B0604020202020204" pitchFamily="34" charset="0"/>
                <a:cs typeface="Arial" panose="020B0604020202020204" pitchFamily="34" charset="0"/>
              </a:rPr>
              <a:t>Linh hoạt về hình dạng cụm</a:t>
            </a:r>
            <a:r>
              <a:rPr lang="vi-VN" sz="1400" dirty="0">
                <a:latin typeface="Arial" panose="020B0604020202020204" pitchFamily="34" charset="0"/>
                <a:cs typeface="Arial" panose="020B0604020202020204" pitchFamily="34" charset="0"/>
              </a:rPr>
              <a:t>: Nhờ sử dụng ma trận hiệp phương sai, GMM có thể mô hình hóa các cụm dữ liệu có kích thước và hình elip/thuôn khác nhau, chứ không giới hạn ở hình cầu như K-Means</a:t>
            </a:r>
          </a:p>
          <a:p>
            <a:pPr marL="342900" lvl="0" indent="-342900">
              <a:buAutoNum type="arabicPeriod"/>
            </a:pPr>
            <a:endParaRPr lang="vi-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Xử lý tốt cụm chồng chéo:</a:t>
            </a:r>
            <a:r>
              <a:rPr lang="en-VN" sz="1400" dirty="0">
                <a:latin typeface="Arial" panose="020B0604020202020204" pitchFamily="34" charset="0"/>
                <a:cs typeface="Arial" panose="020B0604020202020204" pitchFamily="34" charset="0"/>
              </a:rPr>
              <a:t> Mô hình biểu diễn rất hiệu quả các điểm nằm ở vùng giao thoa giữa các nhóm</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Ước lượng mật độ tốt:</a:t>
            </a:r>
            <a:r>
              <a:rPr lang="en-VN" sz="1400" dirty="0">
                <a:latin typeface="Arial" panose="020B0604020202020204" pitchFamily="34" charset="0"/>
                <a:cs typeface="Arial" panose="020B0604020202020204" pitchFamily="34" charset="0"/>
              </a:rPr>
              <a:t> Hữu ích trong việc nắm bắt toàn bộ phân phối xác suất cơ bản của tập dữ liệu</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584816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7BD8-264A-F111-E8DA-3796C92148F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2C36811-13B7-6FC4-7FDA-88CFE060C5D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A83820E-D7A1-ECA8-E756-A7C4807A48BA}"/>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Nhược điểm của GMM </a:t>
            </a:r>
          </a:p>
        </p:txBody>
      </p:sp>
      <p:sp>
        <p:nvSpPr>
          <p:cNvPr id="3" name="TextBox 2">
            <a:extLst>
              <a:ext uri="{FF2B5EF4-FFF2-40B4-BE49-F238E27FC236}">
                <a16:creationId xmlns:a16="http://schemas.microsoft.com/office/drawing/2014/main" id="{229744EA-8EDB-C82C-F2E0-ADAB04D42FB5}"/>
              </a:ext>
            </a:extLst>
          </p:cNvPr>
          <p:cNvSpPr txBox="1"/>
          <p:nvPr/>
        </p:nvSpPr>
        <p:spPr>
          <a:xfrm>
            <a:off x="609602" y="1791761"/>
            <a:ext cx="9389532" cy="2462213"/>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Dễ kẹt ở cực trị địa phương:</a:t>
            </a:r>
            <a:r>
              <a:rPr lang="en-VN" sz="1400" dirty="0">
                <a:latin typeface="Arial" panose="020B0604020202020204" pitchFamily="34" charset="0"/>
                <a:cs typeface="Arial" panose="020B0604020202020204" pitchFamily="34" charset="0"/>
              </a:rPr>
              <a:t> Thuật toán tối ưu hóa (Expectation-Maximization - EM) có thể hội tụ về nghiệm tối ưu cục bộ tùy thuộc vào cách khởi tạo giá trị ban đầu.</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Chi phí tính toán cao:</a:t>
            </a:r>
            <a:r>
              <a:rPr lang="en-VN" sz="1400" dirty="0">
                <a:latin typeface="Arial" panose="020B0604020202020204" pitchFamily="34" charset="0"/>
                <a:cs typeface="Arial" panose="020B0604020202020204" pitchFamily="34" charset="0"/>
              </a:rPr>
              <a:t> Việc tính toán qua lại các bước của thuật toán EM rất tốn thời gian, đặc biệt với dữ liệu lớn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Nguy cơ Overfitting (Quá khớp):</a:t>
            </a:r>
            <a:r>
              <a:rPr lang="en-VN" sz="1400" dirty="0">
                <a:latin typeface="Arial" panose="020B0604020202020204" pitchFamily="34" charset="0"/>
                <a:cs typeface="Arial" panose="020B0604020202020204" pitchFamily="34" charset="0"/>
              </a:rPr>
              <a:t> Cần ước tính số lượng tham số lớn (đặc biệt là ma trận hiệp phương sai), dễ dẫn đến quá khớp nếu kích thước mẫu quá nhỏ</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Giả định phân phối chuẩn:</a:t>
            </a:r>
            <a:r>
              <a:rPr lang="en-VN" sz="1400" dirty="0">
                <a:latin typeface="Arial" panose="020B0604020202020204" pitchFamily="34" charset="0"/>
                <a:cs typeface="Arial" panose="020B0604020202020204" pitchFamily="34" charset="0"/>
              </a:rPr>
              <a:t> GMM giả định các đặc trưng tuân theo phân phối Gaussian; hiệu suất sẽ giảm nếu dữ liệu thực tế có hình dạng phi elip phức tạp</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43222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83B4D-EFD5-690B-DC48-699F287D4C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77FD6C9-9264-5105-A856-F917CE00D2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 Demo code</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E9D8D09-8199-76AD-251A-1ECEE29BD535}"/>
              </a:ext>
            </a:extLst>
          </p:cNvPr>
          <p:cNvSpPr txBox="1"/>
          <p:nvPr/>
        </p:nvSpPr>
        <p:spPr>
          <a:xfrm>
            <a:off x="1392614" y="3244334"/>
            <a:ext cx="9423400" cy="369332"/>
          </a:xfrm>
          <a:prstGeom prst="rect">
            <a:avLst/>
          </a:prstGeom>
          <a:noFill/>
        </p:spPr>
        <p:txBody>
          <a:bodyPr wrap="square">
            <a:spAutoFit/>
          </a:bodyPr>
          <a:lstStyle/>
          <a:p>
            <a:r>
              <a:rPr lang="en-VN" dirty="0">
                <a:hlinkClick r:id="rId3"/>
              </a:rPr>
              <a:t>https://colab.research.google.com/drive/1mdINSVY2X29GtQj1N6tcE2YFGUPZ7Wuc?usp=sharing</a:t>
            </a:r>
            <a:endParaRPr lang="en-VN" dirty="0"/>
          </a:p>
        </p:txBody>
      </p:sp>
    </p:spTree>
    <p:extLst>
      <p:ext uri="{BB962C8B-B14F-4D97-AF65-F5344CB8AC3E}">
        <p14:creationId xmlns:p14="http://schemas.microsoft.com/office/powerpoint/2010/main" val="10565172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F3680C46-82C4-AF84-3003-F39F142BCD3E}"/>
              </a:ext>
            </a:extLst>
          </p:cNvPr>
          <p:cNvSpPr txBox="1"/>
          <p:nvPr/>
        </p:nvSpPr>
        <p:spPr>
          <a:xfrm>
            <a:off x="364068" y="1267772"/>
            <a:ext cx="8796865" cy="4985980"/>
          </a:xfrm>
          <a:prstGeom prst="rect">
            <a:avLst/>
          </a:prstGeom>
          <a:noFill/>
        </p:spPr>
        <p:txBody>
          <a:bodyPr wrap="square">
            <a:spAutoFit/>
          </a:bodyPr>
          <a:lstStyle/>
          <a:p>
            <a:pPr>
              <a:spcAft>
                <a:spcPts val="600"/>
              </a:spcAft>
            </a:pPr>
            <a:r>
              <a:rPr lang="en-US" sz="1400" b="1" dirty="0">
                <a:solidFill>
                  <a:srgbClr val="1B8A7A"/>
                </a:solidFill>
                <a:latin typeface="Arial"/>
              </a:rPr>
              <a:t>•  2 </a:t>
            </a:r>
            <a:r>
              <a:rPr lang="en-US" sz="1400" b="1" dirty="0" err="1">
                <a:solidFill>
                  <a:srgbClr val="1B8A7A"/>
                </a:solidFill>
                <a:latin typeface="Arial"/>
              </a:rPr>
              <a:t>cơ</a:t>
            </a:r>
            <a:r>
              <a:rPr lang="en-US" sz="1400" b="1" dirty="0">
                <a:solidFill>
                  <a:srgbClr val="1B8A7A"/>
                </a:solidFill>
                <a:latin typeface="Arial"/>
              </a:rPr>
              <a:t> </a:t>
            </a:r>
            <a:r>
              <a:rPr lang="en-US" sz="1400" b="1" dirty="0" err="1">
                <a:solidFill>
                  <a:srgbClr val="1B8A7A"/>
                </a:solidFill>
                <a:latin typeface="Arial"/>
              </a:rPr>
              <a:t>chế</a:t>
            </a:r>
            <a:r>
              <a:rPr lang="en-US" sz="1400" b="1" dirty="0">
                <a:solidFill>
                  <a:srgbClr val="1B8A7A"/>
                </a:solidFill>
                <a:latin typeface="Arial"/>
              </a:rPr>
              <a:t> </a:t>
            </a:r>
            <a:r>
              <a:rPr lang="en-US" sz="1400" b="1" dirty="0" err="1">
                <a:solidFill>
                  <a:srgbClr val="1B8A7A"/>
                </a:solidFill>
                <a:latin typeface="Arial"/>
              </a:rPr>
              <a:t>gán</a:t>
            </a:r>
            <a:r>
              <a:rPr lang="en-US" sz="1400" b="1" dirty="0">
                <a:solidFill>
                  <a:srgbClr val="1B8A7A"/>
                </a:solidFill>
                <a:latin typeface="Arial"/>
              </a:rPr>
              <a:t> </a:t>
            </a:r>
            <a:r>
              <a:rPr lang="en-US" sz="1400" b="1" dirty="0" err="1">
                <a:solidFill>
                  <a:srgbClr val="1B8A7A"/>
                </a:solidFill>
                <a:latin typeface="Arial"/>
              </a:rPr>
              <a:t>nhãn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cứng</a:t>
            </a:r>
            <a:r>
              <a:rPr lang="vi-VN" sz="1400" dirty="0">
                <a:solidFill>
                  <a:srgbClr val="444B52"/>
                </a:solidFill>
                <a:latin typeface="Arial"/>
              </a:rPr>
              <a:t> (một datapoint thuộc đúng 1 cụm)</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mềm</a:t>
            </a:r>
            <a:r>
              <a:rPr lang="vi-VN" sz="1400" dirty="0">
                <a:solidFill>
                  <a:srgbClr val="444B52"/>
                </a:solidFill>
                <a:latin typeface="Arial"/>
              </a:rPr>
              <a:t> (một datapoint thuộc 40% cụm này, 30% cụm kia, 30% cụm nọ)</a:t>
            </a:r>
          </a:p>
          <a:p>
            <a:pPr>
              <a:spcAft>
                <a:spcPts val="600"/>
              </a:spcAft>
            </a:pPr>
            <a:endParaRPr lang="en-US" sz="1400" b="1" dirty="0">
              <a:solidFill>
                <a:srgbClr val="1B8A7A"/>
              </a:solidFill>
              <a:latin typeface="Arial"/>
            </a:endParaRPr>
          </a:p>
          <a:p>
            <a:pPr>
              <a:spcAft>
                <a:spcPts val="600"/>
              </a:spcAft>
            </a:pPr>
            <a:r>
              <a:rPr lang="en-US" sz="1400" b="1" dirty="0">
                <a:solidFill>
                  <a:srgbClr val="1B8A7A"/>
                </a:solidFill>
                <a:latin typeface="Arial"/>
              </a:rPr>
              <a:t>•  5 </a:t>
            </a:r>
            <a:r>
              <a:rPr lang="en-US" sz="1400" b="1" dirty="0" err="1">
                <a:solidFill>
                  <a:srgbClr val="1B8A7A"/>
                </a:solidFill>
                <a:latin typeface="Arial"/>
              </a:rPr>
              <a:t>nhóm</a:t>
            </a:r>
            <a:r>
              <a:rPr lang="en-US" sz="1400" b="1" dirty="0">
                <a:solidFill>
                  <a:srgbClr val="1B8A7A"/>
                </a:solidFill>
                <a:latin typeface="Arial"/>
              </a:rPr>
              <a:t> </a:t>
            </a:r>
            <a:r>
              <a:rPr lang="en-US" sz="1400" b="1" dirty="0" err="1">
                <a:solidFill>
                  <a:srgbClr val="1B8A7A"/>
                </a:solidFill>
                <a:latin typeface="Arial"/>
              </a:rPr>
              <a:t>thuật</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b="1" dirty="0">
                <a:solidFill>
                  <a:srgbClr val="444B52"/>
                </a:solidFill>
                <a:latin typeface="Arial"/>
              </a:rPr>
              <a:t>Phân cụm </a:t>
            </a:r>
            <a:r>
              <a:rPr lang="vi-VN" sz="1400" b="1" dirty="0">
                <a:solidFill>
                  <a:srgbClr val="444B52"/>
                </a:solidFill>
                <a:highlight>
                  <a:srgbClr val="FFFF00"/>
                </a:highlight>
                <a:latin typeface="Arial"/>
              </a:rPr>
              <a:t>dựa trên phân phối</a:t>
            </a:r>
            <a:r>
              <a:rPr lang="vi-VN" sz="1400" b="1" dirty="0">
                <a:solidFill>
                  <a:srgbClr val="444B52"/>
                </a:solidFill>
                <a:latin typeface="Arial"/>
              </a:rPr>
              <a:t> (Distribution-based) =&gt; GMM thuộc loại này</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dựa trên mật độ</a:t>
            </a:r>
            <a:r>
              <a:rPr lang="vi-VN" sz="1400" dirty="0">
                <a:solidFill>
                  <a:srgbClr val="444B52"/>
                </a:solidFill>
                <a:latin typeface="Arial"/>
              </a:rPr>
              <a:t> (Density-based)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hoạch</a:t>
            </a:r>
            <a:r>
              <a:rPr lang="vi-VN" sz="1400" dirty="0">
                <a:solidFill>
                  <a:srgbClr val="444B52"/>
                </a:solidFill>
                <a:latin typeface="Arial"/>
              </a:rPr>
              <a:t> (Partitioning / Centroid-based)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cấp</a:t>
            </a:r>
            <a:r>
              <a:rPr lang="vi-VN" sz="1400" dirty="0">
                <a:solidFill>
                  <a:srgbClr val="444B52"/>
                </a:solidFill>
                <a:latin typeface="Arial"/>
              </a:rPr>
              <a:t> (Hierarchical / Connectivity-based)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phổ</a:t>
            </a:r>
            <a:r>
              <a:rPr lang="vi-VN" sz="1400" dirty="0">
                <a:solidFill>
                  <a:srgbClr val="444B52"/>
                </a:solidFill>
                <a:latin typeface="Arial"/>
              </a:rPr>
              <a:t> (Spectral Clustering)</a:t>
            </a:r>
          </a:p>
          <a:p>
            <a:pPr marL="285750" indent="-285750">
              <a:spcAft>
                <a:spcPts val="600"/>
              </a:spcAft>
              <a:buFontTx/>
              <a:buChar char="-"/>
            </a:pPr>
            <a:endParaRPr lang="vi-VN" sz="1400" dirty="0">
              <a:solidFill>
                <a:srgbClr val="444B52"/>
              </a:solidFill>
              <a:latin typeface="Arial"/>
            </a:endParaRPr>
          </a:p>
          <a:p>
            <a:pPr>
              <a:spcAft>
                <a:spcPts val="600"/>
              </a:spcAft>
            </a:pPr>
            <a:r>
              <a:rPr lang="en-US" sz="1400" b="1" dirty="0">
                <a:solidFill>
                  <a:srgbClr val="1B8A7A"/>
                </a:solidFill>
                <a:latin typeface="Arial"/>
              </a:rPr>
              <a:t>•  Các </a:t>
            </a:r>
            <a:r>
              <a:rPr lang="en-US" sz="1400" b="1" dirty="0" err="1">
                <a:solidFill>
                  <a:srgbClr val="1B8A7A"/>
                </a:solidFill>
                <a:latin typeface="Arial"/>
              </a:rPr>
              <a:t>bài</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GMM </a:t>
            </a:r>
            <a:r>
              <a:rPr lang="en-US" sz="1400" b="1" dirty="0" err="1">
                <a:solidFill>
                  <a:srgbClr val="1B8A7A"/>
                </a:solidFill>
                <a:latin typeface="Arial"/>
              </a:rPr>
              <a:t>sẽ</a:t>
            </a:r>
            <a:r>
              <a:rPr lang="en-US" sz="1400" b="1" dirty="0">
                <a:solidFill>
                  <a:srgbClr val="1B8A7A"/>
                </a:solidFill>
                <a:latin typeface="Arial"/>
              </a:rPr>
              <a:t> </a:t>
            </a:r>
            <a:r>
              <a:rPr lang="en-US" sz="1400" b="1" dirty="0" err="1">
                <a:solidFill>
                  <a:srgbClr val="1B8A7A"/>
                </a:solidFill>
                <a:latin typeface="Arial"/>
              </a:rPr>
              <a:t>giải</a:t>
            </a:r>
            <a:r>
              <a:rPr lang="en-US" sz="1400" b="1" dirty="0">
                <a:solidFill>
                  <a:srgbClr val="1B8A7A"/>
                </a:solidFill>
                <a:latin typeface="Arial"/>
              </a:rPr>
              <a:t> </a:t>
            </a:r>
            <a:r>
              <a:rPr lang="en-US" sz="1400" b="1" dirty="0" err="1">
                <a:solidFill>
                  <a:srgbClr val="1B8A7A"/>
                </a:solidFill>
                <a:latin typeface="Arial"/>
              </a:rPr>
              <a:t>quyết</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Phát hiện bất thường</a:t>
            </a:r>
          </a:p>
          <a:p>
            <a:pPr marL="285750" indent="-285750">
              <a:spcAft>
                <a:spcPts val="600"/>
              </a:spcAft>
              <a:buFontTx/>
              <a:buChar char="-"/>
            </a:pPr>
            <a:r>
              <a:rPr lang="vi-VN" sz="1400" dirty="0">
                <a:solidFill>
                  <a:srgbClr val="444B52"/>
                </a:solidFill>
                <a:latin typeface="Arial"/>
              </a:rPr>
              <a:t>Hệ thống Recommendation</a:t>
            </a:r>
          </a:p>
          <a:p>
            <a:pPr marL="285750" indent="-285750">
              <a:spcAft>
                <a:spcPts val="600"/>
              </a:spcAft>
              <a:buFontTx/>
              <a:buChar char="-"/>
            </a:pPr>
            <a:r>
              <a:rPr lang="vi-VN" sz="1400" dirty="0">
                <a:solidFill>
                  <a:srgbClr val="444B52"/>
                </a:solidFill>
                <a:latin typeface="Arial"/>
              </a:rPr>
              <a:t>Phân đoạn hình ảnh</a:t>
            </a:r>
          </a:p>
          <a:p>
            <a:pPr marL="285750" indent="-285750">
              <a:spcAft>
                <a:spcPts val="600"/>
              </a:spcAft>
              <a:buFontTx/>
              <a:buChar char="-"/>
            </a:pPr>
            <a:r>
              <a:rPr lang="vi-VN" sz="1400" dirty="0">
                <a:solidFill>
                  <a:srgbClr val="444B52"/>
                </a:solidFill>
                <a:latin typeface="Arial"/>
              </a:rPr>
              <a:t>Tách nền video</a:t>
            </a:r>
          </a:p>
          <a:p>
            <a:pPr marL="285750" indent="-285750">
              <a:spcAft>
                <a:spcPts val="600"/>
              </a:spcAft>
              <a:buFontTx/>
              <a:buChar char="-"/>
            </a:pPr>
            <a:r>
              <a:rPr lang="vi-VN" sz="1400" dirty="0">
                <a:solidFill>
                  <a:srgbClr val="444B52"/>
                </a:solidFill>
                <a:latin typeface="Arial"/>
              </a:rPr>
              <a:t>Nhận diện giọng nói</a:t>
            </a:r>
            <a:endParaRPr lang="en-US" sz="1400" b="1" dirty="0">
              <a:solidFill>
                <a:srgbClr val="1B8A7A"/>
              </a:solidFill>
              <a:latin typeface="Arial"/>
            </a:endParaRPr>
          </a:p>
        </p:txBody>
      </p:sp>
    </p:spTree>
    <p:extLst>
      <p:ext uri="{BB962C8B-B14F-4D97-AF65-F5344CB8AC3E}">
        <p14:creationId xmlns:p14="http://schemas.microsoft.com/office/powerpoint/2010/main" val="18778058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5FC1-D232-DBE9-B81B-B607DB35921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9BB16F-9A61-7E20-FE02-34AC77C46E7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E4E2DF19-A51B-23CC-BAB1-0FE1F0C56C8D}"/>
              </a:ext>
            </a:extLst>
          </p:cNvPr>
          <p:cNvSpPr txBox="1"/>
          <p:nvPr/>
        </p:nvSpPr>
        <p:spPr>
          <a:xfrm>
            <a:off x="364068" y="1267772"/>
            <a:ext cx="8796865" cy="1184940"/>
          </a:xfrm>
          <a:prstGeom prst="rect">
            <a:avLst/>
          </a:prstGeom>
          <a:noFill/>
        </p:spPr>
        <p:txBody>
          <a:bodyPr wrap="square">
            <a:spAutoFit/>
          </a:bodyPr>
          <a:lstStyle/>
          <a:p>
            <a:pPr>
              <a:spcAft>
                <a:spcPts val="600"/>
              </a:spcAft>
            </a:pPr>
            <a:r>
              <a:rPr lang="en-US" sz="1400" b="1" dirty="0">
                <a:solidFill>
                  <a:srgbClr val="1B8A7A"/>
                </a:solidFill>
                <a:latin typeface="Arial"/>
              </a:rPr>
              <a:t>Tài </a:t>
            </a:r>
            <a:r>
              <a:rPr lang="en-US" sz="1400" b="1" dirty="0" err="1">
                <a:solidFill>
                  <a:srgbClr val="1B8A7A"/>
                </a:solidFill>
                <a:latin typeface="Arial"/>
              </a:rPr>
              <a:t>liệu</a:t>
            </a:r>
            <a:r>
              <a:rPr lang="en-US" sz="1400" b="1" dirty="0">
                <a:solidFill>
                  <a:srgbClr val="1B8A7A"/>
                </a:solidFill>
                <a:latin typeface="Arial"/>
              </a:rPr>
              <a:t> </a:t>
            </a:r>
            <a:r>
              <a:rPr lang="en-US" sz="1400" b="1" dirty="0" err="1">
                <a:solidFill>
                  <a:srgbClr val="1B8A7A"/>
                </a:solidFill>
                <a:latin typeface="Arial"/>
              </a:rPr>
              <a:t>tham</a:t>
            </a:r>
            <a:r>
              <a:rPr lang="en-US" sz="1400" b="1" dirty="0">
                <a:solidFill>
                  <a:srgbClr val="1B8A7A"/>
                </a:solidFill>
                <a:latin typeface="Arial"/>
              </a:rPr>
              <a:t> </a:t>
            </a:r>
            <a:r>
              <a:rPr lang="en-US" sz="1400" b="1" dirty="0" err="1">
                <a:solidFill>
                  <a:srgbClr val="1B8A7A"/>
                </a:solidFill>
                <a:latin typeface="Arial"/>
              </a:rPr>
              <a:t>khảo</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hlinkClick r:id="rId3"/>
              </a:rPr>
              <a:t>https://scikit-learn.org/stable/auto_examples/mixture/plot_gmm_init.html</a:t>
            </a:r>
            <a:r>
              <a:rPr lang="vi-VN" sz="1400" dirty="0">
                <a:solidFill>
                  <a:srgbClr val="444B52"/>
                </a:solidFill>
                <a:latin typeface="Arial"/>
              </a:rPr>
              <a:t> </a:t>
            </a:r>
          </a:p>
          <a:p>
            <a:pPr marL="285750" indent="-285750">
              <a:spcAft>
                <a:spcPts val="600"/>
              </a:spcAft>
              <a:buFontTx/>
              <a:buChar char="-"/>
            </a:pPr>
            <a:r>
              <a:rPr lang="vi-VN" sz="1400" dirty="0">
                <a:solidFill>
                  <a:srgbClr val="444B52"/>
                </a:solidFill>
                <a:latin typeface="Arial"/>
                <a:hlinkClick r:id="rId4"/>
              </a:rPr>
              <a:t>https://elearning.citd.edu.vn/pluginfile.php/108366/mod_resource/content/1/Unsupervised-learning.pdf</a:t>
            </a:r>
            <a:endParaRPr lang="vi-VN" sz="1400" dirty="0">
              <a:solidFill>
                <a:srgbClr val="444B52"/>
              </a:solidFill>
              <a:latin typeface="Arial"/>
            </a:endParaRPr>
          </a:p>
          <a:p>
            <a:pPr marL="285750" indent="-285750">
              <a:spcAft>
                <a:spcPts val="600"/>
              </a:spcAft>
              <a:buFontTx/>
              <a:buChar char="-"/>
            </a:pPr>
            <a:r>
              <a:rPr lang="vi-VN" sz="1400" dirty="0">
                <a:solidFill>
                  <a:srgbClr val="444B52"/>
                </a:solidFill>
                <a:latin typeface="Arial"/>
                <a:hlinkClick r:id="rId5"/>
              </a:rPr>
              <a:t>https://phamdinhkhanh.github.io/deepai-book/ch_ml/GMM.html</a:t>
            </a:r>
            <a:endParaRPr lang="vi-VN" sz="1400" dirty="0">
              <a:solidFill>
                <a:srgbClr val="444B52"/>
              </a:solidFill>
              <a:latin typeface="Arial"/>
            </a:endParaRPr>
          </a:p>
        </p:txBody>
      </p:sp>
    </p:spTree>
    <p:extLst>
      <p:ext uri="{BB962C8B-B14F-4D97-AF65-F5344CB8AC3E}">
        <p14:creationId xmlns:p14="http://schemas.microsoft.com/office/powerpoint/2010/main" val="3810595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lang="vi-VN" sz="1800" b="1" dirty="0">
                <a:solidFill>
                  <a:srgbClr val="FFFFFF"/>
                </a:solidFill>
                <a:latin typeface="Arial"/>
              </a:rPr>
              <a:t>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18886</TotalTime>
  <Words>5704</Words>
  <Application>Microsoft Macintosh PowerPoint</Application>
  <PresentationFormat>Widescreen</PresentationFormat>
  <Paragraphs>615</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500</cp:revision>
  <cp:lastPrinted>2026-09-20T15:26:35Z</cp:lastPrinted>
  <dcterms:created xsi:type="dcterms:W3CDTF">2013-01-27T09:14:16Z</dcterms:created>
  <dcterms:modified xsi:type="dcterms:W3CDTF">2026-10-09T13:06:19Z</dcterms:modified>
  <cp:category/>
</cp:coreProperties>
</file>